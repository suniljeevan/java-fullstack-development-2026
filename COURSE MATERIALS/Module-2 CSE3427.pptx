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5" r:id="rId1"/>
  </p:sldMasterIdLst>
  <p:notesMasterIdLst>
    <p:notesMasterId r:id="rId136"/>
  </p:notesMasterIdLst>
  <p:handoutMasterIdLst>
    <p:handoutMasterId r:id="rId137"/>
  </p:handoutMasterIdLst>
  <p:sldIdLst>
    <p:sldId id="783" r:id="rId2"/>
    <p:sldId id="791" r:id="rId3"/>
    <p:sldId id="892" r:id="rId4"/>
    <p:sldId id="893" r:id="rId5"/>
    <p:sldId id="792" r:id="rId6"/>
    <p:sldId id="634" r:id="rId7"/>
    <p:sldId id="636" r:id="rId8"/>
    <p:sldId id="640" r:id="rId9"/>
    <p:sldId id="651" r:id="rId10"/>
    <p:sldId id="655" r:id="rId11"/>
    <p:sldId id="656" r:id="rId12"/>
    <p:sldId id="679" r:id="rId13"/>
    <p:sldId id="754" r:id="rId14"/>
    <p:sldId id="665" r:id="rId15"/>
    <p:sldId id="666" r:id="rId16"/>
    <p:sldId id="667" r:id="rId17"/>
    <p:sldId id="668" r:id="rId18"/>
    <p:sldId id="669" r:id="rId19"/>
    <p:sldId id="888" r:id="rId20"/>
    <p:sldId id="670" r:id="rId21"/>
    <p:sldId id="671" r:id="rId22"/>
    <p:sldId id="889" r:id="rId23"/>
    <p:sldId id="672" r:id="rId24"/>
    <p:sldId id="673" r:id="rId25"/>
    <p:sldId id="674" r:id="rId26"/>
    <p:sldId id="675" r:id="rId27"/>
    <p:sldId id="676" r:id="rId28"/>
    <p:sldId id="677" r:id="rId29"/>
    <p:sldId id="684" r:id="rId30"/>
    <p:sldId id="685" r:id="rId31"/>
    <p:sldId id="686" r:id="rId32"/>
    <p:sldId id="687" r:id="rId33"/>
    <p:sldId id="688" r:id="rId34"/>
    <p:sldId id="689" r:id="rId35"/>
    <p:sldId id="724" r:id="rId36"/>
    <p:sldId id="690" r:id="rId37"/>
    <p:sldId id="691" r:id="rId38"/>
    <p:sldId id="692" r:id="rId39"/>
    <p:sldId id="693" r:id="rId40"/>
    <p:sldId id="694" r:id="rId41"/>
    <p:sldId id="786" r:id="rId42"/>
    <p:sldId id="787" r:id="rId43"/>
    <p:sldId id="788" r:id="rId44"/>
    <p:sldId id="897" r:id="rId45"/>
    <p:sldId id="704" r:id="rId46"/>
    <p:sldId id="705" r:id="rId47"/>
    <p:sldId id="706" r:id="rId48"/>
    <p:sldId id="707" r:id="rId49"/>
    <p:sldId id="708" r:id="rId50"/>
    <p:sldId id="709" r:id="rId51"/>
    <p:sldId id="710" r:id="rId52"/>
    <p:sldId id="712" r:id="rId53"/>
    <p:sldId id="713" r:id="rId54"/>
    <p:sldId id="714" r:id="rId55"/>
    <p:sldId id="715" r:id="rId56"/>
    <p:sldId id="721" r:id="rId57"/>
    <p:sldId id="716" r:id="rId58"/>
    <p:sldId id="717" r:id="rId59"/>
    <p:sldId id="718" r:id="rId60"/>
    <p:sldId id="719" r:id="rId61"/>
    <p:sldId id="720" r:id="rId62"/>
    <p:sldId id="722" r:id="rId63"/>
    <p:sldId id="723" r:id="rId64"/>
    <p:sldId id="725" r:id="rId65"/>
    <p:sldId id="726" r:id="rId66"/>
    <p:sldId id="790" r:id="rId67"/>
    <p:sldId id="898" r:id="rId68"/>
    <p:sldId id="795" r:id="rId69"/>
    <p:sldId id="796" r:id="rId70"/>
    <p:sldId id="797" r:id="rId71"/>
    <p:sldId id="798" r:id="rId72"/>
    <p:sldId id="799" r:id="rId73"/>
    <p:sldId id="800" r:id="rId74"/>
    <p:sldId id="801" r:id="rId75"/>
    <p:sldId id="803" r:id="rId76"/>
    <p:sldId id="804" r:id="rId77"/>
    <p:sldId id="805" r:id="rId78"/>
    <p:sldId id="806" r:id="rId79"/>
    <p:sldId id="807" r:id="rId80"/>
    <p:sldId id="890" r:id="rId81"/>
    <p:sldId id="808" r:id="rId82"/>
    <p:sldId id="809" r:id="rId83"/>
    <p:sldId id="810" r:id="rId84"/>
    <p:sldId id="811" r:id="rId85"/>
    <p:sldId id="812" r:id="rId86"/>
    <p:sldId id="813" r:id="rId87"/>
    <p:sldId id="814" r:id="rId88"/>
    <p:sldId id="815" r:id="rId89"/>
    <p:sldId id="816" r:id="rId90"/>
    <p:sldId id="817" r:id="rId91"/>
    <p:sldId id="818" r:id="rId92"/>
    <p:sldId id="819" r:id="rId93"/>
    <p:sldId id="820" r:id="rId94"/>
    <p:sldId id="821" r:id="rId95"/>
    <p:sldId id="822" r:id="rId96"/>
    <p:sldId id="823" r:id="rId97"/>
    <p:sldId id="824" r:id="rId98"/>
    <p:sldId id="825" r:id="rId99"/>
    <p:sldId id="826" r:id="rId100"/>
    <p:sldId id="827" r:id="rId101"/>
    <p:sldId id="899" r:id="rId102"/>
    <p:sldId id="901" r:id="rId103"/>
    <p:sldId id="828" r:id="rId104"/>
    <p:sldId id="829" r:id="rId105"/>
    <p:sldId id="830" r:id="rId106"/>
    <p:sldId id="831" r:id="rId107"/>
    <p:sldId id="903" r:id="rId108"/>
    <p:sldId id="832" r:id="rId109"/>
    <p:sldId id="833" r:id="rId110"/>
    <p:sldId id="834" r:id="rId111"/>
    <p:sldId id="835" r:id="rId112"/>
    <p:sldId id="836" r:id="rId113"/>
    <p:sldId id="837" r:id="rId114"/>
    <p:sldId id="870" r:id="rId115"/>
    <p:sldId id="895" r:id="rId116"/>
    <p:sldId id="896" r:id="rId117"/>
    <p:sldId id="872" r:id="rId118"/>
    <p:sldId id="873" r:id="rId119"/>
    <p:sldId id="875" r:id="rId120"/>
    <p:sldId id="874" r:id="rId121"/>
    <p:sldId id="891" r:id="rId122"/>
    <p:sldId id="876" r:id="rId123"/>
    <p:sldId id="878" r:id="rId124"/>
    <p:sldId id="879" r:id="rId125"/>
    <p:sldId id="880" r:id="rId126"/>
    <p:sldId id="881" r:id="rId127"/>
    <p:sldId id="882" r:id="rId128"/>
    <p:sldId id="907" r:id="rId129"/>
    <p:sldId id="908" r:id="rId130"/>
    <p:sldId id="883" r:id="rId131"/>
    <p:sldId id="909" r:id="rId132"/>
    <p:sldId id="884" r:id="rId133"/>
    <p:sldId id="885" r:id="rId134"/>
    <p:sldId id="886" r:id="rId135"/>
  </p:sldIdLst>
  <p:sldSz cx="12192000" cy="6858000"/>
  <p:notesSz cx="7315200" cy="96012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mn-cs"/>
      </a:defRPr>
    </a:lvl5pPr>
    <a:lvl6pPr marL="2286000" algn="l" defTabSz="914400" rtl="0" eaLnBrk="1" latinLnBrk="0" hangingPunct="1">
      <a:defRPr kern="1200">
        <a:solidFill>
          <a:schemeClr val="tx1"/>
        </a:solidFill>
        <a:latin typeface="Arial" panose="020B0604020202020204" pitchFamily="34" charset="0"/>
        <a:ea typeface="+mn-ea"/>
        <a:cs typeface="+mn-cs"/>
      </a:defRPr>
    </a:lvl6pPr>
    <a:lvl7pPr marL="2743200" algn="l" defTabSz="914400" rtl="0" eaLnBrk="1" latinLnBrk="0" hangingPunct="1">
      <a:defRPr kern="1200">
        <a:solidFill>
          <a:schemeClr val="tx1"/>
        </a:solidFill>
        <a:latin typeface="Arial" panose="020B0604020202020204" pitchFamily="34" charset="0"/>
        <a:ea typeface="+mn-ea"/>
        <a:cs typeface="+mn-cs"/>
      </a:defRPr>
    </a:lvl7pPr>
    <a:lvl8pPr marL="3200400" algn="l" defTabSz="914400" rtl="0" eaLnBrk="1" latinLnBrk="0" hangingPunct="1">
      <a:defRPr kern="1200">
        <a:solidFill>
          <a:schemeClr val="tx1"/>
        </a:solidFill>
        <a:latin typeface="Arial" panose="020B0604020202020204" pitchFamily="34" charset="0"/>
        <a:ea typeface="+mn-ea"/>
        <a:cs typeface="+mn-cs"/>
      </a:defRPr>
    </a:lvl8pPr>
    <a:lvl9pPr marL="3657600" algn="l" defTabSz="914400" rtl="0" eaLnBrk="1" latinLnBrk="0" hangingPunct="1">
      <a:defRPr kern="1200">
        <a:solidFill>
          <a:schemeClr val="tx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EB29A"/>
    <a:srgbClr val="000F2E"/>
    <a:srgbClr val="00194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12" autoAdjust="0"/>
    <p:restoredTop sz="94434" autoAdjust="0"/>
  </p:normalViewPr>
  <p:slideViewPr>
    <p:cSldViewPr>
      <p:cViewPr varScale="1">
        <p:scale>
          <a:sx n="74" d="100"/>
          <a:sy n="74" d="100"/>
        </p:scale>
        <p:origin x="498" y="90"/>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presProps" Target="presProp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viewProps" Target="view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handoutMaster" Target="handoutMasters/handoutMaster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sz="quarter" idx="1"/>
          </p:nvPr>
        </p:nvSpPr>
        <p:spPr>
          <a:xfrm>
            <a:off x="4143587" y="0"/>
            <a:ext cx="3169920" cy="481727"/>
          </a:xfrm>
          <a:prstGeom prst="rect">
            <a:avLst/>
          </a:prstGeom>
        </p:spPr>
        <p:txBody>
          <a:bodyPr vert="horz" lIns="96661" tIns="48331" rIns="96661" bIns="48331" rtlCol="0"/>
          <a:lstStyle>
            <a:lvl1pPr algn="r">
              <a:defRPr sz="1300"/>
            </a:lvl1pPr>
          </a:lstStyle>
          <a:p>
            <a:fld id="{1D5163DD-12C9-4B8E-91F3-BECE4B548A1F}" type="datetimeFigureOut">
              <a:rPr lang="en-US" smtClean="0"/>
              <a:pPr/>
              <a:t>2/12/2026</a:t>
            </a:fld>
            <a:endParaRPr lang="en-US"/>
          </a:p>
        </p:txBody>
      </p:sp>
      <p:sp>
        <p:nvSpPr>
          <p:cNvPr id="4" name="Footer Placeholder 3"/>
          <p:cNvSpPr>
            <a:spLocks noGrp="1"/>
          </p:cNvSpPr>
          <p:nvPr>
            <p:ph type="ftr" sz="quarter" idx="2"/>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a:p>
        </p:txBody>
      </p:sp>
      <p:sp>
        <p:nvSpPr>
          <p:cNvPr id="5" name="Slide Number Placeholder 4"/>
          <p:cNvSpPr>
            <a:spLocks noGrp="1"/>
          </p:cNvSpPr>
          <p:nvPr>
            <p:ph type="sldNum" sz="quarter" idx="3"/>
          </p:nvPr>
        </p:nvSpPr>
        <p:spPr>
          <a:xfrm>
            <a:off x="4143587" y="9119474"/>
            <a:ext cx="3169920" cy="481726"/>
          </a:xfrm>
          <a:prstGeom prst="rect">
            <a:avLst/>
          </a:prstGeom>
        </p:spPr>
        <p:txBody>
          <a:bodyPr vert="horz" lIns="96661" tIns="48331" rIns="96661" bIns="48331" rtlCol="0" anchor="b"/>
          <a:lstStyle>
            <a:lvl1pPr algn="r">
              <a:defRPr sz="1300"/>
            </a:lvl1pPr>
          </a:lstStyle>
          <a:p>
            <a:fld id="{19884565-77A9-41BC-A3D1-C71554A711C1}" type="slidenum">
              <a:rPr lang="en-US" smtClean="0"/>
              <a:pPr/>
              <a:t>‹#›</a:t>
            </a:fld>
            <a:endParaRPr lang="en-US"/>
          </a:p>
        </p:txBody>
      </p:sp>
    </p:spTree>
    <p:extLst>
      <p:ext uri="{BB962C8B-B14F-4D97-AF65-F5344CB8AC3E}">
        <p14:creationId xmlns:p14="http://schemas.microsoft.com/office/powerpoint/2010/main" val="534415109"/>
      </p:ext>
    </p:extLst>
  </p:cSld>
  <p:clrMap bg1="lt1" tx1="dk1" bg2="lt2" tx2="dk2" accent1="accent1" accent2="accent2" accent3="accent3" accent4="accent4" accent5="accent5" accent6="accent6" hlink="hlink" folHlink="folHlink"/>
  <p:hf hd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eaLnBrk="1" hangingPunct="1">
              <a:defRPr sz="1300"/>
            </a:lvl1pPr>
          </a:lstStyle>
          <a:p>
            <a:pPr>
              <a:defRPr/>
            </a:pPr>
            <a:endParaRPr lang="en-US"/>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eaLnBrk="1" hangingPunct="1">
              <a:defRPr sz="1300"/>
            </a:lvl1pPr>
          </a:lstStyle>
          <a:p>
            <a:pPr>
              <a:defRPr/>
            </a:pPr>
            <a:fld id="{B35E0ABE-3FD2-4491-A84F-F5DF78F574D2}" type="datetimeFigureOut">
              <a:rPr lang="en-US"/>
              <a:pPr>
                <a:defRPr/>
              </a:pPr>
              <a:t>2/12/2026</a:t>
            </a:fld>
            <a:endParaRPr lang="en-US"/>
          </a:p>
        </p:txBody>
      </p:sp>
      <p:sp>
        <p:nvSpPr>
          <p:cNvPr id="4" name="Slide Image Placeholder 3"/>
          <p:cNvSpPr>
            <a:spLocks noGrp="1" noRot="1" noChangeAspect="1"/>
          </p:cNvSpPr>
          <p:nvPr>
            <p:ph type="sldImg" idx="2"/>
          </p:nvPr>
        </p:nvSpPr>
        <p:spPr>
          <a:xfrm>
            <a:off x="457200" y="720725"/>
            <a:ext cx="6400800" cy="3600450"/>
          </a:xfrm>
          <a:prstGeom prst="rect">
            <a:avLst/>
          </a:prstGeom>
          <a:noFill/>
          <a:ln w="12700">
            <a:solidFill>
              <a:prstClr val="black"/>
            </a:solidFill>
          </a:ln>
        </p:spPr>
        <p:txBody>
          <a:bodyPr vert="horz" lIns="96661" tIns="48331" rIns="96661" bIns="48331" rtlCol="0" anchor="ctr"/>
          <a:lstStyle/>
          <a:p>
            <a:pPr lvl="0"/>
            <a:endParaRPr lang="en-US" noProof="0" smtClean="0"/>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eaLnBrk="1" hangingPunct="1">
              <a:defRPr sz="1300"/>
            </a:lvl1pPr>
          </a:lstStyle>
          <a:p>
            <a:pPr>
              <a:defRPr/>
            </a:pPr>
            <a:endParaRPr lang="en-US"/>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wrap="square" lIns="96661" tIns="48331" rIns="96661" bIns="48331" numCol="1" anchor="b" anchorCtr="0" compatLnSpc="1">
            <a:prstTxWarp prst="textNoShape">
              <a:avLst/>
            </a:prstTxWarp>
          </a:bodyPr>
          <a:lstStyle>
            <a:lvl1pPr algn="r" eaLnBrk="1" hangingPunct="1">
              <a:defRPr sz="1300"/>
            </a:lvl1pPr>
          </a:lstStyle>
          <a:p>
            <a:pPr>
              <a:defRPr/>
            </a:pPr>
            <a:fld id="{CDD763F7-5C11-4DBC-83B1-39D83E1FBE10}" type="slidenum">
              <a:rPr lang="en-US" altLang="en-US"/>
              <a:pPr>
                <a:defRPr/>
              </a:pPr>
              <a:t>‹#›</a:t>
            </a:fld>
            <a:endParaRPr lang="en-US" altLang="en-US"/>
          </a:p>
        </p:txBody>
      </p:sp>
    </p:spTree>
    <p:extLst>
      <p:ext uri="{BB962C8B-B14F-4D97-AF65-F5344CB8AC3E}">
        <p14:creationId xmlns:p14="http://schemas.microsoft.com/office/powerpoint/2010/main" val="2171985713"/>
      </p:ext>
    </p:extLst>
  </p:cSld>
  <p:clrMap bg1="lt1" tx1="dk1" bg2="lt2" tx2="dk2" accent1="accent1" accent2="accent2" accent3="accent3" accent4="accent4" accent5="accent5" accent6="accent6" hlink="hlink" folHlink="folHlink"/>
  <p:hf hd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32292E83-4E84-4740-8999-21B99A524EB4}" type="datetime1">
              <a:rPr lang="en-US" smtClean="0"/>
              <a:pPr>
                <a:defRPr/>
              </a:pPr>
              <a:t>2/12/2026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772A8AC2-F0C4-4335-A6D7-C22D8A222454}" type="slidenum">
              <a:rPr lang="en-US" altLang="en-US"/>
              <a:pPr>
                <a:defRPr/>
              </a:pPr>
              <a:t>‹#›</a:t>
            </a:fld>
            <a:endParaRPr lang="en-US" altLang="en-US"/>
          </a:p>
        </p:txBody>
      </p:sp>
    </p:spTree>
    <p:extLst>
      <p:ext uri="{BB962C8B-B14F-4D97-AF65-F5344CB8AC3E}">
        <p14:creationId xmlns:p14="http://schemas.microsoft.com/office/powerpoint/2010/main" val="20965966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3B3B847F-E800-49BB-B888-ECFD11F24C1D}" type="datetime1">
              <a:rPr lang="en-US" smtClean="0"/>
              <a:pPr>
                <a:defRPr/>
              </a:pPr>
              <a:t>2/12/2026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A01CA5F2-CD08-4EF5-BAD9-872B7BB27165}" type="slidenum">
              <a:rPr lang="en-US" altLang="en-US"/>
              <a:pPr>
                <a:defRPr/>
              </a:pPr>
              <a:t>‹#›</a:t>
            </a:fld>
            <a:endParaRPr lang="en-US" altLang="en-US"/>
          </a:p>
        </p:txBody>
      </p:sp>
    </p:spTree>
    <p:extLst>
      <p:ext uri="{BB962C8B-B14F-4D97-AF65-F5344CB8AC3E}">
        <p14:creationId xmlns:p14="http://schemas.microsoft.com/office/powerpoint/2010/main" val="36336792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1A39EC45-EBE1-44DB-AD55-76A5CDEE8551}" type="datetime1">
              <a:rPr lang="en-US" smtClean="0"/>
              <a:pPr>
                <a:defRPr/>
              </a:pPr>
              <a:t>2/12/2026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CB43365-358E-4EFB-9D2F-D6778ADA2A33}" type="slidenum">
              <a:rPr lang="en-US" altLang="en-US"/>
              <a:pPr>
                <a:defRPr/>
              </a:pPr>
              <a:t>‹#›</a:t>
            </a:fld>
            <a:endParaRPr lang="en-US" altLang="en-US"/>
          </a:p>
        </p:txBody>
      </p:sp>
    </p:spTree>
    <p:extLst>
      <p:ext uri="{BB962C8B-B14F-4D97-AF65-F5344CB8AC3E}">
        <p14:creationId xmlns:p14="http://schemas.microsoft.com/office/powerpoint/2010/main" val="8111566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23A84E65-0CE4-4441-ACE8-8E023A7A741C}" type="datetime1">
              <a:rPr lang="en-US" smtClean="0"/>
              <a:pPr>
                <a:defRPr/>
              </a:pPr>
              <a:t>2/12/2026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7061B66A-860D-4F77-A12A-57453AAB16AB}" type="slidenum">
              <a:rPr lang="en-US" altLang="en-US"/>
              <a:pPr>
                <a:defRPr/>
              </a:pPr>
              <a:t>‹#›</a:t>
            </a:fld>
            <a:endParaRPr lang="en-US" altLang="en-US"/>
          </a:p>
        </p:txBody>
      </p:sp>
    </p:spTree>
    <p:extLst>
      <p:ext uri="{BB962C8B-B14F-4D97-AF65-F5344CB8AC3E}">
        <p14:creationId xmlns:p14="http://schemas.microsoft.com/office/powerpoint/2010/main" val="394598122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6BC930A8-B92B-4AD0-9CA2-E3573C2D7B68}" type="datetime1">
              <a:rPr lang="en-US" smtClean="0"/>
              <a:pPr>
                <a:defRPr/>
              </a:pPr>
              <a:t>2/12/2026</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F19E9FAA-A59B-4AE0-A044-7FE2AB03AB9B}" type="slidenum">
              <a:rPr lang="en-US" altLang="en-US"/>
              <a:pPr>
                <a:defRPr/>
              </a:pPr>
              <a:t>‹#›</a:t>
            </a:fld>
            <a:endParaRPr lang="en-US" altLang="en-US"/>
          </a:p>
        </p:txBody>
      </p:sp>
    </p:spTree>
    <p:extLst>
      <p:ext uri="{BB962C8B-B14F-4D97-AF65-F5344CB8AC3E}">
        <p14:creationId xmlns:p14="http://schemas.microsoft.com/office/powerpoint/2010/main" val="9700773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pPr>
              <a:defRPr/>
            </a:pPr>
            <a:fld id="{9BFAF9F0-86F4-41BA-BF04-7A68BB35962C}" type="datetime1">
              <a:rPr lang="en-US" smtClean="0"/>
              <a:pPr>
                <a:defRPr/>
              </a:pPr>
              <a:t>2/12/2026</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5FF55CBD-5A35-43A0-8B72-DFEEFFF78235}" type="slidenum">
              <a:rPr lang="en-US" altLang="en-US"/>
              <a:pPr>
                <a:defRPr/>
              </a:pPr>
              <a:t>‹#›</a:t>
            </a:fld>
            <a:endParaRPr lang="en-US" altLang="en-US"/>
          </a:p>
        </p:txBody>
      </p:sp>
    </p:spTree>
    <p:extLst>
      <p:ext uri="{BB962C8B-B14F-4D97-AF65-F5344CB8AC3E}">
        <p14:creationId xmlns:p14="http://schemas.microsoft.com/office/powerpoint/2010/main" val="37841307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4B284C8E-89B8-4DD1-9A54-0E190BA47E5D}" type="datetime1">
              <a:rPr lang="en-US" smtClean="0"/>
              <a:pPr>
                <a:defRPr/>
              </a:pPr>
              <a:t>2/12/2026</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5EDAE260-203A-48BA-B1E0-2820BBC6B005}" type="slidenum">
              <a:rPr lang="en-US" altLang="en-US"/>
              <a:pPr>
                <a:defRPr/>
              </a:pPr>
              <a:t>‹#›</a:t>
            </a:fld>
            <a:endParaRPr lang="en-US" altLang="en-US"/>
          </a:p>
        </p:txBody>
      </p:sp>
    </p:spTree>
    <p:extLst>
      <p:ext uri="{BB962C8B-B14F-4D97-AF65-F5344CB8AC3E}">
        <p14:creationId xmlns:p14="http://schemas.microsoft.com/office/powerpoint/2010/main" val="35119055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6B53A74D-7B57-49DB-9938-D92105508A1C}" type="datetime1">
              <a:rPr lang="en-US" smtClean="0"/>
              <a:pPr>
                <a:defRPr/>
              </a:pPr>
              <a:t>2/12/2026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4043378E-E05F-4D65-B4F7-A87FC0276302}" type="slidenum">
              <a:rPr lang="en-US" altLang="en-US"/>
              <a:pPr>
                <a:defRPr/>
              </a:pPr>
              <a:t>‹#›</a:t>
            </a:fld>
            <a:endParaRPr lang="en-US" altLang="en-US"/>
          </a:p>
        </p:txBody>
      </p:sp>
    </p:spTree>
    <p:extLst>
      <p:ext uri="{BB962C8B-B14F-4D97-AF65-F5344CB8AC3E}">
        <p14:creationId xmlns:p14="http://schemas.microsoft.com/office/powerpoint/2010/main" val="2398914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smtClean="0"/>
              <a:t>Click icon to add picture</a:t>
            </a:r>
            <a:endParaRPr lang="en-US" noProof="0"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79F7E326-5233-47C9-9183-AB0FCA1C5179}" type="datetime1">
              <a:rPr lang="en-US" smtClean="0"/>
              <a:pPr>
                <a:defRPr/>
              </a:pPr>
              <a:t>2/12/2026</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7D2A09E5-A14B-4738-A48E-EF064E453217}" type="slidenum">
              <a:rPr lang="en-US" altLang="en-US"/>
              <a:pPr>
                <a:defRPr/>
              </a:pPr>
              <a:t>‹#›</a:t>
            </a:fld>
            <a:endParaRPr lang="en-US" altLang="en-US"/>
          </a:p>
        </p:txBody>
      </p:sp>
    </p:spTree>
    <p:extLst>
      <p:ext uri="{BB962C8B-B14F-4D97-AF65-F5344CB8AC3E}">
        <p14:creationId xmlns:p14="http://schemas.microsoft.com/office/powerpoint/2010/main" val="394938393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74AD883A-3962-435F-9831-24ADC35CB10C}" type="datetime1">
              <a:rPr lang="en-US" smtClean="0"/>
              <a:pPr>
                <a:defRPr/>
              </a:pPr>
              <a:t>2/12/2026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9A110372-953E-4601-976C-D82CD9FCE073}" type="slidenum">
              <a:rPr lang="en-US" altLang="en-US"/>
              <a:pPr>
                <a:defRPr/>
              </a:pPr>
              <a:t>‹#›</a:t>
            </a:fld>
            <a:endParaRPr lang="en-US" altLang="en-US"/>
          </a:p>
        </p:txBody>
      </p:sp>
    </p:spTree>
    <p:extLst>
      <p:ext uri="{BB962C8B-B14F-4D97-AF65-F5344CB8AC3E}">
        <p14:creationId xmlns:p14="http://schemas.microsoft.com/office/powerpoint/2010/main" val="231491824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CADF5F9B-46DC-4E4F-98F8-47F377D811C8}" type="datetime1">
              <a:rPr lang="en-US" smtClean="0"/>
              <a:pPr>
                <a:defRPr/>
              </a:pPr>
              <a:t>2/12/2026</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BCDF80F-6F68-4B94-9701-0F2026993C48}" type="slidenum">
              <a:rPr lang="en-US" altLang="en-US"/>
              <a:pPr>
                <a:defRPr/>
              </a:pPr>
              <a:t>‹#›</a:t>
            </a:fld>
            <a:endParaRPr lang="en-US" altLang="en-US"/>
          </a:p>
        </p:txBody>
      </p:sp>
    </p:spTree>
    <p:extLst>
      <p:ext uri="{BB962C8B-B14F-4D97-AF65-F5344CB8AC3E}">
        <p14:creationId xmlns:p14="http://schemas.microsoft.com/office/powerpoint/2010/main" val="214401132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838200" y="365125"/>
            <a:ext cx="10515600" cy="1325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Text Placeholder 2"/>
          <p:cNvSpPr>
            <a:spLocks noGrp="1"/>
          </p:cNvSpPr>
          <p:nvPr>
            <p:ph type="body" idx="1"/>
          </p:nvPr>
        </p:nvSpPr>
        <p:spPr bwMode="auto">
          <a:xfrm>
            <a:off x="838200" y="1825625"/>
            <a:ext cx="10515600" cy="4351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smtClean="0">
                <a:solidFill>
                  <a:schemeClr val="tx1">
                    <a:tint val="75000"/>
                  </a:schemeClr>
                </a:solidFill>
              </a:defRPr>
            </a:lvl1pPr>
          </a:lstStyle>
          <a:p>
            <a:pPr>
              <a:defRPr/>
            </a:pPr>
            <a:fld id="{14A44C2B-9FC4-482D-A60E-5D6C377FC33F}" type="datetime1">
              <a:rPr lang="en-US" smtClean="0"/>
              <a:pPr>
                <a:defRPr/>
              </a:pPr>
              <a:t>2/12/2026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smtClean="0">
                <a:solidFill>
                  <a:schemeClr val="tx1">
                    <a:tint val="75000"/>
                  </a:schemeClr>
                </a:solidFill>
              </a:defRPr>
            </a:lvl1pPr>
          </a:lstStyle>
          <a:p>
            <a:pPr>
              <a:defRPr/>
            </a:pPr>
            <a:fld id="{03391736-D1CD-4256-BC31-406FE5C1CD1F}" type="slidenum">
              <a:rPr lang="en-US" altLang="en-US"/>
              <a:pPr>
                <a:defRPr/>
              </a:pPr>
              <a:t>‹#›</a:t>
            </a:fld>
            <a:endParaRPr lang="en-US" altLang="en-US"/>
          </a:p>
        </p:txBody>
      </p:sp>
      <p:pic>
        <p:nvPicPr>
          <p:cNvPr id="1031" name="Picture 7"/>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0" y="5153025"/>
            <a:ext cx="12192000" cy="170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806"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 id="2147483815" r:id="rId10"/>
    <p:sldLayoutId id="2147483816" r:id="rId11"/>
  </p:sldLayoutIdLst>
  <p:hf hdr="0" ftr="0" dt="0"/>
  <p:txStyles>
    <p:title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p:titleStyle>
    <p:body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tomcat.apache.org/download-90.cgi" TargetMode="External"/><Relationship Id="rId2" Type="http://schemas.openxmlformats.org/officeDocument/2006/relationships/hyperlink" Target="https://www.baeldung.com/intro-to-servlets"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javatpoint.com/Garbage-Collection" TargetMode="External"/><Relationship Id="rId2" Type="http://schemas.openxmlformats.org/officeDocument/2006/relationships/hyperlink" Target="https://www.javatpoint.com/jvm-java-virtual-machine"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3" Type="http://schemas.openxmlformats.org/officeDocument/2006/relationships/hyperlink" Target="https://www.javaguides.net/p/servlet-tutorial.html" TargetMode="External"/><Relationship Id="rId2" Type="http://schemas.openxmlformats.org/officeDocument/2006/relationships/hyperlink" Target="http://www.javaguides.net/p/jsp-tutorial.html" TargetMode="External"/><Relationship Id="rId1" Type="http://schemas.openxmlformats.org/officeDocument/2006/relationships/slideLayout" Target="../slideLayouts/slideLayout2.xml"/><Relationship Id="rId4" Type="http://schemas.openxmlformats.org/officeDocument/2006/relationships/hyperlink" Target="http://www.javaguides.net/p/jdbc-tutorial.html" TargetMode="Externa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hyperlink" Target="http://localhost:8080/jsp-jdbc-mysql-example/employeeregister.jsp"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8748464" cy="938485"/>
          </a:xfrm>
        </p:spPr>
        <p:txBody>
          <a:bodyPr/>
          <a:lstStyle/>
          <a:p>
            <a:r>
              <a:rPr lang="en-GB" dirty="0" smtClean="0"/>
              <a:t>Module 2 </a:t>
            </a:r>
            <a:endParaRPr lang="en-US" dirty="0"/>
          </a:p>
        </p:txBody>
      </p:sp>
      <p:sp>
        <p:nvSpPr>
          <p:cNvPr id="3" name="Content Placeholder 2"/>
          <p:cNvSpPr>
            <a:spLocks noGrp="1"/>
          </p:cNvSpPr>
          <p:nvPr>
            <p:ph type="subTitle" idx="1"/>
          </p:nvPr>
        </p:nvSpPr>
        <p:spPr>
          <a:xfrm>
            <a:off x="1544597" y="2348880"/>
            <a:ext cx="9144000" cy="936104"/>
          </a:xfrm>
        </p:spPr>
        <p:txBody>
          <a:bodyPr/>
          <a:lstStyle/>
          <a:p>
            <a:r>
              <a:rPr lang="en-GB" sz="4400" b="1" dirty="0">
                <a:solidFill>
                  <a:schemeClr val="accent5"/>
                </a:solidFill>
              </a:rPr>
              <a:t>Java EE Web </a:t>
            </a:r>
            <a:r>
              <a:rPr lang="en-GB" sz="4400" b="1" dirty="0" smtClean="0">
                <a:solidFill>
                  <a:schemeClr val="accent5"/>
                </a:solidFill>
              </a:rPr>
              <a:t>Applications</a:t>
            </a:r>
            <a:endParaRPr lang="en-GB" sz="4400" b="1" dirty="0">
              <a:solidFill>
                <a:schemeClr val="accent5"/>
              </a:solidFill>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a:t>
            </a:fld>
            <a:endParaRPr lang="en-US" alt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370368" cy="615603"/>
          </a:xfrm>
        </p:spPr>
        <p:txBody>
          <a:bodyPr/>
          <a:lstStyle/>
          <a:p>
            <a:r>
              <a:rPr lang="en-GB" b="1" dirty="0" smtClean="0">
                <a:solidFill>
                  <a:srgbClr val="0070C0"/>
                </a:solidFill>
                <a:latin typeface="Cambria" panose="02040503050406030204" pitchFamily="18" charset="0"/>
                <a:ea typeface="Cambria" panose="02040503050406030204" pitchFamily="18" charset="0"/>
              </a:rPr>
              <a:t>             Content to be discussed</a:t>
            </a:r>
            <a:endParaRPr lang="en-US" b="1" dirty="0">
              <a:solidFill>
                <a:srgbClr val="0070C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692968" y="1196752"/>
            <a:ext cx="10371584" cy="3240360"/>
          </a:xfrm>
        </p:spPr>
        <p:txBody>
          <a:bodyPr/>
          <a:lstStyle/>
          <a:p>
            <a:r>
              <a:rPr lang="en-US" dirty="0" smtClean="0">
                <a:latin typeface="Cambria" panose="02040503050406030204" pitchFamily="18" charset="0"/>
                <a:ea typeface="Cambria" panose="02040503050406030204" pitchFamily="18" charset="0"/>
              </a:rPr>
              <a:t>Introduction to Eclipse &amp; Apache Tomcat Server</a:t>
            </a:r>
          </a:p>
          <a:p>
            <a:r>
              <a:rPr lang="en-US" dirty="0" err="1" smtClean="0">
                <a:latin typeface="Cambria" panose="02040503050406030204" pitchFamily="18" charset="0"/>
                <a:ea typeface="Cambria" panose="02040503050406030204" pitchFamily="18" charset="0"/>
              </a:rPr>
              <a:t>Servlet</a:t>
            </a:r>
            <a:r>
              <a:rPr lang="en-US" dirty="0" smtClean="0">
                <a:latin typeface="Cambria" panose="02040503050406030204" pitchFamily="18" charset="0"/>
                <a:ea typeface="Cambria" panose="02040503050406030204" pitchFamily="18" charset="0"/>
              </a:rPr>
              <a:t> API Fundamentals</a:t>
            </a:r>
          </a:p>
          <a:p>
            <a:r>
              <a:rPr lang="en-US" dirty="0" smtClean="0">
                <a:latin typeface="Cambria" panose="02040503050406030204" pitchFamily="18" charset="0"/>
                <a:ea typeface="Cambria" panose="02040503050406030204" pitchFamily="18" charset="0"/>
              </a:rPr>
              <a:t>ServletContext</a:t>
            </a:r>
          </a:p>
          <a:p>
            <a:r>
              <a:rPr lang="en-US" dirty="0" smtClean="0">
                <a:latin typeface="Cambria" panose="02040503050406030204" pitchFamily="18" charset="0"/>
                <a:ea typeface="Cambria" panose="02040503050406030204" pitchFamily="18" charset="0"/>
              </a:rPr>
              <a:t>Session </a:t>
            </a:r>
          </a:p>
          <a:p>
            <a:r>
              <a:rPr lang="en-US" dirty="0" smtClean="0">
                <a:latin typeface="Cambria" panose="02040503050406030204" pitchFamily="18" charset="0"/>
                <a:ea typeface="Cambria" panose="02040503050406030204" pitchFamily="18" charset="0"/>
              </a:rPr>
              <a:t>Cookies </a:t>
            </a:r>
          </a:p>
          <a:p>
            <a:r>
              <a:rPr lang="en-US" dirty="0" smtClean="0">
                <a:latin typeface="Cambria" panose="02040503050406030204" pitchFamily="18" charset="0"/>
                <a:ea typeface="Cambria" panose="02040503050406030204" pitchFamily="18" charset="0"/>
              </a:rPr>
              <a:t>Request Redirection Techniques   </a:t>
            </a:r>
          </a:p>
          <a:p>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2</a:t>
            </a:fld>
            <a:endParaRPr lang="en-US" altLang="en-US">
              <a:latin typeface="Cambria" panose="02040503050406030204" pitchFamily="18" charset="0"/>
              <a:ea typeface="Cambria" panose="020405030504060302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116632"/>
            <a:ext cx="3817640" cy="687611"/>
          </a:xfrm>
        </p:spPr>
        <p:txBody>
          <a:bodyPr/>
          <a:lstStyle/>
          <a:p>
            <a:r>
              <a:rPr lang="en-GB" sz="4000" b="1" dirty="0" smtClean="0">
                <a:solidFill>
                  <a:schemeClr val="accent5"/>
                </a:solidFill>
                <a:latin typeface="Cambria" panose="02040503050406030204" pitchFamily="18" charset="0"/>
                <a:ea typeface="Cambria" panose="02040503050406030204" pitchFamily="18" charset="0"/>
              </a:rPr>
              <a:t>Web Browser</a:t>
            </a:r>
            <a:endParaRPr lang="en-US" sz="40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551384" y="908721"/>
            <a:ext cx="10802416" cy="936104"/>
          </a:xfrm>
        </p:spPr>
        <p:txBody>
          <a:bodyPr/>
          <a:lstStyle/>
          <a:p>
            <a:pPr marL="0" indent="0" algn="just">
              <a:buNone/>
            </a:pPr>
            <a:r>
              <a:rPr lang="en-US" dirty="0" smtClean="0">
                <a:latin typeface="Cambria" panose="02040503050406030204" pitchFamily="18" charset="0"/>
                <a:ea typeface="Cambria" panose="02040503050406030204" pitchFamily="18" charset="0"/>
              </a:rPr>
              <a:t>a program which acts as an interface between user and web application e.g. Internet Explorer, Chrome, Safari, Mozilla </a:t>
            </a:r>
            <a:r>
              <a:rPr lang="en-US" dirty="0" err="1" smtClean="0">
                <a:latin typeface="Cambria" panose="02040503050406030204" pitchFamily="18" charset="0"/>
                <a:ea typeface="Cambria" panose="02040503050406030204" pitchFamily="18" charset="0"/>
              </a:rPr>
              <a:t>firefox</a:t>
            </a:r>
            <a:r>
              <a:rPr lang="en-US" dirty="0" smtClean="0">
                <a:latin typeface="Cambria" panose="02040503050406030204" pitchFamily="18" charset="0"/>
                <a:ea typeface="Cambria" panose="02040503050406030204" pitchFamily="18" charset="0"/>
              </a:rPr>
              <a:t> etc.</a:t>
            </a:r>
          </a:p>
          <a:p>
            <a:pPr algn="just"/>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3</a:t>
            </a:fld>
            <a:endParaRPr lang="en-US" altLang="en-US">
              <a:latin typeface="Cambria" panose="02040503050406030204" pitchFamily="18" charset="0"/>
              <a:ea typeface="Cambria" panose="02040503050406030204" pitchFamily="18" charset="0"/>
            </a:endParaRPr>
          </a:p>
        </p:txBody>
      </p:sp>
      <p:sp>
        <p:nvSpPr>
          <p:cNvPr id="5" name="Title 1"/>
          <p:cNvSpPr txBox="1">
            <a:spLocks/>
          </p:cNvSpPr>
          <p:nvPr/>
        </p:nvSpPr>
        <p:spPr bwMode="auto">
          <a:xfrm>
            <a:off x="119336" y="1931408"/>
            <a:ext cx="10515600" cy="5435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hangingPunct="1"/>
            <a:r>
              <a:rPr lang="en-GB" sz="4000" b="1" dirty="0" smtClean="0">
                <a:solidFill>
                  <a:srgbClr val="0070C0"/>
                </a:solidFill>
                <a:latin typeface="Cambria" panose="02040503050406030204" pitchFamily="18" charset="0"/>
                <a:ea typeface="Cambria" panose="02040503050406030204" pitchFamily="18" charset="0"/>
              </a:rPr>
              <a:t>What is a web application?</a:t>
            </a:r>
            <a:endParaRPr lang="en-GB" sz="4000" b="1" dirty="0">
              <a:solidFill>
                <a:srgbClr val="0070C0"/>
              </a:solidFill>
              <a:latin typeface="Cambria" panose="02040503050406030204" pitchFamily="18" charset="0"/>
              <a:ea typeface="Cambria" panose="02040503050406030204" pitchFamily="18" charset="0"/>
            </a:endParaRPr>
          </a:p>
        </p:txBody>
      </p:sp>
      <p:sp>
        <p:nvSpPr>
          <p:cNvPr id="6" name="Content Placeholder 2"/>
          <p:cNvSpPr txBox="1">
            <a:spLocks/>
          </p:cNvSpPr>
          <p:nvPr/>
        </p:nvSpPr>
        <p:spPr bwMode="auto">
          <a:xfrm>
            <a:off x="495000" y="2577662"/>
            <a:ext cx="10785575" cy="286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eaLnBrk="1" hangingPunct="1"/>
            <a:r>
              <a:rPr lang="en-GB" dirty="0" smtClean="0">
                <a:latin typeface="Cambria" panose="02040503050406030204" pitchFamily="18" charset="0"/>
                <a:ea typeface="Cambria" panose="02040503050406030204" pitchFamily="18" charset="0"/>
              </a:rPr>
              <a:t>A web application is an application accessible from the web. </a:t>
            </a:r>
          </a:p>
          <a:p>
            <a:pPr algn="just" eaLnBrk="1" hangingPunct="1"/>
            <a:r>
              <a:rPr lang="en-GB" dirty="0" smtClean="0">
                <a:latin typeface="Cambria" panose="02040503050406030204" pitchFamily="18" charset="0"/>
                <a:ea typeface="Cambria" panose="02040503050406030204" pitchFamily="18" charset="0"/>
              </a:rPr>
              <a:t>A web application is composed of web components like Servlet, JSP, Filter, etc. and other elements such as HTML, CSS and JavaScript. </a:t>
            </a:r>
          </a:p>
          <a:p>
            <a:pPr algn="just" eaLnBrk="1" hangingPunct="1"/>
            <a:r>
              <a:rPr lang="en-GB" dirty="0" smtClean="0">
                <a:latin typeface="Cambria" panose="02040503050406030204" pitchFamily="18" charset="0"/>
                <a:ea typeface="Cambria" panose="02040503050406030204" pitchFamily="18" charset="0"/>
              </a:rPr>
              <a:t>The web components typically execute in Web Server and respond to the HTTP request.</a:t>
            </a:r>
            <a:endParaRPr lang="en-US"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196164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5" grpId="0"/>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344" y="116632"/>
            <a:ext cx="4033664" cy="615603"/>
          </a:xfrm>
        </p:spPr>
        <p:txBody>
          <a:bodyPr/>
          <a:lstStyle/>
          <a:p>
            <a:r>
              <a:rPr lang="en-GB" sz="4000" b="1" dirty="0" smtClean="0">
                <a:solidFill>
                  <a:schemeClr val="accent5"/>
                </a:solidFill>
                <a:latin typeface="Cambria" panose="02040503050406030204" pitchFamily="18" charset="0"/>
                <a:ea typeface="Cambria" panose="02040503050406030204" pitchFamily="18" charset="0"/>
              </a:rPr>
              <a:t>Web Server</a:t>
            </a:r>
            <a:endParaRPr lang="en-US" sz="40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335360" y="836712"/>
            <a:ext cx="11018440" cy="3600400"/>
          </a:xfrm>
        </p:spPr>
        <p:txBody>
          <a:bodyPr/>
          <a:lstStyle/>
          <a:p>
            <a:pPr algn="just"/>
            <a:r>
              <a:rPr lang="en-GB" sz="2400" dirty="0" smtClean="0">
                <a:latin typeface="Cambria" panose="02040503050406030204" pitchFamily="18" charset="0"/>
                <a:ea typeface="Cambria" panose="02040503050406030204" pitchFamily="18" charset="0"/>
              </a:rPr>
              <a:t>A web server is a software application or hardware device that stores, processes, and serves web content to users over the </a:t>
            </a:r>
            <a:r>
              <a:rPr lang="en-GB" sz="2400" dirty="0">
                <a:latin typeface="Cambria" panose="02040503050406030204" pitchFamily="18" charset="0"/>
                <a:ea typeface="Cambria" panose="02040503050406030204" pitchFamily="18" charset="0"/>
              </a:rPr>
              <a:t>I</a:t>
            </a:r>
            <a:r>
              <a:rPr lang="en-GB" sz="2400" dirty="0" smtClean="0">
                <a:latin typeface="Cambria" panose="02040503050406030204" pitchFamily="18" charset="0"/>
                <a:ea typeface="Cambria" panose="02040503050406030204" pitchFamily="18" charset="0"/>
              </a:rPr>
              <a:t>nternet. It plays a critical role in the client-server model of the World Wide Web, where clients (typically web browsers) request web pages and resources, and servers respond to these requests by delivering the requested content.</a:t>
            </a:r>
          </a:p>
          <a:p>
            <a:pPr algn="just"/>
            <a:r>
              <a:rPr lang="en-GB" sz="2400" dirty="0" smtClean="0">
                <a:latin typeface="Cambria" panose="02040503050406030204" pitchFamily="18" charset="0"/>
                <a:ea typeface="Cambria" panose="02040503050406030204" pitchFamily="18" charset="0"/>
              </a:rPr>
              <a:t>Web servers operate on the Hypertext Transfer Protocol (HTTP), which is the foundation of data communication on the World Wide Web. When you enter a website’s URL into your browser, it sends an HTTP request to the web server hosting that website, which then sends back the web page you requested, allowing you to view it in your browser.</a:t>
            </a:r>
          </a:p>
          <a:p>
            <a:pPr algn="just"/>
            <a:endParaRPr lang="en-US" sz="24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4</a:t>
            </a:fld>
            <a:endParaRPr lang="en-US" altLang="en-US">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66081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370368" cy="615603"/>
          </a:xfrm>
        </p:spPr>
        <p:txBody>
          <a:bodyPr/>
          <a:lstStyle/>
          <a:p>
            <a:r>
              <a:rPr lang="en-GB" b="1" dirty="0" smtClean="0">
                <a:solidFill>
                  <a:srgbClr val="0070C0"/>
                </a:solidFill>
                <a:latin typeface="Cambria" panose="02040503050406030204" pitchFamily="18" charset="0"/>
                <a:ea typeface="Cambria" panose="02040503050406030204" pitchFamily="18" charset="0"/>
              </a:rPr>
              <a:t>Eclipse &amp; Apache Tomcat Server</a:t>
            </a:r>
            <a:endParaRPr lang="en-US" b="1" dirty="0">
              <a:solidFill>
                <a:srgbClr val="0070C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692968" y="1124744"/>
            <a:ext cx="10515600" cy="3384376"/>
          </a:xfrm>
        </p:spPr>
        <p:txBody>
          <a:bodyPr/>
          <a:lstStyle/>
          <a:p>
            <a:pPr algn="just"/>
            <a:r>
              <a:rPr lang="en-GB" dirty="0" smtClean="0">
                <a:latin typeface="Cambria" panose="02040503050406030204" pitchFamily="18" charset="0"/>
                <a:ea typeface="Cambria" panose="02040503050406030204" pitchFamily="18" charset="0"/>
              </a:rPr>
              <a:t>For Web &amp; EE app development the requirement is “</a:t>
            </a:r>
            <a:r>
              <a:rPr lang="en-GB" dirty="0" smtClean="0">
                <a:solidFill>
                  <a:schemeClr val="accent1">
                    <a:lumMod val="75000"/>
                  </a:schemeClr>
                </a:solidFill>
                <a:latin typeface="Cambria" panose="02040503050406030204" pitchFamily="18" charset="0"/>
                <a:ea typeface="Cambria" panose="02040503050406030204" pitchFamily="18" charset="0"/>
              </a:rPr>
              <a:t>Eclipse IDE for Enterprise Java and Web Developers”</a:t>
            </a:r>
          </a:p>
          <a:p>
            <a:pPr algn="just"/>
            <a:r>
              <a:rPr lang="en-GB" b="1" dirty="0" smtClean="0">
                <a:latin typeface="Cambria" panose="02040503050406030204" pitchFamily="18" charset="0"/>
                <a:ea typeface="Cambria" panose="02040503050406030204" pitchFamily="18" charset="0"/>
              </a:rPr>
              <a:t>Apache Tomcat is a web server and </a:t>
            </a:r>
            <a:r>
              <a:rPr lang="en-GB" b="1" dirty="0" err="1" smtClean="0">
                <a:latin typeface="Cambria" panose="02040503050406030204" pitchFamily="18" charset="0"/>
                <a:ea typeface="Cambria" panose="02040503050406030204" pitchFamily="18" charset="0"/>
                <a:hlinkClick r:id="rId2"/>
              </a:rPr>
              <a:t>servlet</a:t>
            </a:r>
            <a:r>
              <a:rPr lang="en-GB" b="1" dirty="0" smtClean="0">
                <a:latin typeface="Cambria" panose="02040503050406030204" pitchFamily="18" charset="0"/>
                <a:ea typeface="Cambria" panose="02040503050406030204" pitchFamily="18" charset="0"/>
                <a:hlinkClick r:id="rId2"/>
              </a:rPr>
              <a:t> container</a:t>
            </a:r>
            <a:r>
              <a:rPr lang="en-GB" b="1" dirty="0" smtClean="0">
                <a:latin typeface="Cambria" panose="02040503050406030204" pitchFamily="18" charset="0"/>
                <a:ea typeface="Cambria" panose="02040503050406030204" pitchFamily="18" charset="0"/>
              </a:rPr>
              <a:t> that's used to deploy and serve Java web applications</a:t>
            </a:r>
            <a:r>
              <a:rPr lang="en-GB" dirty="0" smtClean="0">
                <a:latin typeface="Cambria" panose="02040503050406030204" pitchFamily="18" charset="0"/>
                <a:ea typeface="Cambria" panose="02040503050406030204" pitchFamily="18" charset="0"/>
              </a:rPr>
              <a:t>.</a:t>
            </a:r>
          </a:p>
          <a:p>
            <a:pPr algn="just"/>
            <a:r>
              <a:rPr lang="en-US" b="1" dirty="0" smtClean="0">
                <a:latin typeface="Cambria" panose="02040503050406030204" pitchFamily="18" charset="0"/>
                <a:ea typeface="Cambria" panose="02040503050406030204" pitchFamily="18" charset="0"/>
              </a:rPr>
              <a:t>Install Tomcat on Windows - </a:t>
            </a:r>
            <a:r>
              <a:rPr lang="en-US" b="1" dirty="0" smtClean="0">
                <a:latin typeface="Cambria" panose="02040503050406030204" pitchFamily="18" charset="0"/>
                <a:ea typeface="Cambria" panose="02040503050406030204" pitchFamily="18" charset="0"/>
                <a:hlinkClick r:id="rId3"/>
              </a:rPr>
              <a:t>https://tomcat.apache.org/download-90.cgi</a:t>
            </a:r>
            <a:endParaRPr lang="en-US" b="1" dirty="0" smtClean="0">
              <a:latin typeface="Cambria" panose="02040503050406030204" pitchFamily="18" charset="0"/>
              <a:ea typeface="Cambria" panose="02040503050406030204" pitchFamily="18" charset="0"/>
            </a:endParaRPr>
          </a:p>
          <a:p>
            <a:pPr algn="just"/>
            <a:r>
              <a:rPr lang="en-US" b="1" dirty="0" smtClean="0">
                <a:latin typeface="Cambria" panose="02040503050406030204" pitchFamily="18" charset="0"/>
                <a:ea typeface="Cambria" panose="02040503050406030204" pitchFamily="18" charset="0"/>
              </a:rPr>
              <a:t>Install </a:t>
            </a:r>
            <a:endParaRPr lang="en-GB" dirty="0" smtClean="0">
              <a:latin typeface="Cambria" panose="02040503050406030204" pitchFamily="18" charset="0"/>
              <a:ea typeface="Cambria" panose="02040503050406030204" pitchFamily="18" charset="0"/>
            </a:endParaRPr>
          </a:p>
          <a:p>
            <a:pPr algn="just"/>
            <a:endParaRPr lang="en-GB" dirty="0" smtClean="0">
              <a:latin typeface="Cambria" panose="02040503050406030204" pitchFamily="18" charset="0"/>
              <a:ea typeface="Cambria" panose="02040503050406030204" pitchFamily="18" charset="0"/>
            </a:endParaRPr>
          </a:p>
          <a:p>
            <a:pPr algn="just"/>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5</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1"/>
            <a:ext cx="10513168" cy="476672"/>
          </a:xfrm>
        </p:spPr>
        <p:txBody>
          <a:bodyPr/>
          <a:lstStyle/>
          <a:p>
            <a:r>
              <a:rPr lang="en-GB" sz="4000" dirty="0" smtClean="0">
                <a:latin typeface="Cambria" panose="02040503050406030204" pitchFamily="18" charset="0"/>
                <a:ea typeface="Cambria" panose="02040503050406030204" pitchFamily="18" charset="0"/>
              </a:rPr>
              <a:t/>
            </a:r>
            <a:br>
              <a:rPr lang="en-GB" sz="4000" dirty="0" smtClean="0">
                <a:latin typeface="Cambria" panose="02040503050406030204" pitchFamily="18" charset="0"/>
                <a:ea typeface="Cambria" panose="02040503050406030204" pitchFamily="18" charset="0"/>
              </a:rPr>
            </a:br>
            <a:r>
              <a:rPr lang="en-GB" sz="4000" dirty="0" err="1" smtClean="0">
                <a:latin typeface="Cambria" panose="02040503050406030204" pitchFamily="18" charset="0"/>
                <a:ea typeface="Cambria" panose="02040503050406030204" pitchFamily="18" charset="0"/>
              </a:rPr>
              <a:t>Servlet</a:t>
            </a:r>
            <a:r>
              <a:rPr lang="en-IN" sz="4000" dirty="0" smtClean="0">
                <a:latin typeface="Cambria" panose="02040503050406030204" pitchFamily="18" charset="0"/>
                <a:ea typeface="Cambria" panose="02040503050406030204" pitchFamily="18" charset="0"/>
              </a:rPr>
              <a:t/>
            </a:r>
            <a:br>
              <a:rPr lang="en-IN" sz="4000" dirty="0" smtClean="0">
                <a:latin typeface="Cambria" panose="02040503050406030204" pitchFamily="18" charset="0"/>
                <a:ea typeface="Cambria" panose="02040503050406030204" pitchFamily="18" charset="0"/>
              </a:rPr>
            </a:br>
            <a:endParaRPr lang="en-US" sz="4000"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07368" y="548680"/>
            <a:ext cx="10946432" cy="4680520"/>
          </a:xfrm>
        </p:spPr>
        <p:txBody>
          <a:bodyPr/>
          <a:lstStyle/>
          <a:p>
            <a:pPr algn="just"/>
            <a:r>
              <a:rPr lang="en-GB" sz="2000" b="1"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technology is used to create a web application (resides at server side and generates a dynamic web page).</a:t>
            </a:r>
          </a:p>
          <a:p>
            <a:pPr algn="just"/>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is an API that provides many interfaces and classes including documentation.</a:t>
            </a:r>
          </a:p>
          <a:p>
            <a:pPr algn="just"/>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is an interface that must be implemented for creating any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a:t>
            </a:r>
          </a:p>
          <a:p>
            <a:pPr algn="just"/>
            <a:r>
              <a:rPr lang="en-GB" sz="2000" dirty="0" smtClean="0">
                <a:latin typeface="Cambria" panose="02040503050406030204" pitchFamily="18" charset="0"/>
                <a:ea typeface="Cambria" panose="02040503050406030204" pitchFamily="18" charset="0"/>
              </a:rPr>
              <a:t>Servlet is a class that extends the capabilities of the servers and responds to the incoming requests. </a:t>
            </a:r>
          </a:p>
          <a:p>
            <a:pPr algn="just"/>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is a web component that is deployed on the server to create a dynamic web page.</a:t>
            </a:r>
          </a:p>
          <a:p>
            <a:pPr algn="just"/>
            <a:r>
              <a:rPr lang="en-GB" sz="2000" b="1" dirty="0"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technology is robust and scalable because of </a:t>
            </a:r>
            <a:r>
              <a:rPr lang="en-GB" sz="2000" dirty="0">
                <a:latin typeface="Cambria" panose="02040503050406030204" pitchFamily="18" charset="0"/>
                <a:ea typeface="Cambria" panose="02040503050406030204" pitchFamily="18" charset="0"/>
              </a:rPr>
              <a:t>J</a:t>
            </a:r>
            <a:r>
              <a:rPr lang="en-GB" sz="2000" dirty="0" smtClean="0">
                <a:latin typeface="Cambria" panose="02040503050406030204" pitchFamily="18" charset="0"/>
                <a:ea typeface="Cambria" panose="02040503050406030204" pitchFamily="18" charset="0"/>
              </a:rPr>
              <a:t>ava language.</a:t>
            </a:r>
          </a:p>
          <a:p>
            <a:pPr algn="just"/>
            <a:r>
              <a:rPr lang="en-GB" sz="2000" dirty="0" smtClean="0">
                <a:latin typeface="Cambria" panose="02040503050406030204" pitchFamily="18" charset="0"/>
                <a:ea typeface="Cambria" panose="02040503050406030204" pitchFamily="18" charset="0"/>
              </a:rPr>
              <a:t>Before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CGI (Common Gateway Interface) scripting language was common as a server-side programming language.</a:t>
            </a:r>
          </a:p>
          <a:p>
            <a:pPr algn="just"/>
            <a:r>
              <a:rPr lang="en-US" sz="2000" dirty="0" smtClean="0">
                <a:latin typeface="Cambria" panose="02040503050406030204" pitchFamily="18" charset="0"/>
                <a:ea typeface="Cambria" panose="02040503050406030204" pitchFamily="18" charset="0"/>
              </a:rPr>
              <a:t>There are many interfaces and classes in the </a:t>
            </a:r>
            <a:r>
              <a:rPr lang="en-US" sz="2000" dirty="0" err="1" smtClean="0">
                <a:latin typeface="Cambria" panose="02040503050406030204" pitchFamily="18" charset="0"/>
                <a:ea typeface="Cambria" panose="02040503050406030204" pitchFamily="18" charset="0"/>
              </a:rPr>
              <a:t>Servlet</a:t>
            </a:r>
            <a:r>
              <a:rPr lang="en-US" sz="2000" dirty="0" smtClean="0">
                <a:latin typeface="Cambria" panose="02040503050406030204" pitchFamily="18" charset="0"/>
                <a:ea typeface="Cambria" panose="02040503050406030204" pitchFamily="18" charset="0"/>
              </a:rPr>
              <a:t> API such as </a:t>
            </a:r>
            <a:r>
              <a:rPr lang="en-US" sz="2000" dirty="0" err="1" smtClean="0">
                <a:latin typeface="Cambria" panose="02040503050406030204" pitchFamily="18" charset="0"/>
                <a:ea typeface="Cambria" panose="02040503050406030204" pitchFamily="18" charset="0"/>
              </a:rPr>
              <a:t>Servlet</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GenericServlet</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HttpServlet</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ServletRequest</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ServletResponse</a:t>
            </a:r>
            <a:r>
              <a:rPr lang="en-US" sz="2000" dirty="0" smtClean="0">
                <a:latin typeface="Cambria" panose="02040503050406030204" pitchFamily="18" charset="0"/>
                <a:ea typeface="Cambria" panose="02040503050406030204" pitchFamily="18" charset="0"/>
              </a:rPr>
              <a:t>, etc.</a:t>
            </a:r>
            <a:endParaRPr lang="en-US" sz="20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6</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706421"/>
          </a:xfrm>
        </p:spPr>
        <p:txBody>
          <a:bodyPr/>
          <a:lstStyle/>
          <a:p>
            <a:r>
              <a:rPr lang="en-GB" sz="4000" b="1" dirty="0" smtClean="0">
                <a:solidFill>
                  <a:srgbClr val="0070C0"/>
                </a:solidFill>
                <a:latin typeface="Cambria" panose="02040503050406030204" pitchFamily="18" charset="0"/>
                <a:ea typeface="Cambria" panose="02040503050406030204" pitchFamily="18" charset="0"/>
              </a:rPr>
              <a:t>How </a:t>
            </a:r>
            <a:r>
              <a:rPr lang="en-GB" sz="4000" b="1" dirty="0" err="1" smtClean="0">
                <a:solidFill>
                  <a:srgbClr val="0070C0"/>
                </a:solidFill>
                <a:latin typeface="Cambria" panose="02040503050406030204" pitchFamily="18" charset="0"/>
                <a:ea typeface="Cambria" panose="02040503050406030204" pitchFamily="18" charset="0"/>
              </a:rPr>
              <a:t>servlet</a:t>
            </a:r>
            <a:r>
              <a:rPr lang="en-GB" sz="4000" b="1" dirty="0" smtClean="0">
                <a:solidFill>
                  <a:srgbClr val="0070C0"/>
                </a:solidFill>
                <a:latin typeface="Cambria" panose="02040503050406030204" pitchFamily="18" charset="0"/>
                <a:ea typeface="Cambria" panose="02040503050406030204" pitchFamily="18" charset="0"/>
              </a:rPr>
              <a:t> operates?</a:t>
            </a:r>
            <a:endParaRPr lang="en-US" sz="4000" b="1" dirty="0">
              <a:solidFill>
                <a:srgbClr val="0070C0"/>
              </a:solidFill>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7</a:t>
            </a:fld>
            <a:endParaRPr lang="en-US" altLang="en-US">
              <a:latin typeface="Cambria" panose="02040503050406030204" pitchFamily="18" charset="0"/>
              <a:ea typeface="Cambria" panose="02040503050406030204" pitchFamily="18" charset="0"/>
            </a:endParaRPr>
          </a:p>
        </p:txBody>
      </p:sp>
      <p:pic>
        <p:nvPicPr>
          <p:cNvPr id="5" name="Content Placeholder 4" descr="Servlet"/>
          <p:cNvPicPr>
            <a:picLocks noGrp="1"/>
          </p:cNvPicPr>
          <p:nvPr>
            <p:ph idx="1"/>
          </p:nvPr>
        </p:nvPicPr>
        <p:blipFill>
          <a:blip r:embed="rId2"/>
          <a:srcRect/>
          <a:stretch>
            <a:fillRect/>
          </a:stretch>
        </p:blipFill>
        <p:spPr bwMode="auto">
          <a:xfrm>
            <a:off x="2977530" y="980728"/>
            <a:ext cx="6430838" cy="36004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461" y="7803"/>
            <a:ext cx="5833864" cy="504056"/>
          </a:xfrm>
        </p:spPr>
        <p:txBody>
          <a:bodyPr/>
          <a:lstStyle/>
          <a:p>
            <a:pPr algn="just"/>
            <a:r>
              <a:rPr lang="en-US" sz="4000" b="1" dirty="0" smtClean="0">
                <a:solidFill>
                  <a:srgbClr val="0070C0"/>
                </a:solidFill>
                <a:latin typeface="Cambria" panose="02040503050406030204" pitchFamily="18" charset="0"/>
                <a:ea typeface="Cambria" panose="02040503050406030204" pitchFamily="18" charset="0"/>
              </a:rPr>
              <a:t>Advantages of </a:t>
            </a:r>
            <a:r>
              <a:rPr lang="en-US" sz="4000" b="1" dirty="0" err="1" smtClean="0">
                <a:solidFill>
                  <a:srgbClr val="0070C0"/>
                </a:solidFill>
                <a:latin typeface="Cambria" panose="02040503050406030204" pitchFamily="18" charset="0"/>
                <a:ea typeface="Cambria" panose="02040503050406030204" pitchFamily="18" charset="0"/>
              </a:rPr>
              <a:t>Servlet</a:t>
            </a:r>
            <a:endParaRPr lang="en-US" sz="4000" b="1" dirty="0">
              <a:solidFill>
                <a:srgbClr val="0070C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591524" y="692696"/>
            <a:ext cx="10762276" cy="4104455"/>
          </a:xfrm>
        </p:spPr>
        <p:txBody>
          <a:bodyPr/>
          <a:lstStyle/>
          <a:p>
            <a:pPr marL="0" indent="0" algn="just">
              <a:buNone/>
            </a:pPr>
            <a:r>
              <a:rPr lang="en-GB" smtClean="0">
                <a:latin typeface="Cambria" panose="02040503050406030204" pitchFamily="18" charset="0"/>
                <a:ea typeface="Cambria" panose="02040503050406030204" pitchFamily="18" charset="0"/>
              </a:rPr>
              <a:t>The </a:t>
            </a:r>
            <a:r>
              <a:rPr lang="en-GB" dirty="0" smtClean="0">
                <a:latin typeface="Cambria" panose="02040503050406030204" pitchFamily="18" charset="0"/>
                <a:ea typeface="Cambria" panose="02040503050406030204" pitchFamily="18" charset="0"/>
              </a:rPr>
              <a:t>advantages of Servlet are as follows:</a:t>
            </a:r>
          </a:p>
          <a:p>
            <a:pPr marL="342900" indent="-342900" algn="just">
              <a:buFont typeface="+mj-lt"/>
              <a:buAutoNum type="arabicPeriod"/>
            </a:pPr>
            <a:r>
              <a:rPr lang="en-GB" sz="2400" b="1" dirty="0" smtClean="0">
                <a:latin typeface="Cambria" panose="02040503050406030204" pitchFamily="18" charset="0"/>
                <a:ea typeface="Cambria" panose="02040503050406030204" pitchFamily="18" charset="0"/>
              </a:rPr>
              <a:t>Better performance:</a:t>
            </a:r>
            <a:r>
              <a:rPr lang="en-GB" sz="2400" dirty="0" smtClean="0">
                <a:latin typeface="Cambria" panose="02040503050406030204" pitchFamily="18" charset="0"/>
                <a:ea typeface="Cambria" panose="02040503050406030204" pitchFamily="18" charset="0"/>
              </a:rPr>
              <a:t> because it creates a thread for each request, not process.</a:t>
            </a:r>
          </a:p>
          <a:p>
            <a:pPr marL="342900" indent="-342900" algn="just">
              <a:buFont typeface="+mj-lt"/>
              <a:buAutoNum type="arabicPeriod"/>
            </a:pPr>
            <a:r>
              <a:rPr lang="en-GB" sz="2400" b="1" dirty="0" smtClean="0">
                <a:latin typeface="Cambria" panose="02040503050406030204" pitchFamily="18" charset="0"/>
                <a:ea typeface="Cambria" panose="02040503050406030204" pitchFamily="18" charset="0"/>
              </a:rPr>
              <a:t>Portability:</a:t>
            </a:r>
            <a:r>
              <a:rPr lang="en-GB" sz="2400" dirty="0" smtClean="0">
                <a:latin typeface="Cambria" panose="02040503050406030204" pitchFamily="18" charset="0"/>
                <a:ea typeface="Cambria" panose="02040503050406030204" pitchFamily="18" charset="0"/>
              </a:rPr>
              <a:t> because it uses Java language.</a:t>
            </a:r>
          </a:p>
          <a:p>
            <a:pPr marL="342900" indent="-342900" algn="just">
              <a:buFont typeface="+mj-lt"/>
              <a:buAutoNum type="arabicPeriod"/>
            </a:pPr>
            <a:r>
              <a:rPr lang="en-GB" sz="2400" b="1" dirty="0" smtClean="0">
                <a:latin typeface="Cambria" panose="02040503050406030204" pitchFamily="18" charset="0"/>
                <a:ea typeface="Cambria" panose="02040503050406030204" pitchFamily="18" charset="0"/>
              </a:rPr>
              <a:t>Robust:</a:t>
            </a:r>
            <a:r>
              <a:rPr lang="en-GB" sz="2400" dirty="0" smtClean="0">
                <a:latin typeface="Cambria" panose="02040503050406030204" pitchFamily="18" charset="0"/>
                <a:ea typeface="Cambria" panose="02040503050406030204" pitchFamily="18" charset="0"/>
              </a:rPr>
              <a:t> </a:t>
            </a:r>
            <a:r>
              <a:rPr lang="en-GB" sz="2400" dirty="0" smtClean="0">
                <a:latin typeface="Cambria" panose="02040503050406030204" pitchFamily="18" charset="0"/>
                <a:ea typeface="Cambria" panose="02040503050406030204" pitchFamily="18" charset="0"/>
                <a:hlinkClick r:id="rId2"/>
              </a:rPr>
              <a:t>JVM</a:t>
            </a:r>
            <a:r>
              <a:rPr lang="en-GB" sz="2400" dirty="0" smtClean="0">
                <a:latin typeface="Cambria" panose="02040503050406030204" pitchFamily="18" charset="0"/>
                <a:ea typeface="Cambria" panose="02040503050406030204" pitchFamily="18" charset="0"/>
              </a:rPr>
              <a:t> manages </a:t>
            </a:r>
            <a:r>
              <a:rPr lang="en-GB" sz="2400" dirty="0" err="1" smtClean="0">
                <a:latin typeface="Cambria" panose="02040503050406030204" pitchFamily="18" charset="0"/>
                <a:ea typeface="Cambria" panose="02040503050406030204" pitchFamily="18" charset="0"/>
              </a:rPr>
              <a:t>Servlets</a:t>
            </a:r>
            <a:r>
              <a:rPr lang="en-GB" sz="2400" dirty="0" smtClean="0">
                <a:latin typeface="Cambria" panose="02040503050406030204" pitchFamily="18" charset="0"/>
                <a:ea typeface="Cambria" panose="02040503050406030204" pitchFamily="18" charset="0"/>
              </a:rPr>
              <a:t>, so we don't need to worry about the memory leak, </a:t>
            </a:r>
            <a:r>
              <a:rPr lang="en-GB" sz="2400" dirty="0" smtClean="0">
                <a:latin typeface="Cambria" panose="02040503050406030204" pitchFamily="18" charset="0"/>
                <a:ea typeface="Cambria" panose="02040503050406030204" pitchFamily="18" charset="0"/>
                <a:hlinkClick r:id="rId3"/>
              </a:rPr>
              <a:t>garbage collection</a:t>
            </a:r>
            <a:r>
              <a:rPr lang="en-GB" sz="2400" dirty="0" smtClean="0">
                <a:latin typeface="Cambria" panose="02040503050406030204" pitchFamily="18" charset="0"/>
                <a:ea typeface="Cambria" panose="02040503050406030204" pitchFamily="18" charset="0"/>
              </a:rPr>
              <a:t>, etc.</a:t>
            </a:r>
          </a:p>
          <a:p>
            <a:pPr marL="342900" indent="-342900" algn="just">
              <a:buFont typeface="+mj-lt"/>
              <a:buAutoNum type="arabicPeriod"/>
            </a:pPr>
            <a:r>
              <a:rPr lang="en-GB" sz="2400" b="1" dirty="0" smtClean="0">
                <a:latin typeface="Cambria" panose="02040503050406030204" pitchFamily="18" charset="0"/>
                <a:ea typeface="Cambria" panose="02040503050406030204" pitchFamily="18" charset="0"/>
              </a:rPr>
              <a:t>Secure:</a:t>
            </a:r>
            <a:r>
              <a:rPr lang="en-GB" sz="2400" dirty="0" smtClean="0">
                <a:latin typeface="Cambria" panose="02040503050406030204" pitchFamily="18" charset="0"/>
                <a:ea typeface="Cambria" panose="02040503050406030204" pitchFamily="18" charset="0"/>
              </a:rPr>
              <a:t> because it uses Java language.</a:t>
            </a:r>
            <a:endParaRPr lang="en-US" sz="36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8</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19653"/>
            <a:ext cx="5905872" cy="615603"/>
          </a:xfrm>
        </p:spPr>
        <p:txBody>
          <a:bodyPr/>
          <a:lstStyle/>
          <a:p>
            <a:r>
              <a:rPr lang="en-US" sz="4000" b="1" dirty="0" smtClean="0">
                <a:solidFill>
                  <a:srgbClr val="0070C0"/>
                </a:solidFill>
                <a:latin typeface="Cambria" panose="02040503050406030204" pitchFamily="18" charset="0"/>
                <a:ea typeface="Cambria" panose="02040503050406030204" pitchFamily="18" charset="0"/>
              </a:rPr>
              <a:t> HTTP request methods </a:t>
            </a:r>
            <a:endParaRPr lang="en-US" sz="4000" b="1" dirty="0">
              <a:solidFill>
                <a:srgbClr val="0070C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384948" y="635256"/>
            <a:ext cx="11079770" cy="1152128"/>
          </a:xfrm>
        </p:spPr>
        <p:txBody>
          <a:bodyPr/>
          <a:lstStyle/>
          <a:p>
            <a:pPr algn="just"/>
            <a:r>
              <a:rPr lang="en-GB" sz="2400" dirty="0" smtClean="0">
                <a:latin typeface="Cambria" panose="02040503050406030204" pitchFamily="18" charset="0"/>
                <a:ea typeface="Cambria" panose="02040503050406030204" pitchFamily="18" charset="0"/>
              </a:rPr>
              <a:t>The HTTP request method indicates the method to be performed on the resource identified by the </a:t>
            </a:r>
            <a:r>
              <a:rPr lang="en-GB" sz="2400" b="1" dirty="0" smtClean="0">
                <a:latin typeface="Cambria" panose="02040503050406030204" pitchFamily="18" charset="0"/>
                <a:ea typeface="Cambria" panose="02040503050406030204" pitchFamily="18" charset="0"/>
              </a:rPr>
              <a:t>Requested URI (Uniform Resource Identifier)</a:t>
            </a:r>
            <a:r>
              <a:rPr lang="en-GB" sz="2400" dirty="0" smtClean="0">
                <a:latin typeface="Cambria" panose="02040503050406030204" pitchFamily="18" charset="0"/>
                <a:ea typeface="Cambria" panose="02040503050406030204" pitchFamily="18" charset="0"/>
              </a:rPr>
              <a:t>. This method is case-sensitive and should be used in uppercase.</a:t>
            </a:r>
            <a:endParaRPr lang="en-US" sz="24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9</a:t>
            </a:fld>
            <a:endParaRPr lang="en-US" altLang="en-US">
              <a:latin typeface="Cambria" panose="02040503050406030204" pitchFamily="18" charset="0"/>
              <a:ea typeface="Cambria" panose="020405030504060302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3830214131"/>
              </p:ext>
            </p:extLst>
          </p:nvPr>
        </p:nvGraphicFramePr>
        <p:xfrm>
          <a:off x="525991" y="1706686"/>
          <a:ext cx="10797685" cy="4440393"/>
        </p:xfrm>
        <a:graphic>
          <a:graphicData uri="http://schemas.openxmlformats.org/drawingml/2006/table">
            <a:tbl>
              <a:tblPr firstRow="1" bandRow="1">
                <a:tableStyleId>{5C22544A-7EE6-4342-B048-85BDC9FD1C3A}</a:tableStyleId>
              </a:tblPr>
              <a:tblGrid>
                <a:gridCol w="1813973"/>
                <a:gridCol w="8983712"/>
              </a:tblGrid>
              <a:tr h="695442">
                <a:tc>
                  <a:txBody>
                    <a:bodyPr/>
                    <a:lstStyle/>
                    <a:p>
                      <a:pPr algn="l" fontAlgn="t"/>
                      <a:r>
                        <a:rPr lang="en-US" dirty="0">
                          <a:solidFill>
                            <a:srgbClr val="000000"/>
                          </a:solidFill>
                          <a:latin typeface="Cambria" panose="02040503050406030204" pitchFamily="18" charset="0"/>
                          <a:ea typeface="Cambria" panose="02040503050406030204" pitchFamily="18" charset="0"/>
                        </a:rPr>
                        <a:t>HTTP Request</a:t>
                      </a:r>
                    </a:p>
                  </a:txBody>
                  <a:tcPr marL="114300" marR="114300" marT="114300" marB="114300"/>
                </a:tc>
                <a:tc>
                  <a:txBody>
                    <a:bodyPr/>
                    <a:lstStyle/>
                    <a:p>
                      <a:pPr algn="l" fontAlgn="t"/>
                      <a:r>
                        <a:rPr lang="en-US" dirty="0">
                          <a:solidFill>
                            <a:srgbClr val="000000"/>
                          </a:solidFill>
                          <a:latin typeface="Cambria" panose="02040503050406030204" pitchFamily="18" charset="0"/>
                          <a:ea typeface="Cambria" panose="02040503050406030204" pitchFamily="18" charset="0"/>
                        </a:rPr>
                        <a:t>Description</a:t>
                      </a:r>
                    </a:p>
                  </a:txBody>
                  <a:tcPr marL="114300" marR="114300" marT="114300" marB="114300"/>
                </a:tc>
              </a:tr>
              <a:tr h="387125">
                <a:tc>
                  <a:txBody>
                    <a:bodyPr/>
                    <a:lstStyle/>
                    <a:p>
                      <a:pPr algn="just" fontAlgn="t"/>
                      <a:r>
                        <a:rPr lang="en-US" b="1">
                          <a:solidFill>
                            <a:srgbClr val="333333"/>
                          </a:solidFill>
                          <a:latin typeface="Cambria" panose="02040503050406030204" pitchFamily="18" charset="0"/>
                          <a:ea typeface="Cambria" panose="02040503050406030204" pitchFamily="18" charset="0"/>
                        </a:rPr>
                        <a:t>GET</a:t>
                      </a:r>
                      <a:endParaRPr lang="en-US">
                        <a:solidFill>
                          <a:srgbClr val="333333"/>
                        </a:solidFill>
                        <a:latin typeface="Cambria" panose="02040503050406030204" pitchFamily="18" charset="0"/>
                        <a:ea typeface="Cambria" panose="02040503050406030204" pitchFamily="18" charset="0"/>
                      </a:endParaRPr>
                    </a:p>
                  </a:txBody>
                  <a:tcPr marL="76200" marR="76200" marT="76200" marB="76200"/>
                </a:tc>
                <a:tc>
                  <a:txBody>
                    <a:bodyPr/>
                    <a:lstStyle/>
                    <a:p>
                      <a:pPr algn="just" fontAlgn="t"/>
                      <a:r>
                        <a:rPr lang="en-GB">
                          <a:solidFill>
                            <a:srgbClr val="333333"/>
                          </a:solidFill>
                          <a:latin typeface="Cambria" panose="02040503050406030204" pitchFamily="18" charset="0"/>
                          <a:ea typeface="Cambria" panose="02040503050406030204" pitchFamily="18" charset="0"/>
                        </a:rPr>
                        <a:t>Asks to get the resource at the requested URL.</a:t>
                      </a:r>
                    </a:p>
                  </a:txBody>
                  <a:tcPr marL="76200" marR="76200" marT="76200" marB="76200"/>
                </a:tc>
              </a:tr>
              <a:tr h="635991">
                <a:tc>
                  <a:txBody>
                    <a:bodyPr/>
                    <a:lstStyle/>
                    <a:p>
                      <a:pPr algn="just" fontAlgn="t"/>
                      <a:r>
                        <a:rPr lang="en-US" b="1">
                          <a:solidFill>
                            <a:srgbClr val="333333"/>
                          </a:solidFill>
                          <a:latin typeface="Cambria" panose="02040503050406030204" pitchFamily="18" charset="0"/>
                          <a:ea typeface="Cambria" panose="02040503050406030204" pitchFamily="18" charset="0"/>
                        </a:rPr>
                        <a:t>POST</a:t>
                      </a:r>
                      <a:endParaRPr lang="en-US">
                        <a:solidFill>
                          <a:srgbClr val="333333"/>
                        </a:solidFill>
                        <a:latin typeface="Cambria" panose="02040503050406030204" pitchFamily="18" charset="0"/>
                        <a:ea typeface="Cambria" panose="02040503050406030204" pitchFamily="18" charset="0"/>
                      </a:endParaRPr>
                    </a:p>
                  </a:txBody>
                  <a:tcPr marL="76200" marR="76200" marT="76200" marB="76200"/>
                </a:tc>
                <a:tc>
                  <a:txBody>
                    <a:bodyPr/>
                    <a:lstStyle/>
                    <a:p>
                      <a:pPr algn="just" fontAlgn="t"/>
                      <a:r>
                        <a:rPr lang="en-GB">
                          <a:solidFill>
                            <a:srgbClr val="333333"/>
                          </a:solidFill>
                          <a:latin typeface="Cambria" panose="02040503050406030204" pitchFamily="18" charset="0"/>
                          <a:ea typeface="Cambria" panose="02040503050406030204" pitchFamily="18" charset="0"/>
                        </a:rPr>
                        <a:t>Asks the server to accept the body info attached. It is like GET request with extra info sent with the request.</a:t>
                      </a:r>
                    </a:p>
                  </a:txBody>
                  <a:tcPr marL="76200" marR="76200" marT="76200" marB="76200"/>
                </a:tc>
              </a:tr>
              <a:tr h="635991">
                <a:tc>
                  <a:txBody>
                    <a:bodyPr/>
                    <a:lstStyle/>
                    <a:p>
                      <a:pPr algn="just" fontAlgn="t"/>
                      <a:r>
                        <a:rPr lang="en-US" b="1">
                          <a:solidFill>
                            <a:srgbClr val="333333"/>
                          </a:solidFill>
                          <a:latin typeface="Cambria" panose="02040503050406030204" pitchFamily="18" charset="0"/>
                          <a:ea typeface="Cambria" panose="02040503050406030204" pitchFamily="18" charset="0"/>
                        </a:rPr>
                        <a:t>HEAD</a:t>
                      </a:r>
                      <a:endParaRPr lang="en-US">
                        <a:solidFill>
                          <a:srgbClr val="333333"/>
                        </a:solidFill>
                        <a:latin typeface="Cambria" panose="02040503050406030204" pitchFamily="18" charset="0"/>
                        <a:ea typeface="Cambria" panose="02040503050406030204" pitchFamily="18" charset="0"/>
                      </a:endParaRPr>
                    </a:p>
                  </a:txBody>
                  <a:tcPr marL="76200" marR="76200" marT="76200" marB="76200"/>
                </a:tc>
                <a:tc>
                  <a:txBody>
                    <a:bodyPr/>
                    <a:lstStyle/>
                    <a:p>
                      <a:pPr algn="just" fontAlgn="t"/>
                      <a:r>
                        <a:rPr lang="en-GB" dirty="0">
                          <a:solidFill>
                            <a:srgbClr val="333333"/>
                          </a:solidFill>
                          <a:latin typeface="Cambria" panose="02040503050406030204" pitchFamily="18" charset="0"/>
                          <a:ea typeface="Cambria" panose="02040503050406030204" pitchFamily="18" charset="0"/>
                        </a:rPr>
                        <a:t>Asks for only the header part of whatever a GET would return. Just like GET but with no body.</a:t>
                      </a:r>
                    </a:p>
                  </a:txBody>
                  <a:tcPr marL="76200" marR="76200" marT="76200" marB="76200"/>
                </a:tc>
              </a:tr>
              <a:tr h="422208">
                <a:tc>
                  <a:txBody>
                    <a:bodyPr/>
                    <a:lstStyle/>
                    <a:p>
                      <a:pPr algn="just" fontAlgn="t"/>
                      <a:r>
                        <a:rPr lang="en-US" b="1">
                          <a:solidFill>
                            <a:srgbClr val="333333"/>
                          </a:solidFill>
                          <a:latin typeface="Cambria" panose="02040503050406030204" pitchFamily="18" charset="0"/>
                          <a:ea typeface="Cambria" panose="02040503050406030204" pitchFamily="18" charset="0"/>
                        </a:rPr>
                        <a:t>TRACE</a:t>
                      </a:r>
                      <a:endParaRPr lang="en-US">
                        <a:solidFill>
                          <a:srgbClr val="333333"/>
                        </a:solidFill>
                        <a:latin typeface="Cambria" panose="02040503050406030204" pitchFamily="18" charset="0"/>
                        <a:ea typeface="Cambria" panose="02040503050406030204" pitchFamily="18" charset="0"/>
                      </a:endParaRPr>
                    </a:p>
                  </a:txBody>
                  <a:tcPr marL="76200" marR="76200" marT="76200" marB="76200"/>
                </a:tc>
                <a:tc>
                  <a:txBody>
                    <a:bodyPr/>
                    <a:lstStyle/>
                    <a:p>
                      <a:pPr algn="just" fontAlgn="t"/>
                      <a:r>
                        <a:rPr lang="en-GB" dirty="0">
                          <a:solidFill>
                            <a:srgbClr val="333333"/>
                          </a:solidFill>
                          <a:latin typeface="Cambria" panose="02040503050406030204" pitchFamily="18" charset="0"/>
                          <a:ea typeface="Cambria" panose="02040503050406030204" pitchFamily="18" charset="0"/>
                        </a:rPr>
                        <a:t>Asks for the loopback of the request message, for testing or troubleshooting.</a:t>
                      </a:r>
                    </a:p>
                  </a:txBody>
                  <a:tcPr marL="76200" marR="76200" marT="76200" marB="76200"/>
                </a:tc>
              </a:tr>
              <a:tr h="387125">
                <a:tc>
                  <a:txBody>
                    <a:bodyPr/>
                    <a:lstStyle/>
                    <a:p>
                      <a:pPr algn="just" fontAlgn="t"/>
                      <a:r>
                        <a:rPr lang="en-US" b="1" dirty="0">
                          <a:solidFill>
                            <a:srgbClr val="333333"/>
                          </a:solidFill>
                          <a:latin typeface="Cambria" panose="02040503050406030204" pitchFamily="18" charset="0"/>
                          <a:ea typeface="Cambria" panose="02040503050406030204" pitchFamily="18" charset="0"/>
                        </a:rPr>
                        <a:t>PUT</a:t>
                      </a:r>
                      <a:endParaRPr lang="en-US" dirty="0">
                        <a:solidFill>
                          <a:srgbClr val="333333"/>
                        </a:solidFill>
                        <a:latin typeface="Cambria" panose="02040503050406030204" pitchFamily="18" charset="0"/>
                        <a:ea typeface="Cambria" panose="02040503050406030204" pitchFamily="18" charset="0"/>
                      </a:endParaRPr>
                    </a:p>
                  </a:txBody>
                  <a:tcPr marL="76200" marR="76200" marT="76200" marB="76200"/>
                </a:tc>
                <a:tc>
                  <a:txBody>
                    <a:bodyPr/>
                    <a:lstStyle/>
                    <a:p>
                      <a:pPr algn="just" fontAlgn="t"/>
                      <a:r>
                        <a:rPr lang="en-GB" dirty="0">
                          <a:solidFill>
                            <a:srgbClr val="333333"/>
                          </a:solidFill>
                          <a:latin typeface="Cambria" panose="02040503050406030204" pitchFamily="18" charset="0"/>
                          <a:ea typeface="Cambria" panose="02040503050406030204" pitchFamily="18" charset="0"/>
                        </a:rPr>
                        <a:t>Says to put the enclosed info (the body) at the requested URL.</a:t>
                      </a:r>
                    </a:p>
                  </a:txBody>
                  <a:tcPr marL="76200" marR="76200" marT="76200" marB="76200"/>
                </a:tc>
              </a:tr>
              <a:tr h="387125">
                <a:tc>
                  <a:txBody>
                    <a:bodyPr/>
                    <a:lstStyle/>
                    <a:p>
                      <a:pPr algn="just" fontAlgn="t"/>
                      <a:r>
                        <a:rPr lang="en-US" b="1">
                          <a:solidFill>
                            <a:srgbClr val="333333"/>
                          </a:solidFill>
                          <a:latin typeface="Cambria" panose="02040503050406030204" pitchFamily="18" charset="0"/>
                          <a:ea typeface="Cambria" panose="02040503050406030204" pitchFamily="18" charset="0"/>
                        </a:rPr>
                        <a:t>DELETE</a:t>
                      </a:r>
                      <a:endParaRPr lang="en-US">
                        <a:solidFill>
                          <a:srgbClr val="333333"/>
                        </a:solidFill>
                        <a:latin typeface="Cambria" panose="02040503050406030204" pitchFamily="18" charset="0"/>
                        <a:ea typeface="Cambria" panose="02040503050406030204" pitchFamily="18" charset="0"/>
                      </a:endParaRPr>
                    </a:p>
                  </a:txBody>
                  <a:tcPr marL="76200" marR="76200" marT="76200" marB="76200"/>
                </a:tc>
                <a:tc>
                  <a:txBody>
                    <a:bodyPr/>
                    <a:lstStyle/>
                    <a:p>
                      <a:pPr algn="just" fontAlgn="t"/>
                      <a:r>
                        <a:rPr lang="en-GB">
                          <a:solidFill>
                            <a:srgbClr val="333333"/>
                          </a:solidFill>
                          <a:latin typeface="Cambria" panose="02040503050406030204" pitchFamily="18" charset="0"/>
                          <a:ea typeface="Cambria" panose="02040503050406030204" pitchFamily="18" charset="0"/>
                        </a:rPr>
                        <a:t>Says to delete the resource at the requested URL.</a:t>
                      </a:r>
                    </a:p>
                  </a:txBody>
                  <a:tcPr marL="76200" marR="76200" marT="76200" marB="76200"/>
                </a:tc>
              </a:tr>
              <a:tr h="635991">
                <a:tc>
                  <a:txBody>
                    <a:bodyPr/>
                    <a:lstStyle/>
                    <a:p>
                      <a:pPr algn="just" fontAlgn="t"/>
                      <a:r>
                        <a:rPr lang="en-US" b="1">
                          <a:solidFill>
                            <a:srgbClr val="333333"/>
                          </a:solidFill>
                          <a:latin typeface="Cambria" panose="02040503050406030204" pitchFamily="18" charset="0"/>
                          <a:ea typeface="Cambria" panose="02040503050406030204" pitchFamily="18" charset="0"/>
                        </a:rPr>
                        <a:t>OPTIONS</a:t>
                      </a:r>
                      <a:endParaRPr lang="en-US">
                        <a:solidFill>
                          <a:srgbClr val="333333"/>
                        </a:solidFill>
                        <a:latin typeface="Cambria" panose="02040503050406030204" pitchFamily="18" charset="0"/>
                        <a:ea typeface="Cambria" panose="02040503050406030204" pitchFamily="18" charset="0"/>
                      </a:endParaRPr>
                    </a:p>
                  </a:txBody>
                  <a:tcPr marL="76200" marR="76200" marT="76200" marB="76200"/>
                </a:tc>
                <a:tc>
                  <a:txBody>
                    <a:bodyPr/>
                    <a:lstStyle/>
                    <a:p>
                      <a:pPr algn="just" fontAlgn="t"/>
                      <a:r>
                        <a:rPr lang="en-GB" dirty="0">
                          <a:solidFill>
                            <a:srgbClr val="333333"/>
                          </a:solidFill>
                          <a:latin typeface="Cambria" panose="02040503050406030204" pitchFamily="18" charset="0"/>
                          <a:ea typeface="Cambria" panose="02040503050406030204" pitchFamily="18" charset="0"/>
                        </a:rPr>
                        <a:t>Asks for a list of the HTTP methods to which the thing at the request URL can respond</a:t>
                      </a:r>
                    </a:p>
                  </a:txBody>
                  <a:tcPr marL="76200" marR="76200" marT="76200" marB="76200"/>
                </a:tc>
              </a:tr>
            </a:tbl>
          </a:graphicData>
        </a:graphic>
      </p:graphicFrame>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14571"/>
            <a:ext cx="4968552" cy="606117"/>
          </a:xfrm>
        </p:spPr>
        <p:txBody>
          <a:bodyPr/>
          <a:lstStyle/>
          <a:p>
            <a:r>
              <a:rPr lang="en-GB" sz="4000" b="1" dirty="0" smtClean="0">
                <a:solidFill>
                  <a:srgbClr val="0070C0"/>
                </a:solidFill>
                <a:latin typeface="Cambria" panose="02040503050406030204" pitchFamily="18" charset="0"/>
                <a:ea typeface="Cambria" panose="02040503050406030204" pitchFamily="18" charset="0"/>
              </a:rPr>
              <a:t> Servlet Container</a:t>
            </a:r>
            <a:endParaRPr lang="en-US" sz="4000" b="1" dirty="0">
              <a:solidFill>
                <a:srgbClr val="0070C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79376" y="764705"/>
            <a:ext cx="10874424" cy="1944216"/>
          </a:xfrm>
        </p:spPr>
        <p:txBody>
          <a:bodyPr/>
          <a:lstStyle/>
          <a:p>
            <a:pPr algn="just"/>
            <a:r>
              <a:rPr lang="en-GB" sz="2400" dirty="0" smtClean="0">
                <a:latin typeface="Cambria" panose="02040503050406030204" pitchFamily="18" charset="0"/>
                <a:ea typeface="Cambria" panose="02040503050406030204" pitchFamily="18" charset="0"/>
              </a:rPr>
              <a:t>It provides the runtime environment for JavaEE (J2EE) applications</a:t>
            </a:r>
            <a:r>
              <a:rPr lang="en-GB" sz="2400" smtClean="0">
                <a:latin typeface="Cambria" panose="02040503050406030204" pitchFamily="18" charset="0"/>
                <a:ea typeface="Cambria" panose="02040503050406030204" pitchFamily="18" charset="0"/>
              </a:rPr>
              <a:t>. If </a:t>
            </a:r>
            <a:r>
              <a:rPr lang="en-GB" sz="2400" dirty="0" smtClean="0">
                <a:latin typeface="Cambria" panose="02040503050406030204" pitchFamily="18" charset="0"/>
                <a:ea typeface="Cambria" panose="02040503050406030204" pitchFamily="18" charset="0"/>
              </a:rPr>
              <a:t>the user wants to read the web pages as per input, then the servlet container is used in java.</a:t>
            </a:r>
          </a:p>
          <a:p>
            <a:pPr marL="0" indent="0" algn="just">
              <a:buNone/>
            </a:pPr>
            <a:endParaRPr lang="en-GB" sz="2400" dirty="0" smtClean="0">
              <a:latin typeface="Cambria" panose="02040503050406030204" pitchFamily="18" charset="0"/>
              <a:ea typeface="Cambria" panose="02040503050406030204" pitchFamily="18" charset="0"/>
            </a:endParaRPr>
          </a:p>
          <a:p>
            <a:pPr algn="just">
              <a:spcBef>
                <a:spcPts val="0"/>
              </a:spcBef>
              <a:buNone/>
            </a:pPr>
            <a:r>
              <a:rPr lang="en-US" sz="2400" dirty="0" smtClean="0">
                <a:latin typeface="Cambria" panose="02040503050406030204" pitchFamily="18" charset="0"/>
                <a:ea typeface="Cambria" panose="02040503050406030204" pitchFamily="18" charset="0"/>
              </a:rPr>
              <a:t> </a:t>
            </a:r>
          </a:p>
          <a:p>
            <a:pPr algn="just"/>
            <a:endParaRPr lang="en-US" sz="36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10</a:t>
            </a:fld>
            <a:endParaRPr lang="en-US" altLang="en-US">
              <a:latin typeface="Cambria" panose="02040503050406030204" pitchFamily="18" charset="0"/>
              <a:ea typeface="Cambria" panose="02040503050406030204" pitchFamily="18" charset="0"/>
            </a:endParaRPr>
          </a:p>
        </p:txBody>
      </p:sp>
      <p:pic>
        <p:nvPicPr>
          <p:cNvPr id="5" name="Picture 4" descr="Servlet Container1"/>
          <p:cNvPicPr/>
          <p:nvPr/>
        </p:nvPicPr>
        <p:blipFill>
          <a:blip r:embed="rId2"/>
          <a:srcRect/>
          <a:stretch>
            <a:fillRect/>
          </a:stretch>
        </p:blipFill>
        <p:spPr bwMode="auto">
          <a:xfrm>
            <a:off x="2580983" y="2276872"/>
            <a:ext cx="5135245" cy="205232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61117"/>
            <a:ext cx="6312024" cy="559571"/>
          </a:xfrm>
        </p:spPr>
        <p:txBody>
          <a:bodyPr/>
          <a:lstStyle/>
          <a:p>
            <a:r>
              <a:rPr lang="en-US" sz="4000" b="1" dirty="0" err="1" smtClean="0">
                <a:solidFill>
                  <a:srgbClr val="0070C0"/>
                </a:solidFill>
                <a:latin typeface="Cambria" panose="02040503050406030204" pitchFamily="18" charset="0"/>
                <a:ea typeface="Cambria" panose="02040503050406030204" pitchFamily="18" charset="0"/>
              </a:rPr>
              <a:t>Servlet</a:t>
            </a:r>
            <a:r>
              <a:rPr lang="en-US" sz="4000" b="1" dirty="0" smtClean="0">
                <a:solidFill>
                  <a:srgbClr val="0070C0"/>
                </a:solidFill>
                <a:latin typeface="Cambria" panose="02040503050406030204" pitchFamily="18" charset="0"/>
                <a:ea typeface="Cambria" panose="02040503050406030204" pitchFamily="18" charset="0"/>
              </a:rPr>
              <a:t> Container States</a:t>
            </a:r>
            <a:endParaRPr lang="en-GB" sz="4000" dirty="0" smtClean="0">
              <a:solidFill>
                <a:srgbClr val="0070C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07368" y="620689"/>
            <a:ext cx="11017224" cy="4320480"/>
          </a:xfrm>
        </p:spPr>
        <p:txBody>
          <a:bodyPr/>
          <a:lstStyle/>
          <a:p>
            <a:pPr algn="just"/>
            <a:r>
              <a:rPr lang="en-GB" sz="2400" dirty="0" smtClean="0">
                <a:latin typeface="Cambria" panose="02040503050406030204" pitchFamily="18" charset="0"/>
                <a:ea typeface="Cambria" panose="02040503050406030204" pitchFamily="18" charset="0"/>
              </a:rPr>
              <a:t>The </a:t>
            </a:r>
            <a:r>
              <a:rPr lang="en-GB" sz="2400" dirty="0" err="1" smtClean="0">
                <a:latin typeface="Cambria" panose="02040503050406030204" pitchFamily="18" charset="0"/>
                <a:ea typeface="Cambria" panose="02040503050406030204" pitchFamily="18" charset="0"/>
              </a:rPr>
              <a:t>servlet</a:t>
            </a:r>
            <a:r>
              <a:rPr lang="en-GB" sz="2400" dirty="0" smtClean="0">
                <a:latin typeface="Cambria" panose="02040503050406030204" pitchFamily="18" charset="0"/>
                <a:ea typeface="Cambria" panose="02040503050406030204" pitchFamily="18" charset="0"/>
              </a:rPr>
              <a:t> container is the part of web server which can be run in a separate process. We can classify the </a:t>
            </a:r>
            <a:r>
              <a:rPr lang="en-GB" sz="2400" dirty="0" err="1" smtClean="0">
                <a:latin typeface="Cambria" panose="02040503050406030204" pitchFamily="18" charset="0"/>
                <a:ea typeface="Cambria" panose="02040503050406030204" pitchFamily="18" charset="0"/>
              </a:rPr>
              <a:t>servlet</a:t>
            </a:r>
            <a:r>
              <a:rPr lang="en-GB" sz="2400" dirty="0" smtClean="0">
                <a:latin typeface="Cambria" panose="02040503050406030204" pitchFamily="18" charset="0"/>
                <a:ea typeface="Cambria" panose="02040503050406030204" pitchFamily="18" charset="0"/>
              </a:rPr>
              <a:t> container states in three types:</a:t>
            </a:r>
          </a:p>
          <a:p>
            <a:pPr algn="just"/>
            <a:r>
              <a:rPr lang="en-GB" sz="2400" b="1" dirty="0" smtClean="0">
                <a:latin typeface="Cambria" panose="02040503050406030204" pitchFamily="18" charset="0"/>
                <a:ea typeface="Cambria" panose="02040503050406030204" pitchFamily="18" charset="0"/>
              </a:rPr>
              <a:t>Standalone:</a:t>
            </a:r>
            <a:r>
              <a:rPr lang="en-GB" sz="2400" dirty="0" smtClean="0">
                <a:latin typeface="Cambria" panose="02040503050406030204" pitchFamily="18" charset="0"/>
                <a:ea typeface="Cambria" panose="02040503050406030204" pitchFamily="18" charset="0"/>
              </a:rPr>
              <a:t> It is typical Java-based servers in which the servlet container and the web servers are the integral part of a single program. </a:t>
            </a:r>
          </a:p>
          <a:p>
            <a:pPr marL="0" indent="0" algn="just">
              <a:buNone/>
            </a:pPr>
            <a:r>
              <a:rPr lang="en-GB" sz="2400" dirty="0">
                <a:latin typeface="Cambria" panose="02040503050406030204" pitchFamily="18" charset="0"/>
                <a:ea typeface="Cambria" panose="02040503050406030204" pitchFamily="18" charset="0"/>
              </a:rPr>
              <a:t>	</a:t>
            </a:r>
            <a:r>
              <a:rPr lang="en-GB" sz="2400" dirty="0" smtClean="0">
                <a:latin typeface="Cambria" panose="02040503050406030204" pitchFamily="18" charset="0"/>
                <a:ea typeface="Cambria" panose="02040503050406030204" pitchFamily="18" charset="0"/>
              </a:rPr>
              <a:t>For example:- Tomcat running by itself.</a:t>
            </a:r>
          </a:p>
          <a:p>
            <a:pPr algn="just"/>
            <a:r>
              <a:rPr lang="en-GB" sz="2400" b="1" dirty="0" smtClean="0">
                <a:latin typeface="Cambria" panose="02040503050406030204" pitchFamily="18" charset="0"/>
                <a:ea typeface="Cambria" panose="02040503050406030204" pitchFamily="18" charset="0"/>
              </a:rPr>
              <a:t>In-process:</a:t>
            </a:r>
            <a:r>
              <a:rPr lang="en-GB" sz="2400" dirty="0" smtClean="0">
                <a:latin typeface="Cambria" panose="02040503050406030204" pitchFamily="18" charset="0"/>
                <a:ea typeface="Cambria" panose="02040503050406030204" pitchFamily="18" charset="0"/>
              </a:rPr>
              <a:t> It is separated from the web server, because a different program runs within the address space of the main server as a plug-in. </a:t>
            </a:r>
          </a:p>
          <a:p>
            <a:pPr marL="0" indent="0" algn="just">
              <a:buNone/>
            </a:pPr>
            <a:r>
              <a:rPr lang="en-GB" sz="2400" dirty="0">
                <a:latin typeface="Cambria" panose="02040503050406030204" pitchFamily="18" charset="0"/>
                <a:ea typeface="Cambria" panose="02040503050406030204" pitchFamily="18" charset="0"/>
              </a:rPr>
              <a:t>	</a:t>
            </a:r>
            <a:r>
              <a:rPr lang="en-GB" sz="2400" dirty="0" smtClean="0">
                <a:latin typeface="Cambria" panose="02040503050406030204" pitchFamily="18" charset="0"/>
                <a:ea typeface="Cambria" panose="02040503050406030204" pitchFamily="18" charset="0"/>
              </a:rPr>
              <a:t>For example:- Tomcat running inside the JBoss.</a:t>
            </a:r>
          </a:p>
          <a:p>
            <a:pPr algn="just"/>
            <a:r>
              <a:rPr lang="en-GB" sz="2400" b="1" dirty="0" smtClean="0">
                <a:latin typeface="Cambria" panose="02040503050406030204" pitchFamily="18" charset="0"/>
                <a:ea typeface="Cambria" panose="02040503050406030204" pitchFamily="18" charset="0"/>
              </a:rPr>
              <a:t>Out-of-process:</a:t>
            </a:r>
            <a:r>
              <a:rPr lang="en-GB" sz="2400" dirty="0" smtClean="0">
                <a:latin typeface="Cambria" panose="02040503050406030204" pitchFamily="18" charset="0"/>
                <a:ea typeface="Cambria" panose="02040503050406030204" pitchFamily="18" charset="0"/>
              </a:rPr>
              <a:t> The web server and </a:t>
            </a:r>
            <a:r>
              <a:rPr lang="en-GB" sz="2400" dirty="0" err="1" smtClean="0">
                <a:latin typeface="Cambria" panose="02040503050406030204" pitchFamily="18" charset="0"/>
                <a:ea typeface="Cambria" panose="02040503050406030204" pitchFamily="18" charset="0"/>
              </a:rPr>
              <a:t>servlet</a:t>
            </a:r>
            <a:r>
              <a:rPr lang="en-GB" sz="2400" dirty="0" smtClean="0">
                <a:latin typeface="Cambria" panose="02040503050406030204" pitchFamily="18" charset="0"/>
                <a:ea typeface="Cambria" panose="02040503050406030204" pitchFamily="18" charset="0"/>
              </a:rPr>
              <a:t> container are different programs which are run in a different process. For performing the communications between them, web server uses the plug-in provided by the </a:t>
            </a:r>
            <a:r>
              <a:rPr lang="en-GB" sz="2400" dirty="0" err="1" smtClean="0">
                <a:latin typeface="Cambria" panose="02040503050406030204" pitchFamily="18" charset="0"/>
                <a:ea typeface="Cambria" panose="02040503050406030204" pitchFamily="18" charset="0"/>
              </a:rPr>
              <a:t>servlet</a:t>
            </a:r>
            <a:r>
              <a:rPr lang="en-GB" sz="2400" dirty="0" smtClean="0">
                <a:latin typeface="Cambria" panose="02040503050406030204" pitchFamily="18" charset="0"/>
                <a:ea typeface="Cambria" panose="02040503050406030204" pitchFamily="18" charset="0"/>
              </a:rPr>
              <a:t> container.</a:t>
            </a:r>
          </a:p>
          <a:p>
            <a:pPr algn="just"/>
            <a:endParaRPr lang="en-US" sz="24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11</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344" y="116632"/>
            <a:ext cx="3889648" cy="598472"/>
          </a:xfrm>
        </p:spPr>
        <p:txBody>
          <a:bodyPr/>
          <a:lstStyle/>
          <a:p>
            <a:r>
              <a:rPr lang="en-GB" sz="4000" b="1" dirty="0" err="1" smtClean="0">
                <a:solidFill>
                  <a:srgbClr val="0070C0"/>
                </a:solidFill>
                <a:latin typeface="Cambria" panose="02040503050406030204" pitchFamily="18" charset="0"/>
                <a:ea typeface="Cambria" panose="02040503050406030204" pitchFamily="18" charset="0"/>
              </a:rPr>
              <a:t>Servlet</a:t>
            </a:r>
            <a:r>
              <a:rPr lang="en-GB" sz="4000" b="1" dirty="0" smtClean="0">
                <a:solidFill>
                  <a:srgbClr val="0070C0"/>
                </a:solidFill>
                <a:latin typeface="Cambria" panose="02040503050406030204" pitchFamily="18" charset="0"/>
                <a:ea typeface="Cambria" panose="02040503050406030204" pitchFamily="18" charset="0"/>
              </a:rPr>
              <a:t> API</a:t>
            </a:r>
            <a:endParaRPr lang="en-US" sz="4000" b="1" dirty="0">
              <a:solidFill>
                <a:srgbClr val="0070C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551384" y="836712"/>
            <a:ext cx="10802416" cy="3528391"/>
          </a:xfrm>
        </p:spPr>
        <p:txBody>
          <a:bodyPr/>
          <a:lstStyle/>
          <a:p>
            <a:pPr algn="just"/>
            <a:r>
              <a:rPr lang="en-GB" dirty="0" smtClean="0">
                <a:latin typeface="Cambria" panose="02040503050406030204" pitchFamily="18" charset="0"/>
                <a:ea typeface="Cambria" panose="02040503050406030204" pitchFamily="18" charset="0"/>
              </a:rPr>
              <a:t>The </a:t>
            </a:r>
            <a:r>
              <a:rPr lang="en-GB" dirty="0" err="1" smtClean="0">
                <a:latin typeface="Cambria" panose="02040503050406030204" pitchFamily="18" charset="0"/>
                <a:ea typeface="Cambria" panose="02040503050406030204" pitchFamily="18" charset="0"/>
              </a:rPr>
              <a:t>javax.servlet</a:t>
            </a:r>
            <a:r>
              <a:rPr lang="en-GB" dirty="0" smtClean="0">
                <a:latin typeface="Cambria" panose="02040503050406030204" pitchFamily="18" charset="0"/>
                <a:ea typeface="Cambria" panose="02040503050406030204" pitchFamily="18" charset="0"/>
              </a:rPr>
              <a:t> and </a:t>
            </a:r>
            <a:r>
              <a:rPr lang="en-GB" dirty="0" err="1" smtClean="0">
                <a:latin typeface="Cambria" panose="02040503050406030204" pitchFamily="18" charset="0"/>
                <a:ea typeface="Cambria" panose="02040503050406030204" pitchFamily="18" charset="0"/>
              </a:rPr>
              <a:t>javax.servlet.http</a:t>
            </a:r>
            <a:r>
              <a:rPr lang="en-GB" dirty="0" smtClean="0">
                <a:latin typeface="Cambria" panose="02040503050406030204" pitchFamily="18" charset="0"/>
                <a:ea typeface="Cambria" panose="02040503050406030204" pitchFamily="18" charset="0"/>
              </a:rPr>
              <a:t> packages represent interfaces and classes for </a:t>
            </a:r>
            <a:r>
              <a:rPr lang="en-GB" dirty="0" err="1" smtClean="0">
                <a:latin typeface="Cambria" panose="02040503050406030204" pitchFamily="18" charset="0"/>
                <a:ea typeface="Cambria" panose="02040503050406030204" pitchFamily="18" charset="0"/>
              </a:rPr>
              <a:t>servlet</a:t>
            </a:r>
            <a:r>
              <a:rPr lang="en-GB" dirty="0" smtClean="0">
                <a:latin typeface="Cambria" panose="02040503050406030204" pitchFamily="18" charset="0"/>
                <a:ea typeface="Cambria" panose="02040503050406030204" pitchFamily="18" charset="0"/>
              </a:rPr>
              <a:t> </a:t>
            </a:r>
            <a:r>
              <a:rPr lang="en-GB" dirty="0" err="1" smtClean="0">
                <a:latin typeface="Cambria" panose="02040503050406030204" pitchFamily="18" charset="0"/>
                <a:ea typeface="Cambria" panose="02040503050406030204" pitchFamily="18" charset="0"/>
              </a:rPr>
              <a:t>api</a:t>
            </a:r>
            <a:r>
              <a:rPr lang="en-GB" dirty="0" smtClean="0">
                <a:latin typeface="Cambria" panose="02040503050406030204" pitchFamily="18" charset="0"/>
                <a:ea typeface="Cambria" panose="02040503050406030204" pitchFamily="18" charset="0"/>
              </a:rPr>
              <a:t>.</a:t>
            </a:r>
          </a:p>
          <a:p>
            <a:pPr algn="just"/>
            <a:r>
              <a:rPr lang="en-GB" dirty="0" smtClean="0">
                <a:latin typeface="Cambria" panose="02040503050406030204" pitchFamily="18" charset="0"/>
                <a:ea typeface="Cambria" panose="02040503050406030204" pitchFamily="18" charset="0"/>
              </a:rPr>
              <a:t>The </a:t>
            </a:r>
            <a:r>
              <a:rPr lang="en-GB" b="1" dirty="0" err="1" smtClean="0">
                <a:latin typeface="Cambria" panose="02040503050406030204" pitchFamily="18" charset="0"/>
                <a:ea typeface="Cambria" panose="02040503050406030204" pitchFamily="18" charset="0"/>
              </a:rPr>
              <a:t>javax.servlet</a:t>
            </a:r>
            <a:r>
              <a:rPr lang="en-GB" dirty="0" smtClean="0">
                <a:latin typeface="Cambria" panose="02040503050406030204" pitchFamily="18" charset="0"/>
                <a:ea typeface="Cambria" panose="02040503050406030204" pitchFamily="18" charset="0"/>
              </a:rPr>
              <a:t> package contains many interfaces and classes that are used by the </a:t>
            </a:r>
            <a:r>
              <a:rPr lang="en-GB" dirty="0" err="1" smtClean="0">
                <a:latin typeface="Cambria" panose="02040503050406030204" pitchFamily="18" charset="0"/>
                <a:ea typeface="Cambria" panose="02040503050406030204" pitchFamily="18" charset="0"/>
              </a:rPr>
              <a:t>servlet</a:t>
            </a:r>
            <a:r>
              <a:rPr lang="en-GB" dirty="0" smtClean="0">
                <a:latin typeface="Cambria" panose="02040503050406030204" pitchFamily="18" charset="0"/>
                <a:ea typeface="Cambria" panose="02040503050406030204" pitchFamily="18" charset="0"/>
              </a:rPr>
              <a:t> or web container. These are not specific to any protocol.</a:t>
            </a:r>
          </a:p>
          <a:p>
            <a:pPr algn="just"/>
            <a:r>
              <a:rPr lang="en-GB" dirty="0" smtClean="0">
                <a:latin typeface="Cambria" panose="02040503050406030204" pitchFamily="18" charset="0"/>
                <a:ea typeface="Cambria" panose="02040503050406030204" pitchFamily="18" charset="0"/>
              </a:rPr>
              <a:t>The </a:t>
            </a:r>
            <a:r>
              <a:rPr lang="en-GB" b="1" dirty="0" err="1" smtClean="0">
                <a:latin typeface="Cambria" panose="02040503050406030204" pitchFamily="18" charset="0"/>
                <a:ea typeface="Cambria" panose="02040503050406030204" pitchFamily="18" charset="0"/>
              </a:rPr>
              <a:t>javax.servlet.http</a:t>
            </a:r>
            <a:r>
              <a:rPr lang="en-GB" dirty="0" smtClean="0">
                <a:latin typeface="Cambria" panose="02040503050406030204" pitchFamily="18" charset="0"/>
                <a:ea typeface="Cambria" panose="02040503050406030204" pitchFamily="18" charset="0"/>
              </a:rPr>
              <a:t> package contains interfaces and classes that are responsible for http requests only.</a:t>
            </a:r>
            <a:endParaRPr lang="en-GB"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12</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1867"/>
            <a:ext cx="4655840" cy="588821"/>
          </a:xfrm>
        </p:spPr>
        <p:txBody>
          <a:bodyPr/>
          <a:lstStyle/>
          <a:p>
            <a:r>
              <a:rPr lang="en-US" sz="4000" b="1" dirty="0" err="1" smtClean="0">
                <a:solidFill>
                  <a:schemeClr val="accent5"/>
                </a:solidFill>
                <a:latin typeface="Cambria" panose="02040503050406030204" pitchFamily="18" charset="0"/>
                <a:ea typeface="Cambria" panose="02040503050406030204" pitchFamily="18" charset="0"/>
              </a:rPr>
              <a:t>Servlet</a:t>
            </a:r>
            <a:r>
              <a:rPr lang="en-US" sz="4000" b="1" dirty="0" smtClean="0">
                <a:solidFill>
                  <a:schemeClr val="accent5"/>
                </a:solidFill>
                <a:latin typeface="Cambria" panose="02040503050406030204" pitchFamily="18" charset="0"/>
                <a:ea typeface="Cambria" panose="02040503050406030204" pitchFamily="18" charset="0"/>
              </a:rPr>
              <a:t> Interface</a:t>
            </a:r>
            <a:endParaRPr lang="en-US" sz="40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263352" y="1052736"/>
            <a:ext cx="11233248" cy="3240360"/>
          </a:xfrm>
        </p:spPr>
        <p:txBody>
          <a:bodyPr/>
          <a:lstStyle/>
          <a:p>
            <a:pPr algn="just"/>
            <a:r>
              <a:rPr lang="en-GB" b="1" dirty="0" err="1" smtClean="0">
                <a:latin typeface="Cambria" panose="02040503050406030204" pitchFamily="18" charset="0"/>
                <a:ea typeface="Cambria" panose="02040503050406030204" pitchFamily="18" charset="0"/>
              </a:rPr>
              <a:t>Servlet</a:t>
            </a:r>
            <a:r>
              <a:rPr lang="en-GB" b="1" dirty="0" smtClean="0">
                <a:latin typeface="Cambria" panose="02040503050406030204" pitchFamily="18" charset="0"/>
                <a:ea typeface="Cambria" panose="02040503050406030204" pitchFamily="18" charset="0"/>
              </a:rPr>
              <a:t> interface provides</a:t>
            </a:r>
            <a:r>
              <a:rPr lang="en-GB" dirty="0" smtClean="0">
                <a:latin typeface="Cambria" panose="02040503050406030204" pitchFamily="18" charset="0"/>
                <a:ea typeface="Cambria" panose="02040503050406030204" pitchFamily="18" charset="0"/>
              </a:rPr>
              <a:t> common </a:t>
            </a:r>
            <a:r>
              <a:rPr lang="en-GB" dirty="0" err="1" smtClean="0">
                <a:latin typeface="Cambria" panose="02040503050406030204" pitchFamily="18" charset="0"/>
                <a:ea typeface="Cambria" panose="02040503050406030204" pitchFamily="18" charset="0"/>
              </a:rPr>
              <a:t>behavior</a:t>
            </a:r>
            <a:r>
              <a:rPr lang="en-GB" dirty="0" smtClean="0">
                <a:latin typeface="Cambria" panose="02040503050406030204" pitchFamily="18" charset="0"/>
                <a:ea typeface="Cambria" panose="02040503050406030204" pitchFamily="18" charset="0"/>
              </a:rPr>
              <a:t> to all the </a:t>
            </a:r>
            <a:r>
              <a:rPr lang="en-GB" dirty="0" err="1" smtClean="0">
                <a:latin typeface="Cambria" panose="02040503050406030204" pitchFamily="18" charset="0"/>
                <a:ea typeface="Cambria" panose="02040503050406030204" pitchFamily="18" charset="0"/>
              </a:rPr>
              <a:t>servlets</a:t>
            </a:r>
            <a:r>
              <a:rPr lang="en-GB" dirty="0" smtClean="0">
                <a:latin typeface="Cambria" panose="02040503050406030204" pitchFamily="18" charset="0"/>
                <a:ea typeface="Cambria" panose="02040503050406030204" pitchFamily="18" charset="0"/>
              </a:rPr>
              <a:t>. </a:t>
            </a:r>
            <a:r>
              <a:rPr lang="en-GB" dirty="0" err="1" smtClean="0">
                <a:latin typeface="Cambria" panose="02040503050406030204" pitchFamily="18" charset="0"/>
                <a:ea typeface="Cambria" panose="02040503050406030204" pitchFamily="18" charset="0"/>
              </a:rPr>
              <a:t>Servlet</a:t>
            </a:r>
            <a:r>
              <a:rPr lang="en-GB" dirty="0" smtClean="0">
                <a:latin typeface="Cambria" panose="02040503050406030204" pitchFamily="18" charset="0"/>
                <a:ea typeface="Cambria" panose="02040503050406030204" pitchFamily="18" charset="0"/>
              </a:rPr>
              <a:t> interface defines methods that all </a:t>
            </a:r>
            <a:r>
              <a:rPr lang="en-GB" dirty="0" err="1" smtClean="0">
                <a:latin typeface="Cambria" panose="02040503050406030204" pitchFamily="18" charset="0"/>
                <a:ea typeface="Cambria" panose="02040503050406030204" pitchFamily="18" charset="0"/>
              </a:rPr>
              <a:t>servlets</a:t>
            </a:r>
            <a:r>
              <a:rPr lang="en-GB" dirty="0" smtClean="0">
                <a:latin typeface="Cambria" panose="02040503050406030204" pitchFamily="18" charset="0"/>
                <a:ea typeface="Cambria" panose="02040503050406030204" pitchFamily="18" charset="0"/>
              </a:rPr>
              <a:t> must implement.</a:t>
            </a:r>
          </a:p>
          <a:p>
            <a:pPr algn="just"/>
            <a:r>
              <a:rPr lang="en-GB" dirty="0" err="1" smtClean="0">
                <a:latin typeface="Cambria" panose="02040503050406030204" pitchFamily="18" charset="0"/>
                <a:ea typeface="Cambria" panose="02040503050406030204" pitchFamily="18" charset="0"/>
              </a:rPr>
              <a:t>Servlet</a:t>
            </a:r>
            <a:r>
              <a:rPr lang="en-GB" dirty="0" smtClean="0">
                <a:latin typeface="Cambria" panose="02040503050406030204" pitchFamily="18" charset="0"/>
                <a:ea typeface="Cambria" panose="02040503050406030204" pitchFamily="18" charset="0"/>
              </a:rPr>
              <a:t> interface needs to be implemented for creating any </a:t>
            </a:r>
            <a:r>
              <a:rPr lang="en-GB" dirty="0" err="1" smtClean="0">
                <a:latin typeface="Cambria" panose="02040503050406030204" pitchFamily="18" charset="0"/>
                <a:ea typeface="Cambria" panose="02040503050406030204" pitchFamily="18" charset="0"/>
              </a:rPr>
              <a:t>servlet</a:t>
            </a:r>
            <a:r>
              <a:rPr lang="en-GB" dirty="0" smtClean="0">
                <a:latin typeface="Cambria" panose="02040503050406030204" pitchFamily="18" charset="0"/>
                <a:ea typeface="Cambria" panose="02040503050406030204" pitchFamily="18" charset="0"/>
              </a:rPr>
              <a:t> (either directly or indirectly).</a:t>
            </a:r>
          </a:p>
          <a:p>
            <a:pPr algn="just"/>
            <a:r>
              <a:rPr lang="en-GB" dirty="0" smtClean="0">
                <a:latin typeface="Cambria" panose="02040503050406030204" pitchFamily="18" charset="0"/>
                <a:ea typeface="Cambria" panose="02040503050406030204" pitchFamily="18" charset="0"/>
              </a:rPr>
              <a:t> It provides 3 life cycle methods that are used to </a:t>
            </a:r>
            <a:r>
              <a:rPr lang="en-GB" u="sng" dirty="0" smtClean="0">
                <a:latin typeface="Cambria" panose="02040503050406030204" pitchFamily="18" charset="0"/>
                <a:ea typeface="Cambria" panose="02040503050406030204" pitchFamily="18" charset="0"/>
              </a:rPr>
              <a:t>initialize</a:t>
            </a:r>
            <a:r>
              <a:rPr lang="en-GB" dirty="0" smtClean="0">
                <a:latin typeface="Cambria" panose="02040503050406030204" pitchFamily="18" charset="0"/>
                <a:ea typeface="Cambria" panose="02040503050406030204" pitchFamily="18" charset="0"/>
              </a:rPr>
              <a:t> the </a:t>
            </a:r>
            <a:r>
              <a:rPr lang="en-GB" dirty="0" err="1" smtClean="0">
                <a:latin typeface="Cambria" panose="02040503050406030204" pitchFamily="18" charset="0"/>
                <a:ea typeface="Cambria" panose="02040503050406030204" pitchFamily="18" charset="0"/>
              </a:rPr>
              <a:t>servlet</a:t>
            </a:r>
            <a:r>
              <a:rPr lang="en-GB" dirty="0" smtClean="0">
                <a:latin typeface="Cambria" panose="02040503050406030204" pitchFamily="18" charset="0"/>
                <a:ea typeface="Cambria" panose="02040503050406030204" pitchFamily="18" charset="0"/>
              </a:rPr>
              <a:t>, to </a:t>
            </a:r>
            <a:r>
              <a:rPr lang="en-GB" u="sng" dirty="0" smtClean="0">
                <a:latin typeface="Cambria" panose="02040503050406030204" pitchFamily="18" charset="0"/>
                <a:ea typeface="Cambria" panose="02040503050406030204" pitchFamily="18" charset="0"/>
              </a:rPr>
              <a:t>service</a:t>
            </a:r>
            <a:r>
              <a:rPr lang="en-GB" dirty="0" smtClean="0">
                <a:latin typeface="Cambria" panose="02040503050406030204" pitchFamily="18" charset="0"/>
                <a:ea typeface="Cambria" panose="02040503050406030204" pitchFamily="18" charset="0"/>
              </a:rPr>
              <a:t> the requests, and to </a:t>
            </a:r>
            <a:r>
              <a:rPr lang="en-GB" u="sng" dirty="0" smtClean="0">
                <a:latin typeface="Cambria" panose="02040503050406030204" pitchFamily="18" charset="0"/>
                <a:ea typeface="Cambria" panose="02040503050406030204" pitchFamily="18" charset="0"/>
              </a:rPr>
              <a:t>destroy</a:t>
            </a:r>
            <a:r>
              <a:rPr lang="en-GB" dirty="0" smtClean="0">
                <a:latin typeface="Cambria" panose="02040503050406030204" pitchFamily="18" charset="0"/>
                <a:ea typeface="Cambria" panose="02040503050406030204" pitchFamily="18" charset="0"/>
              </a:rPr>
              <a:t> the </a:t>
            </a:r>
            <a:r>
              <a:rPr lang="en-GB" dirty="0" err="1" smtClean="0">
                <a:latin typeface="Cambria" panose="02040503050406030204" pitchFamily="18" charset="0"/>
                <a:ea typeface="Cambria" panose="02040503050406030204" pitchFamily="18" charset="0"/>
              </a:rPr>
              <a:t>servlet</a:t>
            </a:r>
            <a:r>
              <a:rPr lang="en-GB" dirty="0" smtClean="0">
                <a:latin typeface="Cambria" panose="02040503050406030204" pitchFamily="18" charset="0"/>
                <a:ea typeface="Cambria" panose="02040503050406030204" pitchFamily="18" charset="0"/>
              </a:rPr>
              <a:t> and 2 non-life cycle methods.</a:t>
            </a:r>
          </a:p>
          <a:p>
            <a:pPr algn="just"/>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13</a:t>
            </a:fld>
            <a:endParaRPr lang="en-US" alt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344" y="188640"/>
            <a:ext cx="10515600" cy="777859"/>
          </a:xfrm>
        </p:spPr>
        <p:txBody>
          <a:bodyPr/>
          <a:lstStyle/>
          <a:p>
            <a:r>
              <a:rPr lang="en-US" sz="4000" b="1" dirty="0" smtClean="0">
                <a:solidFill>
                  <a:schemeClr val="accent5"/>
                </a:solidFill>
                <a:latin typeface="Cambria" panose="02040503050406030204" pitchFamily="18" charset="0"/>
                <a:ea typeface="Cambria" panose="02040503050406030204" pitchFamily="18" charset="0"/>
              </a:rPr>
              <a:t>Methods of Servlet interface</a:t>
            </a:r>
            <a:r>
              <a:rPr lang="en-GB" sz="4000" b="1" dirty="0" smtClean="0">
                <a:solidFill>
                  <a:schemeClr val="accent5"/>
                </a:solidFill>
                <a:latin typeface="Cambria" panose="02040503050406030204" pitchFamily="18" charset="0"/>
                <a:ea typeface="Cambria" panose="02040503050406030204" pitchFamily="18" charset="0"/>
              </a:rPr>
              <a:t> </a:t>
            </a:r>
            <a:endParaRPr lang="en-US" sz="4000" b="1" dirty="0">
              <a:solidFill>
                <a:schemeClr val="accent5"/>
              </a:solidFill>
              <a:latin typeface="Cambria" panose="02040503050406030204" pitchFamily="18" charset="0"/>
              <a:ea typeface="Cambria" panose="02040503050406030204" pitchFamily="18" charset="0"/>
            </a:endParaRPr>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997308488"/>
              </p:ext>
            </p:extLst>
          </p:nvPr>
        </p:nvGraphicFramePr>
        <p:xfrm>
          <a:off x="623392" y="966499"/>
          <a:ext cx="10515600" cy="4008120"/>
        </p:xfrm>
        <a:graphic>
          <a:graphicData uri="http://schemas.openxmlformats.org/drawingml/2006/table">
            <a:tbl>
              <a:tblPr firstRow="1" bandRow="1">
                <a:tableStyleId>{5C22544A-7EE6-4342-B048-85BDC9FD1C3A}</a:tableStyleId>
              </a:tblPr>
              <a:tblGrid>
                <a:gridCol w="5257800"/>
                <a:gridCol w="5257800"/>
              </a:tblGrid>
              <a:tr h="370840">
                <a:tc>
                  <a:txBody>
                    <a:bodyPr/>
                    <a:lstStyle/>
                    <a:p>
                      <a:pPr algn="l" fontAlgn="t"/>
                      <a:r>
                        <a:rPr lang="en-US" dirty="0">
                          <a:solidFill>
                            <a:srgbClr val="000000"/>
                          </a:solidFill>
                          <a:latin typeface="times new roman"/>
                        </a:rPr>
                        <a:t>Method</a:t>
                      </a:r>
                    </a:p>
                  </a:txBody>
                  <a:tcPr marL="114300" marR="114300" marT="114300" marB="114300"/>
                </a:tc>
                <a:tc>
                  <a:txBody>
                    <a:bodyPr/>
                    <a:lstStyle/>
                    <a:p>
                      <a:pPr algn="l" fontAlgn="t"/>
                      <a:r>
                        <a:rPr lang="en-US">
                          <a:solidFill>
                            <a:srgbClr val="000000"/>
                          </a:solidFill>
                          <a:latin typeface="times new roman"/>
                        </a:rPr>
                        <a:t>Description</a:t>
                      </a:r>
                    </a:p>
                  </a:txBody>
                  <a:tcPr marL="114300" marR="114300" marT="114300" marB="114300"/>
                </a:tc>
              </a:tr>
              <a:tr h="370840">
                <a:tc>
                  <a:txBody>
                    <a:bodyPr/>
                    <a:lstStyle/>
                    <a:p>
                      <a:pPr algn="just" fontAlgn="t"/>
                      <a:r>
                        <a:rPr lang="en-US" b="1">
                          <a:solidFill>
                            <a:srgbClr val="333333"/>
                          </a:solidFill>
                          <a:latin typeface="inter-bold"/>
                        </a:rPr>
                        <a:t>public void init(ServletConfig config)</a:t>
                      </a:r>
                      <a:endParaRPr lang="en-US">
                        <a:solidFill>
                          <a:srgbClr val="333333"/>
                        </a:solidFill>
                        <a:latin typeface="inter-regular"/>
                      </a:endParaRPr>
                    </a:p>
                  </a:txBody>
                  <a:tcPr marL="76200" marR="76200" marT="76200" marB="76200"/>
                </a:tc>
                <a:tc>
                  <a:txBody>
                    <a:bodyPr/>
                    <a:lstStyle/>
                    <a:p>
                      <a:pPr algn="just" fontAlgn="t"/>
                      <a:r>
                        <a:rPr lang="en-GB">
                          <a:solidFill>
                            <a:srgbClr val="333333"/>
                          </a:solidFill>
                          <a:latin typeface="inter-regular"/>
                        </a:rPr>
                        <a:t>initializes the servlet. It is the life cycle method of servlet and invoked by the web container only once.</a:t>
                      </a:r>
                    </a:p>
                  </a:txBody>
                  <a:tcPr marL="76200" marR="76200" marT="76200" marB="76200"/>
                </a:tc>
              </a:tr>
              <a:tr h="370840">
                <a:tc>
                  <a:txBody>
                    <a:bodyPr/>
                    <a:lstStyle/>
                    <a:p>
                      <a:pPr algn="just" fontAlgn="t"/>
                      <a:r>
                        <a:rPr lang="fr-FR" b="1" dirty="0">
                          <a:solidFill>
                            <a:srgbClr val="333333"/>
                          </a:solidFill>
                          <a:latin typeface="inter-bold"/>
                        </a:rPr>
                        <a:t>public void service(ServletRequest request</a:t>
                      </a:r>
                      <a:r>
                        <a:rPr lang="fr-FR" b="1" dirty="0" smtClean="0">
                          <a:solidFill>
                            <a:srgbClr val="333333"/>
                          </a:solidFill>
                          <a:latin typeface="inter-bold"/>
                        </a:rPr>
                        <a:t>, ServletResponse </a:t>
                      </a:r>
                      <a:r>
                        <a:rPr lang="fr-FR" b="1" dirty="0">
                          <a:solidFill>
                            <a:srgbClr val="333333"/>
                          </a:solidFill>
                          <a:latin typeface="inter-bold"/>
                        </a:rPr>
                        <a:t>response)</a:t>
                      </a:r>
                      <a:endParaRPr lang="fr-FR" dirty="0">
                        <a:solidFill>
                          <a:srgbClr val="333333"/>
                        </a:solidFill>
                        <a:latin typeface="inter-regular"/>
                      </a:endParaRPr>
                    </a:p>
                  </a:txBody>
                  <a:tcPr marL="76200" marR="76200" marT="76200" marB="76200"/>
                </a:tc>
                <a:tc>
                  <a:txBody>
                    <a:bodyPr/>
                    <a:lstStyle/>
                    <a:p>
                      <a:pPr algn="just" fontAlgn="t"/>
                      <a:r>
                        <a:rPr lang="en-GB" dirty="0">
                          <a:solidFill>
                            <a:srgbClr val="333333"/>
                          </a:solidFill>
                          <a:latin typeface="inter-regular"/>
                        </a:rPr>
                        <a:t>provides response for the incoming request. It is invoked at each request by the web container.</a:t>
                      </a:r>
                    </a:p>
                  </a:txBody>
                  <a:tcPr marL="76200" marR="76200" marT="76200" marB="76200"/>
                </a:tc>
              </a:tr>
              <a:tr h="370840">
                <a:tc>
                  <a:txBody>
                    <a:bodyPr/>
                    <a:lstStyle/>
                    <a:p>
                      <a:pPr algn="just" fontAlgn="t"/>
                      <a:r>
                        <a:rPr lang="en-US" b="1">
                          <a:solidFill>
                            <a:srgbClr val="333333"/>
                          </a:solidFill>
                          <a:latin typeface="inter-bold"/>
                        </a:rPr>
                        <a:t>public void destroy()</a:t>
                      </a:r>
                      <a:endParaRPr lang="en-US">
                        <a:solidFill>
                          <a:srgbClr val="333333"/>
                        </a:solidFill>
                        <a:latin typeface="inter-regular"/>
                      </a:endParaRPr>
                    </a:p>
                  </a:txBody>
                  <a:tcPr marL="76200" marR="76200" marT="76200" marB="76200"/>
                </a:tc>
                <a:tc>
                  <a:txBody>
                    <a:bodyPr/>
                    <a:lstStyle/>
                    <a:p>
                      <a:pPr algn="just" fontAlgn="t"/>
                      <a:r>
                        <a:rPr lang="en-GB">
                          <a:solidFill>
                            <a:srgbClr val="333333"/>
                          </a:solidFill>
                          <a:latin typeface="inter-regular"/>
                        </a:rPr>
                        <a:t>is invoked only once and indicates that servlet is being destroyed.</a:t>
                      </a:r>
                    </a:p>
                  </a:txBody>
                  <a:tcPr marL="76200" marR="76200" marT="76200" marB="76200"/>
                </a:tc>
              </a:tr>
              <a:tr h="370840">
                <a:tc>
                  <a:txBody>
                    <a:bodyPr/>
                    <a:lstStyle/>
                    <a:p>
                      <a:pPr algn="just" fontAlgn="t"/>
                      <a:r>
                        <a:rPr lang="en-US" b="1">
                          <a:solidFill>
                            <a:srgbClr val="333333"/>
                          </a:solidFill>
                          <a:latin typeface="inter-bold"/>
                        </a:rPr>
                        <a:t>public ServletConfig getServletConfig()</a:t>
                      </a:r>
                      <a:endParaRPr lang="en-US">
                        <a:solidFill>
                          <a:srgbClr val="333333"/>
                        </a:solidFill>
                        <a:latin typeface="inter-regular"/>
                      </a:endParaRPr>
                    </a:p>
                  </a:txBody>
                  <a:tcPr marL="76200" marR="76200" marT="76200" marB="76200"/>
                </a:tc>
                <a:tc>
                  <a:txBody>
                    <a:bodyPr/>
                    <a:lstStyle/>
                    <a:p>
                      <a:pPr algn="just" fontAlgn="t"/>
                      <a:r>
                        <a:rPr lang="en-GB">
                          <a:solidFill>
                            <a:srgbClr val="333333"/>
                          </a:solidFill>
                          <a:latin typeface="inter-regular"/>
                        </a:rPr>
                        <a:t>returns the object of ServletConfig.</a:t>
                      </a:r>
                    </a:p>
                  </a:txBody>
                  <a:tcPr marL="76200" marR="76200" marT="76200" marB="76200"/>
                </a:tc>
              </a:tr>
              <a:tr h="370840">
                <a:tc>
                  <a:txBody>
                    <a:bodyPr/>
                    <a:lstStyle/>
                    <a:p>
                      <a:pPr algn="just" fontAlgn="t"/>
                      <a:r>
                        <a:rPr lang="en-US" b="1">
                          <a:solidFill>
                            <a:srgbClr val="333333"/>
                          </a:solidFill>
                          <a:latin typeface="inter-bold"/>
                        </a:rPr>
                        <a:t>public String getServletInfo()</a:t>
                      </a:r>
                      <a:endParaRPr lang="en-US">
                        <a:solidFill>
                          <a:srgbClr val="333333"/>
                        </a:solidFill>
                        <a:latin typeface="inter-regular"/>
                      </a:endParaRPr>
                    </a:p>
                  </a:txBody>
                  <a:tcPr marL="76200" marR="76200" marT="76200" marB="76200"/>
                </a:tc>
                <a:tc>
                  <a:txBody>
                    <a:bodyPr/>
                    <a:lstStyle/>
                    <a:p>
                      <a:pPr algn="just" fontAlgn="t"/>
                      <a:r>
                        <a:rPr lang="en-GB" dirty="0">
                          <a:solidFill>
                            <a:srgbClr val="333333"/>
                          </a:solidFill>
                          <a:latin typeface="inter-regular"/>
                        </a:rPr>
                        <a:t>returns information about </a:t>
                      </a:r>
                      <a:r>
                        <a:rPr lang="en-GB" dirty="0" err="1">
                          <a:solidFill>
                            <a:srgbClr val="333333"/>
                          </a:solidFill>
                          <a:latin typeface="inter-regular"/>
                        </a:rPr>
                        <a:t>servlet</a:t>
                      </a:r>
                      <a:r>
                        <a:rPr lang="en-GB" dirty="0">
                          <a:solidFill>
                            <a:srgbClr val="333333"/>
                          </a:solidFill>
                          <a:latin typeface="inter-regular"/>
                        </a:rPr>
                        <a:t> such as writer, copyright, version etc.</a:t>
                      </a:r>
                    </a:p>
                  </a:txBody>
                  <a:tcPr marL="76200" marR="76200" marT="76200" marB="76200"/>
                </a:tc>
              </a:tr>
            </a:tbl>
          </a:graphicData>
        </a:graphic>
      </p:graphicFrame>
      <p:sp>
        <p:nvSpPr>
          <p:cNvPr id="4" name="Slide Number Placeholder 3"/>
          <p:cNvSpPr>
            <a:spLocks noGrp="1"/>
          </p:cNvSpPr>
          <p:nvPr>
            <p:ph type="sldNum" sz="quarter" idx="12"/>
          </p:nvPr>
        </p:nvSpPr>
        <p:spPr>
          <a:xfrm>
            <a:off x="7963744" y="6126097"/>
            <a:ext cx="2743200" cy="365125"/>
          </a:xfrm>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14</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44529"/>
            <a:ext cx="11234464" cy="576160"/>
          </a:xfrm>
        </p:spPr>
        <p:txBody>
          <a:bodyPr/>
          <a:lstStyle/>
          <a:p>
            <a:r>
              <a:rPr lang="en-GB" sz="3600" b="1" dirty="0" err="1" smtClean="0">
                <a:solidFill>
                  <a:srgbClr val="0070C0"/>
                </a:solidFill>
                <a:latin typeface="Cambria" panose="02040503050406030204" pitchFamily="18" charset="0"/>
                <a:ea typeface="Cambria" panose="02040503050406030204" pitchFamily="18" charset="0"/>
              </a:rPr>
              <a:t>Servlet</a:t>
            </a:r>
            <a:r>
              <a:rPr lang="en-GB" sz="3600" b="1" dirty="0" smtClean="0">
                <a:solidFill>
                  <a:srgbClr val="0070C0"/>
                </a:solidFill>
                <a:latin typeface="Cambria" panose="02040503050406030204" pitchFamily="18" charset="0"/>
                <a:ea typeface="Cambria" panose="02040503050406030204" pitchFamily="18" charset="0"/>
              </a:rPr>
              <a:t> Example by implementing </a:t>
            </a:r>
            <a:r>
              <a:rPr lang="en-GB" sz="3600" b="1" dirty="0" err="1" smtClean="0">
                <a:solidFill>
                  <a:srgbClr val="0070C0"/>
                </a:solidFill>
                <a:latin typeface="Cambria" panose="02040503050406030204" pitchFamily="18" charset="0"/>
                <a:ea typeface="Cambria" panose="02040503050406030204" pitchFamily="18" charset="0"/>
              </a:rPr>
              <a:t>Servlet</a:t>
            </a:r>
            <a:r>
              <a:rPr lang="en-GB" sz="3600" b="1" dirty="0" smtClean="0">
                <a:solidFill>
                  <a:srgbClr val="0070C0"/>
                </a:solidFill>
                <a:latin typeface="Cambria" panose="02040503050406030204" pitchFamily="18" charset="0"/>
                <a:ea typeface="Cambria" panose="02040503050406030204" pitchFamily="18" charset="0"/>
              </a:rPr>
              <a:t> interface</a:t>
            </a:r>
            <a:endParaRPr lang="en-GB" sz="3600" b="1" dirty="0">
              <a:solidFill>
                <a:srgbClr val="0070C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191344" y="620689"/>
            <a:ext cx="10515600" cy="4891103"/>
          </a:xfrm>
        </p:spPr>
        <p:txBody>
          <a:bodyPr/>
          <a:lstStyle/>
          <a:p>
            <a:pPr>
              <a:spcBef>
                <a:spcPts val="0"/>
              </a:spcBef>
              <a:buNone/>
            </a:pPr>
            <a:r>
              <a:rPr lang="en-US" sz="2000" b="1" dirty="0" smtClean="0">
                <a:latin typeface="Cambria" panose="02040503050406030204" pitchFamily="18" charset="0"/>
                <a:ea typeface="Cambria" panose="02040503050406030204" pitchFamily="18" charset="0"/>
              </a:rPr>
              <a:t>import</a:t>
            </a:r>
            <a:r>
              <a:rPr lang="en-US" sz="2000" dirty="0" smtClean="0">
                <a:latin typeface="Cambria" panose="02040503050406030204" pitchFamily="18" charset="0"/>
                <a:ea typeface="Cambria" panose="02040503050406030204" pitchFamily="18" charset="0"/>
              </a:rPr>
              <a:t> java.io.*;  </a:t>
            </a:r>
          </a:p>
          <a:p>
            <a:pPr>
              <a:spcBef>
                <a:spcPts val="0"/>
              </a:spcBef>
              <a:buNone/>
            </a:pPr>
            <a:r>
              <a:rPr lang="en-US" sz="2000" b="1" dirty="0" smtClean="0">
                <a:latin typeface="Cambria" panose="02040503050406030204" pitchFamily="18" charset="0"/>
                <a:ea typeface="Cambria" panose="02040503050406030204" pitchFamily="18" charset="0"/>
              </a:rPr>
              <a:t>import</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javax.servlet</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smtClean="0">
                <a:latin typeface="Cambria" panose="02040503050406030204" pitchFamily="18" charset="0"/>
                <a:ea typeface="Cambria" panose="02040503050406030204" pitchFamily="18" charset="0"/>
              </a:rPr>
              <a:t>  </a:t>
            </a:r>
          </a:p>
          <a:p>
            <a:pPr>
              <a:spcBef>
                <a:spcPts val="0"/>
              </a:spcBef>
              <a:buNone/>
            </a:pPr>
            <a:r>
              <a:rPr lang="en-US" sz="2000" b="1" dirty="0" smtClean="0">
                <a:latin typeface="Cambria" panose="02040503050406030204" pitchFamily="18" charset="0"/>
                <a:ea typeface="Cambria" panose="02040503050406030204" pitchFamily="18" charset="0"/>
              </a:rPr>
              <a:t>public</a:t>
            </a: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class</a:t>
            </a:r>
            <a:r>
              <a:rPr lang="en-US" sz="2000" dirty="0" smtClean="0">
                <a:latin typeface="Cambria" panose="02040503050406030204" pitchFamily="18" charset="0"/>
                <a:ea typeface="Cambria" panose="02040503050406030204" pitchFamily="18" charset="0"/>
              </a:rPr>
              <a:t> First </a:t>
            </a:r>
            <a:r>
              <a:rPr lang="en-US" sz="2000" b="1" dirty="0" smtClean="0">
                <a:latin typeface="Cambria" panose="02040503050406030204" pitchFamily="18" charset="0"/>
                <a:ea typeface="Cambria" panose="02040503050406030204" pitchFamily="18" charset="0"/>
              </a:rPr>
              <a:t>implements</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Servlet</a:t>
            </a:r>
            <a:r>
              <a:rPr lang="en-US" sz="2000" dirty="0" smtClean="0">
                <a:latin typeface="Cambria" panose="02040503050406030204" pitchFamily="18" charset="0"/>
                <a:ea typeface="Cambria" panose="02040503050406030204" pitchFamily="18" charset="0"/>
              </a:rPr>
              <a:t> {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ServletConfig</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config</a:t>
            </a:r>
            <a:r>
              <a:rPr lang="en-US" sz="2000" dirty="0" smtClean="0">
                <a:latin typeface="Cambria" panose="02040503050406030204" pitchFamily="18" charset="0"/>
                <a:ea typeface="Cambria" panose="02040503050406030204" pitchFamily="18" charset="0"/>
              </a:rPr>
              <a:t>=</a:t>
            </a:r>
            <a:r>
              <a:rPr lang="en-US" sz="2000" b="1" dirty="0" smtClean="0">
                <a:latin typeface="Cambria" panose="02040503050406030204" pitchFamily="18" charset="0"/>
                <a:ea typeface="Cambria" panose="02040503050406030204" pitchFamily="18" charset="0"/>
              </a:rPr>
              <a:t>null</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smtClean="0">
                <a:latin typeface="Cambria" panose="02040503050406030204" pitchFamily="18" charset="0"/>
                <a:ea typeface="Cambria" panose="02040503050406030204" pitchFamily="18" charset="0"/>
              </a:rPr>
              <a:t>  </a:t>
            </a:r>
          </a:p>
          <a:p>
            <a:pPr>
              <a:spcBef>
                <a:spcPts val="0"/>
              </a:spcBef>
              <a:buNone/>
            </a:pPr>
            <a:r>
              <a:rPr lang="en-US" sz="2000" b="1" dirty="0" smtClean="0">
                <a:latin typeface="Cambria" panose="02040503050406030204" pitchFamily="18" charset="0"/>
                <a:ea typeface="Cambria" panose="02040503050406030204" pitchFamily="18" charset="0"/>
              </a:rPr>
              <a:t>public</a:t>
            </a: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void</a:t>
            </a:r>
            <a:r>
              <a:rPr lang="en-US" sz="2000" dirty="0" smtClean="0">
                <a:latin typeface="Cambria" panose="02040503050406030204" pitchFamily="18" charset="0"/>
                <a:ea typeface="Cambria" panose="02040503050406030204" pitchFamily="18" charset="0"/>
              </a:rPr>
              <a:t> init(</a:t>
            </a:r>
            <a:r>
              <a:rPr lang="en-US" sz="2000" dirty="0" err="1" smtClean="0">
                <a:latin typeface="Cambria" panose="02040503050406030204" pitchFamily="18" charset="0"/>
                <a:ea typeface="Cambria" panose="02040503050406030204" pitchFamily="18" charset="0"/>
              </a:rPr>
              <a:t>ServletConfig</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config</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b="1" dirty="0" smtClean="0">
                <a:latin typeface="Cambria" panose="02040503050406030204" pitchFamily="18" charset="0"/>
                <a:ea typeface="Cambria" panose="02040503050406030204" pitchFamily="18" charset="0"/>
              </a:rPr>
              <a:t>       </a:t>
            </a:r>
            <a:r>
              <a:rPr lang="en-US" sz="2000" b="1" dirty="0" err="1" smtClean="0">
                <a:latin typeface="Cambria" panose="02040503050406030204" pitchFamily="18" charset="0"/>
                <a:ea typeface="Cambria" panose="02040503050406030204" pitchFamily="18" charset="0"/>
              </a:rPr>
              <a:t>this</a:t>
            </a:r>
            <a:r>
              <a:rPr lang="en-US" sz="2000" dirty="0" err="1" smtClean="0">
                <a:latin typeface="Cambria" panose="02040503050406030204" pitchFamily="18" charset="0"/>
                <a:ea typeface="Cambria" panose="02040503050406030204" pitchFamily="18" charset="0"/>
              </a:rPr>
              <a:t>.config</a:t>
            </a:r>
            <a:r>
              <a:rPr lang="en-US" sz="2000" dirty="0" smtClean="0">
                <a:latin typeface="Cambria" panose="02040503050406030204" pitchFamily="18" charset="0"/>
                <a:ea typeface="Cambria" panose="02040503050406030204" pitchFamily="18" charset="0"/>
              </a:rPr>
              <a:t>=</a:t>
            </a:r>
            <a:r>
              <a:rPr lang="en-US" sz="2000" dirty="0" err="1" smtClean="0">
                <a:latin typeface="Cambria" panose="02040503050406030204" pitchFamily="18" charset="0"/>
                <a:ea typeface="Cambria" panose="02040503050406030204" pitchFamily="18" charset="0"/>
              </a:rPr>
              <a:t>config</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smtClean="0">
                <a:latin typeface="Cambria" panose="02040503050406030204" pitchFamily="18" charset="0"/>
                <a:ea typeface="Cambria" panose="02040503050406030204" pitchFamily="18" charset="0"/>
              </a:rPr>
              <a:t>       System.out.println(“Servlet is initialized");  </a:t>
            </a:r>
          </a:p>
          <a:p>
            <a:pPr>
              <a:spcBef>
                <a:spcPts val="0"/>
              </a:spcBef>
              <a:buNone/>
            </a:pPr>
            <a:r>
              <a:rPr lang="en-US" sz="2000" dirty="0" smtClean="0">
                <a:latin typeface="Cambria" panose="02040503050406030204" pitchFamily="18" charset="0"/>
                <a:ea typeface="Cambria" panose="02040503050406030204" pitchFamily="18" charset="0"/>
              </a:rPr>
              <a:t>}    </a:t>
            </a:r>
          </a:p>
          <a:p>
            <a:pPr>
              <a:spcBef>
                <a:spcPts val="0"/>
              </a:spcBef>
              <a:buNone/>
            </a:pPr>
            <a:r>
              <a:rPr lang="en-US" sz="2000" b="1" dirty="0" smtClean="0">
                <a:latin typeface="Cambria" panose="02040503050406030204" pitchFamily="18" charset="0"/>
                <a:ea typeface="Cambria" panose="02040503050406030204" pitchFamily="18" charset="0"/>
              </a:rPr>
              <a:t>public</a:t>
            </a: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void</a:t>
            </a:r>
            <a:r>
              <a:rPr lang="en-US" sz="2000" dirty="0" smtClean="0">
                <a:latin typeface="Cambria" panose="02040503050406030204" pitchFamily="18" charset="0"/>
                <a:ea typeface="Cambria" panose="02040503050406030204" pitchFamily="18" charset="0"/>
              </a:rPr>
              <a:t> service(</a:t>
            </a:r>
            <a:r>
              <a:rPr lang="en-US" sz="2000" dirty="0" err="1" smtClean="0">
                <a:latin typeface="Cambria" panose="02040503050406030204" pitchFamily="18" charset="0"/>
                <a:ea typeface="Cambria" panose="02040503050406030204" pitchFamily="18" charset="0"/>
              </a:rPr>
              <a:t>ServletRequest</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req,ServletResponse</a:t>
            </a:r>
            <a:r>
              <a:rPr lang="en-US" sz="2000" dirty="0" smtClean="0">
                <a:latin typeface="Cambria" panose="02040503050406030204" pitchFamily="18" charset="0"/>
                <a:ea typeface="Cambria" panose="02040503050406030204" pitchFamily="18" charset="0"/>
              </a:rPr>
              <a:t> res)  </a:t>
            </a:r>
          </a:p>
          <a:p>
            <a:pPr>
              <a:spcBef>
                <a:spcPts val="0"/>
              </a:spcBef>
              <a:buNone/>
            </a:pPr>
            <a:r>
              <a:rPr lang="en-US" sz="2000" b="1" dirty="0" smtClean="0">
                <a:latin typeface="Cambria" panose="02040503050406030204" pitchFamily="18" charset="0"/>
                <a:ea typeface="Cambria" panose="02040503050406030204" pitchFamily="18" charset="0"/>
              </a:rPr>
              <a:t>throws</a:t>
            </a:r>
            <a:r>
              <a:rPr lang="en-US" sz="2000" dirty="0" smtClean="0">
                <a:latin typeface="Cambria" panose="02040503050406030204" pitchFamily="18" charset="0"/>
                <a:ea typeface="Cambria" panose="02040503050406030204" pitchFamily="18" charset="0"/>
              </a:rPr>
              <a:t> IOException, ServletException{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res.setContentType</a:t>
            </a:r>
            <a:r>
              <a:rPr lang="en-US" sz="2000" dirty="0" smtClean="0">
                <a:latin typeface="Cambria" panose="02040503050406030204" pitchFamily="18" charset="0"/>
                <a:ea typeface="Cambria" panose="02040503050406030204" pitchFamily="18" charset="0"/>
              </a:rPr>
              <a:t>("text/html");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PrintWriter</a:t>
            </a:r>
            <a:r>
              <a:rPr lang="en-US" sz="2000" dirty="0" smtClean="0">
                <a:latin typeface="Cambria" panose="02040503050406030204" pitchFamily="18" charset="0"/>
                <a:ea typeface="Cambria" panose="02040503050406030204" pitchFamily="18" charset="0"/>
              </a:rPr>
              <a:t> out=</a:t>
            </a:r>
            <a:r>
              <a:rPr lang="en-US" sz="2000" dirty="0" err="1" smtClean="0">
                <a:latin typeface="Cambria" panose="02040503050406030204" pitchFamily="18" charset="0"/>
                <a:ea typeface="Cambria" panose="02040503050406030204" pitchFamily="18" charset="0"/>
              </a:rPr>
              <a:t>res.getWriter</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out.print</a:t>
            </a:r>
            <a:r>
              <a:rPr lang="en-US" sz="2000" dirty="0" smtClean="0">
                <a:latin typeface="Cambria" panose="02040503050406030204" pitchFamily="18" charset="0"/>
                <a:ea typeface="Cambria" panose="02040503050406030204" pitchFamily="18" charset="0"/>
              </a:rPr>
              <a:t>("&lt;html&gt;&lt;body&gt;");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out.print</a:t>
            </a:r>
            <a:r>
              <a:rPr lang="en-US" sz="2000" dirty="0" smtClean="0">
                <a:latin typeface="Cambria" panose="02040503050406030204" pitchFamily="18" charset="0"/>
                <a:ea typeface="Cambria" panose="02040503050406030204" pitchFamily="18" charset="0"/>
              </a:rPr>
              <a:t>("&lt;b&gt;hello simple </a:t>
            </a:r>
            <a:r>
              <a:rPr lang="en-US" sz="2000" dirty="0" err="1" smtClean="0">
                <a:latin typeface="Cambria" panose="02040503050406030204" pitchFamily="18" charset="0"/>
                <a:ea typeface="Cambria" panose="02040503050406030204" pitchFamily="18" charset="0"/>
              </a:rPr>
              <a:t>servlet</a:t>
            </a:r>
            <a:r>
              <a:rPr lang="en-US" sz="2000" dirty="0" smtClean="0">
                <a:latin typeface="Cambria" panose="02040503050406030204" pitchFamily="18" charset="0"/>
                <a:ea typeface="Cambria" panose="02040503050406030204" pitchFamily="18" charset="0"/>
              </a:rPr>
              <a:t>&lt;/b&gt;");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out.print</a:t>
            </a:r>
            <a:r>
              <a:rPr lang="en-US" sz="2000" dirty="0" smtClean="0">
                <a:latin typeface="Cambria" panose="02040503050406030204" pitchFamily="18" charset="0"/>
                <a:ea typeface="Cambria" panose="02040503050406030204" pitchFamily="18" charset="0"/>
              </a:rPr>
              <a:t>("&lt;/body&gt;&lt;/html&gt;");  </a:t>
            </a:r>
          </a:p>
          <a:p>
            <a:pPr>
              <a:spcBef>
                <a:spcPts val="0"/>
              </a:spcBef>
              <a:buNone/>
            </a:pP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smtClean="0">
                <a:latin typeface="Cambria" panose="02040503050406030204" pitchFamily="18" charset="0"/>
                <a:ea typeface="Cambria" panose="02040503050406030204" pitchFamily="18" charset="0"/>
              </a:rPr>
              <a:t>}  </a:t>
            </a:r>
          </a:p>
          <a:p>
            <a:pPr>
              <a:spcBef>
                <a:spcPts val="0"/>
              </a:spcBef>
            </a:pPr>
            <a:endParaRPr lang="en-US" sz="20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15</a:t>
            </a:fld>
            <a:endParaRPr lang="en-US" altLang="en-US"/>
          </a:p>
        </p:txBody>
      </p:sp>
      <p:sp>
        <p:nvSpPr>
          <p:cNvPr id="5" name="Rectangle 4"/>
          <p:cNvSpPr/>
          <p:nvPr/>
        </p:nvSpPr>
        <p:spPr>
          <a:xfrm>
            <a:off x="7032104" y="692696"/>
            <a:ext cx="5003863" cy="2585323"/>
          </a:xfrm>
          <a:prstGeom prst="rect">
            <a:avLst/>
          </a:prstGeom>
        </p:spPr>
        <p:txBody>
          <a:bodyPr wrap="square">
            <a:spAutoFit/>
          </a:bodyPr>
          <a:lstStyle/>
          <a:p>
            <a:pPr>
              <a:spcBef>
                <a:spcPts val="0"/>
              </a:spcBef>
              <a:buNone/>
            </a:pPr>
            <a:r>
              <a:rPr lang="en-US" b="1" dirty="0">
                <a:latin typeface="Cambria" panose="02040503050406030204" pitchFamily="18" charset="0"/>
                <a:ea typeface="Cambria" panose="02040503050406030204" pitchFamily="18" charset="0"/>
              </a:rPr>
              <a:t>public</a:t>
            </a:r>
            <a:r>
              <a:rPr lang="en-US" dirty="0">
                <a:latin typeface="Cambria" panose="02040503050406030204" pitchFamily="18" charset="0"/>
                <a:ea typeface="Cambria" panose="02040503050406030204" pitchFamily="18" charset="0"/>
              </a:rPr>
              <a:t> </a:t>
            </a:r>
            <a:r>
              <a:rPr lang="en-US" b="1" dirty="0">
                <a:latin typeface="Cambria" panose="02040503050406030204" pitchFamily="18" charset="0"/>
                <a:ea typeface="Cambria" panose="02040503050406030204" pitchFamily="18" charset="0"/>
              </a:rPr>
              <a:t>void</a:t>
            </a:r>
            <a:r>
              <a:rPr lang="en-US" dirty="0">
                <a:latin typeface="Cambria" panose="02040503050406030204" pitchFamily="18" charset="0"/>
                <a:ea typeface="Cambria" panose="02040503050406030204" pitchFamily="18" charset="0"/>
              </a:rPr>
              <a:t> destroy() { </a:t>
            </a:r>
          </a:p>
          <a:p>
            <a:pPr>
              <a:spcBef>
                <a:spcPts val="0"/>
              </a:spcBef>
              <a:buNone/>
            </a:pPr>
            <a:r>
              <a:rPr lang="en-US" dirty="0">
                <a:latin typeface="Cambria" panose="02040503050406030204" pitchFamily="18" charset="0"/>
                <a:ea typeface="Cambria" panose="02040503050406030204" pitchFamily="18" charset="0"/>
              </a:rPr>
              <a:t>          System.out.println("servlet is destroyed");</a:t>
            </a:r>
          </a:p>
          <a:p>
            <a:pPr>
              <a:spcBef>
                <a:spcPts val="0"/>
              </a:spcBef>
              <a:buNone/>
            </a:pPr>
            <a:r>
              <a:rPr lang="en-US" dirty="0">
                <a:latin typeface="Cambria" panose="02040503050406030204" pitchFamily="18" charset="0"/>
                <a:ea typeface="Cambria" panose="02040503050406030204" pitchFamily="18" charset="0"/>
              </a:rPr>
              <a:t>}  </a:t>
            </a:r>
          </a:p>
          <a:p>
            <a:pPr>
              <a:spcBef>
                <a:spcPts val="0"/>
              </a:spcBef>
              <a:buNone/>
            </a:pPr>
            <a:r>
              <a:rPr lang="en-US" b="1" dirty="0">
                <a:latin typeface="Cambria" panose="02040503050406030204" pitchFamily="18" charset="0"/>
                <a:ea typeface="Cambria" panose="02040503050406030204" pitchFamily="18" charset="0"/>
              </a:rPr>
              <a:t>public</a:t>
            </a:r>
            <a:r>
              <a:rPr lang="en-US" dirty="0">
                <a:latin typeface="Cambria" panose="02040503050406030204" pitchFamily="18" charset="0"/>
                <a:ea typeface="Cambria" panose="02040503050406030204" pitchFamily="18" charset="0"/>
              </a:rPr>
              <a:t> ServletConfig getServletConfig() {</a:t>
            </a:r>
          </a:p>
          <a:p>
            <a:pPr>
              <a:spcBef>
                <a:spcPts val="0"/>
              </a:spcBef>
              <a:buNone/>
            </a:pPr>
            <a:r>
              <a:rPr lang="en-US" b="1" dirty="0">
                <a:latin typeface="Cambria" panose="02040503050406030204" pitchFamily="18" charset="0"/>
                <a:ea typeface="Cambria" panose="02040503050406030204" pitchFamily="18" charset="0"/>
              </a:rPr>
              <a:t>           return</a:t>
            </a:r>
            <a:r>
              <a:rPr lang="en-US" dirty="0">
                <a:latin typeface="Cambria" panose="02040503050406030204" pitchFamily="18" charset="0"/>
                <a:ea typeface="Cambria" panose="02040503050406030204" pitchFamily="18" charset="0"/>
              </a:rPr>
              <a:t> config;</a:t>
            </a:r>
          </a:p>
          <a:p>
            <a:pPr>
              <a:spcBef>
                <a:spcPts val="0"/>
              </a:spcBef>
              <a:buNone/>
            </a:pPr>
            <a:r>
              <a:rPr lang="en-US" dirty="0">
                <a:latin typeface="Cambria" panose="02040503050406030204" pitchFamily="18" charset="0"/>
                <a:ea typeface="Cambria" panose="02040503050406030204" pitchFamily="18" charset="0"/>
              </a:rPr>
              <a:t>}  </a:t>
            </a:r>
          </a:p>
          <a:p>
            <a:pPr>
              <a:spcBef>
                <a:spcPts val="0"/>
              </a:spcBef>
              <a:buNone/>
            </a:pPr>
            <a:r>
              <a:rPr lang="en-US" b="1" dirty="0">
                <a:latin typeface="Cambria" panose="02040503050406030204" pitchFamily="18" charset="0"/>
                <a:ea typeface="Cambria" panose="02040503050406030204" pitchFamily="18" charset="0"/>
              </a:rPr>
              <a:t>public</a:t>
            </a:r>
            <a:r>
              <a:rPr lang="en-US" dirty="0">
                <a:latin typeface="Cambria" panose="02040503050406030204" pitchFamily="18" charset="0"/>
                <a:ea typeface="Cambria" panose="02040503050406030204" pitchFamily="18" charset="0"/>
              </a:rPr>
              <a:t> String getServletInfo() {</a:t>
            </a:r>
          </a:p>
          <a:p>
            <a:pPr>
              <a:spcBef>
                <a:spcPts val="0"/>
              </a:spcBef>
              <a:buNone/>
            </a:pPr>
            <a:r>
              <a:rPr lang="en-US" b="1" dirty="0">
                <a:latin typeface="Cambria" panose="02040503050406030204" pitchFamily="18" charset="0"/>
                <a:ea typeface="Cambria" panose="02040503050406030204" pitchFamily="18" charset="0"/>
              </a:rPr>
              <a:t>           return</a:t>
            </a:r>
            <a:r>
              <a:rPr lang="en-US" dirty="0">
                <a:latin typeface="Cambria" panose="02040503050406030204" pitchFamily="18" charset="0"/>
                <a:ea typeface="Cambria" panose="02040503050406030204" pitchFamily="18" charset="0"/>
              </a:rPr>
              <a:t> "copyright 2007-1010";}  </a:t>
            </a:r>
          </a:p>
          <a:p>
            <a:pPr>
              <a:spcBef>
                <a:spcPts val="0"/>
              </a:spcBef>
              <a:buNone/>
            </a:pPr>
            <a:r>
              <a:rPr lang="en-US" dirty="0">
                <a:latin typeface="Cambria" panose="02040503050406030204" pitchFamily="18" charset="0"/>
                <a:ea typeface="Cambria" panose="02040503050406030204" pitchFamily="18" charset="0"/>
              </a:rPr>
              <a:t>}  </a:t>
            </a: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130" y="61117"/>
            <a:ext cx="7365014" cy="415555"/>
          </a:xfrm>
        </p:spPr>
        <p:txBody>
          <a:bodyPr/>
          <a:lstStyle/>
          <a:p>
            <a:r>
              <a:rPr lang="en-US" sz="4000" b="1" dirty="0" smtClean="0">
                <a:solidFill>
                  <a:schemeClr val="accent5"/>
                </a:solidFill>
                <a:latin typeface="Cambria" panose="02040503050406030204" pitchFamily="18" charset="0"/>
                <a:ea typeface="Cambria" panose="02040503050406030204" pitchFamily="18" charset="0"/>
              </a:rPr>
              <a:t/>
            </a:r>
            <a:br>
              <a:rPr lang="en-US" sz="4000" b="1" dirty="0" smtClean="0">
                <a:solidFill>
                  <a:schemeClr val="accent5"/>
                </a:solidFill>
                <a:latin typeface="Cambria" panose="02040503050406030204" pitchFamily="18" charset="0"/>
                <a:ea typeface="Cambria" panose="02040503050406030204" pitchFamily="18" charset="0"/>
              </a:rPr>
            </a:br>
            <a:r>
              <a:rPr lang="en-US" sz="4000" b="1" dirty="0" smtClean="0">
                <a:solidFill>
                  <a:schemeClr val="accent5"/>
                </a:solidFill>
                <a:latin typeface="Cambria" panose="02040503050406030204" pitchFamily="18" charset="0"/>
                <a:ea typeface="Cambria" panose="02040503050406030204" pitchFamily="18" charset="0"/>
              </a:rPr>
              <a:t/>
            </a:r>
            <a:br>
              <a:rPr lang="en-US" sz="4000" b="1" dirty="0" smtClean="0">
                <a:solidFill>
                  <a:schemeClr val="accent5"/>
                </a:solidFill>
                <a:latin typeface="Cambria" panose="02040503050406030204" pitchFamily="18" charset="0"/>
                <a:ea typeface="Cambria" panose="02040503050406030204" pitchFamily="18" charset="0"/>
              </a:rPr>
            </a:br>
            <a:r>
              <a:rPr lang="en-US" sz="4000" b="1" dirty="0" err="1" smtClean="0">
                <a:solidFill>
                  <a:schemeClr val="accent5"/>
                </a:solidFill>
                <a:latin typeface="Cambria" panose="02040503050406030204" pitchFamily="18" charset="0"/>
                <a:ea typeface="Cambria" panose="02040503050406030204" pitchFamily="18" charset="0"/>
              </a:rPr>
              <a:t>GenericServlet</a:t>
            </a:r>
            <a:r>
              <a:rPr lang="en-US" sz="4000" b="1" dirty="0" smtClean="0">
                <a:solidFill>
                  <a:schemeClr val="accent5"/>
                </a:solidFill>
                <a:latin typeface="Cambria" panose="02040503050406030204" pitchFamily="18" charset="0"/>
                <a:ea typeface="Cambria" panose="02040503050406030204" pitchFamily="18" charset="0"/>
              </a:rPr>
              <a:t> class</a:t>
            </a:r>
            <a:br>
              <a:rPr lang="en-US" sz="4000" b="1" dirty="0" smtClean="0">
                <a:solidFill>
                  <a:schemeClr val="accent5"/>
                </a:solidFill>
                <a:latin typeface="Cambria" panose="02040503050406030204" pitchFamily="18" charset="0"/>
                <a:ea typeface="Cambria" panose="02040503050406030204" pitchFamily="18" charset="0"/>
              </a:rPr>
            </a:br>
            <a:r>
              <a:rPr lang="en-IN" sz="4000" b="1" dirty="0" smtClean="0">
                <a:solidFill>
                  <a:schemeClr val="accent5"/>
                </a:solidFill>
                <a:latin typeface="Cambria" panose="02040503050406030204" pitchFamily="18" charset="0"/>
                <a:ea typeface="Cambria" panose="02040503050406030204" pitchFamily="18" charset="0"/>
              </a:rPr>
              <a:t/>
            </a:r>
            <a:br>
              <a:rPr lang="en-IN" sz="4000" b="1" dirty="0" smtClean="0">
                <a:solidFill>
                  <a:schemeClr val="accent5"/>
                </a:solidFill>
                <a:latin typeface="Cambria" panose="02040503050406030204" pitchFamily="18" charset="0"/>
                <a:ea typeface="Cambria" panose="02040503050406030204" pitchFamily="18" charset="0"/>
              </a:rPr>
            </a:br>
            <a:endParaRPr lang="en-US" sz="40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07368" y="507087"/>
            <a:ext cx="11233248" cy="5226169"/>
          </a:xfrm>
        </p:spPr>
        <p:txBody>
          <a:bodyPr/>
          <a:lstStyle/>
          <a:p>
            <a:pPr algn="just"/>
            <a:r>
              <a:rPr lang="en-GB" dirty="0" smtClean="0">
                <a:latin typeface="Cambria" panose="02040503050406030204" pitchFamily="18" charset="0"/>
                <a:ea typeface="Cambria" panose="02040503050406030204" pitchFamily="18" charset="0"/>
              </a:rPr>
              <a:t>implements </a:t>
            </a:r>
            <a:r>
              <a:rPr lang="en-GB" b="1" dirty="0" err="1" smtClean="0">
                <a:latin typeface="Cambria" panose="02040503050406030204" pitchFamily="18" charset="0"/>
                <a:ea typeface="Cambria" panose="02040503050406030204" pitchFamily="18" charset="0"/>
              </a:rPr>
              <a:t>Servlet</a:t>
            </a:r>
            <a:r>
              <a:rPr lang="en-GB" dirty="0" smtClean="0">
                <a:latin typeface="Cambria" panose="02040503050406030204" pitchFamily="18" charset="0"/>
                <a:ea typeface="Cambria" panose="02040503050406030204" pitchFamily="18" charset="0"/>
              </a:rPr>
              <a:t>, </a:t>
            </a:r>
            <a:r>
              <a:rPr lang="en-GB" b="1" dirty="0" err="1" smtClean="0">
                <a:latin typeface="Cambria" panose="02040503050406030204" pitchFamily="18" charset="0"/>
                <a:ea typeface="Cambria" panose="02040503050406030204" pitchFamily="18" charset="0"/>
              </a:rPr>
              <a:t>ServletConfig</a:t>
            </a:r>
            <a:r>
              <a:rPr lang="en-GB" dirty="0" smtClean="0">
                <a:latin typeface="Cambria" panose="02040503050406030204" pitchFamily="18" charset="0"/>
                <a:ea typeface="Cambria" panose="02040503050406030204" pitchFamily="18" charset="0"/>
              </a:rPr>
              <a:t> and </a:t>
            </a:r>
            <a:r>
              <a:rPr lang="en-GB" b="1" dirty="0" err="1" smtClean="0">
                <a:latin typeface="Cambria" panose="02040503050406030204" pitchFamily="18" charset="0"/>
                <a:ea typeface="Cambria" panose="02040503050406030204" pitchFamily="18" charset="0"/>
              </a:rPr>
              <a:t>Serializable</a:t>
            </a:r>
            <a:r>
              <a:rPr lang="en-GB" dirty="0" smtClean="0">
                <a:latin typeface="Cambria" panose="02040503050406030204" pitchFamily="18" charset="0"/>
                <a:ea typeface="Cambria" panose="02040503050406030204" pitchFamily="18" charset="0"/>
              </a:rPr>
              <a:t> interfaces. It provides the implementation of all the methods of these interfaces except the service method.</a:t>
            </a:r>
          </a:p>
          <a:p>
            <a:pPr algn="just"/>
            <a:r>
              <a:rPr lang="en-GB" dirty="0" smtClean="0">
                <a:latin typeface="Cambria" panose="02040503050406030204" pitchFamily="18" charset="0"/>
                <a:ea typeface="Cambria" panose="02040503050406030204" pitchFamily="18" charset="0"/>
              </a:rPr>
              <a:t> can handle any type of request, so it is protocol-independent.</a:t>
            </a:r>
          </a:p>
          <a:p>
            <a:pPr algn="just"/>
            <a:r>
              <a:rPr lang="en-US" dirty="0" smtClean="0">
                <a:latin typeface="Cambria" panose="02040503050406030204" pitchFamily="18" charset="0"/>
                <a:ea typeface="Cambria" panose="02040503050406030204" pitchFamily="18" charset="0"/>
              </a:rPr>
              <a:t>Methods</a:t>
            </a:r>
          </a:p>
          <a:p>
            <a:pPr marL="514350" indent="-514350" algn="just">
              <a:lnSpc>
                <a:spcPct val="100000"/>
              </a:lnSpc>
              <a:spcBef>
                <a:spcPts val="300"/>
              </a:spcBef>
              <a:spcAft>
                <a:spcPts val="300"/>
              </a:spcAft>
              <a:buFont typeface="+mj-lt"/>
              <a:buAutoNum type="arabicPeriod"/>
            </a:pPr>
            <a:r>
              <a:rPr lang="en-GB" sz="2000" b="1" dirty="0" smtClean="0">
                <a:latin typeface="Cambria" panose="02040503050406030204" pitchFamily="18" charset="0"/>
                <a:ea typeface="Cambria" panose="02040503050406030204" pitchFamily="18" charset="0"/>
              </a:rPr>
              <a:t>public void init(</a:t>
            </a:r>
            <a:r>
              <a:rPr lang="en-GB" sz="2000" b="1" dirty="0" err="1" smtClean="0">
                <a:latin typeface="Cambria" panose="02040503050406030204" pitchFamily="18" charset="0"/>
                <a:ea typeface="Cambria" panose="02040503050406030204" pitchFamily="18" charset="0"/>
              </a:rPr>
              <a:t>ServletConfig</a:t>
            </a:r>
            <a:r>
              <a:rPr lang="en-GB" sz="2000" b="1" dirty="0" smtClean="0">
                <a:latin typeface="Cambria" panose="02040503050406030204" pitchFamily="18" charset="0"/>
                <a:ea typeface="Cambria" panose="02040503050406030204" pitchFamily="18" charset="0"/>
              </a:rPr>
              <a:t> </a:t>
            </a:r>
            <a:r>
              <a:rPr lang="en-GB" sz="2000" b="1" dirty="0" err="1" smtClean="0">
                <a:latin typeface="Cambria" panose="02040503050406030204" pitchFamily="18" charset="0"/>
                <a:ea typeface="Cambria" panose="02040503050406030204" pitchFamily="18" charset="0"/>
              </a:rPr>
              <a:t>config</a:t>
            </a:r>
            <a:r>
              <a:rPr lang="en-GB" sz="2000" b="1" dirty="0" smtClean="0">
                <a:latin typeface="Cambria" panose="02040503050406030204" pitchFamily="18" charset="0"/>
                <a:ea typeface="Cambria" panose="02040503050406030204" pitchFamily="18" charset="0"/>
              </a:rPr>
              <a:t>)</a:t>
            </a:r>
            <a:r>
              <a:rPr lang="en-GB" sz="2000" dirty="0" smtClean="0">
                <a:latin typeface="Cambria" panose="02040503050406030204" pitchFamily="18" charset="0"/>
                <a:ea typeface="Cambria" panose="02040503050406030204" pitchFamily="18" charset="0"/>
              </a:rPr>
              <a:t> is used to initialize the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a:t>
            </a:r>
          </a:p>
          <a:p>
            <a:pPr marL="514350" indent="-514350" algn="just">
              <a:lnSpc>
                <a:spcPct val="100000"/>
              </a:lnSpc>
              <a:spcBef>
                <a:spcPts val="300"/>
              </a:spcBef>
              <a:spcAft>
                <a:spcPts val="300"/>
              </a:spcAft>
              <a:buFont typeface="+mj-lt"/>
              <a:buAutoNum type="arabicPeriod"/>
            </a:pPr>
            <a:r>
              <a:rPr lang="en-GB" sz="2000" b="1" dirty="0" smtClean="0">
                <a:latin typeface="Cambria" panose="02040503050406030204" pitchFamily="18" charset="0"/>
                <a:ea typeface="Cambria" panose="02040503050406030204" pitchFamily="18" charset="0"/>
              </a:rPr>
              <a:t>public abstract void service(</a:t>
            </a:r>
            <a:r>
              <a:rPr lang="en-GB" sz="2000" b="1" dirty="0" err="1" smtClean="0">
                <a:latin typeface="Cambria" panose="02040503050406030204" pitchFamily="18" charset="0"/>
                <a:ea typeface="Cambria" panose="02040503050406030204" pitchFamily="18" charset="0"/>
              </a:rPr>
              <a:t>ServletRequest</a:t>
            </a:r>
            <a:r>
              <a:rPr lang="en-GB" sz="2000" b="1" dirty="0" smtClean="0">
                <a:latin typeface="Cambria" panose="02040503050406030204" pitchFamily="18" charset="0"/>
                <a:ea typeface="Cambria" panose="02040503050406030204" pitchFamily="18" charset="0"/>
              </a:rPr>
              <a:t> request, </a:t>
            </a:r>
            <a:r>
              <a:rPr lang="en-GB" sz="2000" b="1" dirty="0" err="1" smtClean="0">
                <a:latin typeface="Cambria" panose="02040503050406030204" pitchFamily="18" charset="0"/>
                <a:ea typeface="Cambria" panose="02040503050406030204" pitchFamily="18" charset="0"/>
              </a:rPr>
              <a:t>ServletResponse</a:t>
            </a:r>
            <a:r>
              <a:rPr lang="en-GB" sz="2000" b="1" dirty="0" smtClean="0">
                <a:latin typeface="Cambria" panose="02040503050406030204" pitchFamily="18" charset="0"/>
                <a:ea typeface="Cambria" panose="02040503050406030204" pitchFamily="18" charset="0"/>
              </a:rPr>
              <a:t> response)</a:t>
            </a:r>
            <a:r>
              <a:rPr lang="en-GB" sz="2000" dirty="0" smtClean="0">
                <a:latin typeface="Cambria" panose="02040503050406030204" pitchFamily="18" charset="0"/>
                <a:ea typeface="Cambria" panose="02040503050406030204" pitchFamily="18" charset="0"/>
              </a:rPr>
              <a:t> provides service for the incoming request. It is invoked at each time when user requests for a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a:t>
            </a:r>
          </a:p>
          <a:p>
            <a:pPr marL="514350" indent="-514350" algn="just">
              <a:lnSpc>
                <a:spcPct val="100000"/>
              </a:lnSpc>
              <a:spcBef>
                <a:spcPts val="300"/>
              </a:spcBef>
              <a:spcAft>
                <a:spcPts val="300"/>
              </a:spcAft>
              <a:buFont typeface="+mj-lt"/>
              <a:buAutoNum type="arabicPeriod"/>
            </a:pPr>
            <a:r>
              <a:rPr lang="en-GB" sz="2000" b="1" dirty="0" smtClean="0">
                <a:latin typeface="Cambria" panose="02040503050406030204" pitchFamily="18" charset="0"/>
                <a:ea typeface="Cambria" panose="02040503050406030204" pitchFamily="18" charset="0"/>
              </a:rPr>
              <a:t>public void destroy()</a:t>
            </a:r>
            <a:r>
              <a:rPr lang="en-GB" sz="2000" dirty="0" smtClean="0">
                <a:latin typeface="Cambria" panose="02040503050406030204" pitchFamily="18" charset="0"/>
                <a:ea typeface="Cambria" panose="02040503050406030204" pitchFamily="18" charset="0"/>
              </a:rPr>
              <a:t> is invoked only once throughout the life cycle and indicates that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is being destroyed.</a:t>
            </a:r>
          </a:p>
          <a:p>
            <a:pPr marL="514350" indent="-514350" algn="just">
              <a:lnSpc>
                <a:spcPct val="100000"/>
              </a:lnSpc>
              <a:spcBef>
                <a:spcPts val="300"/>
              </a:spcBef>
              <a:spcAft>
                <a:spcPts val="300"/>
              </a:spcAft>
              <a:buFont typeface="+mj-lt"/>
              <a:buAutoNum type="arabicPeriod"/>
            </a:pPr>
            <a:r>
              <a:rPr lang="en-GB" sz="2000" b="1" dirty="0" smtClean="0">
                <a:latin typeface="Cambria" panose="02040503050406030204" pitchFamily="18" charset="0"/>
                <a:ea typeface="Cambria" panose="02040503050406030204" pitchFamily="18" charset="0"/>
              </a:rPr>
              <a:t>public </a:t>
            </a:r>
            <a:r>
              <a:rPr lang="en-GB" sz="2000" b="1" dirty="0" err="1" smtClean="0">
                <a:latin typeface="Cambria" panose="02040503050406030204" pitchFamily="18" charset="0"/>
                <a:ea typeface="Cambria" panose="02040503050406030204" pitchFamily="18" charset="0"/>
              </a:rPr>
              <a:t>ServletConfig</a:t>
            </a:r>
            <a:r>
              <a:rPr lang="en-GB" sz="2000" b="1" dirty="0" smtClean="0">
                <a:latin typeface="Cambria" panose="02040503050406030204" pitchFamily="18" charset="0"/>
                <a:ea typeface="Cambria" panose="02040503050406030204" pitchFamily="18" charset="0"/>
              </a:rPr>
              <a:t> </a:t>
            </a:r>
            <a:r>
              <a:rPr lang="en-GB" sz="2000" b="1" dirty="0" err="1" smtClean="0">
                <a:latin typeface="Cambria" panose="02040503050406030204" pitchFamily="18" charset="0"/>
                <a:ea typeface="Cambria" panose="02040503050406030204" pitchFamily="18" charset="0"/>
              </a:rPr>
              <a:t>getServletConfig</a:t>
            </a:r>
            <a:r>
              <a:rPr lang="en-GB" sz="2000" b="1" dirty="0" smtClean="0">
                <a:latin typeface="Cambria" panose="02040503050406030204" pitchFamily="18" charset="0"/>
                <a:ea typeface="Cambria" panose="02040503050406030204" pitchFamily="18" charset="0"/>
              </a:rPr>
              <a:t>()</a:t>
            </a:r>
            <a:r>
              <a:rPr lang="en-GB" sz="2000" dirty="0" smtClean="0">
                <a:latin typeface="Cambria" panose="02040503050406030204" pitchFamily="18" charset="0"/>
                <a:ea typeface="Cambria" panose="02040503050406030204" pitchFamily="18" charset="0"/>
              </a:rPr>
              <a:t> returns the object of </a:t>
            </a:r>
            <a:r>
              <a:rPr lang="en-GB" sz="2000" dirty="0" err="1" smtClean="0">
                <a:latin typeface="Cambria" panose="02040503050406030204" pitchFamily="18" charset="0"/>
                <a:ea typeface="Cambria" panose="02040503050406030204" pitchFamily="18" charset="0"/>
              </a:rPr>
              <a:t>ServletConfig</a:t>
            </a:r>
            <a:r>
              <a:rPr lang="en-GB" sz="2000" dirty="0" smtClean="0">
                <a:latin typeface="Cambria" panose="02040503050406030204" pitchFamily="18" charset="0"/>
                <a:ea typeface="Cambria" panose="02040503050406030204" pitchFamily="18" charset="0"/>
              </a:rPr>
              <a:t>.</a:t>
            </a:r>
          </a:p>
          <a:p>
            <a:pPr marL="514350" indent="-514350" algn="just">
              <a:lnSpc>
                <a:spcPct val="100000"/>
              </a:lnSpc>
              <a:spcBef>
                <a:spcPts val="300"/>
              </a:spcBef>
              <a:spcAft>
                <a:spcPts val="300"/>
              </a:spcAft>
              <a:buFont typeface="+mj-lt"/>
              <a:buAutoNum type="arabicPeriod"/>
            </a:pPr>
            <a:r>
              <a:rPr lang="en-GB" sz="2000" b="1" dirty="0" smtClean="0">
                <a:latin typeface="Cambria" panose="02040503050406030204" pitchFamily="18" charset="0"/>
                <a:ea typeface="Cambria" panose="02040503050406030204" pitchFamily="18" charset="0"/>
              </a:rPr>
              <a:t>public String </a:t>
            </a:r>
            <a:r>
              <a:rPr lang="en-GB" sz="2000" b="1" dirty="0" err="1" smtClean="0">
                <a:latin typeface="Cambria" panose="02040503050406030204" pitchFamily="18" charset="0"/>
                <a:ea typeface="Cambria" panose="02040503050406030204" pitchFamily="18" charset="0"/>
              </a:rPr>
              <a:t>getServletInfo</a:t>
            </a:r>
            <a:r>
              <a:rPr lang="en-GB" sz="2000" b="1" dirty="0" smtClean="0">
                <a:latin typeface="Cambria" panose="02040503050406030204" pitchFamily="18" charset="0"/>
                <a:ea typeface="Cambria" panose="02040503050406030204" pitchFamily="18" charset="0"/>
              </a:rPr>
              <a:t>()</a:t>
            </a:r>
            <a:r>
              <a:rPr lang="en-GB" sz="2000" dirty="0" smtClean="0">
                <a:latin typeface="Cambria" panose="02040503050406030204" pitchFamily="18" charset="0"/>
                <a:ea typeface="Cambria" panose="02040503050406030204" pitchFamily="18" charset="0"/>
              </a:rPr>
              <a:t> returns information about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such as writer, copyright, version etc.</a:t>
            </a:r>
          </a:p>
          <a:p>
            <a:pPr algn="just"/>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16</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5360" y="226888"/>
            <a:ext cx="10298360" cy="543595"/>
          </a:xfrm>
        </p:spPr>
        <p:txBody>
          <a:bodyPr/>
          <a:lstStyle/>
          <a:p>
            <a:r>
              <a:rPr lang="en-GB" sz="3200" b="1" dirty="0" err="1" smtClean="0">
                <a:solidFill>
                  <a:schemeClr val="accent5"/>
                </a:solidFill>
                <a:latin typeface="Cambria" panose="02040503050406030204" pitchFamily="18" charset="0"/>
                <a:ea typeface="Cambria" panose="02040503050406030204" pitchFamily="18" charset="0"/>
              </a:rPr>
              <a:t>Servlet</a:t>
            </a:r>
            <a:r>
              <a:rPr lang="en-GB" sz="3200" b="1" dirty="0" smtClean="0">
                <a:solidFill>
                  <a:schemeClr val="accent5"/>
                </a:solidFill>
                <a:latin typeface="Cambria" panose="02040503050406030204" pitchFamily="18" charset="0"/>
                <a:ea typeface="Cambria" panose="02040503050406030204" pitchFamily="18" charset="0"/>
              </a:rPr>
              <a:t> Example by inheriting the </a:t>
            </a:r>
            <a:r>
              <a:rPr lang="en-GB" sz="3200" b="1" dirty="0" err="1" smtClean="0">
                <a:solidFill>
                  <a:schemeClr val="accent5"/>
                </a:solidFill>
                <a:latin typeface="Cambria" panose="02040503050406030204" pitchFamily="18" charset="0"/>
                <a:ea typeface="Cambria" panose="02040503050406030204" pitchFamily="18" charset="0"/>
              </a:rPr>
              <a:t>GenericServlet</a:t>
            </a:r>
            <a:r>
              <a:rPr lang="en-GB" sz="3200" b="1" dirty="0" smtClean="0">
                <a:solidFill>
                  <a:schemeClr val="accent5"/>
                </a:solidFill>
                <a:latin typeface="Cambria" panose="02040503050406030204" pitchFamily="18" charset="0"/>
                <a:ea typeface="Cambria" panose="02040503050406030204" pitchFamily="18" charset="0"/>
              </a:rPr>
              <a:t> class</a:t>
            </a:r>
            <a:endParaRPr lang="en-GB" sz="3200" b="1" dirty="0">
              <a:solidFill>
                <a:schemeClr val="accent5"/>
              </a:solidFill>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17</a:t>
            </a:fld>
            <a:endParaRPr lang="en-US" altLang="en-US">
              <a:latin typeface="Cambria" panose="02040503050406030204" pitchFamily="18" charset="0"/>
              <a:ea typeface="Cambria" panose="02040503050406030204" pitchFamily="18" charset="0"/>
            </a:endParaRPr>
          </a:p>
        </p:txBody>
      </p:sp>
      <p:sp>
        <p:nvSpPr>
          <p:cNvPr id="6" name="Content Placeholder 5"/>
          <p:cNvSpPr>
            <a:spLocks noGrp="1"/>
          </p:cNvSpPr>
          <p:nvPr>
            <p:ph idx="1"/>
          </p:nvPr>
        </p:nvSpPr>
        <p:spPr>
          <a:xfrm>
            <a:off x="407368" y="1124744"/>
            <a:ext cx="11233248" cy="3475583"/>
          </a:xfrm>
        </p:spPr>
        <p:txBody>
          <a:bodyPr/>
          <a:lstStyle/>
          <a:p>
            <a:pPr>
              <a:spcBef>
                <a:spcPts val="0"/>
              </a:spcBef>
              <a:buNone/>
            </a:pPr>
            <a:r>
              <a:rPr lang="en-US" sz="2000" b="1" dirty="0" smtClean="0">
                <a:latin typeface="Cambria" panose="02040503050406030204" pitchFamily="18" charset="0"/>
                <a:ea typeface="Cambria" panose="02040503050406030204" pitchFamily="18" charset="0"/>
              </a:rPr>
              <a:t>import</a:t>
            </a:r>
            <a:r>
              <a:rPr lang="en-US" sz="2000" dirty="0" smtClean="0">
                <a:latin typeface="Cambria" panose="02040503050406030204" pitchFamily="18" charset="0"/>
                <a:ea typeface="Cambria" panose="02040503050406030204" pitchFamily="18" charset="0"/>
              </a:rPr>
              <a:t> java.io.*;  </a:t>
            </a:r>
          </a:p>
          <a:p>
            <a:pPr>
              <a:spcBef>
                <a:spcPts val="0"/>
              </a:spcBef>
              <a:buNone/>
            </a:pPr>
            <a:r>
              <a:rPr lang="en-US" sz="2000" b="1" dirty="0" smtClean="0">
                <a:latin typeface="Cambria" panose="02040503050406030204" pitchFamily="18" charset="0"/>
                <a:ea typeface="Cambria" panose="02040503050406030204" pitchFamily="18" charset="0"/>
              </a:rPr>
              <a:t>import</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javax.servlet</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smtClean="0">
                <a:latin typeface="Cambria" panose="02040503050406030204" pitchFamily="18" charset="0"/>
                <a:ea typeface="Cambria" panose="02040503050406030204" pitchFamily="18" charset="0"/>
              </a:rPr>
              <a:t>  </a:t>
            </a:r>
          </a:p>
          <a:p>
            <a:pPr>
              <a:spcBef>
                <a:spcPts val="0"/>
              </a:spcBef>
              <a:buNone/>
            </a:pPr>
            <a:r>
              <a:rPr lang="en-US" sz="2000" b="1" dirty="0" smtClean="0">
                <a:latin typeface="Cambria" panose="02040503050406030204" pitchFamily="18" charset="0"/>
                <a:ea typeface="Cambria" panose="02040503050406030204" pitchFamily="18" charset="0"/>
              </a:rPr>
              <a:t>public</a:t>
            </a: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class</a:t>
            </a:r>
            <a:r>
              <a:rPr lang="en-US" sz="2000" dirty="0" smtClean="0">
                <a:latin typeface="Cambria" panose="02040503050406030204" pitchFamily="18" charset="0"/>
                <a:ea typeface="Cambria" panose="02040503050406030204" pitchFamily="18" charset="0"/>
              </a:rPr>
              <a:t> First </a:t>
            </a:r>
            <a:r>
              <a:rPr lang="en-US" sz="2000" b="1" dirty="0" smtClean="0">
                <a:latin typeface="Cambria" panose="02040503050406030204" pitchFamily="18" charset="0"/>
                <a:ea typeface="Cambria" panose="02040503050406030204" pitchFamily="18" charset="0"/>
              </a:rPr>
              <a:t>extends</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GenericServlet</a:t>
            </a:r>
            <a:r>
              <a:rPr lang="en-US" sz="2000" dirty="0" smtClean="0">
                <a:latin typeface="Cambria" panose="02040503050406030204" pitchFamily="18" charset="0"/>
                <a:ea typeface="Cambria" panose="02040503050406030204" pitchFamily="18" charset="0"/>
              </a:rPr>
              <a:t>  {  </a:t>
            </a:r>
          </a:p>
          <a:p>
            <a:pPr>
              <a:spcBef>
                <a:spcPts val="0"/>
              </a:spcBef>
              <a:buNone/>
            </a:pPr>
            <a:r>
              <a:rPr lang="en-US" sz="2000" b="1" dirty="0" smtClean="0">
                <a:latin typeface="Cambria" panose="02040503050406030204" pitchFamily="18" charset="0"/>
                <a:ea typeface="Cambria" panose="02040503050406030204" pitchFamily="18" charset="0"/>
              </a:rPr>
              <a:t>public</a:t>
            </a: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void</a:t>
            </a:r>
            <a:r>
              <a:rPr lang="en-US" sz="2000" dirty="0" smtClean="0">
                <a:latin typeface="Cambria" panose="02040503050406030204" pitchFamily="18" charset="0"/>
                <a:ea typeface="Cambria" panose="02040503050406030204" pitchFamily="18" charset="0"/>
              </a:rPr>
              <a:t> service(</a:t>
            </a:r>
            <a:r>
              <a:rPr lang="en-US" sz="2000" dirty="0" err="1" smtClean="0">
                <a:latin typeface="Cambria" panose="02040503050406030204" pitchFamily="18" charset="0"/>
                <a:ea typeface="Cambria" panose="02040503050406030204" pitchFamily="18" charset="0"/>
              </a:rPr>
              <a:t>ServletRequest</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req,ServletResponse</a:t>
            </a:r>
            <a:r>
              <a:rPr lang="en-US" sz="2000" dirty="0" smtClean="0">
                <a:latin typeface="Cambria" panose="02040503050406030204" pitchFamily="18" charset="0"/>
                <a:ea typeface="Cambria" panose="02040503050406030204" pitchFamily="18" charset="0"/>
              </a:rPr>
              <a:t> res)  </a:t>
            </a:r>
            <a:r>
              <a:rPr lang="en-US" sz="2000" b="1" dirty="0" smtClean="0">
                <a:latin typeface="Cambria" panose="02040503050406030204" pitchFamily="18" charset="0"/>
                <a:ea typeface="Cambria" panose="02040503050406030204" pitchFamily="18" charset="0"/>
              </a:rPr>
              <a:t>throws</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IOException,ServletException</a:t>
            </a:r>
            <a:r>
              <a:rPr lang="en-US" sz="2000" dirty="0" smtClean="0">
                <a:latin typeface="Cambria" panose="02040503050406030204" pitchFamily="18" charset="0"/>
                <a:ea typeface="Cambria" panose="02040503050406030204" pitchFamily="18" charset="0"/>
              </a:rPr>
              <a:t> {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res.setContentType</a:t>
            </a:r>
            <a:r>
              <a:rPr lang="en-US" sz="2000" dirty="0" smtClean="0">
                <a:latin typeface="Cambria" panose="02040503050406030204" pitchFamily="18" charset="0"/>
                <a:ea typeface="Cambria" panose="02040503050406030204" pitchFamily="18" charset="0"/>
              </a:rPr>
              <a:t>("text/html");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PrintWriter</a:t>
            </a:r>
            <a:r>
              <a:rPr lang="en-US" sz="2000" dirty="0" smtClean="0">
                <a:latin typeface="Cambria" panose="02040503050406030204" pitchFamily="18" charset="0"/>
                <a:ea typeface="Cambria" panose="02040503050406030204" pitchFamily="18" charset="0"/>
              </a:rPr>
              <a:t> out=</a:t>
            </a:r>
            <a:r>
              <a:rPr lang="en-US" sz="2000" dirty="0" err="1" smtClean="0">
                <a:latin typeface="Cambria" panose="02040503050406030204" pitchFamily="18" charset="0"/>
                <a:ea typeface="Cambria" panose="02040503050406030204" pitchFamily="18" charset="0"/>
              </a:rPr>
              <a:t>res.getWriter</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out.print</a:t>
            </a:r>
            <a:r>
              <a:rPr lang="en-US" sz="2000" dirty="0" smtClean="0">
                <a:latin typeface="Cambria" panose="02040503050406030204" pitchFamily="18" charset="0"/>
                <a:ea typeface="Cambria" panose="02040503050406030204" pitchFamily="18" charset="0"/>
              </a:rPr>
              <a:t>("&lt;html&gt;&lt;body&gt;");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out.print</a:t>
            </a:r>
            <a:r>
              <a:rPr lang="en-US" sz="2000" dirty="0" smtClean="0">
                <a:latin typeface="Cambria" panose="02040503050406030204" pitchFamily="18" charset="0"/>
                <a:ea typeface="Cambria" panose="02040503050406030204" pitchFamily="18" charset="0"/>
              </a:rPr>
              <a:t>("&lt;b&gt;hello generic </a:t>
            </a:r>
            <a:r>
              <a:rPr lang="en-US" sz="2000" dirty="0" err="1" smtClean="0">
                <a:latin typeface="Cambria" panose="02040503050406030204" pitchFamily="18" charset="0"/>
                <a:ea typeface="Cambria" panose="02040503050406030204" pitchFamily="18" charset="0"/>
              </a:rPr>
              <a:t>servlet</a:t>
            </a:r>
            <a:r>
              <a:rPr lang="en-US" sz="2000" dirty="0" smtClean="0">
                <a:latin typeface="Cambria" panose="02040503050406030204" pitchFamily="18" charset="0"/>
                <a:ea typeface="Cambria" panose="02040503050406030204" pitchFamily="18" charset="0"/>
              </a:rPr>
              <a:t>&lt;/b&gt;");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out.print</a:t>
            </a:r>
            <a:r>
              <a:rPr lang="en-US" sz="2000" dirty="0" smtClean="0">
                <a:latin typeface="Cambria" panose="02040503050406030204" pitchFamily="18" charset="0"/>
                <a:ea typeface="Cambria" panose="02040503050406030204" pitchFamily="18" charset="0"/>
              </a:rPr>
              <a:t>("&lt;/body&gt;&lt;/html&gt;");  </a:t>
            </a:r>
          </a:p>
          <a:p>
            <a:pPr>
              <a:spcBef>
                <a:spcPts val="0"/>
              </a:spcBef>
              <a:buNone/>
            </a:pPr>
            <a:r>
              <a:rPr lang="en-US" sz="2000" dirty="0" smtClean="0">
                <a:latin typeface="Cambria" panose="02040503050406030204" pitchFamily="18" charset="0"/>
                <a:ea typeface="Cambria" panose="02040503050406030204" pitchFamily="18" charset="0"/>
              </a:rPr>
              <a:t>     }  </a:t>
            </a:r>
          </a:p>
          <a:p>
            <a:pPr>
              <a:spcBef>
                <a:spcPts val="0"/>
              </a:spcBef>
              <a:buNone/>
            </a:pPr>
            <a:r>
              <a:rPr lang="en-US" sz="2000" dirty="0" smtClean="0">
                <a:latin typeface="Cambria" panose="02040503050406030204" pitchFamily="18" charset="0"/>
                <a:ea typeface="Cambria" panose="02040503050406030204" pitchFamily="18" charset="0"/>
              </a:rPr>
              <a:t>}  </a:t>
            </a:r>
          </a:p>
          <a:p>
            <a:endParaRPr lang="en-US" dirty="0">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010328" cy="543595"/>
          </a:xfrm>
        </p:spPr>
        <p:txBody>
          <a:bodyPr/>
          <a:lstStyle/>
          <a:p>
            <a:r>
              <a:rPr lang="en-US" sz="3600" b="1" dirty="0" err="1" smtClean="0">
                <a:solidFill>
                  <a:srgbClr val="002060"/>
                </a:solidFill>
                <a:latin typeface="Cambria" panose="02040503050406030204" pitchFamily="18" charset="0"/>
                <a:ea typeface="Cambria" panose="02040503050406030204" pitchFamily="18" charset="0"/>
              </a:rPr>
              <a:t>HttpServlet</a:t>
            </a:r>
            <a:r>
              <a:rPr lang="en-US" sz="3600" b="1" dirty="0" smtClean="0">
                <a:latin typeface="Cambria" panose="02040503050406030204" pitchFamily="18" charset="0"/>
                <a:ea typeface="Cambria" panose="02040503050406030204" pitchFamily="18" charset="0"/>
              </a:rPr>
              <a:t> class</a:t>
            </a:r>
            <a:endParaRPr lang="en-US" sz="3600" b="1"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335360" y="543595"/>
            <a:ext cx="11377264" cy="4757613"/>
          </a:xfrm>
        </p:spPr>
        <p:txBody>
          <a:bodyPr/>
          <a:lstStyle/>
          <a:p>
            <a:pPr algn="just"/>
            <a:r>
              <a:rPr lang="en-GB" sz="2000" dirty="0" smtClean="0">
                <a:latin typeface="Cambria" panose="02040503050406030204" pitchFamily="18" charset="0"/>
                <a:ea typeface="Cambria" panose="02040503050406030204" pitchFamily="18" charset="0"/>
              </a:rPr>
              <a:t>The </a:t>
            </a:r>
            <a:r>
              <a:rPr lang="en-GB" sz="2000" dirty="0" err="1" smtClean="0">
                <a:latin typeface="Cambria" panose="02040503050406030204" pitchFamily="18" charset="0"/>
                <a:ea typeface="Cambria" panose="02040503050406030204" pitchFamily="18" charset="0"/>
              </a:rPr>
              <a:t>HttpServlet</a:t>
            </a:r>
            <a:r>
              <a:rPr lang="en-GB" sz="2000" dirty="0" smtClean="0">
                <a:latin typeface="Cambria" panose="02040503050406030204" pitchFamily="18" charset="0"/>
                <a:ea typeface="Cambria" panose="02040503050406030204" pitchFamily="18" charset="0"/>
              </a:rPr>
              <a:t> class extends the </a:t>
            </a:r>
            <a:r>
              <a:rPr lang="en-GB" sz="2000" dirty="0" err="1" smtClean="0">
                <a:latin typeface="Cambria" panose="02040503050406030204" pitchFamily="18" charset="0"/>
                <a:ea typeface="Cambria" panose="02040503050406030204" pitchFamily="18" charset="0"/>
              </a:rPr>
              <a:t>GenericServlet</a:t>
            </a:r>
            <a:r>
              <a:rPr lang="en-GB" sz="2000" dirty="0" smtClean="0">
                <a:latin typeface="Cambria" panose="02040503050406030204" pitchFamily="18" charset="0"/>
                <a:ea typeface="Cambria" panose="02040503050406030204" pitchFamily="18" charset="0"/>
              </a:rPr>
              <a:t> class and implements </a:t>
            </a:r>
            <a:r>
              <a:rPr lang="en-GB" sz="2000" dirty="0" err="1" smtClean="0">
                <a:latin typeface="Cambria" panose="02040503050406030204" pitchFamily="18" charset="0"/>
                <a:ea typeface="Cambria" panose="02040503050406030204" pitchFamily="18" charset="0"/>
              </a:rPr>
              <a:t>Serializable</a:t>
            </a:r>
            <a:r>
              <a:rPr lang="en-GB" sz="2000" dirty="0" smtClean="0">
                <a:latin typeface="Cambria" panose="02040503050406030204" pitchFamily="18" charset="0"/>
                <a:ea typeface="Cambria" panose="02040503050406030204" pitchFamily="18" charset="0"/>
              </a:rPr>
              <a:t> interface. It provides http specific methods such as </a:t>
            </a:r>
            <a:r>
              <a:rPr lang="en-GB" sz="2000" dirty="0" err="1" smtClean="0">
                <a:latin typeface="Cambria" panose="02040503050406030204" pitchFamily="18" charset="0"/>
                <a:ea typeface="Cambria" panose="02040503050406030204" pitchFamily="18" charset="0"/>
              </a:rPr>
              <a:t>doGet</a:t>
            </a:r>
            <a:r>
              <a:rPr lang="en-GB" sz="2000" dirty="0" smtClean="0">
                <a:latin typeface="Cambria" panose="02040503050406030204" pitchFamily="18" charset="0"/>
                <a:ea typeface="Cambria" panose="02040503050406030204" pitchFamily="18" charset="0"/>
              </a:rPr>
              <a:t>, </a:t>
            </a:r>
            <a:r>
              <a:rPr lang="en-GB" sz="2000" dirty="0" err="1" smtClean="0">
                <a:latin typeface="Cambria" panose="02040503050406030204" pitchFamily="18" charset="0"/>
                <a:ea typeface="Cambria" panose="02040503050406030204" pitchFamily="18" charset="0"/>
              </a:rPr>
              <a:t>doPost</a:t>
            </a:r>
            <a:r>
              <a:rPr lang="en-GB" sz="2000" dirty="0" smtClean="0">
                <a:latin typeface="Cambria" panose="02040503050406030204" pitchFamily="18" charset="0"/>
                <a:ea typeface="Cambria" panose="02040503050406030204" pitchFamily="18" charset="0"/>
              </a:rPr>
              <a:t>, </a:t>
            </a:r>
            <a:r>
              <a:rPr lang="en-GB" sz="2000" dirty="0" err="1" smtClean="0">
                <a:latin typeface="Cambria" panose="02040503050406030204" pitchFamily="18" charset="0"/>
                <a:ea typeface="Cambria" panose="02040503050406030204" pitchFamily="18" charset="0"/>
              </a:rPr>
              <a:t>doHead</a:t>
            </a:r>
            <a:r>
              <a:rPr lang="en-GB" sz="2000" dirty="0" smtClean="0">
                <a:latin typeface="Cambria" panose="02040503050406030204" pitchFamily="18" charset="0"/>
                <a:ea typeface="Cambria" panose="02040503050406030204" pitchFamily="18" charset="0"/>
              </a:rPr>
              <a:t>, </a:t>
            </a:r>
            <a:r>
              <a:rPr lang="en-GB" sz="2000" dirty="0" err="1" smtClean="0">
                <a:latin typeface="Cambria" panose="02040503050406030204" pitchFamily="18" charset="0"/>
                <a:ea typeface="Cambria" panose="02040503050406030204" pitchFamily="18" charset="0"/>
              </a:rPr>
              <a:t>doTrace</a:t>
            </a:r>
            <a:r>
              <a:rPr lang="en-GB" sz="2000" dirty="0" smtClean="0">
                <a:latin typeface="Cambria" panose="02040503050406030204" pitchFamily="18" charset="0"/>
                <a:ea typeface="Cambria" panose="02040503050406030204" pitchFamily="18" charset="0"/>
              </a:rPr>
              <a:t> etc.</a:t>
            </a:r>
          </a:p>
          <a:p>
            <a:pPr algn="just"/>
            <a:r>
              <a:rPr lang="en-GB" sz="2000" dirty="0" smtClean="0">
                <a:latin typeface="Cambria" panose="02040503050406030204" pitchFamily="18" charset="0"/>
                <a:ea typeface="Cambria" panose="02040503050406030204" pitchFamily="18" charset="0"/>
              </a:rPr>
              <a:t>Methods of </a:t>
            </a:r>
            <a:r>
              <a:rPr lang="en-GB" sz="2000" dirty="0" err="1" smtClean="0">
                <a:latin typeface="Cambria" panose="02040503050406030204" pitchFamily="18" charset="0"/>
                <a:ea typeface="Cambria" panose="02040503050406030204" pitchFamily="18" charset="0"/>
              </a:rPr>
              <a:t>HttpServlet</a:t>
            </a:r>
            <a:r>
              <a:rPr lang="en-GB" sz="2000" dirty="0" smtClean="0">
                <a:latin typeface="Cambria" panose="02040503050406030204" pitchFamily="18" charset="0"/>
                <a:ea typeface="Cambria" panose="02040503050406030204" pitchFamily="18" charset="0"/>
              </a:rPr>
              <a:t> class</a:t>
            </a:r>
          </a:p>
          <a:p>
            <a:pPr marL="457200" indent="-457200" algn="just">
              <a:buFont typeface="+mj-lt"/>
              <a:buAutoNum type="arabicPeriod"/>
            </a:pPr>
            <a:r>
              <a:rPr lang="en-GB" sz="2000" dirty="0" smtClean="0">
                <a:latin typeface="Cambria" panose="02040503050406030204" pitchFamily="18" charset="0"/>
                <a:ea typeface="Cambria" panose="02040503050406030204" pitchFamily="18" charset="0"/>
              </a:rPr>
              <a:t> </a:t>
            </a:r>
            <a:r>
              <a:rPr lang="en-GB" sz="2000" b="1" dirty="0" smtClean="0">
                <a:latin typeface="Cambria" panose="02040503050406030204" pitchFamily="18" charset="0"/>
                <a:ea typeface="Cambria" panose="02040503050406030204" pitchFamily="18" charset="0"/>
              </a:rPr>
              <a:t>public void service(ServletRequest req, ServletResponse res)</a:t>
            </a:r>
            <a:r>
              <a:rPr lang="en-GB" sz="2000" dirty="0" smtClean="0">
                <a:latin typeface="Cambria" panose="02040503050406030204" pitchFamily="18" charset="0"/>
                <a:ea typeface="Cambria" panose="02040503050406030204" pitchFamily="18" charset="0"/>
              </a:rPr>
              <a:t> dispatches the request to the protected service method by converting the request and response object into http type.</a:t>
            </a:r>
          </a:p>
          <a:p>
            <a:pPr marL="457200" indent="-457200" algn="just">
              <a:buFont typeface="+mj-lt"/>
              <a:buAutoNum type="arabicPeriod"/>
            </a:pPr>
            <a:r>
              <a:rPr lang="en-GB" sz="2000" b="1" dirty="0" smtClean="0">
                <a:latin typeface="Cambria" panose="02040503050406030204" pitchFamily="18" charset="0"/>
                <a:ea typeface="Cambria" panose="02040503050406030204" pitchFamily="18" charset="0"/>
              </a:rPr>
              <a:t>protected void service(HttpServletRequest req,  HttpServletResponse res)</a:t>
            </a:r>
            <a:r>
              <a:rPr lang="en-GB" sz="2000" dirty="0" smtClean="0">
                <a:latin typeface="Cambria" panose="02040503050406030204" pitchFamily="18" charset="0"/>
                <a:ea typeface="Cambria" panose="02040503050406030204" pitchFamily="18" charset="0"/>
              </a:rPr>
              <a:t> receives the request from the service method, and dispatches the request to the doXXX() method depending on the incoming http request type.</a:t>
            </a:r>
          </a:p>
          <a:p>
            <a:pPr marL="457200" indent="-457200" algn="just">
              <a:buFont typeface="+mj-lt"/>
              <a:buAutoNum type="arabicPeriod"/>
            </a:pPr>
            <a:r>
              <a:rPr lang="en-GB" sz="2000" b="1" dirty="0" smtClean="0">
                <a:latin typeface="Cambria" panose="02040503050406030204" pitchFamily="18" charset="0"/>
                <a:ea typeface="Cambria" panose="02040503050406030204" pitchFamily="18" charset="0"/>
              </a:rPr>
              <a:t>protected void </a:t>
            </a:r>
            <a:r>
              <a:rPr lang="en-GB" sz="2000" b="1" dirty="0" err="1" smtClean="0">
                <a:latin typeface="Cambria" panose="02040503050406030204" pitchFamily="18" charset="0"/>
                <a:ea typeface="Cambria" panose="02040503050406030204" pitchFamily="18" charset="0"/>
              </a:rPr>
              <a:t>doGet</a:t>
            </a:r>
            <a:r>
              <a:rPr lang="en-GB" sz="2000" b="1" dirty="0" smtClean="0">
                <a:latin typeface="Cambria" panose="02040503050406030204" pitchFamily="18" charset="0"/>
                <a:ea typeface="Cambria" panose="02040503050406030204" pitchFamily="18" charset="0"/>
              </a:rPr>
              <a:t>(</a:t>
            </a:r>
            <a:r>
              <a:rPr lang="en-GB" sz="2000" b="1" dirty="0" err="1" smtClean="0">
                <a:latin typeface="Cambria" panose="02040503050406030204" pitchFamily="18" charset="0"/>
                <a:ea typeface="Cambria" panose="02040503050406030204" pitchFamily="18" charset="0"/>
              </a:rPr>
              <a:t>HttpServletRequest</a:t>
            </a:r>
            <a:r>
              <a:rPr lang="en-GB" sz="2000" b="1" dirty="0" smtClean="0">
                <a:latin typeface="Cambria" panose="02040503050406030204" pitchFamily="18" charset="0"/>
                <a:ea typeface="Cambria" panose="02040503050406030204" pitchFamily="18" charset="0"/>
              </a:rPr>
              <a:t> </a:t>
            </a:r>
            <a:r>
              <a:rPr lang="en-GB" sz="2000" b="1" dirty="0" err="1" smtClean="0">
                <a:latin typeface="Cambria" panose="02040503050406030204" pitchFamily="18" charset="0"/>
                <a:ea typeface="Cambria" panose="02040503050406030204" pitchFamily="18" charset="0"/>
              </a:rPr>
              <a:t>req</a:t>
            </a:r>
            <a:r>
              <a:rPr lang="en-GB" sz="2000" b="1" dirty="0" smtClean="0">
                <a:latin typeface="Cambria" panose="02040503050406030204" pitchFamily="18" charset="0"/>
                <a:ea typeface="Cambria" panose="02040503050406030204" pitchFamily="18" charset="0"/>
              </a:rPr>
              <a:t>, </a:t>
            </a:r>
            <a:r>
              <a:rPr lang="en-GB" sz="2000" b="1" dirty="0" err="1" smtClean="0">
                <a:latin typeface="Cambria" panose="02040503050406030204" pitchFamily="18" charset="0"/>
                <a:ea typeface="Cambria" panose="02040503050406030204" pitchFamily="18" charset="0"/>
              </a:rPr>
              <a:t>HttpServletResponse</a:t>
            </a:r>
            <a:r>
              <a:rPr lang="en-GB" sz="2000" b="1" dirty="0" smtClean="0">
                <a:latin typeface="Cambria" panose="02040503050406030204" pitchFamily="18" charset="0"/>
                <a:ea typeface="Cambria" panose="02040503050406030204" pitchFamily="18" charset="0"/>
              </a:rPr>
              <a:t> res)</a:t>
            </a:r>
            <a:r>
              <a:rPr lang="en-GB" sz="2000" dirty="0" smtClean="0">
                <a:latin typeface="Cambria" panose="02040503050406030204" pitchFamily="18" charset="0"/>
                <a:ea typeface="Cambria" panose="02040503050406030204" pitchFamily="18" charset="0"/>
              </a:rPr>
              <a:t> handles the GET request. It is invoked by the web container.</a:t>
            </a:r>
          </a:p>
          <a:p>
            <a:pPr marL="457200" indent="-457200" algn="just">
              <a:buFont typeface="+mj-lt"/>
              <a:buAutoNum type="arabicPeriod"/>
            </a:pPr>
            <a:r>
              <a:rPr lang="en-GB" sz="2000" b="1" dirty="0" smtClean="0">
                <a:latin typeface="Cambria" panose="02040503050406030204" pitchFamily="18" charset="0"/>
                <a:ea typeface="Cambria" panose="02040503050406030204" pitchFamily="18" charset="0"/>
              </a:rPr>
              <a:t>protected void </a:t>
            </a:r>
            <a:r>
              <a:rPr lang="en-GB" sz="2000" b="1" dirty="0" err="1" smtClean="0">
                <a:latin typeface="Cambria" panose="02040503050406030204" pitchFamily="18" charset="0"/>
                <a:ea typeface="Cambria" panose="02040503050406030204" pitchFamily="18" charset="0"/>
              </a:rPr>
              <a:t>doPost</a:t>
            </a:r>
            <a:r>
              <a:rPr lang="en-GB" sz="2000" b="1" dirty="0" smtClean="0">
                <a:latin typeface="Cambria" panose="02040503050406030204" pitchFamily="18" charset="0"/>
                <a:ea typeface="Cambria" panose="02040503050406030204" pitchFamily="18" charset="0"/>
              </a:rPr>
              <a:t>(</a:t>
            </a:r>
            <a:r>
              <a:rPr lang="en-GB" sz="2000" b="1" dirty="0" err="1" smtClean="0">
                <a:latin typeface="Cambria" panose="02040503050406030204" pitchFamily="18" charset="0"/>
                <a:ea typeface="Cambria" panose="02040503050406030204" pitchFamily="18" charset="0"/>
              </a:rPr>
              <a:t>HttpServletRequest</a:t>
            </a:r>
            <a:r>
              <a:rPr lang="en-GB" sz="2000" b="1" dirty="0" smtClean="0">
                <a:latin typeface="Cambria" panose="02040503050406030204" pitchFamily="18" charset="0"/>
                <a:ea typeface="Cambria" panose="02040503050406030204" pitchFamily="18" charset="0"/>
              </a:rPr>
              <a:t> </a:t>
            </a:r>
            <a:r>
              <a:rPr lang="en-GB" sz="2000" b="1" dirty="0" err="1" smtClean="0">
                <a:latin typeface="Cambria" panose="02040503050406030204" pitchFamily="18" charset="0"/>
                <a:ea typeface="Cambria" panose="02040503050406030204" pitchFamily="18" charset="0"/>
              </a:rPr>
              <a:t>req</a:t>
            </a:r>
            <a:r>
              <a:rPr lang="en-GB" sz="2000" b="1" dirty="0" smtClean="0">
                <a:latin typeface="Cambria" panose="02040503050406030204" pitchFamily="18" charset="0"/>
                <a:ea typeface="Cambria" panose="02040503050406030204" pitchFamily="18" charset="0"/>
              </a:rPr>
              <a:t>, </a:t>
            </a:r>
            <a:r>
              <a:rPr lang="en-GB" sz="2000" b="1" dirty="0" err="1" smtClean="0">
                <a:latin typeface="Cambria" panose="02040503050406030204" pitchFamily="18" charset="0"/>
                <a:ea typeface="Cambria" panose="02040503050406030204" pitchFamily="18" charset="0"/>
              </a:rPr>
              <a:t>HttpServletResponse</a:t>
            </a:r>
            <a:r>
              <a:rPr lang="en-GB" sz="2000" b="1" dirty="0" smtClean="0">
                <a:latin typeface="Cambria" panose="02040503050406030204" pitchFamily="18" charset="0"/>
                <a:ea typeface="Cambria" panose="02040503050406030204" pitchFamily="18" charset="0"/>
              </a:rPr>
              <a:t> res)</a:t>
            </a:r>
            <a:r>
              <a:rPr lang="en-GB" sz="2000" dirty="0" smtClean="0">
                <a:latin typeface="Cambria" panose="02040503050406030204" pitchFamily="18" charset="0"/>
                <a:ea typeface="Cambria" panose="02040503050406030204" pitchFamily="18" charset="0"/>
              </a:rPr>
              <a:t> handles the POST request. It is invoked by the web container.</a:t>
            </a:r>
          </a:p>
          <a:p>
            <a:pPr marL="457200" indent="-457200" algn="just">
              <a:spcBef>
                <a:spcPts val="0"/>
              </a:spcBef>
              <a:buFont typeface="+mj-lt"/>
              <a:buAutoNum type="arabicPeriod"/>
            </a:pPr>
            <a:r>
              <a:rPr lang="en-GB" sz="2000" b="1" dirty="0" smtClean="0">
                <a:latin typeface="Cambria" panose="02040503050406030204" pitchFamily="18" charset="0"/>
                <a:ea typeface="Cambria" panose="02040503050406030204" pitchFamily="18" charset="0"/>
              </a:rPr>
              <a:t>protected void doHead(HttpServletRequest req, HttpServletResponse res)</a:t>
            </a:r>
            <a:r>
              <a:rPr lang="en-GB" sz="2000" dirty="0" smtClean="0">
                <a:latin typeface="Cambria" panose="02040503050406030204" pitchFamily="18" charset="0"/>
                <a:ea typeface="Cambria" panose="02040503050406030204" pitchFamily="18" charset="0"/>
              </a:rPr>
              <a:t> handles the HEAD request. It is invoked by the web container.</a:t>
            </a:r>
          </a:p>
          <a:p>
            <a:pPr marL="457200" indent="-457200" algn="just">
              <a:buFont typeface="+mj-lt"/>
              <a:buAutoNum type="arabicPeriod"/>
            </a:pPr>
            <a:endParaRPr lang="en-GB" sz="2000" dirty="0" smtClean="0">
              <a:latin typeface="Cambria" panose="02040503050406030204" pitchFamily="18" charset="0"/>
              <a:ea typeface="Cambria" panose="02040503050406030204" pitchFamily="18" charset="0"/>
            </a:endParaRPr>
          </a:p>
          <a:p>
            <a:pPr marL="514350" indent="-514350" algn="just">
              <a:buFont typeface="+mj-lt"/>
              <a:buAutoNum type="arabicPeriod"/>
            </a:pPr>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18</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010328" cy="543595"/>
          </a:xfrm>
        </p:spPr>
        <p:txBody>
          <a:bodyPr/>
          <a:lstStyle/>
          <a:p>
            <a:r>
              <a:rPr lang="en-US" sz="3600" b="1" dirty="0" err="1" smtClean="0">
                <a:solidFill>
                  <a:srgbClr val="002060"/>
                </a:solidFill>
                <a:latin typeface="Cambria" panose="02040503050406030204" pitchFamily="18" charset="0"/>
                <a:ea typeface="Cambria" panose="02040503050406030204" pitchFamily="18" charset="0"/>
              </a:rPr>
              <a:t>HttpServlet</a:t>
            </a:r>
            <a:r>
              <a:rPr lang="en-US" sz="3600" b="1" dirty="0" smtClean="0">
                <a:latin typeface="Cambria" panose="02040503050406030204" pitchFamily="18" charset="0"/>
                <a:ea typeface="Cambria" panose="02040503050406030204" pitchFamily="18" charset="0"/>
              </a:rPr>
              <a:t> class</a:t>
            </a:r>
            <a:endParaRPr lang="en-US" sz="3600" b="1"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335360" y="543595"/>
            <a:ext cx="11161240" cy="3821509"/>
          </a:xfrm>
        </p:spPr>
        <p:txBody>
          <a:bodyPr/>
          <a:lstStyle/>
          <a:p>
            <a:pPr marL="457200" indent="-457200" algn="just">
              <a:buFont typeface="+mj-lt"/>
              <a:buAutoNum type="arabicPeriod" startAt="6"/>
            </a:pPr>
            <a:r>
              <a:rPr lang="en-GB" sz="2000" b="1" dirty="0" smtClean="0">
                <a:latin typeface="Cambria" panose="02040503050406030204" pitchFamily="18" charset="0"/>
                <a:ea typeface="Cambria" panose="02040503050406030204" pitchFamily="18" charset="0"/>
              </a:rPr>
              <a:t>protected void doOptions(HttpServletRequest req, HttpServletResponse res)</a:t>
            </a:r>
            <a:r>
              <a:rPr lang="en-GB" sz="2000" dirty="0" smtClean="0">
                <a:latin typeface="Cambria" panose="02040503050406030204" pitchFamily="18" charset="0"/>
                <a:ea typeface="Cambria" panose="02040503050406030204" pitchFamily="18" charset="0"/>
              </a:rPr>
              <a:t> handles the OPTIONS request. It is invoked by the web container.</a:t>
            </a:r>
          </a:p>
          <a:p>
            <a:pPr marL="457200" indent="-457200" algn="just">
              <a:buFont typeface="+mj-lt"/>
              <a:buAutoNum type="arabicPeriod" startAt="6"/>
            </a:pPr>
            <a:r>
              <a:rPr lang="en-GB" sz="2000" b="1" dirty="0" smtClean="0">
                <a:latin typeface="Cambria" panose="02040503050406030204" pitchFamily="18" charset="0"/>
                <a:ea typeface="Cambria" panose="02040503050406030204" pitchFamily="18" charset="0"/>
              </a:rPr>
              <a:t>protected void </a:t>
            </a:r>
            <a:r>
              <a:rPr lang="en-GB" sz="2000" b="1" dirty="0" err="1" smtClean="0">
                <a:latin typeface="Cambria" panose="02040503050406030204" pitchFamily="18" charset="0"/>
                <a:ea typeface="Cambria" panose="02040503050406030204" pitchFamily="18" charset="0"/>
              </a:rPr>
              <a:t>doPut</a:t>
            </a:r>
            <a:r>
              <a:rPr lang="en-GB" sz="2000" b="1" dirty="0" smtClean="0">
                <a:latin typeface="Cambria" panose="02040503050406030204" pitchFamily="18" charset="0"/>
                <a:ea typeface="Cambria" panose="02040503050406030204" pitchFamily="18" charset="0"/>
              </a:rPr>
              <a:t>(</a:t>
            </a:r>
            <a:r>
              <a:rPr lang="en-GB" sz="2000" b="1" dirty="0" err="1" smtClean="0">
                <a:latin typeface="Cambria" panose="02040503050406030204" pitchFamily="18" charset="0"/>
                <a:ea typeface="Cambria" panose="02040503050406030204" pitchFamily="18" charset="0"/>
              </a:rPr>
              <a:t>HttpServletRequest</a:t>
            </a:r>
            <a:r>
              <a:rPr lang="en-GB" sz="2000" b="1" dirty="0" smtClean="0">
                <a:latin typeface="Cambria" panose="02040503050406030204" pitchFamily="18" charset="0"/>
                <a:ea typeface="Cambria" panose="02040503050406030204" pitchFamily="18" charset="0"/>
              </a:rPr>
              <a:t> </a:t>
            </a:r>
            <a:r>
              <a:rPr lang="en-GB" sz="2000" b="1" dirty="0" err="1" smtClean="0">
                <a:latin typeface="Cambria" panose="02040503050406030204" pitchFamily="18" charset="0"/>
                <a:ea typeface="Cambria" panose="02040503050406030204" pitchFamily="18" charset="0"/>
              </a:rPr>
              <a:t>req</a:t>
            </a:r>
            <a:r>
              <a:rPr lang="en-GB" sz="2000" b="1" dirty="0" smtClean="0">
                <a:latin typeface="Cambria" panose="02040503050406030204" pitchFamily="18" charset="0"/>
                <a:ea typeface="Cambria" panose="02040503050406030204" pitchFamily="18" charset="0"/>
              </a:rPr>
              <a:t>, </a:t>
            </a:r>
            <a:r>
              <a:rPr lang="en-GB" sz="2000" b="1" dirty="0" err="1" smtClean="0">
                <a:latin typeface="Cambria" panose="02040503050406030204" pitchFamily="18" charset="0"/>
                <a:ea typeface="Cambria" panose="02040503050406030204" pitchFamily="18" charset="0"/>
              </a:rPr>
              <a:t>HttpServletResponse</a:t>
            </a:r>
            <a:r>
              <a:rPr lang="en-GB" sz="2000" b="1" dirty="0" smtClean="0">
                <a:latin typeface="Cambria" panose="02040503050406030204" pitchFamily="18" charset="0"/>
                <a:ea typeface="Cambria" panose="02040503050406030204" pitchFamily="18" charset="0"/>
              </a:rPr>
              <a:t> res)</a:t>
            </a:r>
            <a:r>
              <a:rPr lang="en-GB" sz="2000" dirty="0" smtClean="0">
                <a:latin typeface="Cambria" panose="02040503050406030204" pitchFamily="18" charset="0"/>
                <a:ea typeface="Cambria" panose="02040503050406030204" pitchFamily="18" charset="0"/>
              </a:rPr>
              <a:t> handles the PUT request. It is invoked by the web container.</a:t>
            </a:r>
          </a:p>
          <a:p>
            <a:pPr marL="457200" indent="-457200" algn="just">
              <a:buFont typeface="+mj-lt"/>
              <a:buAutoNum type="arabicPeriod" startAt="6"/>
            </a:pPr>
            <a:r>
              <a:rPr lang="en-GB" sz="2000" b="1" dirty="0" smtClean="0">
                <a:latin typeface="Cambria" panose="02040503050406030204" pitchFamily="18" charset="0"/>
                <a:ea typeface="Cambria" panose="02040503050406030204" pitchFamily="18" charset="0"/>
              </a:rPr>
              <a:t>protected void </a:t>
            </a:r>
            <a:r>
              <a:rPr lang="en-GB" sz="2000" b="1" dirty="0" err="1" smtClean="0">
                <a:latin typeface="Cambria" panose="02040503050406030204" pitchFamily="18" charset="0"/>
                <a:ea typeface="Cambria" panose="02040503050406030204" pitchFamily="18" charset="0"/>
              </a:rPr>
              <a:t>doTrace</a:t>
            </a:r>
            <a:r>
              <a:rPr lang="en-GB" sz="2000" b="1" dirty="0" smtClean="0">
                <a:latin typeface="Cambria" panose="02040503050406030204" pitchFamily="18" charset="0"/>
                <a:ea typeface="Cambria" panose="02040503050406030204" pitchFamily="18" charset="0"/>
              </a:rPr>
              <a:t>(</a:t>
            </a:r>
            <a:r>
              <a:rPr lang="en-GB" sz="2000" b="1" dirty="0" err="1" smtClean="0">
                <a:latin typeface="Cambria" panose="02040503050406030204" pitchFamily="18" charset="0"/>
                <a:ea typeface="Cambria" panose="02040503050406030204" pitchFamily="18" charset="0"/>
              </a:rPr>
              <a:t>HttpServletRequest</a:t>
            </a:r>
            <a:r>
              <a:rPr lang="en-GB" sz="2000" b="1" dirty="0" smtClean="0">
                <a:latin typeface="Cambria" panose="02040503050406030204" pitchFamily="18" charset="0"/>
                <a:ea typeface="Cambria" panose="02040503050406030204" pitchFamily="18" charset="0"/>
              </a:rPr>
              <a:t> </a:t>
            </a:r>
            <a:r>
              <a:rPr lang="en-GB" sz="2000" b="1" dirty="0" err="1" smtClean="0">
                <a:latin typeface="Cambria" panose="02040503050406030204" pitchFamily="18" charset="0"/>
                <a:ea typeface="Cambria" panose="02040503050406030204" pitchFamily="18" charset="0"/>
              </a:rPr>
              <a:t>req</a:t>
            </a:r>
            <a:r>
              <a:rPr lang="en-GB" sz="2000" b="1" dirty="0" smtClean="0">
                <a:latin typeface="Cambria" panose="02040503050406030204" pitchFamily="18" charset="0"/>
                <a:ea typeface="Cambria" panose="02040503050406030204" pitchFamily="18" charset="0"/>
              </a:rPr>
              <a:t>, </a:t>
            </a:r>
            <a:r>
              <a:rPr lang="en-GB" sz="2000" b="1" dirty="0" err="1" smtClean="0">
                <a:latin typeface="Cambria" panose="02040503050406030204" pitchFamily="18" charset="0"/>
                <a:ea typeface="Cambria" panose="02040503050406030204" pitchFamily="18" charset="0"/>
              </a:rPr>
              <a:t>HttpServletResponse</a:t>
            </a:r>
            <a:r>
              <a:rPr lang="en-GB" sz="2000" b="1" dirty="0" smtClean="0">
                <a:latin typeface="Cambria" panose="02040503050406030204" pitchFamily="18" charset="0"/>
                <a:ea typeface="Cambria" panose="02040503050406030204" pitchFamily="18" charset="0"/>
              </a:rPr>
              <a:t> res)</a:t>
            </a:r>
            <a:r>
              <a:rPr lang="en-GB" sz="2000" dirty="0" smtClean="0">
                <a:latin typeface="Cambria" panose="02040503050406030204" pitchFamily="18" charset="0"/>
                <a:ea typeface="Cambria" panose="02040503050406030204" pitchFamily="18" charset="0"/>
              </a:rPr>
              <a:t> handles the TRACE request. It is invoked by the web container.</a:t>
            </a:r>
          </a:p>
          <a:p>
            <a:pPr marL="457200" indent="-457200" algn="just">
              <a:buFont typeface="+mj-lt"/>
              <a:buAutoNum type="arabicPeriod" startAt="6"/>
            </a:pPr>
            <a:r>
              <a:rPr lang="en-GB" sz="2000" b="1" dirty="0" smtClean="0">
                <a:latin typeface="Cambria" panose="02040503050406030204" pitchFamily="18" charset="0"/>
                <a:ea typeface="Cambria" panose="02040503050406030204" pitchFamily="18" charset="0"/>
              </a:rPr>
              <a:t>protected void </a:t>
            </a:r>
            <a:r>
              <a:rPr lang="en-GB" sz="2000" b="1" dirty="0" err="1" smtClean="0">
                <a:latin typeface="Cambria" panose="02040503050406030204" pitchFamily="18" charset="0"/>
                <a:ea typeface="Cambria" panose="02040503050406030204" pitchFamily="18" charset="0"/>
              </a:rPr>
              <a:t>doDelete</a:t>
            </a:r>
            <a:r>
              <a:rPr lang="en-GB" sz="2000" b="1" dirty="0" smtClean="0">
                <a:latin typeface="Cambria" panose="02040503050406030204" pitchFamily="18" charset="0"/>
                <a:ea typeface="Cambria" panose="02040503050406030204" pitchFamily="18" charset="0"/>
              </a:rPr>
              <a:t>(</a:t>
            </a:r>
            <a:r>
              <a:rPr lang="en-GB" sz="2000" b="1" dirty="0" err="1" smtClean="0">
                <a:latin typeface="Cambria" panose="02040503050406030204" pitchFamily="18" charset="0"/>
                <a:ea typeface="Cambria" panose="02040503050406030204" pitchFamily="18" charset="0"/>
              </a:rPr>
              <a:t>HttpServletRequest</a:t>
            </a:r>
            <a:r>
              <a:rPr lang="en-GB" sz="2000" b="1" dirty="0" smtClean="0">
                <a:latin typeface="Cambria" panose="02040503050406030204" pitchFamily="18" charset="0"/>
                <a:ea typeface="Cambria" panose="02040503050406030204" pitchFamily="18" charset="0"/>
              </a:rPr>
              <a:t> </a:t>
            </a:r>
            <a:r>
              <a:rPr lang="en-GB" sz="2000" b="1" dirty="0" err="1" smtClean="0">
                <a:latin typeface="Cambria" panose="02040503050406030204" pitchFamily="18" charset="0"/>
                <a:ea typeface="Cambria" panose="02040503050406030204" pitchFamily="18" charset="0"/>
              </a:rPr>
              <a:t>req</a:t>
            </a:r>
            <a:r>
              <a:rPr lang="en-GB" sz="2000" b="1" dirty="0" smtClean="0">
                <a:latin typeface="Cambria" panose="02040503050406030204" pitchFamily="18" charset="0"/>
                <a:ea typeface="Cambria" panose="02040503050406030204" pitchFamily="18" charset="0"/>
              </a:rPr>
              <a:t>, </a:t>
            </a:r>
            <a:r>
              <a:rPr lang="en-GB" sz="2000" b="1" dirty="0" err="1" smtClean="0">
                <a:latin typeface="Cambria" panose="02040503050406030204" pitchFamily="18" charset="0"/>
                <a:ea typeface="Cambria" panose="02040503050406030204" pitchFamily="18" charset="0"/>
              </a:rPr>
              <a:t>HttpServletResponse</a:t>
            </a:r>
            <a:r>
              <a:rPr lang="en-GB" sz="2000" b="1" dirty="0" smtClean="0">
                <a:latin typeface="Cambria" panose="02040503050406030204" pitchFamily="18" charset="0"/>
                <a:ea typeface="Cambria" panose="02040503050406030204" pitchFamily="18" charset="0"/>
              </a:rPr>
              <a:t> res)</a:t>
            </a:r>
            <a:r>
              <a:rPr lang="en-GB" sz="2000" dirty="0" smtClean="0">
                <a:latin typeface="Cambria" panose="02040503050406030204" pitchFamily="18" charset="0"/>
                <a:ea typeface="Cambria" panose="02040503050406030204" pitchFamily="18" charset="0"/>
              </a:rPr>
              <a:t> handles the DELETE request. It is invoked by the web container.</a:t>
            </a:r>
          </a:p>
          <a:p>
            <a:pPr marL="457200" indent="-457200" algn="just">
              <a:buFont typeface="+mj-lt"/>
              <a:buAutoNum type="arabicPeriod" startAt="6"/>
            </a:pPr>
            <a:r>
              <a:rPr lang="en-GB" sz="2000" b="1" dirty="0" smtClean="0">
                <a:latin typeface="Cambria" panose="02040503050406030204" pitchFamily="18" charset="0"/>
                <a:ea typeface="Cambria" panose="02040503050406030204" pitchFamily="18" charset="0"/>
              </a:rPr>
              <a:t>protected long </a:t>
            </a:r>
            <a:r>
              <a:rPr lang="en-GB" sz="2000" b="1" dirty="0" err="1" smtClean="0">
                <a:latin typeface="Cambria" panose="02040503050406030204" pitchFamily="18" charset="0"/>
                <a:ea typeface="Cambria" panose="02040503050406030204" pitchFamily="18" charset="0"/>
              </a:rPr>
              <a:t>getLastModified</a:t>
            </a:r>
            <a:r>
              <a:rPr lang="en-GB" sz="2000" b="1" dirty="0" smtClean="0">
                <a:latin typeface="Cambria" panose="02040503050406030204" pitchFamily="18" charset="0"/>
                <a:ea typeface="Cambria" panose="02040503050406030204" pitchFamily="18" charset="0"/>
              </a:rPr>
              <a:t>(</a:t>
            </a:r>
            <a:r>
              <a:rPr lang="en-GB" sz="2000" b="1" dirty="0" err="1" smtClean="0">
                <a:latin typeface="Cambria" panose="02040503050406030204" pitchFamily="18" charset="0"/>
                <a:ea typeface="Cambria" panose="02040503050406030204" pitchFamily="18" charset="0"/>
              </a:rPr>
              <a:t>HttpServletRequest</a:t>
            </a:r>
            <a:r>
              <a:rPr lang="en-GB" sz="2000" b="1" dirty="0" smtClean="0">
                <a:latin typeface="Cambria" panose="02040503050406030204" pitchFamily="18" charset="0"/>
                <a:ea typeface="Cambria" panose="02040503050406030204" pitchFamily="18" charset="0"/>
              </a:rPr>
              <a:t> </a:t>
            </a:r>
            <a:r>
              <a:rPr lang="en-GB" sz="2000" b="1" dirty="0" err="1" smtClean="0">
                <a:latin typeface="Cambria" panose="02040503050406030204" pitchFamily="18" charset="0"/>
                <a:ea typeface="Cambria" panose="02040503050406030204" pitchFamily="18" charset="0"/>
              </a:rPr>
              <a:t>req</a:t>
            </a:r>
            <a:r>
              <a:rPr lang="en-GB" sz="2000" b="1" dirty="0" smtClean="0">
                <a:latin typeface="Cambria" panose="02040503050406030204" pitchFamily="18" charset="0"/>
                <a:ea typeface="Cambria" panose="02040503050406030204" pitchFamily="18" charset="0"/>
              </a:rPr>
              <a:t>)</a:t>
            </a:r>
            <a:r>
              <a:rPr lang="en-GB" sz="2000" dirty="0" smtClean="0">
                <a:latin typeface="Cambria" panose="02040503050406030204" pitchFamily="18" charset="0"/>
                <a:ea typeface="Cambria" panose="02040503050406030204" pitchFamily="18" charset="0"/>
              </a:rPr>
              <a:t> returns the time when </a:t>
            </a:r>
            <a:r>
              <a:rPr lang="en-GB" sz="2000" dirty="0" err="1" smtClean="0">
                <a:latin typeface="Cambria" panose="02040503050406030204" pitchFamily="18" charset="0"/>
                <a:ea typeface="Cambria" panose="02040503050406030204" pitchFamily="18" charset="0"/>
              </a:rPr>
              <a:t>HttpServletRequest</a:t>
            </a:r>
            <a:r>
              <a:rPr lang="en-GB" sz="2000" dirty="0" smtClean="0">
                <a:latin typeface="Cambria" panose="02040503050406030204" pitchFamily="18" charset="0"/>
                <a:ea typeface="Cambria" panose="02040503050406030204" pitchFamily="18" charset="0"/>
              </a:rPr>
              <a:t> was last modified since midnight January 1, 1970 GMT.</a:t>
            </a:r>
          </a:p>
          <a:p>
            <a:pPr marL="457200" indent="-457200" algn="just">
              <a:buFont typeface="+mj-lt"/>
              <a:buAutoNum type="arabicPeriod" startAt="6"/>
            </a:pPr>
            <a:endParaRPr lang="en-GB" sz="2000" dirty="0" smtClean="0">
              <a:latin typeface="Cambria" panose="02040503050406030204" pitchFamily="18" charset="0"/>
              <a:ea typeface="Cambria" panose="02040503050406030204" pitchFamily="18" charset="0"/>
            </a:endParaRPr>
          </a:p>
          <a:p>
            <a:pPr marL="514350" indent="-514350" algn="just">
              <a:buFont typeface="+mj-lt"/>
              <a:buAutoNum type="arabicPeriod" startAt="6"/>
            </a:pPr>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19</a:t>
            </a:fld>
            <a:endParaRPr lang="en-US" altLang="en-US">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91416862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1"/>
            <a:ext cx="9073008" cy="548680"/>
          </a:xfrm>
        </p:spPr>
        <p:txBody>
          <a:bodyPr/>
          <a:lstStyle/>
          <a:p>
            <a:r>
              <a:rPr lang="en-GB" sz="3600" b="1" dirty="0" smtClean="0">
                <a:solidFill>
                  <a:srgbClr val="002060"/>
                </a:solidFill>
                <a:latin typeface="Cambria" panose="02040503050406030204" pitchFamily="18" charset="0"/>
                <a:ea typeface="Cambria" panose="02040503050406030204" pitchFamily="18" charset="0"/>
              </a:rPr>
              <a:t>Life Cycle of a </a:t>
            </a:r>
            <a:r>
              <a:rPr lang="en-GB" sz="3600" b="1" dirty="0" err="1" smtClean="0">
                <a:solidFill>
                  <a:srgbClr val="002060"/>
                </a:solidFill>
                <a:latin typeface="Cambria" panose="02040503050406030204" pitchFamily="18" charset="0"/>
                <a:ea typeface="Cambria" panose="02040503050406030204" pitchFamily="18" charset="0"/>
              </a:rPr>
              <a:t>Servlet</a:t>
            </a:r>
            <a:r>
              <a:rPr lang="en-GB" sz="3600" b="1" dirty="0" smtClean="0">
                <a:solidFill>
                  <a:srgbClr val="002060"/>
                </a:solidFill>
                <a:latin typeface="Cambria" panose="02040503050406030204" pitchFamily="18" charset="0"/>
                <a:ea typeface="Cambria" panose="02040503050406030204" pitchFamily="18" charset="0"/>
              </a:rPr>
              <a:t> (</a:t>
            </a:r>
            <a:r>
              <a:rPr lang="en-GB" sz="3600" b="1" dirty="0" err="1" smtClean="0">
                <a:solidFill>
                  <a:srgbClr val="002060"/>
                </a:solidFill>
                <a:latin typeface="Cambria" panose="02040503050406030204" pitchFamily="18" charset="0"/>
                <a:ea typeface="Cambria" panose="02040503050406030204" pitchFamily="18" charset="0"/>
              </a:rPr>
              <a:t>Servlet</a:t>
            </a:r>
            <a:r>
              <a:rPr lang="en-GB" sz="3600" b="1" dirty="0" smtClean="0">
                <a:solidFill>
                  <a:srgbClr val="002060"/>
                </a:solidFill>
                <a:latin typeface="Cambria" panose="02040503050406030204" pitchFamily="18" charset="0"/>
                <a:ea typeface="Cambria" panose="02040503050406030204" pitchFamily="18" charset="0"/>
              </a:rPr>
              <a:t> Life Cycle)</a:t>
            </a:r>
            <a:endParaRPr lang="en-GB" sz="3600" b="1" dirty="0">
              <a:solidFill>
                <a:srgbClr val="002060"/>
              </a:solidFill>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20</a:t>
            </a:fld>
            <a:endParaRPr lang="en-US" altLang="en-US">
              <a:latin typeface="Cambria" panose="02040503050406030204" pitchFamily="18" charset="0"/>
              <a:ea typeface="Cambria" panose="02040503050406030204" pitchFamily="18" charset="0"/>
            </a:endParaRPr>
          </a:p>
        </p:txBody>
      </p:sp>
      <p:sp>
        <p:nvSpPr>
          <p:cNvPr id="6" name="Content Placeholder 5"/>
          <p:cNvSpPr>
            <a:spLocks noGrp="1"/>
          </p:cNvSpPr>
          <p:nvPr>
            <p:ph idx="1"/>
          </p:nvPr>
        </p:nvSpPr>
        <p:spPr>
          <a:xfrm>
            <a:off x="335360" y="807513"/>
            <a:ext cx="7272808" cy="3989639"/>
          </a:xfrm>
        </p:spPr>
        <p:txBody>
          <a:bodyPr/>
          <a:lstStyle/>
          <a:p>
            <a:pPr algn="just"/>
            <a:r>
              <a:rPr lang="en-GB" dirty="0" smtClean="0">
                <a:latin typeface="Cambria" panose="02040503050406030204" pitchFamily="18" charset="0"/>
                <a:ea typeface="Cambria" panose="02040503050406030204" pitchFamily="18" charset="0"/>
              </a:rPr>
              <a:t>The web container maintains the life cycle of a </a:t>
            </a:r>
            <a:r>
              <a:rPr lang="en-GB" dirty="0" err="1" smtClean="0">
                <a:latin typeface="Cambria" panose="02040503050406030204" pitchFamily="18" charset="0"/>
                <a:ea typeface="Cambria" panose="02040503050406030204" pitchFamily="18" charset="0"/>
              </a:rPr>
              <a:t>servlet</a:t>
            </a:r>
            <a:r>
              <a:rPr lang="en-GB" dirty="0" smtClean="0">
                <a:latin typeface="Cambria" panose="02040503050406030204" pitchFamily="18" charset="0"/>
                <a:ea typeface="Cambria" panose="02040503050406030204" pitchFamily="18" charset="0"/>
              </a:rPr>
              <a:t> instance. Let's see the life cycle of the </a:t>
            </a:r>
            <a:r>
              <a:rPr lang="en-GB" dirty="0" err="1" smtClean="0">
                <a:latin typeface="Cambria" panose="02040503050406030204" pitchFamily="18" charset="0"/>
                <a:ea typeface="Cambria" panose="02040503050406030204" pitchFamily="18" charset="0"/>
              </a:rPr>
              <a:t>servlet</a:t>
            </a:r>
            <a:r>
              <a:rPr lang="en-GB" dirty="0" smtClean="0">
                <a:latin typeface="Cambria" panose="02040503050406030204" pitchFamily="18" charset="0"/>
                <a:ea typeface="Cambria" panose="02040503050406030204" pitchFamily="18" charset="0"/>
              </a:rPr>
              <a:t>:</a:t>
            </a:r>
          </a:p>
          <a:p>
            <a:pPr algn="just"/>
            <a:r>
              <a:rPr lang="en-GB" dirty="0" err="1" smtClean="0">
                <a:latin typeface="Cambria" panose="02040503050406030204" pitchFamily="18" charset="0"/>
                <a:ea typeface="Cambria" panose="02040503050406030204" pitchFamily="18" charset="0"/>
              </a:rPr>
              <a:t>Servlet</a:t>
            </a:r>
            <a:r>
              <a:rPr lang="en-GB" dirty="0" smtClean="0">
                <a:latin typeface="Cambria" panose="02040503050406030204" pitchFamily="18" charset="0"/>
                <a:ea typeface="Cambria" panose="02040503050406030204" pitchFamily="18" charset="0"/>
              </a:rPr>
              <a:t> class is loaded.</a:t>
            </a:r>
          </a:p>
          <a:p>
            <a:pPr algn="just"/>
            <a:r>
              <a:rPr lang="en-GB" dirty="0" err="1" smtClean="0">
                <a:latin typeface="Cambria" panose="02040503050406030204" pitchFamily="18" charset="0"/>
                <a:ea typeface="Cambria" panose="02040503050406030204" pitchFamily="18" charset="0"/>
              </a:rPr>
              <a:t>Servlet</a:t>
            </a:r>
            <a:r>
              <a:rPr lang="en-GB" dirty="0" smtClean="0">
                <a:latin typeface="Cambria" panose="02040503050406030204" pitchFamily="18" charset="0"/>
                <a:ea typeface="Cambria" panose="02040503050406030204" pitchFamily="18" charset="0"/>
              </a:rPr>
              <a:t> instance is created.</a:t>
            </a:r>
          </a:p>
          <a:p>
            <a:pPr algn="just"/>
            <a:r>
              <a:rPr lang="en-GB" dirty="0" smtClean="0">
                <a:latin typeface="Cambria" panose="02040503050406030204" pitchFamily="18" charset="0"/>
                <a:ea typeface="Cambria" panose="02040503050406030204" pitchFamily="18" charset="0"/>
              </a:rPr>
              <a:t>init method is invoked.</a:t>
            </a:r>
          </a:p>
          <a:p>
            <a:pPr algn="just"/>
            <a:r>
              <a:rPr lang="en-GB" dirty="0" smtClean="0">
                <a:latin typeface="Cambria" panose="02040503050406030204" pitchFamily="18" charset="0"/>
                <a:ea typeface="Cambria" panose="02040503050406030204" pitchFamily="18" charset="0"/>
              </a:rPr>
              <a:t>service method is invoked.</a:t>
            </a:r>
          </a:p>
          <a:p>
            <a:pPr algn="just"/>
            <a:r>
              <a:rPr lang="en-GB" dirty="0" smtClean="0">
                <a:latin typeface="Cambria" panose="02040503050406030204" pitchFamily="18" charset="0"/>
                <a:ea typeface="Cambria" panose="02040503050406030204" pitchFamily="18" charset="0"/>
              </a:rPr>
              <a:t>destroy method is invoked.</a:t>
            </a:r>
          </a:p>
        </p:txBody>
      </p:sp>
      <p:pic>
        <p:nvPicPr>
          <p:cNvPr id="7" name="Picture 6" descr="Life cycle of a servlet"/>
          <p:cNvPicPr/>
          <p:nvPr/>
        </p:nvPicPr>
        <p:blipFill>
          <a:blip r:embed="rId2"/>
          <a:srcRect/>
          <a:stretch>
            <a:fillRect/>
          </a:stretch>
        </p:blipFill>
        <p:spPr bwMode="auto">
          <a:xfrm>
            <a:off x="7896200" y="629012"/>
            <a:ext cx="3859530" cy="416814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67" y="0"/>
            <a:ext cx="3817640" cy="527034"/>
          </a:xfrm>
        </p:spPr>
        <p:txBody>
          <a:bodyPr/>
          <a:lstStyle/>
          <a:p>
            <a:r>
              <a:rPr lang="en-IN" sz="3600" b="1" dirty="0" smtClean="0">
                <a:solidFill>
                  <a:srgbClr val="002060"/>
                </a:solidFill>
                <a:latin typeface="Cambria" panose="02040503050406030204" pitchFamily="18" charset="0"/>
                <a:ea typeface="Cambria" panose="02040503050406030204" pitchFamily="18" charset="0"/>
              </a:rPr>
              <a:t>Servlet Life Cycle</a:t>
            </a:r>
            <a:endParaRPr lang="en-US" sz="3600" b="1" dirty="0">
              <a:solidFill>
                <a:srgbClr val="00206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07368" y="520991"/>
            <a:ext cx="10946432" cy="4132145"/>
          </a:xfrm>
        </p:spPr>
        <p:txBody>
          <a:bodyPr/>
          <a:lstStyle/>
          <a:p>
            <a:pPr marL="0" indent="0" algn="just">
              <a:buNone/>
            </a:pPr>
            <a:r>
              <a:rPr lang="en-GB" sz="2000" dirty="0" smtClean="0">
                <a:latin typeface="Cambria" panose="02040503050406030204" pitchFamily="18" charset="0"/>
                <a:ea typeface="Cambria" panose="02040503050406030204" pitchFamily="18" charset="0"/>
              </a:rPr>
              <a:t>1)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class is loaded</a:t>
            </a:r>
          </a:p>
          <a:p>
            <a:pPr marL="0" indent="0" algn="just">
              <a:buNone/>
            </a:pPr>
            <a:r>
              <a:rPr lang="en-GB" sz="2000" dirty="0" smtClean="0">
                <a:latin typeface="Cambria" panose="02040503050406030204" pitchFamily="18" charset="0"/>
                <a:ea typeface="Cambria" panose="02040503050406030204" pitchFamily="18" charset="0"/>
              </a:rPr>
              <a:t>The </a:t>
            </a:r>
            <a:r>
              <a:rPr lang="en-GB" sz="2000" dirty="0" err="1" smtClean="0">
                <a:latin typeface="Cambria" panose="02040503050406030204" pitchFamily="18" charset="0"/>
                <a:ea typeface="Cambria" panose="02040503050406030204" pitchFamily="18" charset="0"/>
              </a:rPr>
              <a:t>classloader</a:t>
            </a:r>
            <a:r>
              <a:rPr lang="en-GB" sz="2000" dirty="0" smtClean="0">
                <a:latin typeface="Cambria" panose="02040503050406030204" pitchFamily="18" charset="0"/>
                <a:ea typeface="Cambria" panose="02040503050406030204" pitchFamily="18" charset="0"/>
              </a:rPr>
              <a:t> is responsible to load the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class. The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class is loaded when the first request for the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is received by the web container.</a:t>
            </a:r>
          </a:p>
          <a:p>
            <a:pPr marL="0" indent="0" algn="just">
              <a:buNone/>
            </a:pPr>
            <a:r>
              <a:rPr lang="en-GB" sz="2000" dirty="0" smtClean="0">
                <a:latin typeface="Cambria" panose="02040503050406030204" pitchFamily="18" charset="0"/>
                <a:ea typeface="Cambria" panose="02040503050406030204" pitchFamily="18" charset="0"/>
              </a:rPr>
              <a:t>2)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instance is created</a:t>
            </a:r>
          </a:p>
          <a:p>
            <a:pPr marL="0" indent="0" algn="just">
              <a:buNone/>
            </a:pPr>
            <a:r>
              <a:rPr lang="en-GB" sz="2000" dirty="0" smtClean="0">
                <a:latin typeface="Cambria" panose="02040503050406030204" pitchFamily="18" charset="0"/>
                <a:ea typeface="Cambria" panose="02040503050406030204" pitchFamily="18" charset="0"/>
              </a:rPr>
              <a:t>The web container creates the instance of a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after loading the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class. The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instance is created only once in the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life cycle.</a:t>
            </a:r>
          </a:p>
          <a:p>
            <a:pPr marL="0" indent="0" algn="just">
              <a:buNone/>
            </a:pPr>
            <a:r>
              <a:rPr lang="en-GB" sz="2000" dirty="0" smtClean="0">
                <a:latin typeface="Cambria" panose="02040503050406030204" pitchFamily="18" charset="0"/>
                <a:ea typeface="Cambria" panose="02040503050406030204" pitchFamily="18" charset="0"/>
              </a:rPr>
              <a:t>3) init method is invoked</a:t>
            </a:r>
          </a:p>
          <a:p>
            <a:pPr marL="0" indent="0" algn="just">
              <a:buNone/>
            </a:pPr>
            <a:r>
              <a:rPr lang="en-GB" sz="2000" dirty="0" smtClean="0">
                <a:latin typeface="Cambria" panose="02040503050406030204" pitchFamily="18" charset="0"/>
                <a:ea typeface="Cambria" panose="02040503050406030204" pitchFamily="18" charset="0"/>
              </a:rPr>
              <a:t>The web container calls the init method only once after creating the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instance. The init method is used to initialize the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It is the life cycle method of the </a:t>
            </a:r>
            <a:r>
              <a:rPr lang="en-GB" sz="2000" dirty="0" err="1" smtClean="0">
                <a:latin typeface="Cambria" panose="02040503050406030204" pitchFamily="18" charset="0"/>
                <a:ea typeface="Cambria" panose="02040503050406030204" pitchFamily="18" charset="0"/>
              </a:rPr>
              <a:t>javax.servlet.Servlet</a:t>
            </a:r>
            <a:r>
              <a:rPr lang="en-GB" sz="2000" dirty="0" smtClean="0">
                <a:latin typeface="Cambria" panose="02040503050406030204" pitchFamily="18" charset="0"/>
                <a:ea typeface="Cambria" panose="02040503050406030204" pitchFamily="18" charset="0"/>
              </a:rPr>
              <a:t> interface. Syntax of the init method is given below:</a:t>
            </a:r>
          </a:p>
          <a:p>
            <a:pPr marL="0" indent="0" algn="just">
              <a:buNone/>
            </a:pPr>
            <a:r>
              <a:rPr lang="en-GB" sz="2000" b="1" dirty="0" smtClean="0">
                <a:latin typeface="Cambria" panose="02040503050406030204" pitchFamily="18" charset="0"/>
                <a:ea typeface="Cambria" panose="02040503050406030204" pitchFamily="18" charset="0"/>
              </a:rPr>
              <a:t>public</a:t>
            </a:r>
            <a:r>
              <a:rPr lang="en-GB" sz="2000" dirty="0" smtClean="0">
                <a:latin typeface="Cambria" panose="02040503050406030204" pitchFamily="18" charset="0"/>
                <a:ea typeface="Cambria" panose="02040503050406030204" pitchFamily="18" charset="0"/>
              </a:rPr>
              <a:t> </a:t>
            </a:r>
            <a:r>
              <a:rPr lang="en-GB" sz="2000" b="1" dirty="0" smtClean="0">
                <a:latin typeface="Cambria" panose="02040503050406030204" pitchFamily="18" charset="0"/>
                <a:ea typeface="Cambria" panose="02040503050406030204" pitchFamily="18" charset="0"/>
              </a:rPr>
              <a:t>void</a:t>
            </a:r>
            <a:r>
              <a:rPr lang="en-GB" sz="2000" dirty="0" smtClean="0">
                <a:latin typeface="Cambria" panose="02040503050406030204" pitchFamily="18" charset="0"/>
                <a:ea typeface="Cambria" panose="02040503050406030204" pitchFamily="18" charset="0"/>
              </a:rPr>
              <a:t> init(ServletConfig config) </a:t>
            </a:r>
            <a:r>
              <a:rPr lang="en-GB" sz="2000" b="1" dirty="0" smtClean="0">
                <a:latin typeface="Cambria" panose="02040503050406030204" pitchFamily="18" charset="0"/>
                <a:ea typeface="Cambria" panose="02040503050406030204" pitchFamily="18" charset="0"/>
              </a:rPr>
              <a:t>throws</a:t>
            </a:r>
            <a:r>
              <a:rPr lang="en-GB" sz="2000" dirty="0" smtClean="0">
                <a:latin typeface="Cambria" panose="02040503050406030204" pitchFamily="18" charset="0"/>
                <a:ea typeface="Cambria" panose="02040503050406030204" pitchFamily="18" charset="0"/>
              </a:rPr>
              <a:t> ServletException  </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21</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67" y="0"/>
            <a:ext cx="3817640" cy="527034"/>
          </a:xfrm>
        </p:spPr>
        <p:txBody>
          <a:bodyPr/>
          <a:lstStyle/>
          <a:p>
            <a:r>
              <a:rPr lang="en-IN" sz="3600" b="1" dirty="0" smtClean="0">
                <a:solidFill>
                  <a:srgbClr val="002060"/>
                </a:solidFill>
                <a:latin typeface="Cambria" panose="02040503050406030204" pitchFamily="18" charset="0"/>
                <a:ea typeface="Cambria" panose="02040503050406030204" pitchFamily="18" charset="0"/>
              </a:rPr>
              <a:t>Servlet Life Cycle</a:t>
            </a:r>
            <a:endParaRPr lang="en-US" sz="3600" b="1" dirty="0">
              <a:solidFill>
                <a:srgbClr val="00206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79376" y="527034"/>
            <a:ext cx="10801200" cy="4414134"/>
          </a:xfrm>
        </p:spPr>
        <p:txBody>
          <a:bodyPr/>
          <a:lstStyle/>
          <a:p>
            <a:pPr marL="0" indent="0" algn="just">
              <a:buNone/>
            </a:pPr>
            <a:r>
              <a:rPr lang="en-GB" sz="2000" dirty="0" smtClean="0">
                <a:latin typeface="Cambria" panose="02040503050406030204" pitchFamily="18" charset="0"/>
                <a:ea typeface="Cambria" panose="02040503050406030204" pitchFamily="18" charset="0"/>
              </a:rPr>
              <a:t>4) service method is invoked</a:t>
            </a:r>
          </a:p>
          <a:p>
            <a:pPr marL="0" indent="0" algn="just">
              <a:buNone/>
            </a:pPr>
            <a:r>
              <a:rPr lang="en-GB" sz="2000" dirty="0" smtClean="0">
                <a:latin typeface="Cambria" panose="02040503050406030204" pitchFamily="18" charset="0"/>
                <a:ea typeface="Cambria" panose="02040503050406030204" pitchFamily="18" charset="0"/>
              </a:rPr>
              <a:t>The web container calls the service method each time when request for the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is received. If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is not initialized, it follows the first three steps as described above then calls the service method. If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is initialized, it calls the service method. Notice that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is initialized only once. The syntax of the service method of the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interface is given below:</a:t>
            </a:r>
          </a:p>
          <a:p>
            <a:pPr marL="0" indent="0" algn="just">
              <a:buNone/>
            </a:pPr>
            <a:r>
              <a:rPr lang="en-GB" sz="2000" b="1" dirty="0" smtClean="0">
                <a:latin typeface="Cambria" panose="02040503050406030204" pitchFamily="18" charset="0"/>
                <a:ea typeface="Cambria" panose="02040503050406030204" pitchFamily="18" charset="0"/>
              </a:rPr>
              <a:t>public</a:t>
            </a:r>
            <a:r>
              <a:rPr lang="en-GB" sz="2000" dirty="0" smtClean="0">
                <a:latin typeface="Cambria" panose="02040503050406030204" pitchFamily="18" charset="0"/>
                <a:ea typeface="Cambria" panose="02040503050406030204" pitchFamily="18" charset="0"/>
              </a:rPr>
              <a:t> </a:t>
            </a:r>
            <a:r>
              <a:rPr lang="en-GB" sz="2000" b="1" dirty="0" smtClean="0">
                <a:latin typeface="Cambria" panose="02040503050406030204" pitchFamily="18" charset="0"/>
                <a:ea typeface="Cambria" panose="02040503050406030204" pitchFamily="18" charset="0"/>
              </a:rPr>
              <a:t>void</a:t>
            </a:r>
            <a:r>
              <a:rPr lang="en-GB" sz="2000" dirty="0" smtClean="0">
                <a:latin typeface="Cambria" panose="02040503050406030204" pitchFamily="18" charset="0"/>
                <a:ea typeface="Cambria" panose="02040503050406030204" pitchFamily="18" charset="0"/>
              </a:rPr>
              <a:t> service(</a:t>
            </a:r>
            <a:r>
              <a:rPr lang="en-GB" sz="2000" dirty="0" err="1" smtClean="0">
                <a:latin typeface="Cambria" panose="02040503050406030204" pitchFamily="18" charset="0"/>
                <a:ea typeface="Cambria" panose="02040503050406030204" pitchFamily="18" charset="0"/>
              </a:rPr>
              <a:t>ServletRequest</a:t>
            </a:r>
            <a:r>
              <a:rPr lang="en-GB" sz="2000" dirty="0" smtClean="0">
                <a:latin typeface="Cambria" panose="02040503050406030204" pitchFamily="18" charset="0"/>
                <a:ea typeface="Cambria" panose="02040503050406030204" pitchFamily="18" charset="0"/>
              </a:rPr>
              <a:t> request, </a:t>
            </a:r>
            <a:r>
              <a:rPr lang="en-GB" sz="2000" dirty="0" err="1" smtClean="0">
                <a:latin typeface="Cambria" panose="02040503050406030204" pitchFamily="18" charset="0"/>
                <a:ea typeface="Cambria" panose="02040503050406030204" pitchFamily="18" charset="0"/>
              </a:rPr>
              <a:t>ServletResponse</a:t>
            </a:r>
            <a:r>
              <a:rPr lang="en-GB" sz="2000" dirty="0" smtClean="0">
                <a:latin typeface="Cambria" panose="02040503050406030204" pitchFamily="18" charset="0"/>
                <a:ea typeface="Cambria" panose="02040503050406030204" pitchFamily="18" charset="0"/>
              </a:rPr>
              <a:t> response)   </a:t>
            </a:r>
          </a:p>
          <a:p>
            <a:pPr marL="0" indent="0" algn="just">
              <a:buNone/>
            </a:pPr>
            <a:r>
              <a:rPr lang="en-GB" sz="2000" dirty="0" smtClean="0">
                <a:latin typeface="Cambria" panose="02040503050406030204" pitchFamily="18" charset="0"/>
                <a:ea typeface="Cambria" panose="02040503050406030204" pitchFamily="18" charset="0"/>
              </a:rPr>
              <a:t>  </a:t>
            </a:r>
            <a:r>
              <a:rPr lang="en-GB" sz="2000" b="1" dirty="0" smtClean="0">
                <a:latin typeface="Cambria" panose="02040503050406030204" pitchFamily="18" charset="0"/>
                <a:ea typeface="Cambria" panose="02040503050406030204" pitchFamily="18" charset="0"/>
              </a:rPr>
              <a:t>throws</a:t>
            </a:r>
            <a:r>
              <a:rPr lang="en-GB" sz="2000" dirty="0" smtClean="0">
                <a:latin typeface="Cambria" panose="02040503050406030204" pitchFamily="18" charset="0"/>
                <a:ea typeface="Cambria" panose="02040503050406030204" pitchFamily="18" charset="0"/>
              </a:rPr>
              <a:t> </a:t>
            </a:r>
            <a:r>
              <a:rPr lang="en-GB" sz="2000" dirty="0" err="1" smtClean="0">
                <a:latin typeface="Cambria" panose="02040503050406030204" pitchFamily="18" charset="0"/>
                <a:ea typeface="Cambria" panose="02040503050406030204" pitchFamily="18" charset="0"/>
              </a:rPr>
              <a:t>ServletException</a:t>
            </a:r>
            <a:r>
              <a:rPr lang="en-GB" sz="2000" dirty="0" smtClean="0">
                <a:latin typeface="Cambria" panose="02040503050406030204" pitchFamily="18" charset="0"/>
                <a:ea typeface="Cambria" panose="02040503050406030204" pitchFamily="18" charset="0"/>
              </a:rPr>
              <a:t>, </a:t>
            </a:r>
            <a:r>
              <a:rPr lang="en-GB" sz="2000" dirty="0" err="1" smtClean="0">
                <a:latin typeface="Cambria" panose="02040503050406030204" pitchFamily="18" charset="0"/>
                <a:ea typeface="Cambria" panose="02040503050406030204" pitchFamily="18" charset="0"/>
              </a:rPr>
              <a:t>IOException</a:t>
            </a:r>
            <a:r>
              <a:rPr lang="en-GB" sz="2000" dirty="0" smtClean="0">
                <a:latin typeface="Cambria" panose="02040503050406030204" pitchFamily="18" charset="0"/>
                <a:ea typeface="Cambria" panose="02040503050406030204" pitchFamily="18" charset="0"/>
              </a:rPr>
              <a:t>  </a:t>
            </a:r>
          </a:p>
          <a:p>
            <a:pPr marL="0" indent="0" algn="just">
              <a:buNone/>
            </a:pPr>
            <a:r>
              <a:rPr lang="en-GB" sz="2000" dirty="0" smtClean="0">
                <a:latin typeface="Cambria" panose="02040503050406030204" pitchFamily="18" charset="0"/>
                <a:ea typeface="Cambria" panose="02040503050406030204" pitchFamily="18" charset="0"/>
              </a:rPr>
              <a:t>5) destroy method is invoked</a:t>
            </a:r>
          </a:p>
          <a:p>
            <a:pPr marL="0" indent="0" algn="just">
              <a:buNone/>
            </a:pPr>
            <a:r>
              <a:rPr lang="en-GB" sz="2000" dirty="0" smtClean="0">
                <a:latin typeface="Cambria" panose="02040503050406030204" pitchFamily="18" charset="0"/>
                <a:ea typeface="Cambria" panose="02040503050406030204" pitchFamily="18" charset="0"/>
              </a:rPr>
              <a:t>The web container calls the destroy method before removing the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instance from the service. It gives the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an opportunity to clean up any resource for example memory, thread etc. The syntax of the destroy method of the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interface is given below:</a:t>
            </a:r>
          </a:p>
          <a:p>
            <a:pPr marL="0" indent="0" algn="just">
              <a:buNone/>
            </a:pPr>
            <a:r>
              <a:rPr lang="en-GB" sz="2000" b="1" dirty="0" smtClean="0">
                <a:latin typeface="Cambria" panose="02040503050406030204" pitchFamily="18" charset="0"/>
                <a:ea typeface="Cambria" panose="02040503050406030204" pitchFamily="18" charset="0"/>
              </a:rPr>
              <a:t>public</a:t>
            </a:r>
            <a:r>
              <a:rPr lang="en-GB" sz="2000" dirty="0" smtClean="0">
                <a:latin typeface="Cambria" panose="02040503050406030204" pitchFamily="18" charset="0"/>
                <a:ea typeface="Cambria" panose="02040503050406030204" pitchFamily="18" charset="0"/>
              </a:rPr>
              <a:t> </a:t>
            </a:r>
            <a:r>
              <a:rPr lang="en-GB" sz="2000" b="1" dirty="0" smtClean="0">
                <a:latin typeface="Cambria" panose="02040503050406030204" pitchFamily="18" charset="0"/>
                <a:ea typeface="Cambria" panose="02040503050406030204" pitchFamily="18" charset="0"/>
              </a:rPr>
              <a:t>void</a:t>
            </a:r>
            <a:r>
              <a:rPr lang="en-GB" sz="2000" dirty="0" smtClean="0">
                <a:latin typeface="Cambria" panose="02040503050406030204" pitchFamily="18" charset="0"/>
                <a:ea typeface="Cambria" panose="02040503050406030204" pitchFamily="18" charset="0"/>
              </a:rPr>
              <a:t> destroy()  </a:t>
            </a:r>
          </a:p>
          <a:p>
            <a:pPr marL="0" indent="0" algn="just">
              <a:buNone/>
            </a:pPr>
            <a:endParaRPr lang="en-US" sz="20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22</a:t>
            </a:fld>
            <a:endParaRPr lang="en-US" altLang="en-US">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39174392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5360" y="-4775"/>
            <a:ext cx="10513168" cy="769480"/>
          </a:xfrm>
        </p:spPr>
        <p:txBody>
          <a:bodyPr/>
          <a:lstStyle/>
          <a:p>
            <a:r>
              <a:rPr lang="en-GB" sz="4000" b="1" dirty="0" smtClean="0">
                <a:solidFill>
                  <a:schemeClr val="accent5"/>
                </a:solidFill>
                <a:latin typeface="Cambria" panose="02040503050406030204" pitchFamily="18" charset="0"/>
                <a:ea typeface="Cambria" panose="02040503050406030204" pitchFamily="18" charset="0"/>
              </a:rPr>
              <a:t>Steps to create a </a:t>
            </a:r>
            <a:r>
              <a:rPr lang="en-GB" sz="4000" b="1" dirty="0" err="1" smtClean="0">
                <a:solidFill>
                  <a:schemeClr val="accent5"/>
                </a:solidFill>
                <a:latin typeface="Cambria" panose="02040503050406030204" pitchFamily="18" charset="0"/>
                <a:ea typeface="Cambria" panose="02040503050406030204" pitchFamily="18" charset="0"/>
              </a:rPr>
              <a:t>servlet</a:t>
            </a:r>
            <a:r>
              <a:rPr lang="en-GB" sz="4000" b="1" dirty="0" smtClean="0">
                <a:solidFill>
                  <a:schemeClr val="accent5"/>
                </a:solidFill>
                <a:latin typeface="Cambria" panose="02040503050406030204" pitchFamily="18" charset="0"/>
                <a:ea typeface="Cambria" panose="02040503050406030204" pitchFamily="18" charset="0"/>
              </a:rPr>
              <a:t> example</a:t>
            </a:r>
            <a:endParaRPr lang="en-GB" sz="40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335360" y="620688"/>
            <a:ext cx="10515600" cy="4676789"/>
          </a:xfrm>
        </p:spPr>
        <p:txBody>
          <a:bodyPr/>
          <a:lstStyle/>
          <a:p>
            <a:pPr algn="just"/>
            <a:r>
              <a:rPr lang="en-GB" sz="2400" dirty="0" smtClean="0">
                <a:latin typeface="Cambria" panose="02040503050406030204" pitchFamily="18" charset="0"/>
                <a:ea typeface="Cambria" panose="02040503050406030204" pitchFamily="18" charset="0"/>
              </a:rPr>
              <a:t>There are given 6 steps to create a </a:t>
            </a:r>
            <a:r>
              <a:rPr lang="en-GB" sz="2400" b="1" dirty="0" err="1" smtClean="0">
                <a:latin typeface="Cambria" panose="02040503050406030204" pitchFamily="18" charset="0"/>
                <a:ea typeface="Cambria" panose="02040503050406030204" pitchFamily="18" charset="0"/>
              </a:rPr>
              <a:t>servlet</a:t>
            </a:r>
            <a:r>
              <a:rPr lang="en-GB" sz="2400" b="1" dirty="0" smtClean="0">
                <a:latin typeface="Cambria" panose="02040503050406030204" pitchFamily="18" charset="0"/>
                <a:ea typeface="Cambria" panose="02040503050406030204" pitchFamily="18" charset="0"/>
              </a:rPr>
              <a:t> example</a:t>
            </a:r>
            <a:r>
              <a:rPr lang="en-GB" sz="2400" dirty="0" smtClean="0">
                <a:latin typeface="Cambria" panose="02040503050406030204" pitchFamily="18" charset="0"/>
                <a:ea typeface="Cambria" panose="02040503050406030204" pitchFamily="18" charset="0"/>
              </a:rPr>
              <a:t>. These steps are required for all the servers.</a:t>
            </a:r>
          </a:p>
          <a:p>
            <a:pPr marL="514350" indent="-514350" algn="just">
              <a:buFont typeface="+mj-lt"/>
              <a:buAutoNum type="arabicPeriod"/>
            </a:pPr>
            <a:r>
              <a:rPr lang="en-GB" sz="2400" dirty="0" smtClean="0">
                <a:latin typeface="Cambria" panose="02040503050406030204" pitchFamily="18" charset="0"/>
                <a:ea typeface="Cambria" panose="02040503050406030204" pitchFamily="18" charset="0"/>
              </a:rPr>
              <a:t>The </a:t>
            </a:r>
            <a:r>
              <a:rPr lang="en-GB" sz="2400" dirty="0" err="1" smtClean="0">
                <a:latin typeface="Cambria" panose="02040503050406030204" pitchFamily="18" charset="0"/>
                <a:ea typeface="Cambria" panose="02040503050406030204" pitchFamily="18" charset="0"/>
              </a:rPr>
              <a:t>servlet</a:t>
            </a:r>
            <a:r>
              <a:rPr lang="en-GB" sz="2400" dirty="0" smtClean="0">
                <a:latin typeface="Cambria" panose="02040503050406030204" pitchFamily="18" charset="0"/>
                <a:ea typeface="Cambria" panose="02040503050406030204" pitchFamily="18" charset="0"/>
              </a:rPr>
              <a:t> example can be created by three ways:</a:t>
            </a:r>
          </a:p>
          <a:p>
            <a:pPr algn="just"/>
            <a:r>
              <a:rPr lang="en-GB" sz="2400" dirty="0" smtClean="0">
                <a:latin typeface="Cambria" panose="02040503050406030204" pitchFamily="18" charset="0"/>
                <a:ea typeface="Cambria" panose="02040503050406030204" pitchFamily="18" charset="0"/>
              </a:rPr>
              <a:t>By implementing </a:t>
            </a:r>
            <a:r>
              <a:rPr lang="en-GB" sz="2400" dirty="0" err="1" smtClean="0">
                <a:latin typeface="Cambria" panose="02040503050406030204" pitchFamily="18" charset="0"/>
                <a:ea typeface="Cambria" panose="02040503050406030204" pitchFamily="18" charset="0"/>
              </a:rPr>
              <a:t>Servlet</a:t>
            </a:r>
            <a:r>
              <a:rPr lang="en-GB" sz="2400" dirty="0" smtClean="0">
                <a:latin typeface="Cambria" panose="02040503050406030204" pitchFamily="18" charset="0"/>
                <a:ea typeface="Cambria" panose="02040503050406030204" pitchFamily="18" charset="0"/>
              </a:rPr>
              <a:t> interface,</a:t>
            </a:r>
          </a:p>
          <a:p>
            <a:pPr algn="just"/>
            <a:r>
              <a:rPr lang="en-GB" sz="2400" dirty="0" smtClean="0">
                <a:latin typeface="Cambria" panose="02040503050406030204" pitchFamily="18" charset="0"/>
                <a:ea typeface="Cambria" panose="02040503050406030204" pitchFamily="18" charset="0"/>
              </a:rPr>
              <a:t>By inheriting </a:t>
            </a:r>
            <a:r>
              <a:rPr lang="en-GB" sz="2400" dirty="0" err="1" smtClean="0">
                <a:latin typeface="Cambria" panose="02040503050406030204" pitchFamily="18" charset="0"/>
                <a:ea typeface="Cambria" panose="02040503050406030204" pitchFamily="18" charset="0"/>
              </a:rPr>
              <a:t>GenericServlet</a:t>
            </a:r>
            <a:r>
              <a:rPr lang="en-GB" sz="2400" dirty="0" smtClean="0">
                <a:latin typeface="Cambria" panose="02040503050406030204" pitchFamily="18" charset="0"/>
                <a:ea typeface="Cambria" panose="02040503050406030204" pitchFamily="18" charset="0"/>
              </a:rPr>
              <a:t> class, (or)</a:t>
            </a:r>
          </a:p>
          <a:p>
            <a:pPr algn="just"/>
            <a:r>
              <a:rPr lang="en-GB" sz="2400" dirty="0" smtClean="0">
                <a:latin typeface="Cambria" panose="02040503050406030204" pitchFamily="18" charset="0"/>
                <a:ea typeface="Cambria" panose="02040503050406030204" pitchFamily="18" charset="0"/>
              </a:rPr>
              <a:t>By inheriting </a:t>
            </a:r>
            <a:r>
              <a:rPr lang="en-GB" sz="2400" dirty="0" err="1" smtClean="0">
                <a:latin typeface="Cambria" panose="02040503050406030204" pitchFamily="18" charset="0"/>
                <a:ea typeface="Cambria" panose="02040503050406030204" pitchFamily="18" charset="0"/>
              </a:rPr>
              <a:t>HttpServlet</a:t>
            </a:r>
            <a:r>
              <a:rPr lang="en-GB" sz="2400" dirty="0" smtClean="0">
                <a:latin typeface="Cambria" panose="02040503050406030204" pitchFamily="18" charset="0"/>
                <a:ea typeface="Cambria" panose="02040503050406030204" pitchFamily="18" charset="0"/>
              </a:rPr>
              <a:t> class</a:t>
            </a:r>
          </a:p>
          <a:p>
            <a:pPr algn="just"/>
            <a:r>
              <a:rPr lang="en-GB" sz="2400" dirty="0" smtClean="0">
                <a:latin typeface="Cambria" panose="02040503050406030204" pitchFamily="18" charset="0"/>
                <a:ea typeface="Cambria" panose="02040503050406030204" pitchFamily="18" charset="0"/>
              </a:rPr>
              <a:t>The mostly used approach is by extending </a:t>
            </a:r>
            <a:r>
              <a:rPr lang="en-GB" sz="2400" dirty="0" err="1" smtClean="0">
                <a:latin typeface="Cambria" panose="02040503050406030204" pitchFamily="18" charset="0"/>
                <a:ea typeface="Cambria" panose="02040503050406030204" pitchFamily="18" charset="0"/>
              </a:rPr>
              <a:t>HttpServlet</a:t>
            </a:r>
            <a:r>
              <a:rPr lang="en-GB" sz="2400" dirty="0" smtClean="0">
                <a:latin typeface="Cambria" panose="02040503050406030204" pitchFamily="18" charset="0"/>
                <a:ea typeface="Cambria" panose="02040503050406030204" pitchFamily="18" charset="0"/>
              </a:rPr>
              <a:t> because it provides http request specific method such as </a:t>
            </a:r>
            <a:r>
              <a:rPr lang="en-GB" sz="2400" dirty="0" err="1" smtClean="0">
                <a:latin typeface="Cambria" panose="02040503050406030204" pitchFamily="18" charset="0"/>
                <a:ea typeface="Cambria" panose="02040503050406030204" pitchFamily="18" charset="0"/>
              </a:rPr>
              <a:t>doGet</a:t>
            </a:r>
            <a:r>
              <a:rPr lang="en-GB" sz="2400" dirty="0" smtClean="0">
                <a:latin typeface="Cambria" panose="02040503050406030204" pitchFamily="18" charset="0"/>
                <a:ea typeface="Cambria" panose="02040503050406030204" pitchFamily="18" charset="0"/>
              </a:rPr>
              <a:t>(), </a:t>
            </a:r>
            <a:r>
              <a:rPr lang="en-GB" sz="2400" dirty="0" err="1" smtClean="0">
                <a:latin typeface="Cambria" panose="02040503050406030204" pitchFamily="18" charset="0"/>
                <a:ea typeface="Cambria" panose="02040503050406030204" pitchFamily="18" charset="0"/>
              </a:rPr>
              <a:t>doPost</a:t>
            </a:r>
            <a:r>
              <a:rPr lang="en-GB" sz="2400" dirty="0" smtClean="0">
                <a:latin typeface="Cambria" panose="02040503050406030204" pitchFamily="18" charset="0"/>
                <a:ea typeface="Cambria" panose="02040503050406030204" pitchFamily="18" charset="0"/>
              </a:rPr>
              <a:t>(), </a:t>
            </a:r>
            <a:r>
              <a:rPr lang="en-GB" sz="2400" dirty="0" err="1" smtClean="0">
                <a:latin typeface="Cambria" panose="02040503050406030204" pitchFamily="18" charset="0"/>
                <a:ea typeface="Cambria" panose="02040503050406030204" pitchFamily="18" charset="0"/>
              </a:rPr>
              <a:t>doHead</a:t>
            </a:r>
            <a:r>
              <a:rPr lang="en-GB" sz="2400" dirty="0" smtClean="0">
                <a:latin typeface="Cambria" panose="02040503050406030204" pitchFamily="18" charset="0"/>
                <a:ea typeface="Cambria" panose="02040503050406030204" pitchFamily="18" charset="0"/>
              </a:rPr>
              <a:t>() etc.</a:t>
            </a:r>
          </a:p>
          <a:p>
            <a:pPr algn="just"/>
            <a:r>
              <a:rPr lang="en-GB" sz="2400" dirty="0" smtClean="0">
                <a:latin typeface="Cambria" panose="02040503050406030204" pitchFamily="18" charset="0"/>
                <a:ea typeface="Cambria" panose="02040503050406030204" pitchFamily="18" charset="0"/>
              </a:rPr>
              <a:t>Here, we are going to use </a:t>
            </a:r>
            <a:r>
              <a:rPr lang="en-GB" sz="2400" b="1" dirty="0" smtClean="0">
                <a:latin typeface="Cambria" panose="02040503050406030204" pitchFamily="18" charset="0"/>
                <a:ea typeface="Cambria" panose="02040503050406030204" pitchFamily="18" charset="0"/>
              </a:rPr>
              <a:t>apache tomcat server</a:t>
            </a:r>
            <a:r>
              <a:rPr lang="en-GB" sz="2400" dirty="0" smtClean="0">
                <a:latin typeface="Cambria" panose="02040503050406030204" pitchFamily="18" charset="0"/>
                <a:ea typeface="Cambria" panose="02040503050406030204" pitchFamily="18" charset="0"/>
              </a:rPr>
              <a:t> in this example. </a:t>
            </a:r>
          </a:p>
          <a:p>
            <a:pPr algn="just">
              <a:buNone/>
            </a:pPr>
            <a:endParaRPr lang="en-US" sz="24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23</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344" y="188640"/>
            <a:ext cx="6121896" cy="615603"/>
          </a:xfrm>
        </p:spPr>
        <p:txBody>
          <a:bodyPr/>
          <a:lstStyle/>
          <a:p>
            <a:r>
              <a:rPr lang="en-GB" sz="4000" b="1" dirty="0" smtClean="0">
                <a:solidFill>
                  <a:schemeClr val="accent5"/>
                </a:solidFill>
                <a:latin typeface="Cambria" panose="02040503050406030204" pitchFamily="18" charset="0"/>
                <a:ea typeface="Cambria" panose="02040503050406030204" pitchFamily="18" charset="0"/>
              </a:rPr>
              <a:t>The steps are as follows:</a:t>
            </a:r>
            <a:endParaRPr lang="en-US" sz="4000" b="1" dirty="0">
              <a:solidFill>
                <a:schemeClr val="accent5"/>
              </a:solidFill>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24</a:t>
            </a:fld>
            <a:endParaRPr lang="en-US" altLang="en-US">
              <a:latin typeface="Cambria" panose="02040503050406030204" pitchFamily="18" charset="0"/>
              <a:ea typeface="Cambria" panose="02040503050406030204" pitchFamily="18" charset="0"/>
            </a:endParaRPr>
          </a:p>
        </p:txBody>
      </p:sp>
      <p:sp>
        <p:nvSpPr>
          <p:cNvPr id="6" name="Content Placeholder 5"/>
          <p:cNvSpPr>
            <a:spLocks noGrp="1"/>
          </p:cNvSpPr>
          <p:nvPr>
            <p:ph idx="1"/>
          </p:nvPr>
        </p:nvSpPr>
        <p:spPr>
          <a:xfrm>
            <a:off x="803902" y="1196752"/>
            <a:ext cx="10476674" cy="3456384"/>
          </a:xfrm>
        </p:spPr>
        <p:txBody>
          <a:bodyPr/>
          <a:lstStyle/>
          <a:p>
            <a:pPr marL="514350" indent="-514350">
              <a:buFont typeface="+mj-lt"/>
              <a:buAutoNum type="arabicPeriod"/>
            </a:pPr>
            <a:r>
              <a:rPr lang="en-GB" dirty="0" smtClean="0">
                <a:latin typeface="Cambria" panose="02040503050406030204" pitchFamily="18" charset="0"/>
                <a:ea typeface="Cambria" panose="02040503050406030204" pitchFamily="18" charset="0"/>
              </a:rPr>
              <a:t>Create a directory structure</a:t>
            </a:r>
          </a:p>
          <a:p>
            <a:pPr marL="514350" indent="-514350">
              <a:buFont typeface="+mj-lt"/>
              <a:buAutoNum type="arabicPeriod"/>
            </a:pPr>
            <a:r>
              <a:rPr lang="en-GB" dirty="0" smtClean="0">
                <a:latin typeface="Cambria" panose="02040503050406030204" pitchFamily="18" charset="0"/>
                <a:ea typeface="Cambria" panose="02040503050406030204" pitchFamily="18" charset="0"/>
              </a:rPr>
              <a:t>Create a Servlet</a:t>
            </a:r>
          </a:p>
          <a:p>
            <a:pPr marL="514350" indent="-514350">
              <a:buFont typeface="+mj-lt"/>
              <a:buAutoNum type="arabicPeriod"/>
            </a:pPr>
            <a:r>
              <a:rPr lang="en-GB" dirty="0" smtClean="0">
                <a:latin typeface="Cambria" panose="02040503050406030204" pitchFamily="18" charset="0"/>
                <a:ea typeface="Cambria" panose="02040503050406030204" pitchFamily="18" charset="0"/>
              </a:rPr>
              <a:t>Compile the Servlet</a:t>
            </a:r>
          </a:p>
          <a:p>
            <a:pPr marL="514350" indent="-514350">
              <a:buFont typeface="+mj-lt"/>
              <a:buAutoNum type="arabicPeriod"/>
            </a:pPr>
            <a:r>
              <a:rPr lang="en-GB" dirty="0" smtClean="0">
                <a:latin typeface="Cambria" panose="02040503050406030204" pitchFamily="18" charset="0"/>
                <a:ea typeface="Cambria" panose="02040503050406030204" pitchFamily="18" charset="0"/>
              </a:rPr>
              <a:t>Create a deployment descriptor</a:t>
            </a:r>
          </a:p>
          <a:p>
            <a:pPr marL="514350" indent="-514350">
              <a:buFont typeface="+mj-lt"/>
              <a:buAutoNum type="arabicPeriod"/>
            </a:pPr>
            <a:r>
              <a:rPr lang="en-GB" dirty="0" smtClean="0">
                <a:latin typeface="Cambria" panose="02040503050406030204" pitchFamily="18" charset="0"/>
                <a:ea typeface="Cambria" panose="02040503050406030204" pitchFamily="18" charset="0"/>
              </a:rPr>
              <a:t>Start the server and deploy the project</a:t>
            </a:r>
          </a:p>
          <a:p>
            <a:pPr marL="514350" indent="-514350">
              <a:buFont typeface="+mj-lt"/>
              <a:buAutoNum type="arabicPeriod"/>
            </a:pPr>
            <a:r>
              <a:rPr lang="en-GB" dirty="0" smtClean="0">
                <a:latin typeface="Cambria" panose="02040503050406030204" pitchFamily="18" charset="0"/>
                <a:ea typeface="Cambria" panose="02040503050406030204" pitchFamily="18" charset="0"/>
              </a:rPr>
              <a:t>Access the servlet</a:t>
            </a:r>
            <a:endParaRPr lang="en-US" dirty="0">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272464" cy="649641"/>
          </a:xfrm>
        </p:spPr>
        <p:txBody>
          <a:bodyPr/>
          <a:lstStyle/>
          <a:p>
            <a:r>
              <a:rPr lang="en-US" sz="3600" b="1" dirty="0" smtClean="0">
                <a:solidFill>
                  <a:schemeClr val="accent5"/>
                </a:solidFill>
                <a:latin typeface="Cambria" panose="02040503050406030204" pitchFamily="18" charset="0"/>
                <a:ea typeface="Cambria" panose="02040503050406030204" pitchFamily="18" charset="0"/>
              </a:rPr>
              <a:t>1. Create a directory structures</a:t>
            </a:r>
            <a:endParaRPr lang="en-US" sz="36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263352" y="679148"/>
            <a:ext cx="7128792" cy="4550052"/>
          </a:xfrm>
        </p:spPr>
        <p:txBody>
          <a:bodyPr/>
          <a:lstStyle/>
          <a:p>
            <a:pPr algn="just"/>
            <a:r>
              <a:rPr lang="en-GB" dirty="0" smtClean="0">
                <a:latin typeface="Cambria" panose="02040503050406030204" pitchFamily="18" charset="0"/>
                <a:ea typeface="Cambria" panose="02040503050406030204" pitchFamily="18" charset="0"/>
              </a:rPr>
              <a:t>The </a:t>
            </a:r>
            <a:r>
              <a:rPr lang="en-GB" b="1" dirty="0" smtClean="0">
                <a:latin typeface="Cambria" panose="02040503050406030204" pitchFamily="18" charset="0"/>
                <a:ea typeface="Cambria" panose="02040503050406030204" pitchFamily="18" charset="0"/>
              </a:rPr>
              <a:t>directory structure</a:t>
            </a:r>
            <a:r>
              <a:rPr lang="en-GB" dirty="0" smtClean="0">
                <a:latin typeface="Cambria" panose="02040503050406030204" pitchFamily="18" charset="0"/>
                <a:ea typeface="Cambria" panose="02040503050406030204" pitchFamily="18" charset="0"/>
              </a:rPr>
              <a:t> defines that where to put the different types of files so that web container may get the information and respond to the client.</a:t>
            </a:r>
          </a:p>
          <a:p>
            <a:pPr algn="just"/>
            <a:r>
              <a:rPr lang="en-GB" dirty="0" smtClean="0">
                <a:latin typeface="Cambria" panose="02040503050406030204" pitchFamily="18" charset="0"/>
                <a:ea typeface="Cambria" panose="02040503050406030204" pitchFamily="18" charset="0"/>
              </a:rPr>
              <a:t>The Sun </a:t>
            </a:r>
            <a:r>
              <a:rPr lang="en-GB" dirty="0" err="1" smtClean="0">
                <a:latin typeface="Cambria" panose="02040503050406030204" pitchFamily="18" charset="0"/>
                <a:ea typeface="Cambria" panose="02040503050406030204" pitchFamily="18" charset="0"/>
              </a:rPr>
              <a:t>Microsystem</a:t>
            </a:r>
            <a:r>
              <a:rPr lang="en-GB" dirty="0" smtClean="0">
                <a:latin typeface="Cambria" panose="02040503050406030204" pitchFamily="18" charset="0"/>
                <a:ea typeface="Cambria" panose="02040503050406030204" pitchFamily="18" charset="0"/>
              </a:rPr>
              <a:t> defines a unique standard to be followed by all the server vendors. Let's see the directory structure that must be followed to create the </a:t>
            </a:r>
            <a:r>
              <a:rPr lang="en-GB" dirty="0" err="1" smtClean="0">
                <a:latin typeface="Cambria" panose="02040503050406030204" pitchFamily="18" charset="0"/>
                <a:ea typeface="Cambria" panose="02040503050406030204" pitchFamily="18" charset="0"/>
              </a:rPr>
              <a:t>servlet</a:t>
            </a:r>
            <a:r>
              <a:rPr lang="en-GB" dirty="0" smtClean="0">
                <a:latin typeface="Cambria" panose="02040503050406030204" pitchFamily="18" charset="0"/>
                <a:ea typeface="Cambria" panose="02040503050406030204" pitchFamily="18" charset="0"/>
              </a:rPr>
              <a:t>.</a:t>
            </a:r>
          </a:p>
          <a:p>
            <a:pPr algn="just"/>
            <a:r>
              <a:rPr lang="en-GB" dirty="0" smtClean="0">
                <a:latin typeface="Cambria" panose="02040503050406030204" pitchFamily="18" charset="0"/>
                <a:ea typeface="Cambria" panose="02040503050406030204" pitchFamily="18" charset="0"/>
              </a:rPr>
              <a:t>the </a:t>
            </a:r>
            <a:r>
              <a:rPr lang="en-GB" dirty="0" err="1" smtClean="0">
                <a:latin typeface="Cambria" panose="02040503050406030204" pitchFamily="18" charset="0"/>
                <a:ea typeface="Cambria" panose="02040503050406030204" pitchFamily="18" charset="0"/>
              </a:rPr>
              <a:t>servlet</a:t>
            </a:r>
            <a:r>
              <a:rPr lang="en-GB" dirty="0" smtClean="0">
                <a:latin typeface="Cambria" panose="02040503050406030204" pitchFamily="18" charset="0"/>
                <a:ea typeface="Cambria" panose="02040503050406030204" pitchFamily="18" charset="0"/>
              </a:rPr>
              <a:t> class file must be in the classes folder. The web.xml file must be under the WEB-INF folder.</a:t>
            </a:r>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25</a:t>
            </a:fld>
            <a:endParaRPr lang="en-US" altLang="en-US">
              <a:latin typeface="Cambria" panose="02040503050406030204" pitchFamily="18" charset="0"/>
              <a:ea typeface="Cambria" panose="02040503050406030204" pitchFamily="18" charset="0"/>
            </a:endParaRPr>
          </a:p>
        </p:txBody>
      </p:sp>
      <p:pic>
        <p:nvPicPr>
          <p:cNvPr id="5" name="Picture 4" descr="directory structure of servlet"/>
          <p:cNvPicPr/>
          <p:nvPr/>
        </p:nvPicPr>
        <p:blipFill>
          <a:blip r:embed="rId2"/>
          <a:srcRect/>
          <a:stretch>
            <a:fillRect/>
          </a:stretch>
        </p:blipFill>
        <p:spPr bwMode="auto">
          <a:xfrm>
            <a:off x="7824192" y="715503"/>
            <a:ext cx="3242945" cy="3471874"/>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3352" y="31685"/>
            <a:ext cx="4609728" cy="471587"/>
          </a:xfrm>
        </p:spPr>
        <p:txBody>
          <a:bodyPr/>
          <a:lstStyle/>
          <a:p>
            <a:r>
              <a:rPr lang="en-US" sz="3600" b="1" dirty="0" smtClean="0">
                <a:solidFill>
                  <a:schemeClr val="accent5"/>
                </a:solidFill>
                <a:latin typeface="Cambria" panose="02040503050406030204" pitchFamily="18" charset="0"/>
                <a:ea typeface="Cambria" panose="02040503050406030204" pitchFamily="18" charset="0"/>
              </a:rPr>
              <a:t>2. Create a </a:t>
            </a:r>
            <a:r>
              <a:rPr lang="en-US" sz="3600" b="1" dirty="0" err="1" smtClean="0">
                <a:solidFill>
                  <a:schemeClr val="accent5"/>
                </a:solidFill>
                <a:latin typeface="Cambria" panose="02040503050406030204" pitchFamily="18" charset="0"/>
                <a:ea typeface="Cambria" panose="02040503050406030204" pitchFamily="18" charset="0"/>
              </a:rPr>
              <a:t>Servlet</a:t>
            </a:r>
            <a:endParaRPr lang="en-US" sz="36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07368" y="620688"/>
            <a:ext cx="11377264" cy="5904656"/>
          </a:xfrm>
        </p:spPr>
        <p:txBody>
          <a:bodyPr/>
          <a:lstStyle/>
          <a:p>
            <a:r>
              <a:rPr lang="en-GB" sz="1800" dirty="0" smtClean="0">
                <a:latin typeface="Cambria" panose="02040503050406030204" pitchFamily="18" charset="0"/>
                <a:ea typeface="Cambria" panose="02040503050406030204" pitchFamily="18" charset="0"/>
              </a:rPr>
              <a:t>There are three ways to create the </a:t>
            </a:r>
            <a:r>
              <a:rPr lang="en-GB" sz="1800" dirty="0" err="1" smtClean="0">
                <a:latin typeface="Cambria" panose="02040503050406030204" pitchFamily="18" charset="0"/>
                <a:ea typeface="Cambria" panose="02040503050406030204" pitchFamily="18" charset="0"/>
              </a:rPr>
              <a:t>servlet</a:t>
            </a:r>
            <a:r>
              <a:rPr lang="en-GB" sz="1800" dirty="0" smtClean="0">
                <a:latin typeface="Cambria" panose="02040503050406030204" pitchFamily="18" charset="0"/>
                <a:ea typeface="Cambria" panose="02040503050406030204" pitchFamily="18" charset="0"/>
              </a:rPr>
              <a:t>.</a:t>
            </a:r>
          </a:p>
          <a:p>
            <a:pPr marL="342900" indent="-342900">
              <a:buFont typeface="+mj-lt"/>
              <a:buAutoNum type="arabicPeriod"/>
            </a:pPr>
            <a:r>
              <a:rPr lang="en-GB" sz="1800" dirty="0" smtClean="0">
                <a:latin typeface="Cambria" panose="02040503050406030204" pitchFamily="18" charset="0"/>
                <a:ea typeface="Cambria" panose="02040503050406030204" pitchFamily="18" charset="0"/>
              </a:rPr>
              <a:t>By implementing the </a:t>
            </a:r>
            <a:r>
              <a:rPr lang="en-GB" sz="1800" dirty="0" err="1" smtClean="0">
                <a:latin typeface="Cambria" panose="02040503050406030204" pitchFamily="18" charset="0"/>
                <a:ea typeface="Cambria" panose="02040503050406030204" pitchFamily="18" charset="0"/>
              </a:rPr>
              <a:t>Servlet</a:t>
            </a:r>
            <a:r>
              <a:rPr lang="en-GB" sz="1800" dirty="0" smtClean="0">
                <a:latin typeface="Cambria" panose="02040503050406030204" pitchFamily="18" charset="0"/>
                <a:ea typeface="Cambria" panose="02040503050406030204" pitchFamily="18" charset="0"/>
              </a:rPr>
              <a:t> interface</a:t>
            </a:r>
          </a:p>
          <a:p>
            <a:pPr marL="342900" indent="-342900">
              <a:buFont typeface="+mj-lt"/>
              <a:buAutoNum type="arabicPeriod"/>
            </a:pPr>
            <a:r>
              <a:rPr lang="en-GB" sz="1800" dirty="0" smtClean="0">
                <a:latin typeface="Cambria" panose="02040503050406030204" pitchFamily="18" charset="0"/>
                <a:ea typeface="Cambria" panose="02040503050406030204" pitchFamily="18" charset="0"/>
              </a:rPr>
              <a:t>By inheriting the </a:t>
            </a:r>
            <a:r>
              <a:rPr lang="en-GB" sz="1800" dirty="0" err="1" smtClean="0">
                <a:latin typeface="Cambria" panose="02040503050406030204" pitchFamily="18" charset="0"/>
                <a:ea typeface="Cambria" panose="02040503050406030204" pitchFamily="18" charset="0"/>
              </a:rPr>
              <a:t>GenericServlet</a:t>
            </a:r>
            <a:r>
              <a:rPr lang="en-GB" sz="1800" dirty="0" smtClean="0">
                <a:latin typeface="Cambria" panose="02040503050406030204" pitchFamily="18" charset="0"/>
                <a:ea typeface="Cambria" panose="02040503050406030204" pitchFamily="18" charset="0"/>
              </a:rPr>
              <a:t> class</a:t>
            </a:r>
          </a:p>
          <a:p>
            <a:pPr marL="342900" indent="-342900">
              <a:buFont typeface="+mj-lt"/>
              <a:buAutoNum type="arabicPeriod"/>
            </a:pPr>
            <a:r>
              <a:rPr lang="en-GB" sz="1800" dirty="0" smtClean="0">
                <a:latin typeface="Cambria" panose="02040503050406030204" pitchFamily="18" charset="0"/>
                <a:ea typeface="Cambria" panose="02040503050406030204" pitchFamily="18" charset="0"/>
              </a:rPr>
              <a:t>By inheriting the </a:t>
            </a:r>
            <a:r>
              <a:rPr lang="en-GB" sz="1800" dirty="0" err="1" smtClean="0">
                <a:latin typeface="Cambria" panose="02040503050406030204" pitchFamily="18" charset="0"/>
                <a:ea typeface="Cambria" panose="02040503050406030204" pitchFamily="18" charset="0"/>
              </a:rPr>
              <a:t>HttpServlet</a:t>
            </a:r>
            <a:r>
              <a:rPr lang="en-GB" sz="1800" dirty="0" smtClean="0">
                <a:latin typeface="Cambria" panose="02040503050406030204" pitchFamily="18" charset="0"/>
                <a:ea typeface="Cambria" panose="02040503050406030204" pitchFamily="18" charset="0"/>
              </a:rPr>
              <a:t> class</a:t>
            </a:r>
          </a:p>
          <a:p>
            <a:pPr marL="0" indent="0">
              <a:buNone/>
            </a:pPr>
            <a:r>
              <a:rPr lang="en-US" sz="1800" b="1" u="sng" dirty="0" smtClean="0">
                <a:latin typeface="Cambria" panose="02040503050406030204" pitchFamily="18" charset="0"/>
                <a:ea typeface="Cambria" panose="02040503050406030204" pitchFamily="18" charset="0"/>
              </a:rPr>
              <a:t>DemoServlet.java</a:t>
            </a:r>
            <a:endParaRPr lang="en-US" sz="1800" u="sng" dirty="0" smtClean="0">
              <a:latin typeface="Cambria" panose="02040503050406030204" pitchFamily="18" charset="0"/>
              <a:ea typeface="Cambria" panose="02040503050406030204" pitchFamily="18" charset="0"/>
            </a:endParaRPr>
          </a:p>
          <a:p>
            <a:pPr>
              <a:spcBef>
                <a:spcPts val="0"/>
              </a:spcBef>
              <a:buNone/>
            </a:pPr>
            <a:r>
              <a:rPr lang="en-US" sz="1800" b="1" dirty="0" smtClean="0">
                <a:latin typeface="Cambria" panose="02040503050406030204" pitchFamily="18" charset="0"/>
                <a:ea typeface="Cambria" panose="02040503050406030204" pitchFamily="18" charset="0"/>
              </a:rPr>
              <a:t>import</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javax.servlet.http</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b="1" dirty="0" smtClean="0">
                <a:latin typeface="Cambria" panose="02040503050406030204" pitchFamily="18" charset="0"/>
                <a:ea typeface="Cambria" panose="02040503050406030204" pitchFamily="18" charset="0"/>
              </a:rPr>
              <a:t>import</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javax.servlet</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b="1" dirty="0" smtClean="0">
                <a:latin typeface="Cambria" panose="02040503050406030204" pitchFamily="18" charset="0"/>
                <a:ea typeface="Cambria" panose="02040503050406030204" pitchFamily="18" charset="0"/>
              </a:rPr>
              <a:t>import</a:t>
            </a:r>
            <a:r>
              <a:rPr lang="en-US" sz="1800" dirty="0" smtClean="0">
                <a:latin typeface="Cambria" panose="02040503050406030204" pitchFamily="18" charset="0"/>
                <a:ea typeface="Cambria" panose="02040503050406030204" pitchFamily="18" charset="0"/>
              </a:rPr>
              <a:t> java.io.*;  </a:t>
            </a:r>
          </a:p>
          <a:p>
            <a:pPr>
              <a:spcBef>
                <a:spcPts val="0"/>
              </a:spcBef>
              <a:buNone/>
            </a:pPr>
            <a:r>
              <a:rPr lang="en-US" sz="1800" b="1" dirty="0" smtClean="0">
                <a:latin typeface="Cambria" panose="02040503050406030204" pitchFamily="18" charset="0"/>
                <a:ea typeface="Cambria" panose="02040503050406030204" pitchFamily="18" charset="0"/>
              </a:rPr>
              <a:t>public</a:t>
            </a: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class</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DemoServlet</a:t>
            </a: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extends</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HttpServlet</a:t>
            </a:r>
            <a:r>
              <a:rPr lang="en-US" sz="1800" dirty="0" smtClean="0">
                <a:latin typeface="Cambria" panose="02040503050406030204" pitchFamily="18" charset="0"/>
                <a:ea typeface="Cambria" panose="02040503050406030204" pitchFamily="18" charset="0"/>
              </a:rPr>
              <a:t> {  </a:t>
            </a:r>
          </a:p>
          <a:p>
            <a:pPr>
              <a:spcBef>
                <a:spcPts val="0"/>
              </a:spcBef>
              <a:buNone/>
            </a:pPr>
            <a:r>
              <a:rPr lang="en-US" sz="1800" b="1" dirty="0" smtClean="0">
                <a:latin typeface="Cambria" panose="02040503050406030204" pitchFamily="18" charset="0"/>
                <a:ea typeface="Cambria" panose="02040503050406030204" pitchFamily="18" charset="0"/>
              </a:rPr>
              <a:t>       public</a:t>
            </a: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void</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doGet</a:t>
            </a:r>
            <a:r>
              <a:rPr lang="en-US" sz="1800" dirty="0" smtClean="0">
                <a:latin typeface="Cambria" panose="02040503050406030204" pitchFamily="18" charset="0"/>
                <a:ea typeface="Cambria" panose="02040503050406030204" pitchFamily="18" charset="0"/>
              </a:rPr>
              <a:t>(</a:t>
            </a:r>
            <a:r>
              <a:rPr lang="en-US" sz="1800" dirty="0" err="1" smtClean="0">
                <a:latin typeface="Cambria" panose="02040503050406030204" pitchFamily="18" charset="0"/>
                <a:ea typeface="Cambria" panose="02040503050406030204" pitchFamily="18" charset="0"/>
              </a:rPr>
              <a:t>HttpServletRequest</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req,HttpServletResponse</a:t>
            </a:r>
            <a:r>
              <a:rPr lang="en-US" sz="1800" dirty="0" smtClean="0">
                <a:latin typeface="Cambria" panose="02040503050406030204" pitchFamily="18" charset="0"/>
                <a:ea typeface="Cambria" panose="02040503050406030204" pitchFamily="18" charset="0"/>
              </a:rPr>
              <a:t> res)  </a:t>
            </a:r>
            <a:r>
              <a:rPr lang="en-US" sz="1800" b="1" dirty="0" smtClean="0">
                <a:latin typeface="Cambria" panose="02040503050406030204" pitchFamily="18" charset="0"/>
                <a:ea typeface="Cambria" panose="02040503050406030204" pitchFamily="18" charset="0"/>
              </a:rPr>
              <a:t>throws</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ServletException,IOException</a:t>
            </a:r>
            <a:r>
              <a:rPr lang="en-US" sz="1800" dirty="0" smtClean="0">
                <a:latin typeface="Cambria" panose="02040503050406030204" pitchFamily="18" charset="0"/>
                <a:ea typeface="Cambria" panose="02040503050406030204" pitchFamily="18" charset="0"/>
              </a:rPr>
              <a:t>  {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res.setContentType</a:t>
            </a:r>
            <a:r>
              <a:rPr lang="en-US" sz="1800" dirty="0" smtClean="0">
                <a:latin typeface="Cambria" panose="02040503050406030204" pitchFamily="18" charset="0"/>
                <a:ea typeface="Cambria" panose="02040503050406030204" pitchFamily="18" charset="0"/>
              </a:rPr>
              <a:t>("text/html");//setting the content type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PrintWriter</a:t>
            </a:r>
            <a:r>
              <a:rPr lang="en-US" sz="1800" dirty="0" smtClean="0">
                <a:latin typeface="Cambria" panose="02040503050406030204" pitchFamily="18" charset="0"/>
                <a:ea typeface="Cambria" panose="02040503050406030204" pitchFamily="18" charset="0"/>
              </a:rPr>
              <a:t> pw=</a:t>
            </a:r>
            <a:r>
              <a:rPr lang="en-US" sz="1800" dirty="0" err="1" smtClean="0">
                <a:latin typeface="Cambria" panose="02040503050406030204" pitchFamily="18" charset="0"/>
                <a:ea typeface="Cambria" panose="02040503050406030204" pitchFamily="18" charset="0"/>
              </a:rPr>
              <a:t>res.getWriter</a:t>
            </a:r>
            <a:r>
              <a:rPr lang="en-US" sz="1800" dirty="0" smtClean="0">
                <a:latin typeface="Cambria" panose="02040503050406030204" pitchFamily="18" charset="0"/>
                <a:ea typeface="Cambria" panose="02040503050406030204" pitchFamily="18" charset="0"/>
              </a:rPr>
              <a:t>();//get the stream to write the data  </a:t>
            </a:r>
          </a:p>
          <a:p>
            <a:pPr>
              <a:spcBef>
                <a:spcPts val="0"/>
              </a:spcBef>
              <a:buNone/>
            </a:pPr>
            <a:r>
              <a:rPr lang="en-US" sz="1800" dirty="0" smtClean="0">
                <a:latin typeface="Cambria" panose="02040503050406030204" pitchFamily="18" charset="0"/>
                <a:ea typeface="Cambria" panose="02040503050406030204" pitchFamily="18" charset="0"/>
              </a:rPr>
              <a:t>                //writing html in the stream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pw.println</a:t>
            </a:r>
            <a:r>
              <a:rPr lang="en-US" sz="1800" dirty="0" smtClean="0">
                <a:latin typeface="Cambria" panose="02040503050406030204" pitchFamily="18" charset="0"/>
                <a:ea typeface="Cambria" panose="02040503050406030204" pitchFamily="18" charset="0"/>
              </a:rPr>
              <a:t>("&lt;html&gt;&lt;body&gt;");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pw.println</a:t>
            </a:r>
            <a:r>
              <a:rPr lang="en-US" sz="1800" dirty="0" smtClean="0">
                <a:latin typeface="Cambria" panose="02040503050406030204" pitchFamily="18" charset="0"/>
                <a:ea typeface="Cambria" panose="02040503050406030204" pitchFamily="18" charset="0"/>
              </a:rPr>
              <a:t>("Welcome to </a:t>
            </a:r>
            <a:r>
              <a:rPr lang="en-US" sz="1800" dirty="0" err="1" smtClean="0">
                <a:latin typeface="Cambria" panose="02040503050406030204" pitchFamily="18" charset="0"/>
                <a:ea typeface="Cambria" panose="02040503050406030204" pitchFamily="18" charset="0"/>
              </a:rPr>
              <a:t>servlet</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pw.println</a:t>
            </a:r>
            <a:r>
              <a:rPr lang="en-US" sz="1800" dirty="0" smtClean="0">
                <a:latin typeface="Cambria" panose="02040503050406030204" pitchFamily="18" charset="0"/>
                <a:ea typeface="Cambria" panose="02040503050406030204" pitchFamily="18" charset="0"/>
              </a:rPr>
              <a:t>("&lt;/body&gt;&lt;/html&gt;");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pw.close</a:t>
            </a:r>
            <a:r>
              <a:rPr lang="en-US" sz="1800" dirty="0" smtClean="0">
                <a:latin typeface="Cambria" panose="02040503050406030204" pitchFamily="18" charset="0"/>
                <a:ea typeface="Cambria" panose="02040503050406030204" pitchFamily="18" charset="0"/>
              </a:rPr>
              <a:t>();//closing the stream  </a:t>
            </a:r>
          </a:p>
          <a:p>
            <a:pPr>
              <a:spcBef>
                <a:spcPts val="0"/>
              </a:spcBef>
              <a:buNone/>
            </a:pP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a:t>
            </a:r>
          </a:p>
          <a:p>
            <a:endParaRPr lang="en-US" sz="18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26</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344" y="176549"/>
            <a:ext cx="5473824" cy="615603"/>
          </a:xfrm>
        </p:spPr>
        <p:txBody>
          <a:bodyPr/>
          <a:lstStyle/>
          <a:p>
            <a:r>
              <a:rPr lang="en-US" sz="3600" b="1" dirty="0" smtClean="0">
                <a:solidFill>
                  <a:schemeClr val="accent5"/>
                </a:solidFill>
                <a:latin typeface="Cambria" panose="02040503050406030204" pitchFamily="18" charset="0"/>
                <a:ea typeface="Cambria" panose="02040503050406030204" pitchFamily="18" charset="0"/>
              </a:rPr>
              <a:t>3. Compile the </a:t>
            </a:r>
            <a:r>
              <a:rPr lang="en-US" sz="3600" b="1" dirty="0" err="1" smtClean="0">
                <a:solidFill>
                  <a:schemeClr val="accent5"/>
                </a:solidFill>
                <a:latin typeface="Cambria" panose="02040503050406030204" pitchFamily="18" charset="0"/>
                <a:ea typeface="Cambria" panose="02040503050406030204" pitchFamily="18" charset="0"/>
              </a:rPr>
              <a:t>servlet</a:t>
            </a:r>
            <a:endParaRPr lang="en-US" sz="36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07368" y="798322"/>
            <a:ext cx="11089232" cy="3888432"/>
          </a:xfrm>
        </p:spPr>
        <p:txBody>
          <a:bodyPr/>
          <a:lstStyle/>
          <a:p>
            <a:pPr algn="just"/>
            <a:r>
              <a:rPr lang="en-GB" dirty="0" smtClean="0">
                <a:latin typeface="Cambria" panose="02040503050406030204" pitchFamily="18" charset="0"/>
                <a:ea typeface="Cambria" panose="02040503050406030204" pitchFamily="18" charset="0"/>
              </a:rPr>
              <a:t>For compiling the </a:t>
            </a:r>
            <a:r>
              <a:rPr lang="en-GB" dirty="0" err="1" smtClean="0">
                <a:latin typeface="Cambria" panose="02040503050406030204" pitchFamily="18" charset="0"/>
                <a:ea typeface="Cambria" panose="02040503050406030204" pitchFamily="18" charset="0"/>
              </a:rPr>
              <a:t>Servlet</a:t>
            </a:r>
            <a:r>
              <a:rPr lang="en-GB" dirty="0" smtClean="0">
                <a:latin typeface="Cambria" panose="02040503050406030204" pitchFamily="18" charset="0"/>
                <a:ea typeface="Cambria" panose="02040503050406030204" pitchFamily="18" charset="0"/>
              </a:rPr>
              <a:t>, jar file is required to be loaded. Different Servers provide different jar files:</a:t>
            </a:r>
          </a:p>
          <a:p>
            <a:pPr algn="just"/>
            <a:r>
              <a:rPr lang="en-GB" dirty="0" smtClean="0">
                <a:latin typeface="Cambria" panose="02040503050406030204" pitchFamily="18" charset="0"/>
                <a:ea typeface="Cambria" panose="02040503050406030204" pitchFamily="18" charset="0"/>
              </a:rPr>
              <a:t>Two ways to load the jar file</a:t>
            </a:r>
          </a:p>
          <a:p>
            <a:pPr marL="514350" indent="-514350" algn="just">
              <a:buFont typeface="+mj-lt"/>
              <a:buAutoNum type="arabicPeriod"/>
            </a:pPr>
            <a:r>
              <a:rPr lang="en-GB" dirty="0" smtClean="0">
                <a:latin typeface="Cambria" panose="02040503050406030204" pitchFamily="18" charset="0"/>
                <a:ea typeface="Cambria" panose="02040503050406030204" pitchFamily="18" charset="0"/>
              </a:rPr>
              <a:t>set </a:t>
            </a:r>
            <a:r>
              <a:rPr lang="en-GB" dirty="0" err="1" smtClean="0">
                <a:latin typeface="Cambria" panose="02040503050406030204" pitchFamily="18" charset="0"/>
                <a:ea typeface="Cambria" panose="02040503050406030204" pitchFamily="18" charset="0"/>
              </a:rPr>
              <a:t>classpath</a:t>
            </a:r>
            <a:endParaRPr lang="en-GB" dirty="0" smtClean="0">
              <a:latin typeface="Cambria" panose="02040503050406030204" pitchFamily="18" charset="0"/>
              <a:ea typeface="Cambria" panose="02040503050406030204" pitchFamily="18" charset="0"/>
            </a:endParaRPr>
          </a:p>
          <a:p>
            <a:pPr marL="514350" indent="-514350" algn="just">
              <a:buFont typeface="+mj-lt"/>
              <a:buAutoNum type="arabicPeriod"/>
            </a:pPr>
            <a:r>
              <a:rPr lang="en-GB" dirty="0" smtClean="0">
                <a:latin typeface="Cambria" panose="02040503050406030204" pitchFamily="18" charset="0"/>
                <a:ea typeface="Cambria" panose="02040503050406030204" pitchFamily="18" charset="0"/>
              </a:rPr>
              <a:t>paste the jar file in JRE/lib/ext folder</a:t>
            </a:r>
          </a:p>
          <a:p>
            <a:pPr algn="just"/>
            <a:r>
              <a:rPr lang="en-GB" dirty="0" smtClean="0">
                <a:latin typeface="Cambria" panose="02040503050406030204" pitchFamily="18" charset="0"/>
                <a:ea typeface="Cambria" panose="02040503050406030204" pitchFamily="18" charset="0"/>
              </a:rPr>
              <a:t>Put the java file in any folder. After compiling the java file, paste the class file of </a:t>
            </a:r>
            <a:r>
              <a:rPr lang="en-GB" dirty="0" err="1" smtClean="0">
                <a:latin typeface="Cambria" panose="02040503050406030204" pitchFamily="18" charset="0"/>
                <a:ea typeface="Cambria" panose="02040503050406030204" pitchFamily="18" charset="0"/>
              </a:rPr>
              <a:t>servlet</a:t>
            </a:r>
            <a:r>
              <a:rPr lang="en-GB" dirty="0" smtClean="0">
                <a:latin typeface="Cambria" panose="02040503050406030204" pitchFamily="18" charset="0"/>
                <a:ea typeface="Cambria" panose="02040503050406030204" pitchFamily="18" charset="0"/>
              </a:rPr>
              <a:t> in </a:t>
            </a:r>
            <a:r>
              <a:rPr lang="en-GB" b="1" dirty="0" smtClean="0">
                <a:latin typeface="Cambria" panose="02040503050406030204" pitchFamily="18" charset="0"/>
                <a:ea typeface="Cambria" panose="02040503050406030204" pitchFamily="18" charset="0"/>
              </a:rPr>
              <a:t>WEB-INF/classes</a:t>
            </a:r>
            <a:r>
              <a:rPr lang="en-GB" dirty="0" smtClean="0">
                <a:latin typeface="Cambria" panose="02040503050406030204" pitchFamily="18" charset="0"/>
                <a:ea typeface="Cambria" panose="02040503050406030204" pitchFamily="18" charset="0"/>
              </a:rPr>
              <a:t> directory.</a:t>
            </a:r>
          </a:p>
          <a:p>
            <a:pPr algn="just"/>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27</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00" y="195915"/>
            <a:ext cx="11180168" cy="568790"/>
          </a:xfrm>
        </p:spPr>
        <p:txBody>
          <a:bodyPr/>
          <a:lstStyle/>
          <a:p>
            <a:r>
              <a:rPr lang="en-GB" sz="3600" b="1" dirty="0" smtClean="0">
                <a:solidFill>
                  <a:schemeClr val="accent5"/>
                </a:solidFill>
                <a:latin typeface="Cambria" panose="02040503050406030204" pitchFamily="18" charset="0"/>
                <a:ea typeface="Cambria" panose="02040503050406030204" pitchFamily="18" charset="0"/>
              </a:rPr>
              <a:t/>
            </a:r>
            <a:br>
              <a:rPr lang="en-GB" sz="3600" b="1" dirty="0" smtClean="0">
                <a:solidFill>
                  <a:schemeClr val="accent5"/>
                </a:solidFill>
                <a:latin typeface="Cambria" panose="02040503050406030204" pitchFamily="18" charset="0"/>
                <a:ea typeface="Cambria" panose="02040503050406030204" pitchFamily="18" charset="0"/>
              </a:rPr>
            </a:br>
            <a:r>
              <a:rPr lang="en-GB" sz="3600" b="1" dirty="0" smtClean="0">
                <a:solidFill>
                  <a:schemeClr val="accent5"/>
                </a:solidFill>
                <a:latin typeface="Cambria" panose="02040503050406030204" pitchFamily="18" charset="0"/>
                <a:ea typeface="Cambria" panose="02040503050406030204" pitchFamily="18" charset="0"/>
              </a:rPr>
              <a:t>4. Create the deployment descriptor (web.xml file)</a:t>
            </a:r>
            <a:br>
              <a:rPr lang="en-GB" sz="3600" b="1" dirty="0" smtClean="0">
                <a:solidFill>
                  <a:schemeClr val="accent5"/>
                </a:solidFill>
                <a:latin typeface="Cambria" panose="02040503050406030204" pitchFamily="18" charset="0"/>
                <a:ea typeface="Cambria" panose="02040503050406030204" pitchFamily="18" charset="0"/>
              </a:rPr>
            </a:br>
            <a:endParaRPr lang="en-US" sz="36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78160" y="980728"/>
            <a:ext cx="10730408" cy="3153532"/>
          </a:xfrm>
        </p:spPr>
        <p:txBody>
          <a:bodyPr/>
          <a:lstStyle/>
          <a:p>
            <a:pPr algn="just"/>
            <a:r>
              <a:rPr lang="en-GB" dirty="0" smtClean="0">
                <a:latin typeface="Cambria" panose="02040503050406030204" pitchFamily="18" charset="0"/>
                <a:ea typeface="Cambria" panose="02040503050406030204" pitchFamily="18" charset="0"/>
              </a:rPr>
              <a:t>The </a:t>
            </a:r>
            <a:r>
              <a:rPr lang="en-GB" b="1" dirty="0" smtClean="0">
                <a:latin typeface="Cambria" panose="02040503050406030204" pitchFamily="18" charset="0"/>
                <a:ea typeface="Cambria" panose="02040503050406030204" pitchFamily="18" charset="0"/>
              </a:rPr>
              <a:t>deployment descriptor</a:t>
            </a:r>
            <a:r>
              <a:rPr lang="en-GB" dirty="0" smtClean="0">
                <a:latin typeface="Cambria" panose="02040503050406030204" pitchFamily="18" charset="0"/>
                <a:ea typeface="Cambria" panose="02040503050406030204" pitchFamily="18" charset="0"/>
              </a:rPr>
              <a:t> is an xml file, from which Web Container gets the information about the servlet to be invoked.</a:t>
            </a:r>
          </a:p>
          <a:p>
            <a:pPr algn="just"/>
            <a:r>
              <a:rPr lang="en-GB" dirty="0" smtClean="0">
                <a:latin typeface="Cambria" panose="02040503050406030204" pitchFamily="18" charset="0"/>
                <a:ea typeface="Cambria" panose="02040503050406030204" pitchFamily="18" charset="0"/>
              </a:rPr>
              <a:t>The web container uses the Parser to get the information from the web.xml file. There are many xml parsers such as SAX, DOM and Pull.</a:t>
            </a:r>
          </a:p>
          <a:p>
            <a:pPr algn="just"/>
            <a:r>
              <a:rPr lang="en-GB" dirty="0" smtClean="0">
                <a:latin typeface="Cambria" panose="02040503050406030204" pitchFamily="18" charset="0"/>
                <a:ea typeface="Cambria" panose="02040503050406030204" pitchFamily="18" charset="0"/>
              </a:rPr>
              <a:t>There are many elements in the web.xml file. Here is given some necessary elements to run the simple </a:t>
            </a:r>
            <a:r>
              <a:rPr lang="en-GB" dirty="0" err="1" smtClean="0">
                <a:latin typeface="Cambria" panose="02040503050406030204" pitchFamily="18" charset="0"/>
                <a:ea typeface="Cambria" panose="02040503050406030204" pitchFamily="18" charset="0"/>
              </a:rPr>
              <a:t>servlet</a:t>
            </a:r>
            <a:r>
              <a:rPr lang="en-GB" dirty="0" smtClean="0">
                <a:latin typeface="Cambria" panose="02040503050406030204" pitchFamily="18" charset="0"/>
                <a:ea typeface="Cambria" panose="02040503050406030204" pitchFamily="18" charset="0"/>
              </a:rPr>
              <a:t> program.</a:t>
            </a:r>
          </a:p>
          <a:p>
            <a:pPr algn="just"/>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28</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3352" y="260648"/>
            <a:ext cx="10801200" cy="576064"/>
          </a:xfrm>
        </p:spPr>
        <p:txBody>
          <a:bodyPr/>
          <a:lstStyle/>
          <a:p>
            <a:r>
              <a:rPr lang="en-GB" sz="4000" b="1" dirty="0" smtClean="0">
                <a:solidFill>
                  <a:schemeClr val="accent5"/>
                </a:solidFill>
                <a:latin typeface="Cambria" panose="02040503050406030204" pitchFamily="18" charset="0"/>
                <a:ea typeface="Cambria" panose="02040503050406030204" pitchFamily="18" charset="0"/>
              </a:rPr>
              <a:t>5. Description of the elements of web.xml file</a:t>
            </a:r>
            <a:endParaRPr lang="en-GB" sz="40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79230" y="692696"/>
            <a:ext cx="11449417" cy="4968552"/>
          </a:xfrm>
        </p:spPr>
        <p:txBody>
          <a:bodyPr/>
          <a:lstStyle/>
          <a:p>
            <a:pPr algn="just"/>
            <a:r>
              <a:rPr lang="en-US" sz="2400" b="1" u="sng" dirty="0" smtClean="0">
                <a:latin typeface="Cambria" panose="02040503050406030204" pitchFamily="18" charset="0"/>
                <a:ea typeface="Cambria" panose="02040503050406030204" pitchFamily="18" charset="0"/>
              </a:rPr>
              <a:t>web.xml file</a:t>
            </a:r>
            <a:endParaRPr lang="en-US" sz="2400" u="sng" dirty="0" smtClean="0">
              <a:latin typeface="Cambria" panose="02040503050406030204" pitchFamily="18" charset="0"/>
              <a:ea typeface="Cambria" panose="02040503050406030204" pitchFamily="18" charset="0"/>
            </a:endParaRPr>
          </a:p>
          <a:p>
            <a:pPr algn="just">
              <a:spcBef>
                <a:spcPts val="0"/>
              </a:spcBef>
              <a:buNone/>
            </a:pPr>
            <a:r>
              <a:rPr lang="en-US" sz="1800" b="1" dirty="0" smtClean="0">
                <a:latin typeface="Cambria" panose="02040503050406030204" pitchFamily="18" charset="0"/>
                <a:ea typeface="Cambria" panose="02040503050406030204" pitchFamily="18" charset="0"/>
              </a:rPr>
              <a:t>&lt;web-app&gt;</a:t>
            </a:r>
            <a:r>
              <a:rPr lang="en-US" sz="1800" dirty="0" smtClean="0">
                <a:latin typeface="Cambria" panose="02040503050406030204" pitchFamily="18" charset="0"/>
                <a:ea typeface="Cambria" panose="02040503050406030204" pitchFamily="18" charset="0"/>
              </a:rPr>
              <a:t>  </a:t>
            </a:r>
          </a:p>
          <a:p>
            <a:pPr algn="just">
              <a:spcBef>
                <a:spcPts val="0"/>
              </a:spcBef>
              <a:buNone/>
            </a:pPr>
            <a:r>
              <a:rPr lang="en-US" sz="1800" b="1" dirty="0" smtClean="0">
                <a:latin typeface="Cambria" panose="02040503050406030204" pitchFamily="18" charset="0"/>
                <a:ea typeface="Cambria" panose="02040503050406030204" pitchFamily="18" charset="0"/>
              </a:rPr>
              <a:t>       &lt;servlet&gt;</a:t>
            </a:r>
            <a:r>
              <a:rPr lang="en-US" sz="1800" dirty="0" smtClean="0">
                <a:latin typeface="Cambria" panose="02040503050406030204" pitchFamily="18" charset="0"/>
                <a:ea typeface="Cambria" panose="02040503050406030204" pitchFamily="18" charset="0"/>
              </a:rPr>
              <a:t>  </a:t>
            </a:r>
          </a:p>
          <a:p>
            <a:pPr algn="just">
              <a:spcBef>
                <a:spcPts val="0"/>
              </a:spcBef>
              <a:buNone/>
            </a:pPr>
            <a:r>
              <a:rPr lang="en-US" sz="1800" b="1" dirty="0" smtClean="0">
                <a:latin typeface="Cambria" panose="02040503050406030204" pitchFamily="18" charset="0"/>
                <a:ea typeface="Cambria" panose="02040503050406030204" pitchFamily="18" charset="0"/>
              </a:rPr>
              <a:t>               &lt;servlet-name&gt;</a:t>
            </a:r>
            <a:r>
              <a:rPr lang="en-US" sz="1800" dirty="0" smtClean="0">
                <a:latin typeface="Cambria" panose="02040503050406030204" pitchFamily="18" charset="0"/>
                <a:ea typeface="Cambria" panose="02040503050406030204" pitchFamily="18" charset="0"/>
              </a:rPr>
              <a:t>Servlet Name</a:t>
            </a:r>
            <a:r>
              <a:rPr lang="en-US" sz="1800" b="1" dirty="0" smtClean="0">
                <a:latin typeface="Cambria" panose="02040503050406030204" pitchFamily="18" charset="0"/>
                <a:ea typeface="Cambria" panose="02040503050406030204" pitchFamily="18" charset="0"/>
              </a:rPr>
              <a:t>&lt;/servlet-name&gt;</a:t>
            </a:r>
            <a:r>
              <a:rPr lang="en-US" sz="1800" dirty="0" smtClean="0">
                <a:latin typeface="Cambria" panose="02040503050406030204" pitchFamily="18" charset="0"/>
                <a:ea typeface="Cambria" panose="02040503050406030204" pitchFamily="18" charset="0"/>
              </a:rPr>
              <a:t>  </a:t>
            </a:r>
          </a:p>
          <a:p>
            <a:pPr algn="just">
              <a:spcBef>
                <a:spcPts val="0"/>
              </a:spcBef>
              <a:buNone/>
            </a:pPr>
            <a:r>
              <a:rPr lang="en-US" sz="1800" b="1" dirty="0" smtClean="0">
                <a:latin typeface="Cambria" panose="02040503050406030204" pitchFamily="18" charset="0"/>
                <a:ea typeface="Cambria" panose="02040503050406030204" pitchFamily="18" charset="0"/>
              </a:rPr>
              <a:t>               &lt;servlet-class&gt;</a:t>
            </a:r>
            <a:r>
              <a:rPr lang="en-US" sz="1800" dirty="0" smtClean="0">
                <a:latin typeface="Cambria" panose="02040503050406030204" pitchFamily="18" charset="0"/>
                <a:ea typeface="Cambria" panose="02040503050406030204" pitchFamily="18" charset="0"/>
              </a:rPr>
              <a:t>DemoServlet</a:t>
            </a:r>
            <a:r>
              <a:rPr lang="en-US" sz="1800" b="1" dirty="0" smtClean="0">
                <a:latin typeface="Cambria" panose="02040503050406030204" pitchFamily="18" charset="0"/>
                <a:ea typeface="Cambria" panose="02040503050406030204" pitchFamily="18" charset="0"/>
              </a:rPr>
              <a:t>&lt;/servlet-class&gt;</a:t>
            </a:r>
            <a:r>
              <a:rPr lang="en-US" sz="1800" dirty="0" smtClean="0">
                <a:latin typeface="Cambria" panose="02040503050406030204" pitchFamily="18" charset="0"/>
                <a:ea typeface="Cambria" panose="02040503050406030204" pitchFamily="18" charset="0"/>
              </a:rPr>
              <a:t>  </a:t>
            </a:r>
          </a:p>
          <a:p>
            <a:pPr algn="just">
              <a:spcBef>
                <a:spcPts val="0"/>
              </a:spcBef>
              <a:buNone/>
            </a:pPr>
            <a:r>
              <a:rPr lang="en-US" sz="1800" b="1" dirty="0" smtClean="0">
                <a:latin typeface="Cambria" panose="02040503050406030204" pitchFamily="18" charset="0"/>
                <a:ea typeface="Cambria" panose="02040503050406030204" pitchFamily="18" charset="0"/>
              </a:rPr>
              <a:t>        &lt;/servlet&gt;</a:t>
            </a:r>
            <a:r>
              <a:rPr lang="en-US" sz="1800" dirty="0" smtClean="0">
                <a:latin typeface="Cambria" panose="02040503050406030204" pitchFamily="18" charset="0"/>
                <a:ea typeface="Cambria" panose="02040503050406030204" pitchFamily="18" charset="0"/>
              </a:rPr>
              <a:t>  </a:t>
            </a:r>
          </a:p>
          <a:p>
            <a:pPr algn="just">
              <a:spcBef>
                <a:spcPts val="0"/>
              </a:spcBef>
              <a:buNone/>
            </a:pP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&lt;servlet-mapping&gt;</a:t>
            </a:r>
            <a:r>
              <a:rPr lang="en-US" sz="1800" dirty="0" smtClean="0">
                <a:latin typeface="Cambria" panose="02040503050406030204" pitchFamily="18" charset="0"/>
                <a:ea typeface="Cambria" panose="02040503050406030204" pitchFamily="18" charset="0"/>
              </a:rPr>
              <a:t>  </a:t>
            </a:r>
          </a:p>
          <a:p>
            <a:pPr algn="just">
              <a:spcBef>
                <a:spcPts val="0"/>
              </a:spcBef>
              <a:buNone/>
            </a:pPr>
            <a:r>
              <a:rPr lang="en-US" sz="1800" b="1" dirty="0" smtClean="0">
                <a:latin typeface="Cambria" panose="02040503050406030204" pitchFamily="18" charset="0"/>
                <a:ea typeface="Cambria" panose="02040503050406030204" pitchFamily="18" charset="0"/>
              </a:rPr>
              <a:t>       &lt;servlet-name&gt;</a:t>
            </a:r>
            <a:r>
              <a:rPr lang="en-US" sz="1800" dirty="0" smtClean="0">
                <a:latin typeface="Cambria" panose="02040503050406030204" pitchFamily="18" charset="0"/>
                <a:ea typeface="Cambria" panose="02040503050406030204" pitchFamily="18" charset="0"/>
              </a:rPr>
              <a:t>Servlet Namel</a:t>
            </a:r>
            <a:r>
              <a:rPr lang="en-US" sz="1800" b="1" dirty="0" smtClean="0">
                <a:latin typeface="Cambria" panose="02040503050406030204" pitchFamily="18" charset="0"/>
                <a:ea typeface="Cambria" panose="02040503050406030204" pitchFamily="18" charset="0"/>
              </a:rPr>
              <a:t>&lt;/servlet-name&gt;</a:t>
            </a:r>
            <a:r>
              <a:rPr lang="en-US" sz="1800" dirty="0" smtClean="0">
                <a:latin typeface="Cambria" panose="02040503050406030204" pitchFamily="18" charset="0"/>
                <a:ea typeface="Cambria" panose="02040503050406030204" pitchFamily="18" charset="0"/>
              </a:rPr>
              <a:t>  </a:t>
            </a:r>
          </a:p>
          <a:p>
            <a:pPr algn="just">
              <a:spcBef>
                <a:spcPts val="0"/>
              </a:spcBef>
              <a:buNone/>
            </a:pPr>
            <a:r>
              <a:rPr lang="en-US" sz="1800" b="1" dirty="0" smtClean="0">
                <a:latin typeface="Cambria" panose="02040503050406030204" pitchFamily="18" charset="0"/>
                <a:ea typeface="Cambria" panose="02040503050406030204" pitchFamily="18" charset="0"/>
              </a:rPr>
              <a:t>        &lt;/servlet-mapping&gt;</a:t>
            </a:r>
            <a:r>
              <a:rPr lang="en-US" sz="1800" dirty="0" smtClean="0">
                <a:latin typeface="Cambria" panose="02040503050406030204" pitchFamily="18" charset="0"/>
                <a:ea typeface="Cambria" panose="02040503050406030204" pitchFamily="18" charset="0"/>
              </a:rPr>
              <a:t>  </a:t>
            </a:r>
          </a:p>
          <a:p>
            <a:pPr algn="just">
              <a:spcBef>
                <a:spcPts val="0"/>
              </a:spcBef>
              <a:buNone/>
            </a:pPr>
            <a:r>
              <a:rPr lang="en-US" sz="1800" b="1" dirty="0" smtClean="0">
                <a:latin typeface="Cambria" panose="02040503050406030204" pitchFamily="18" charset="0"/>
                <a:ea typeface="Cambria" panose="02040503050406030204" pitchFamily="18" charset="0"/>
              </a:rPr>
              <a:t>&lt;/web-app&gt;</a:t>
            </a:r>
            <a:r>
              <a:rPr lang="en-US" sz="1800" dirty="0" smtClean="0">
                <a:latin typeface="Cambria" panose="02040503050406030204" pitchFamily="18" charset="0"/>
                <a:ea typeface="Cambria" panose="02040503050406030204" pitchFamily="18" charset="0"/>
              </a:rPr>
              <a:t>  </a:t>
            </a:r>
          </a:p>
          <a:p>
            <a:pPr algn="just">
              <a:spcBef>
                <a:spcPts val="0"/>
              </a:spcBef>
              <a:buNone/>
            </a:pPr>
            <a:r>
              <a:rPr lang="en-GB" sz="2400" b="1" dirty="0" smtClean="0">
                <a:latin typeface="Cambria" panose="02040503050406030204" pitchFamily="18" charset="0"/>
                <a:ea typeface="Cambria" panose="02040503050406030204" pitchFamily="18" charset="0"/>
              </a:rPr>
              <a:t>&lt;web-app&gt;</a:t>
            </a:r>
            <a:r>
              <a:rPr lang="en-GB" sz="2400" dirty="0" smtClean="0">
                <a:latin typeface="Cambria" panose="02040503050406030204" pitchFamily="18" charset="0"/>
                <a:ea typeface="Cambria" panose="02040503050406030204" pitchFamily="18" charset="0"/>
              </a:rPr>
              <a:t> represents the whole application.</a:t>
            </a:r>
          </a:p>
          <a:p>
            <a:pPr algn="just">
              <a:spcBef>
                <a:spcPts val="0"/>
              </a:spcBef>
              <a:buNone/>
            </a:pPr>
            <a:r>
              <a:rPr lang="en-GB" sz="2400" b="1" dirty="0" smtClean="0">
                <a:latin typeface="Cambria" panose="02040503050406030204" pitchFamily="18" charset="0"/>
                <a:ea typeface="Cambria" panose="02040503050406030204" pitchFamily="18" charset="0"/>
              </a:rPr>
              <a:t>&lt;servlet&gt;</a:t>
            </a:r>
            <a:r>
              <a:rPr lang="en-GB" sz="2400" dirty="0" smtClean="0">
                <a:latin typeface="Cambria" panose="02040503050406030204" pitchFamily="18" charset="0"/>
                <a:ea typeface="Cambria" panose="02040503050406030204" pitchFamily="18" charset="0"/>
              </a:rPr>
              <a:t> is sub element of &lt;web-app&gt; and represents the servlet.</a:t>
            </a:r>
          </a:p>
          <a:p>
            <a:pPr algn="just">
              <a:spcBef>
                <a:spcPts val="0"/>
              </a:spcBef>
              <a:buNone/>
            </a:pPr>
            <a:r>
              <a:rPr lang="en-GB" sz="2400" b="1" dirty="0" smtClean="0">
                <a:latin typeface="Cambria" panose="02040503050406030204" pitchFamily="18" charset="0"/>
                <a:ea typeface="Cambria" panose="02040503050406030204" pitchFamily="18" charset="0"/>
              </a:rPr>
              <a:t>&lt;servlet-name&gt;</a:t>
            </a:r>
            <a:r>
              <a:rPr lang="en-GB" sz="2400" dirty="0" smtClean="0">
                <a:latin typeface="Cambria" panose="02040503050406030204" pitchFamily="18" charset="0"/>
                <a:ea typeface="Cambria" panose="02040503050406030204" pitchFamily="18" charset="0"/>
              </a:rPr>
              <a:t> is sub element of &lt;servlet&gt; represents the name of the servlet.</a:t>
            </a:r>
          </a:p>
          <a:p>
            <a:pPr algn="just">
              <a:spcBef>
                <a:spcPts val="0"/>
              </a:spcBef>
              <a:buNone/>
            </a:pPr>
            <a:r>
              <a:rPr lang="en-GB" sz="2400" b="1" dirty="0" smtClean="0">
                <a:latin typeface="Cambria" panose="02040503050406030204" pitchFamily="18" charset="0"/>
                <a:ea typeface="Cambria" panose="02040503050406030204" pitchFamily="18" charset="0"/>
              </a:rPr>
              <a:t>&lt;servlet-class&gt;</a:t>
            </a:r>
            <a:r>
              <a:rPr lang="en-GB" sz="2400" dirty="0" smtClean="0">
                <a:latin typeface="Cambria" panose="02040503050406030204" pitchFamily="18" charset="0"/>
                <a:ea typeface="Cambria" panose="02040503050406030204" pitchFamily="18" charset="0"/>
              </a:rPr>
              <a:t> is sub element of &lt;servlet&gt; represents the class of the servlet.</a:t>
            </a:r>
          </a:p>
          <a:p>
            <a:pPr algn="just">
              <a:spcBef>
                <a:spcPts val="0"/>
              </a:spcBef>
              <a:buNone/>
            </a:pPr>
            <a:r>
              <a:rPr lang="en-GB" sz="2400" b="1" dirty="0" smtClean="0">
                <a:latin typeface="Cambria" panose="02040503050406030204" pitchFamily="18" charset="0"/>
                <a:ea typeface="Cambria" panose="02040503050406030204" pitchFamily="18" charset="0"/>
              </a:rPr>
              <a:t>&lt;servlet-mapping&gt;</a:t>
            </a:r>
            <a:r>
              <a:rPr lang="en-GB" sz="2400" dirty="0" smtClean="0">
                <a:latin typeface="Cambria" panose="02040503050406030204" pitchFamily="18" charset="0"/>
                <a:ea typeface="Cambria" panose="02040503050406030204" pitchFamily="18" charset="0"/>
              </a:rPr>
              <a:t> is sub element of &lt;web-app&gt;. It is used to map the servlet.</a:t>
            </a:r>
          </a:p>
          <a:p>
            <a:pPr algn="just">
              <a:spcBef>
                <a:spcPts val="0"/>
              </a:spcBef>
              <a:buNone/>
            </a:pPr>
            <a:r>
              <a:rPr lang="en-GB" sz="2400" b="1" dirty="0" smtClean="0">
                <a:latin typeface="Cambria" panose="02040503050406030204" pitchFamily="18" charset="0"/>
                <a:ea typeface="Cambria" panose="02040503050406030204" pitchFamily="18" charset="0"/>
              </a:rPr>
              <a:t>&lt;url-pattern&gt;</a:t>
            </a:r>
            <a:r>
              <a:rPr lang="en-GB" sz="2400" dirty="0" smtClean="0">
                <a:latin typeface="Cambria" panose="02040503050406030204" pitchFamily="18" charset="0"/>
                <a:ea typeface="Cambria" panose="02040503050406030204" pitchFamily="18" charset="0"/>
              </a:rPr>
              <a:t> is sub element of &lt;servlet-mapping&gt;. This pattern is used at client side to invoke the </a:t>
            </a:r>
            <a:r>
              <a:rPr lang="en-GB" sz="2400" dirty="0" err="1" smtClean="0">
                <a:latin typeface="Cambria" panose="02040503050406030204" pitchFamily="18" charset="0"/>
                <a:ea typeface="Cambria" panose="02040503050406030204" pitchFamily="18" charset="0"/>
              </a:rPr>
              <a:t>servlet</a:t>
            </a:r>
            <a:r>
              <a:rPr lang="en-GB" sz="2400" dirty="0" smtClean="0">
                <a:latin typeface="Cambria" panose="02040503050406030204" pitchFamily="18" charset="0"/>
                <a:ea typeface="Cambria" panose="02040503050406030204" pitchFamily="18" charset="0"/>
              </a:rPr>
              <a:t>.</a:t>
            </a:r>
          </a:p>
          <a:p>
            <a:pPr algn="just">
              <a:spcBef>
                <a:spcPts val="0"/>
              </a:spcBef>
            </a:pPr>
            <a:endParaRPr lang="en-US" sz="24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29</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8348"/>
            <a:ext cx="9361040" cy="432048"/>
          </a:xfrm>
        </p:spPr>
        <p:txBody>
          <a:bodyPr/>
          <a:lstStyle/>
          <a:p>
            <a:r>
              <a:rPr lang="en-GB" sz="3600" b="1" dirty="0" smtClean="0">
                <a:solidFill>
                  <a:schemeClr val="accent5"/>
                </a:solidFill>
                <a:latin typeface="Cambria" panose="02040503050406030204" pitchFamily="18" charset="0"/>
                <a:ea typeface="Cambria" panose="02040503050406030204" pitchFamily="18" charset="0"/>
              </a:rPr>
              <a:t>6. Start the Server and deploy the project</a:t>
            </a:r>
            <a:endParaRPr lang="en-GB" sz="36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269086" y="620688"/>
            <a:ext cx="11659561" cy="4824536"/>
          </a:xfrm>
        </p:spPr>
        <p:txBody>
          <a:bodyPr/>
          <a:lstStyle/>
          <a:p>
            <a:pPr algn="just"/>
            <a:r>
              <a:rPr lang="en-GB" sz="2200" dirty="0" smtClean="0">
                <a:latin typeface="Cambria" panose="02040503050406030204" pitchFamily="18" charset="0"/>
                <a:ea typeface="Cambria" panose="02040503050406030204" pitchFamily="18" charset="0"/>
              </a:rPr>
              <a:t>To start Apache Tomcat server, double click on the startup.bat file under apache-tomcat/bin directory.</a:t>
            </a:r>
          </a:p>
          <a:p>
            <a:pPr algn="just"/>
            <a:r>
              <a:rPr lang="en-GB" sz="2200" dirty="0" smtClean="0">
                <a:latin typeface="Cambria" panose="02040503050406030204" pitchFamily="18" charset="0"/>
                <a:ea typeface="Cambria" panose="02040503050406030204" pitchFamily="18" charset="0"/>
              </a:rPr>
              <a:t>One Time Configuration for Apache Tomcat Server</a:t>
            </a:r>
          </a:p>
          <a:p>
            <a:pPr algn="just"/>
            <a:r>
              <a:rPr lang="en-GB" sz="2200" dirty="0" smtClean="0">
                <a:latin typeface="Cambria" panose="02040503050406030204" pitchFamily="18" charset="0"/>
                <a:ea typeface="Cambria" panose="02040503050406030204" pitchFamily="18" charset="0"/>
              </a:rPr>
              <a:t>You need to perform 2 tasks:</a:t>
            </a:r>
          </a:p>
          <a:p>
            <a:pPr algn="just"/>
            <a:r>
              <a:rPr lang="en-GB" sz="2200" dirty="0" smtClean="0">
                <a:latin typeface="Cambria" panose="02040503050406030204" pitchFamily="18" charset="0"/>
                <a:ea typeface="Cambria" panose="02040503050406030204" pitchFamily="18" charset="0"/>
              </a:rPr>
              <a:t>set JAVA_HOME or JRE_HOME in environment variable (It is required to start server).</a:t>
            </a:r>
          </a:p>
          <a:p>
            <a:pPr algn="just"/>
            <a:r>
              <a:rPr lang="en-GB" sz="2200" dirty="0" smtClean="0">
                <a:latin typeface="Cambria" panose="02040503050406030204" pitchFamily="18" charset="0"/>
                <a:ea typeface="Cambria" panose="02040503050406030204" pitchFamily="18" charset="0"/>
              </a:rPr>
              <a:t>Change the port number of tomcat (optional). It is required if another server is running on same port (8080).</a:t>
            </a:r>
          </a:p>
          <a:p>
            <a:pPr algn="just"/>
            <a:r>
              <a:rPr lang="en-GB" sz="2200" dirty="0" smtClean="0">
                <a:latin typeface="Cambria" panose="02040503050406030204" pitchFamily="18" charset="0"/>
                <a:ea typeface="Cambria" panose="02040503050406030204" pitchFamily="18" charset="0"/>
              </a:rPr>
              <a:t>1) How to set JAVA_HOME in environment variable?</a:t>
            </a:r>
          </a:p>
          <a:p>
            <a:pPr algn="just"/>
            <a:r>
              <a:rPr lang="en-GB" sz="2200" dirty="0" smtClean="0">
                <a:latin typeface="Cambria" panose="02040503050406030204" pitchFamily="18" charset="0"/>
                <a:ea typeface="Cambria" panose="02040503050406030204" pitchFamily="18" charset="0"/>
              </a:rPr>
              <a:t>To start Apache Tomcat server JAVA_HOME and JRE_HOME must be set in Environment variables.</a:t>
            </a:r>
          </a:p>
          <a:p>
            <a:pPr algn="just"/>
            <a:r>
              <a:rPr lang="en-GB" sz="2200" dirty="0" smtClean="0">
                <a:latin typeface="Cambria" panose="02040503050406030204" pitchFamily="18" charset="0"/>
                <a:ea typeface="Cambria" panose="02040503050406030204" pitchFamily="18" charset="0"/>
              </a:rPr>
              <a:t>Go to My Computer properties -&gt; Click on advanced tab then environment variables -&gt; Click on the new tab of user variable -&gt; Write JAVA_HOME in variable name and paste the path of </a:t>
            </a:r>
            <a:r>
              <a:rPr lang="en-GB" sz="2200" dirty="0" err="1" smtClean="0">
                <a:latin typeface="Cambria" panose="02040503050406030204" pitchFamily="18" charset="0"/>
                <a:ea typeface="Cambria" panose="02040503050406030204" pitchFamily="18" charset="0"/>
              </a:rPr>
              <a:t>jdk</a:t>
            </a:r>
            <a:r>
              <a:rPr lang="en-GB" sz="2200" dirty="0" smtClean="0">
                <a:latin typeface="Cambria" panose="02040503050406030204" pitchFamily="18" charset="0"/>
                <a:ea typeface="Cambria" panose="02040503050406030204" pitchFamily="18" charset="0"/>
              </a:rPr>
              <a:t> folder in variable value -&gt; ok -&gt; ok -&gt; ok.</a:t>
            </a:r>
          </a:p>
          <a:p>
            <a:pPr algn="just"/>
            <a:endParaRPr lang="en-US" sz="22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30</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920735"/>
          </a:xfrm>
        </p:spPr>
        <p:txBody>
          <a:bodyPr/>
          <a:lstStyle/>
          <a:p>
            <a:r>
              <a:rPr lang="en-GB" dirty="0" smtClean="0"/>
              <a:t/>
            </a:r>
            <a:br>
              <a:rPr lang="en-GB" dirty="0" smtClean="0"/>
            </a:br>
            <a:r>
              <a:rPr lang="en-GB" dirty="0" smtClean="0"/>
              <a:t>How to access the </a:t>
            </a:r>
            <a:r>
              <a:rPr lang="en-GB" dirty="0" err="1" smtClean="0"/>
              <a:t>servlet</a:t>
            </a:r>
            <a:r>
              <a:rPr lang="en-GB" dirty="0" smtClean="0"/>
              <a:t/>
            </a:r>
            <a:br>
              <a:rPr lang="en-GB" dirty="0" smtClean="0"/>
            </a:br>
            <a:r>
              <a:rPr lang="en-US" dirty="0" smtClean="0"/>
              <a:t/>
            </a:r>
            <a:br>
              <a:rPr lang="en-US" dirty="0" smtClean="0"/>
            </a:br>
            <a:endParaRPr lang="en-US" dirty="0"/>
          </a:p>
        </p:txBody>
      </p:sp>
      <p:sp>
        <p:nvSpPr>
          <p:cNvPr id="3" name="Content Placeholder 2"/>
          <p:cNvSpPr>
            <a:spLocks noGrp="1"/>
          </p:cNvSpPr>
          <p:nvPr>
            <p:ph idx="1"/>
          </p:nvPr>
        </p:nvSpPr>
        <p:spPr>
          <a:xfrm>
            <a:off x="838200" y="1142984"/>
            <a:ext cx="10515600" cy="5033979"/>
          </a:xfrm>
        </p:spPr>
        <p:txBody>
          <a:bodyPr/>
          <a:lstStyle/>
          <a:p>
            <a:r>
              <a:rPr lang="en-US" dirty="0" smtClean="0"/>
              <a:t>http://localhost:8080/demo/welcome  </a:t>
            </a:r>
          </a:p>
          <a:p>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31</a:t>
            </a:fld>
            <a:endParaRPr lang="en-US" altLang="en-US"/>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0"/>
            <a:ext cx="6552728" cy="615603"/>
          </a:xfrm>
        </p:spPr>
        <p:txBody>
          <a:bodyPr/>
          <a:lstStyle/>
          <a:p>
            <a:r>
              <a:rPr lang="en-US" sz="4000" b="1" dirty="0" smtClean="0">
                <a:solidFill>
                  <a:schemeClr val="accent1"/>
                </a:solidFill>
                <a:latin typeface="Cambria" panose="02040503050406030204" pitchFamily="18" charset="0"/>
                <a:ea typeface="Cambria" panose="02040503050406030204" pitchFamily="18" charset="0"/>
              </a:rPr>
              <a:t/>
            </a:r>
            <a:br>
              <a:rPr lang="en-US" sz="4000" b="1" dirty="0" smtClean="0">
                <a:solidFill>
                  <a:schemeClr val="accent1"/>
                </a:solidFill>
                <a:latin typeface="Cambria" panose="02040503050406030204" pitchFamily="18" charset="0"/>
                <a:ea typeface="Cambria" panose="02040503050406030204" pitchFamily="18" charset="0"/>
              </a:rPr>
            </a:br>
            <a:r>
              <a:rPr lang="en-US" sz="4000" b="1" dirty="0" smtClean="0">
                <a:solidFill>
                  <a:schemeClr val="accent1"/>
                </a:solidFill>
                <a:latin typeface="Cambria" panose="02040503050406030204" pitchFamily="18" charset="0"/>
                <a:ea typeface="Cambria" panose="02040503050406030204" pitchFamily="18" charset="0"/>
              </a:rPr>
              <a:t> ServletRequest Interface</a:t>
            </a:r>
            <a:br>
              <a:rPr lang="en-US" sz="4000" b="1" dirty="0" smtClean="0">
                <a:solidFill>
                  <a:schemeClr val="accent1"/>
                </a:solidFill>
                <a:latin typeface="Cambria" panose="02040503050406030204" pitchFamily="18" charset="0"/>
                <a:ea typeface="Cambria" panose="02040503050406030204" pitchFamily="18" charset="0"/>
              </a:rPr>
            </a:br>
            <a:endParaRPr lang="en-US" sz="4000" b="1" dirty="0">
              <a:solidFill>
                <a:schemeClr val="accent1"/>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551384" y="764704"/>
            <a:ext cx="11161240" cy="3888432"/>
          </a:xfrm>
        </p:spPr>
        <p:txBody>
          <a:bodyPr/>
          <a:lstStyle/>
          <a:p>
            <a:pPr algn="just"/>
            <a:r>
              <a:rPr lang="en-GB" dirty="0" smtClean="0">
                <a:latin typeface="Cambria" panose="02040503050406030204" pitchFamily="18" charset="0"/>
                <a:ea typeface="Cambria" panose="02040503050406030204" pitchFamily="18" charset="0"/>
              </a:rPr>
              <a:t>An object of ServletRequest is used to provide the client request information to a servlet such as content type, content length, parameter names and values, header information, attributes etc.</a:t>
            </a:r>
          </a:p>
          <a:p>
            <a:pPr algn="just">
              <a:buNone/>
            </a:pPr>
            <a:r>
              <a:rPr lang="en-GB" b="1" u="sng" dirty="0" smtClean="0">
                <a:latin typeface="Cambria" panose="02040503050406030204" pitchFamily="18" charset="0"/>
                <a:ea typeface="Cambria" panose="02040503050406030204" pitchFamily="18" charset="0"/>
              </a:rPr>
              <a:t>index.html</a:t>
            </a:r>
            <a:endParaRPr lang="en-GB" u="sng" dirty="0" smtClean="0">
              <a:latin typeface="Cambria" panose="02040503050406030204" pitchFamily="18" charset="0"/>
              <a:ea typeface="Cambria" panose="02040503050406030204" pitchFamily="18" charset="0"/>
            </a:endParaRPr>
          </a:p>
          <a:p>
            <a:pPr algn="just">
              <a:buNone/>
            </a:pPr>
            <a:r>
              <a:rPr lang="en-GB" dirty="0" smtClean="0">
                <a:latin typeface="Cambria" panose="02040503050406030204" pitchFamily="18" charset="0"/>
                <a:ea typeface="Cambria" panose="02040503050406030204" pitchFamily="18" charset="0"/>
              </a:rPr>
              <a:t>&lt;form action="welcome" method="get"&gt;  </a:t>
            </a:r>
          </a:p>
          <a:p>
            <a:pPr algn="just">
              <a:buNone/>
            </a:pPr>
            <a:r>
              <a:rPr lang="en-GB" dirty="0" smtClean="0">
                <a:latin typeface="Cambria" panose="02040503050406030204" pitchFamily="18" charset="0"/>
                <a:ea typeface="Cambria" panose="02040503050406030204" pitchFamily="18" charset="0"/>
              </a:rPr>
              <a:t>Enter your name&lt;input type="text" name="name"&gt;&lt;</a:t>
            </a:r>
            <a:r>
              <a:rPr lang="en-GB" dirty="0" err="1" smtClean="0">
                <a:latin typeface="Cambria" panose="02040503050406030204" pitchFamily="18" charset="0"/>
                <a:ea typeface="Cambria" panose="02040503050406030204" pitchFamily="18" charset="0"/>
              </a:rPr>
              <a:t>br</a:t>
            </a:r>
            <a:r>
              <a:rPr lang="en-GB" dirty="0" smtClean="0">
                <a:latin typeface="Cambria" panose="02040503050406030204" pitchFamily="18" charset="0"/>
                <a:ea typeface="Cambria" panose="02040503050406030204" pitchFamily="18" charset="0"/>
              </a:rPr>
              <a:t>&gt;  </a:t>
            </a:r>
          </a:p>
          <a:p>
            <a:pPr algn="just">
              <a:buNone/>
            </a:pPr>
            <a:r>
              <a:rPr lang="en-GB" dirty="0" smtClean="0">
                <a:latin typeface="Cambria" panose="02040503050406030204" pitchFamily="18" charset="0"/>
                <a:ea typeface="Cambria" panose="02040503050406030204" pitchFamily="18" charset="0"/>
              </a:rPr>
              <a:t>&lt;input type="submit" value="login"&gt;  </a:t>
            </a:r>
          </a:p>
          <a:p>
            <a:pPr algn="just">
              <a:buNone/>
            </a:pPr>
            <a:r>
              <a:rPr lang="en-GB" dirty="0" smtClean="0">
                <a:latin typeface="Cambria" panose="02040503050406030204" pitchFamily="18" charset="0"/>
                <a:ea typeface="Cambria" panose="02040503050406030204" pitchFamily="18" charset="0"/>
              </a:rPr>
              <a:t>&lt;/form&gt;  </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32</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1867"/>
            <a:ext cx="3169568" cy="543595"/>
          </a:xfrm>
        </p:spPr>
        <p:txBody>
          <a:bodyPr/>
          <a:lstStyle/>
          <a:p>
            <a:pPr algn="just"/>
            <a:r>
              <a:rPr lang="en-GB" sz="4000" b="1" dirty="0" smtClean="0">
                <a:solidFill>
                  <a:schemeClr val="accent1"/>
                </a:solidFill>
                <a:latin typeface="Cambria" panose="02040503050406030204" pitchFamily="18" charset="0"/>
                <a:ea typeface="Cambria" panose="02040503050406030204" pitchFamily="18" charset="0"/>
              </a:rPr>
              <a:t>Example</a:t>
            </a:r>
            <a:endParaRPr lang="en-US" sz="4000" b="1" dirty="0">
              <a:solidFill>
                <a:schemeClr val="accent1"/>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263352" y="764704"/>
            <a:ext cx="11521280" cy="4104456"/>
          </a:xfrm>
        </p:spPr>
        <p:txBody>
          <a:bodyPr/>
          <a:lstStyle/>
          <a:p>
            <a:r>
              <a:rPr lang="en-US" b="1" u="sng" dirty="0" smtClean="0">
                <a:latin typeface="Cambria" panose="02040503050406030204" pitchFamily="18" charset="0"/>
                <a:ea typeface="Cambria" panose="02040503050406030204" pitchFamily="18" charset="0"/>
              </a:rPr>
              <a:t>welcome.java</a:t>
            </a:r>
          </a:p>
          <a:p>
            <a:pPr marL="0" indent="0">
              <a:buNone/>
            </a:pPr>
            <a:endParaRPr lang="en-US" u="sng" dirty="0" smtClean="0">
              <a:latin typeface="Cambria" panose="02040503050406030204" pitchFamily="18" charset="0"/>
              <a:ea typeface="Cambria" panose="02040503050406030204" pitchFamily="18" charset="0"/>
            </a:endParaRPr>
          </a:p>
          <a:p>
            <a:pPr>
              <a:spcBef>
                <a:spcPts val="0"/>
              </a:spcBef>
              <a:buNone/>
            </a:pPr>
            <a:r>
              <a:rPr lang="en-US" sz="2000" b="1" dirty="0" smtClean="0">
                <a:latin typeface="Cambria" panose="02040503050406030204" pitchFamily="18" charset="0"/>
                <a:ea typeface="Cambria" panose="02040503050406030204" pitchFamily="18" charset="0"/>
              </a:rPr>
              <a:t>import</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javax.servlet.http</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b="1" dirty="0" smtClean="0">
                <a:latin typeface="Cambria" panose="02040503050406030204" pitchFamily="18" charset="0"/>
                <a:ea typeface="Cambria" panose="02040503050406030204" pitchFamily="18" charset="0"/>
              </a:rPr>
              <a:t>import</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javax.servlet</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b="1" dirty="0" smtClean="0">
                <a:latin typeface="Cambria" panose="02040503050406030204" pitchFamily="18" charset="0"/>
                <a:ea typeface="Cambria" panose="02040503050406030204" pitchFamily="18" charset="0"/>
              </a:rPr>
              <a:t>import</a:t>
            </a:r>
            <a:r>
              <a:rPr lang="en-US" sz="2000" dirty="0" smtClean="0">
                <a:latin typeface="Cambria" panose="02040503050406030204" pitchFamily="18" charset="0"/>
                <a:ea typeface="Cambria" panose="02040503050406030204" pitchFamily="18" charset="0"/>
              </a:rPr>
              <a:t> java.io.*;  </a:t>
            </a:r>
          </a:p>
          <a:p>
            <a:pPr>
              <a:spcBef>
                <a:spcPts val="0"/>
              </a:spcBef>
              <a:buNone/>
            </a:pPr>
            <a:r>
              <a:rPr lang="en-US" sz="2000" b="1" dirty="0" smtClean="0">
                <a:latin typeface="Cambria" panose="02040503050406030204" pitchFamily="18" charset="0"/>
                <a:ea typeface="Cambria" panose="02040503050406030204" pitchFamily="18" charset="0"/>
              </a:rPr>
              <a:t>public</a:t>
            </a: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class</a:t>
            </a:r>
            <a:r>
              <a:rPr lang="en-US" sz="2000" smtClean="0">
                <a:latin typeface="Cambria" panose="02040503050406030204" pitchFamily="18" charset="0"/>
                <a:ea typeface="Cambria" panose="02040503050406030204" pitchFamily="18" charset="0"/>
              </a:rPr>
              <a:t> welcome </a:t>
            </a:r>
            <a:r>
              <a:rPr lang="en-US" sz="2000" b="1" smtClean="0">
                <a:latin typeface="Cambria" panose="02040503050406030204" pitchFamily="18" charset="0"/>
                <a:ea typeface="Cambria" panose="02040503050406030204" pitchFamily="18" charset="0"/>
              </a:rPr>
              <a:t>extends</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HttpServlet</a:t>
            </a:r>
            <a:r>
              <a:rPr lang="en-US" sz="2000" dirty="0" smtClean="0">
                <a:latin typeface="Cambria" panose="02040503050406030204" pitchFamily="18" charset="0"/>
                <a:ea typeface="Cambria" panose="02040503050406030204" pitchFamily="18" charset="0"/>
              </a:rPr>
              <a:t>   {  </a:t>
            </a:r>
          </a:p>
          <a:p>
            <a:pPr>
              <a:spcBef>
                <a:spcPts val="0"/>
              </a:spcBef>
              <a:buNone/>
            </a:pPr>
            <a:r>
              <a:rPr lang="en-US" sz="2000" b="1" dirty="0" smtClean="0">
                <a:latin typeface="Cambria" panose="02040503050406030204" pitchFamily="18" charset="0"/>
                <a:ea typeface="Cambria" panose="02040503050406030204" pitchFamily="18" charset="0"/>
              </a:rPr>
              <a:t>           public</a:t>
            </a: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void</a:t>
            </a:r>
            <a:r>
              <a:rPr lang="en-US" sz="2000" dirty="0" smtClean="0">
                <a:latin typeface="Cambria" panose="02040503050406030204" pitchFamily="18" charset="0"/>
                <a:ea typeface="Cambria" panose="02040503050406030204" pitchFamily="18" charset="0"/>
              </a:rPr>
              <a:t> doGet(HttpServletRequest req,HttpServletResponse res)  </a:t>
            </a:r>
            <a:r>
              <a:rPr lang="en-US" sz="2000" b="1" dirty="0" smtClean="0">
                <a:latin typeface="Cambria" panose="02040503050406030204" pitchFamily="18" charset="0"/>
                <a:ea typeface="Cambria" panose="02040503050406030204" pitchFamily="18" charset="0"/>
              </a:rPr>
              <a:t>throws</a:t>
            </a:r>
            <a:r>
              <a:rPr lang="en-US" sz="2000" dirty="0" smtClean="0">
                <a:latin typeface="Cambria" panose="02040503050406030204" pitchFamily="18" charset="0"/>
                <a:ea typeface="Cambria" panose="02040503050406030204" pitchFamily="18" charset="0"/>
              </a:rPr>
              <a:t> ServletException, IOException    {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res.setContentType</a:t>
            </a:r>
            <a:r>
              <a:rPr lang="en-US" sz="2000" dirty="0" smtClean="0">
                <a:latin typeface="Cambria" panose="02040503050406030204" pitchFamily="18" charset="0"/>
                <a:ea typeface="Cambria" panose="02040503050406030204" pitchFamily="18" charset="0"/>
              </a:rPr>
              <a:t>("text/html");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PrintWriter</a:t>
            </a:r>
            <a:r>
              <a:rPr lang="en-US" sz="2000" dirty="0" smtClean="0">
                <a:latin typeface="Cambria" panose="02040503050406030204" pitchFamily="18" charset="0"/>
                <a:ea typeface="Cambria" panose="02040503050406030204" pitchFamily="18" charset="0"/>
              </a:rPr>
              <a:t> pw=</a:t>
            </a:r>
            <a:r>
              <a:rPr lang="en-US" sz="2000" dirty="0" err="1" smtClean="0">
                <a:latin typeface="Cambria" panose="02040503050406030204" pitchFamily="18" charset="0"/>
                <a:ea typeface="Cambria" panose="02040503050406030204" pitchFamily="18" charset="0"/>
              </a:rPr>
              <a:t>res.getWriter</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smtClean="0">
                <a:latin typeface="Cambria" panose="02040503050406030204" pitchFamily="18" charset="0"/>
                <a:ea typeface="Cambria" panose="02040503050406030204" pitchFamily="18" charset="0"/>
              </a:rPr>
              <a:t>             String name=</a:t>
            </a:r>
            <a:r>
              <a:rPr lang="en-US" sz="2000" dirty="0" err="1" smtClean="0">
                <a:latin typeface="Cambria" panose="02040503050406030204" pitchFamily="18" charset="0"/>
                <a:ea typeface="Cambria" panose="02040503050406030204" pitchFamily="18" charset="0"/>
              </a:rPr>
              <a:t>req.getParameter</a:t>
            </a:r>
            <a:r>
              <a:rPr lang="en-US" sz="2000" dirty="0" smtClean="0">
                <a:latin typeface="Cambria" panose="02040503050406030204" pitchFamily="18" charset="0"/>
                <a:ea typeface="Cambria" panose="02040503050406030204" pitchFamily="18" charset="0"/>
              </a:rPr>
              <a:t>("name");//will return value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pw.println</a:t>
            </a:r>
            <a:r>
              <a:rPr lang="en-US" sz="2000" dirty="0" smtClean="0">
                <a:latin typeface="Cambria" panose="02040503050406030204" pitchFamily="18" charset="0"/>
                <a:ea typeface="Cambria" panose="02040503050406030204" pitchFamily="18" charset="0"/>
              </a:rPr>
              <a:t>("Welcome "+name);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pw.close</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smtClean="0">
                <a:latin typeface="Cambria" panose="02040503050406030204" pitchFamily="18" charset="0"/>
                <a:ea typeface="Cambria" panose="02040503050406030204" pitchFamily="18" charset="0"/>
              </a:rPr>
              <a:t>}</a:t>
            </a:r>
          </a:p>
          <a:p>
            <a:pPr>
              <a:spcBef>
                <a:spcPts val="0"/>
              </a:spcBef>
              <a:buNone/>
            </a:pPr>
            <a:r>
              <a:rPr lang="en-US" sz="2000" dirty="0" smtClean="0">
                <a:latin typeface="Cambria" panose="02040503050406030204" pitchFamily="18" charset="0"/>
                <a:ea typeface="Cambria" panose="02040503050406030204" pitchFamily="18" charset="0"/>
              </a:rPr>
              <a:t>  </a:t>
            </a:r>
          </a:p>
          <a:p>
            <a:pPr>
              <a:spcBef>
                <a:spcPts val="0"/>
              </a:spcBef>
            </a:pPr>
            <a:endParaRPr lang="en-US" sz="20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33</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5360" y="1"/>
            <a:ext cx="6912768" cy="620687"/>
          </a:xfrm>
        </p:spPr>
        <p:txBody>
          <a:bodyPr/>
          <a:lstStyle/>
          <a:p>
            <a:r>
              <a:rPr lang="en-US" sz="3600" b="1" dirty="0" smtClean="0">
                <a:solidFill>
                  <a:schemeClr val="accent5"/>
                </a:solidFill>
                <a:latin typeface="Cambria" panose="02040503050406030204" pitchFamily="18" charset="0"/>
                <a:ea typeface="Cambria" panose="02040503050406030204" pitchFamily="18" charset="0"/>
              </a:rPr>
              <a:t>RequestDispatcher in Servlet</a:t>
            </a:r>
            <a:endParaRPr lang="en-US" sz="36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191344" y="620688"/>
            <a:ext cx="11809312" cy="5112568"/>
          </a:xfrm>
        </p:spPr>
        <p:txBody>
          <a:bodyPr/>
          <a:lstStyle/>
          <a:p>
            <a:pPr algn="just"/>
            <a:r>
              <a:rPr lang="en-GB" sz="2400" dirty="0" smtClean="0">
                <a:latin typeface="Cambria" panose="02040503050406030204" pitchFamily="18" charset="0"/>
                <a:ea typeface="Cambria" panose="02040503050406030204" pitchFamily="18" charset="0"/>
              </a:rPr>
              <a:t>The </a:t>
            </a:r>
            <a:r>
              <a:rPr lang="en-GB" sz="2400" dirty="0" err="1" smtClean="0">
                <a:latin typeface="Cambria" panose="02040503050406030204" pitchFamily="18" charset="0"/>
                <a:ea typeface="Cambria" panose="02040503050406030204" pitchFamily="18" charset="0"/>
              </a:rPr>
              <a:t>RequestDispatcher</a:t>
            </a:r>
            <a:r>
              <a:rPr lang="en-GB" sz="2400" dirty="0" smtClean="0">
                <a:latin typeface="Cambria" panose="02040503050406030204" pitchFamily="18" charset="0"/>
                <a:ea typeface="Cambria" panose="02040503050406030204" pitchFamily="18" charset="0"/>
              </a:rPr>
              <a:t> interface provides the facility of dispatching the request to another resource it may be html, </a:t>
            </a:r>
            <a:r>
              <a:rPr lang="en-GB" sz="2400" dirty="0" err="1" smtClean="0">
                <a:latin typeface="Cambria" panose="02040503050406030204" pitchFamily="18" charset="0"/>
                <a:ea typeface="Cambria" panose="02040503050406030204" pitchFamily="18" charset="0"/>
              </a:rPr>
              <a:t>servlet</a:t>
            </a:r>
            <a:r>
              <a:rPr lang="en-GB" sz="2400" dirty="0" smtClean="0">
                <a:latin typeface="Cambria" panose="02040503050406030204" pitchFamily="18" charset="0"/>
                <a:ea typeface="Cambria" panose="02040503050406030204" pitchFamily="18" charset="0"/>
              </a:rPr>
              <a:t> or </a:t>
            </a:r>
            <a:r>
              <a:rPr lang="en-GB" sz="2400" dirty="0" err="1" smtClean="0">
                <a:latin typeface="Cambria" panose="02040503050406030204" pitchFamily="18" charset="0"/>
                <a:ea typeface="Cambria" panose="02040503050406030204" pitchFamily="18" charset="0"/>
              </a:rPr>
              <a:t>jsp</a:t>
            </a:r>
            <a:r>
              <a:rPr lang="en-GB" sz="2400" dirty="0" smtClean="0">
                <a:latin typeface="Cambria" panose="02040503050406030204" pitchFamily="18" charset="0"/>
                <a:ea typeface="Cambria" panose="02040503050406030204" pitchFamily="18" charset="0"/>
              </a:rPr>
              <a:t>. This interface can also be used to include the content of another resource also. It is one of the way of </a:t>
            </a:r>
            <a:r>
              <a:rPr lang="en-GB" sz="2400" dirty="0" err="1" smtClean="0">
                <a:latin typeface="Cambria" panose="02040503050406030204" pitchFamily="18" charset="0"/>
                <a:ea typeface="Cambria" panose="02040503050406030204" pitchFamily="18" charset="0"/>
              </a:rPr>
              <a:t>servlet</a:t>
            </a:r>
            <a:r>
              <a:rPr lang="en-GB" sz="2400" dirty="0" smtClean="0">
                <a:latin typeface="Cambria" panose="02040503050406030204" pitchFamily="18" charset="0"/>
                <a:ea typeface="Cambria" panose="02040503050406030204" pitchFamily="18" charset="0"/>
              </a:rPr>
              <a:t> collaboration.</a:t>
            </a:r>
          </a:p>
          <a:p>
            <a:pPr algn="just"/>
            <a:r>
              <a:rPr lang="en-GB" sz="2400" dirty="0" smtClean="0">
                <a:latin typeface="Cambria" panose="02040503050406030204" pitchFamily="18" charset="0"/>
                <a:ea typeface="Cambria" panose="02040503050406030204" pitchFamily="18" charset="0"/>
              </a:rPr>
              <a:t>There are two methods defined in the </a:t>
            </a:r>
            <a:r>
              <a:rPr lang="en-GB" sz="2400" dirty="0" err="1" smtClean="0">
                <a:latin typeface="Cambria" panose="02040503050406030204" pitchFamily="18" charset="0"/>
                <a:ea typeface="Cambria" panose="02040503050406030204" pitchFamily="18" charset="0"/>
              </a:rPr>
              <a:t>RequestDispatcher</a:t>
            </a:r>
            <a:r>
              <a:rPr lang="en-GB" sz="2400" dirty="0" smtClean="0">
                <a:latin typeface="Cambria" panose="02040503050406030204" pitchFamily="18" charset="0"/>
                <a:ea typeface="Cambria" panose="02040503050406030204" pitchFamily="18" charset="0"/>
              </a:rPr>
              <a:t> interface.</a:t>
            </a:r>
          </a:p>
          <a:p>
            <a:pPr algn="just"/>
            <a:r>
              <a:rPr lang="en-US" sz="2400" u="sng" dirty="0" smtClean="0">
                <a:latin typeface="Cambria" panose="02040503050406030204" pitchFamily="18" charset="0"/>
                <a:ea typeface="Cambria" panose="02040503050406030204" pitchFamily="18" charset="0"/>
              </a:rPr>
              <a:t>Methods of </a:t>
            </a:r>
            <a:r>
              <a:rPr lang="en-US" sz="2400" u="sng" dirty="0" err="1" smtClean="0">
                <a:latin typeface="Cambria" panose="02040503050406030204" pitchFamily="18" charset="0"/>
                <a:ea typeface="Cambria" panose="02040503050406030204" pitchFamily="18" charset="0"/>
              </a:rPr>
              <a:t>RequestDispatcher</a:t>
            </a:r>
            <a:r>
              <a:rPr lang="en-US" sz="2400" u="sng" dirty="0" smtClean="0">
                <a:latin typeface="Cambria" panose="02040503050406030204" pitchFamily="18" charset="0"/>
                <a:ea typeface="Cambria" panose="02040503050406030204" pitchFamily="18" charset="0"/>
              </a:rPr>
              <a:t> interface</a:t>
            </a:r>
          </a:p>
          <a:p>
            <a:pPr algn="just"/>
            <a:r>
              <a:rPr lang="en-US" sz="2400" dirty="0" smtClean="0">
                <a:latin typeface="Cambria" panose="02040503050406030204" pitchFamily="18" charset="0"/>
                <a:ea typeface="Cambria" panose="02040503050406030204" pitchFamily="18" charset="0"/>
              </a:rPr>
              <a:t>The </a:t>
            </a:r>
            <a:r>
              <a:rPr lang="en-US" sz="2400" dirty="0" err="1" smtClean="0">
                <a:latin typeface="Cambria" panose="02040503050406030204" pitchFamily="18" charset="0"/>
                <a:ea typeface="Cambria" panose="02040503050406030204" pitchFamily="18" charset="0"/>
              </a:rPr>
              <a:t>RequestDispatcher</a:t>
            </a:r>
            <a:r>
              <a:rPr lang="en-US" sz="2400" dirty="0" smtClean="0">
                <a:latin typeface="Cambria" panose="02040503050406030204" pitchFamily="18" charset="0"/>
                <a:ea typeface="Cambria" panose="02040503050406030204" pitchFamily="18" charset="0"/>
              </a:rPr>
              <a:t> interface provides two methods. They are:</a:t>
            </a:r>
          </a:p>
          <a:p>
            <a:pPr algn="just"/>
            <a:r>
              <a:rPr lang="en-US" sz="2400" b="1" dirty="0" smtClean="0">
                <a:latin typeface="Cambria" panose="02040503050406030204" pitchFamily="18" charset="0"/>
                <a:ea typeface="Cambria" panose="02040503050406030204" pitchFamily="18" charset="0"/>
              </a:rPr>
              <a:t>public void forward(ServletRequest request,ServletResponse response)throws ServletException, IOException: </a:t>
            </a:r>
            <a:r>
              <a:rPr lang="en-US" sz="2400" dirty="0" smtClean="0">
                <a:latin typeface="Cambria" panose="02040503050406030204" pitchFamily="18" charset="0"/>
                <a:ea typeface="Cambria" panose="02040503050406030204" pitchFamily="18" charset="0"/>
              </a:rPr>
              <a:t>Forwards a request from a servlet to another resource (servlet, JSP file, or HTML file) on the server.</a:t>
            </a:r>
          </a:p>
          <a:p>
            <a:pPr algn="just"/>
            <a:r>
              <a:rPr lang="en-US" sz="2400" b="1" dirty="0" smtClean="0">
                <a:latin typeface="Cambria" panose="02040503050406030204" pitchFamily="18" charset="0"/>
                <a:ea typeface="Cambria" panose="02040503050406030204" pitchFamily="18" charset="0"/>
              </a:rPr>
              <a:t>public void include(ServletRequest request,ServletResponse response)throws ServletException, IOException: </a:t>
            </a:r>
            <a:r>
              <a:rPr lang="en-US" sz="2400" dirty="0" smtClean="0">
                <a:latin typeface="Cambria" panose="02040503050406030204" pitchFamily="18" charset="0"/>
                <a:ea typeface="Cambria" panose="02040503050406030204" pitchFamily="18" charset="0"/>
              </a:rPr>
              <a:t>Includes the content of a resource (servlet, JSP page, or HTML file) in the response.</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34</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5360" y="149896"/>
            <a:ext cx="4998380" cy="623562"/>
          </a:xfrm>
        </p:spPr>
        <p:txBody>
          <a:bodyPr/>
          <a:lstStyle/>
          <a:p>
            <a:r>
              <a:rPr lang="en-GB" sz="4000" b="1" dirty="0" smtClean="0">
                <a:solidFill>
                  <a:schemeClr val="accent5"/>
                </a:solidFill>
                <a:latin typeface="Cambria" panose="02040503050406030204" pitchFamily="18" charset="0"/>
                <a:ea typeface="Cambria" panose="02040503050406030204" pitchFamily="18" charset="0"/>
              </a:rPr>
              <a:t>forward method</a:t>
            </a:r>
            <a:endParaRPr lang="en-US" sz="4000" b="1" dirty="0">
              <a:solidFill>
                <a:schemeClr val="accent5"/>
              </a:solidFill>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35</a:t>
            </a:fld>
            <a:endParaRPr lang="en-US" altLang="en-US">
              <a:latin typeface="Cambria" panose="02040503050406030204" pitchFamily="18" charset="0"/>
              <a:ea typeface="Cambria" panose="02040503050406030204" pitchFamily="18" charset="0"/>
            </a:endParaRPr>
          </a:p>
        </p:txBody>
      </p:sp>
      <p:pic>
        <p:nvPicPr>
          <p:cNvPr id="5" name="Content Placeholder 4" descr="forward() method of RequestDispatcher interface"/>
          <p:cNvPicPr>
            <a:picLocks noGrp="1"/>
          </p:cNvPicPr>
          <p:nvPr>
            <p:ph idx="1"/>
          </p:nvPr>
        </p:nvPicPr>
        <p:blipFill>
          <a:blip r:embed="rId2"/>
          <a:srcRect/>
          <a:stretch>
            <a:fillRect/>
          </a:stretch>
        </p:blipFill>
        <p:spPr bwMode="auto">
          <a:xfrm>
            <a:off x="2639616" y="1807324"/>
            <a:ext cx="6429375" cy="3657600"/>
          </a:xfrm>
          <a:prstGeom prst="rect">
            <a:avLst/>
          </a:prstGeom>
          <a:noFill/>
          <a:ln w="9525">
            <a:noFill/>
            <a:miter lim="800000"/>
            <a:headEnd/>
            <a:tailEnd/>
          </a:ln>
        </p:spPr>
      </p:pic>
      <p:sp>
        <p:nvSpPr>
          <p:cNvPr id="6" name="Rectangle 5"/>
          <p:cNvSpPr/>
          <p:nvPr/>
        </p:nvSpPr>
        <p:spPr>
          <a:xfrm>
            <a:off x="551384" y="943099"/>
            <a:ext cx="10363085" cy="707886"/>
          </a:xfrm>
          <a:prstGeom prst="rect">
            <a:avLst/>
          </a:prstGeom>
        </p:spPr>
        <p:txBody>
          <a:bodyPr wrap="square">
            <a:spAutoFit/>
          </a:bodyPr>
          <a:lstStyle/>
          <a:p>
            <a:r>
              <a:rPr lang="en-GB" sz="2000" dirty="0" smtClean="0">
                <a:latin typeface="Cambria" panose="02040503050406030204" pitchFamily="18" charset="0"/>
                <a:ea typeface="Cambria" panose="02040503050406030204" pitchFamily="18" charset="0"/>
              </a:rPr>
              <a:t>response of second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is sent to the client. Response of the first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is not displayed to the user</a:t>
            </a:r>
            <a:endParaRPr lang="en-US" sz="2000" dirty="0">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3352" y="84977"/>
            <a:ext cx="4874629" cy="662782"/>
          </a:xfrm>
        </p:spPr>
        <p:txBody>
          <a:bodyPr/>
          <a:lstStyle/>
          <a:p>
            <a:r>
              <a:rPr lang="en-GB" sz="4000" b="1" dirty="0">
                <a:solidFill>
                  <a:schemeClr val="accent5"/>
                </a:solidFill>
                <a:latin typeface="Cambria" panose="02040503050406030204" pitchFamily="18" charset="0"/>
                <a:ea typeface="Cambria" panose="02040503050406030204" pitchFamily="18" charset="0"/>
              </a:rPr>
              <a:t>i</a:t>
            </a:r>
            <a:r>
              <a:rPr lang="en-GB" sz="4000" b="1" dirty="0" smtClean="0">
                <a:solidFill>
                  <a:schemeClr val="accent5"/>
                </a:solidFill>
                <a:latin typeface="Cambria" panose="02040503050406030204" pitchFamily="18" charset="0"/>
                <a:ea typeface="Cambria" panose="02040503050406030204" pitchFamily="18" charset="0"/>
              </a:rPr>
              <a:t>nclude method</a:t>
            </a:r>
            <a:endParaRPr lang="en-US" sz="40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358491" y="907321"/>
            <a:ext cx="11089232" cy="893737"/>
          </a:xfrm>
        </p:spPr>
        <p:txBody>
          <a:bodyPr/>
          <a:lstStyle/>
          <a:p>
            <a:pPr algn="just"/>
            <a:r>
              <a:rPr lang="en-GB" dirty="0" smtClean="0">
                <a:latin typeface="Cambria" panose="02040503050406030204" pitchFamily="18" charset="0"/>
                <a:ea typeface="Cambria" panose="02040503050406030204" pitchFamily="18" charset="0"/>
              </a:rPr>
              <a:t>response of second </a:t>
            </a:r>
            <a:r>
              <a:rPr lang="en-GB" dirty="0" err="1" smtClean="0">
                <a:latin typeface="Cambria" panose="02040503050406030204" pitchFamily="18" charset="0"/>
                <a:ea typeface="Cambria" panose="02040503050406030204" pitchFamily="18" charset="0"/>
              </a:rPr>
              <a:t>servlet</a:t>
            </a:r>
            <a:r>
              <a:rPr lang="en-GB" dirty="0" smtClean="0">
                <a:latin typeface="Cambria" panose="02040503050406030204" pitchFamily="18" charset="0"/>
                <a:ea typeface="Cambria" panose="02040503050406030204" pitchFamily="18" charset="0"/>
              </a:rPr>
              <a:t> is included in the response of the first </a:t>
            </a:r>
            <a:r>
              <a:rPr lang="en-GB" dirty="0" err="1" smtClean="0">
                <a:latin typeface="Cambria" panose="02040503050406030204" pitchFamily="18" charset="0"/>
                <a:ea typeface="Cambria" panose="02040503050406030204" pitchFamily="18" charset="0"/>
              </a:rPr>
              <a:t>servlet</a:t>
            </a:r>
            <a:r>
              <a:rPr lang="en-GB" dirty="0" smtClean="0">
                <a:latin typeface="Cambria" panose="02040503050406030204" pitchFamily="18" charset="0"/>
                <a:ea typeface="Cambria" panose="02040503050406030204" pitchFamily="18" charset="0"/>
              </a:rPr>
              <a:t> that is being sent to the client. </a:t>
            </a:r>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36</a:t>
            </a:fld>
            <a:endParaRPr lang="en-US" altLang="en-US">
              <a:latin typeface="Cambria" panose="02040503050406030204" pitchFamily="18" charset="0"/>
              <a:ea typeface="Cambria" panose="02040503050406030204" pitchFamily="18" charset="0"/>
            </a:endParaRPr>
          </a:p>
        </p:txBody>
      </p:sp>
      <p:pic>
        <p:nvPicPr>
          <p:cNvPr id="5" name="Picture 4" descr="include() method of RequestDispatcher interface"/>
          <p:cNvPicPr/>
          <p:nvPr/>
        </p:nvPicPr>
        <p:blipFill>
          <a:blip r:embed="rId2"/>
          <a:srcRect/>
          <a:stretch>
            <a:fillRect/>
          </a:stretch>
        </p:blipFill>
        <p:spPr bwMode="auto">
          <a:xfrm>
            <a:off x="2063552" y="1814360"/>
            <a:ext cx="6900890" cy="385293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0"/>
            <a:ext cx="10515600" cy="849297"/>
          </a:xfrm>
        </p:spPr>
        <p:txBody>
          <a:bodyPr/>
          <a:lstStyle/>
          <a:p>
            <a:r>
              <a:rPr lang="en-GB" sz="4000" b="1" dirty="0" smtClean="0">
                <a:solidFill>
                  <a:schemeClr val="accent5"/>
                </a:solidFill>
                <a:latin typeface="Cambria" panose="02040503050406030204" pitchFamily="18" charset="0"/>
                <a:ea typeface="Cambria" panose="02040503050406030204" pitchFamily="18" charset="0"/>
              </a:rPr>
              <a:t/>
            </a:r>
            <a:br>
              <a:rPr lang="en-GB" sz="4000" b="1" dirty="0" smtClean="0">
                <a:solidFill>
                  <a:schemeClr val="accent5"/>
                </a:solidFill>
                <a:latin typeface="Cambria" panose="02040503050406030204" pitchFamily="18" charset="0"/>
                <a:ea typeface="Cambria" panose="02040503050406030204" pitchFamily="18" charset="0"/>
              </a:rPr>
            </a:br>
            <a:r>
              <a:rPr lang="en-GB" sz="4000" b="1" dirty="0" smtClean="0">
                <a:solidFill>
                  <a:schemeClr val="accent5"/>
                </a:solidFill>
                <a:latin typeface="Cambria" panose="02040503050406030204" pitchFamily="18" charset="0"/>
                <a:ea typeface="Cambria" panose="02040503050406030204" pitchFamily="18" charset="0"/>
              </a:rPr>
              <a:t>How to get the object of </a:t>
            </a:r>
            <a:r>
              <a:rPr lang="en-GB" sz="4000" b="1" dirty="0" err="1" smtClean="0">
                <a:solidFill>
                  <a:schemeClr val="accent5"/>
                </a:solidFill>
                <a:latin typeface="Cambria" panose="02040503050406030204" pitchFamily="18" charset="0"/>
                <a:ea typeface="Cambria" panose="02040503050406030204" pitchFamily="18" charset="0"/>
              </a:rPr>
              <a:t>RequestDispatcher</a:t>
            </a:r>
            <a:r>
              <a:rPr lang="en-GB" sz="4000" b="1" dirty="0" smtClean="0">
                <a:solidFill>
                  <a:schemeClr val="accent5"/>
                </a:solidFill>
                <a:latin typeface="Cambria" panose="02040503050406030204" pitchFamily="18" charset="0"/>
                <a:ea typeface="Cambria" panose="02040503050406030204" pitchFamily="18" charset="0"/>
              </a:rPr>
              <a:t/>
            </a:r>
            <a:br>
              <a:rPr lang="en-GB" sz="4000" b="1" dirty="0" smtClean="0">
                <a:solidFill>
                  <a:schemeClr val="accent5"/>
                </a:solidFill>
                <a:latin typeface="Cambria" panose="02040503050406030204" pitchFamily="18" charset="0"/>
                <a:ea typeface="Cambria" panose="02040503050406030204" pitchFamily="18" charset="0"/>
              </a:rPr>
            </a:br>
            <a:endParaRPr lang="en-US" sz="40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335360" y="980728"/>
            <a:ext cx="11377264" cy="3947855"/>
          </a:xfrm>
        </p:spPr>
        <p:txBody>
          <a:bodyPr/>
          <a:lstStyle/>
          <a:p>
            <a:pPr algn="just"/>
            <a:r>
              <a:rPr lang="en-US" sz="2400" dirty="0" smtClean="0">
                <a:latin typeface="Cambria" panose="02040503050406030204" pitchFamily="18" charset="0"/>
                <a:ea typeface="Cambria" panose="02040503050406030204" pitchFamily="18" charset="0"/>
              </a:rPr>
              <a:t>The getRequestDispatcher() method of ServletRequest interface returns the object of RequestDispatcher.</a:t>
            </a:r>
          </a:p>
          <a:p>
            <a:pPr algn="just"/>
            <a:r>
              <a:rPr lang="en-US" sz="2400" dirty="0" smtClean="0">
                <a:latin typeface="Cambria" panose="02040503050406030204" pitchFamily="18" charset="0"/>
                <a:ea typeface="Cambria" panose="02040503050406030204" pitchFamily="18" charset="0"/>
              </a:rPr>
              <a:t>Syntax of </a:t>
            </a:r>
            <a:r>
              <a:rPr lang="en-US" sz="2400" dirty="0" err="1" smtClean="0">
                <a:latin typeface="Cambria" panose="02040503050406030204" pitchFamily="18" charset="0"/>
                <a:ea typeface="Cambria" panose="02040503050406030204" pitchFamily="18" charset="0"/>
              </a:rPr>
              <a:t>getRequestDispatcher</a:t>
            </a:r>
            <a:r>
              <a:rPr lang="en-US" sz="2400" dirty="0" smtClean="0">
                <a:latin typeface="Cambria" panose="02040503050406030204" pitchFamily="18" charset="0"/>
                <a:ea typeface="Cambria" panose="02040503050406030204" pitchFamily="18" charset="0"/>
              </a:rPr>
              <a:t> method</a:t>
            </a:r>
          </a:p>
          <a:p>
            <a:pPr marL="0" indent="0" algn="just">
              <a:buNone/>
            </a:pPr>
            <a:r>
              <a:rPr lang="en-US" sz="2400" b="1" dirty="0" smtClean="0">
                <a:latin typeface="Cambria" panose="02040503050406030204" pitchFamily="18" charset="0"/>
                <a:ea typeface="Cambria" panose="02040503050406030204" pitchFamily="18" charset="0"/>
              </a:rPr>
              <a:t>   public</a:t>
            </a:r>
            <a:r>
              <a:rPr lang="en-US" sz="2400" dirty="0" smtClean="0">
                <a:latin typeface="Cambria" panose="02040503050406030204" pitchFamily="18" charset="0"/>
                <a:ea typeface="Cambria" panose="02040503050406030204" pitchFamily="18" charset="0"/>
              </a:rPr>
              <a:t> RequestDispatcher getRequestDispatcher(String resource);  </a:t>
            </a:r>
          </a:p>
          <a:p>
            <a:pPr algn="just"/>
            <a:r>
              <a:rPr lang="en-US" sz="2400" dirty="0" smtClean="0">
                <a:latin typeface="Cambria" panose="02040503050406030204" pitchFamily="18" charset="0"/>
                <a:ea typeface="Cambria" panose="02040503050406030204" pitchFamily="18" charset="0"/>
              </a:rPr>
              <a:t>Example of using </a:t>
            </a:r>
            <a:r>
              <a:rPr lang="en-US" sz="2400" dirty="0" err="1" smtClean="0">
                <a:latin typeface="Cambria" panose="02040503050406030204" pitchFamily="18" charset="0"/>
                <a:ea typeface="Cambria" panose="02040503050406030204" pitchFamily="18" charset="0"/>
              </a:rPr>
              <a:t>getRequestDispatcher</a:t>
            </a:r>
            <a:r>
              <a:rPr lang="en-US" sz="2400" dirty="0" smtClean="0">
                <a:latin typeface="Cambria" panose="02040503050406030204" pitchFamily="18" charset="0"/>
                <a:ea typeface="Cambria" panose="02040503050406030204" pitchFamily="18" charset="0"/>
              </a:rPr>
              <a:t> method</a:t>
            </a:r>
          </a:p>
          <a:p>
            <a:pPr algn="just"/>
            <a:r>
              <a:rPr lang="en-US" sz="2400" dirty="0" err="1" smtClean="0">
                <a:latin typeface="Cambria" panose="02040503050406030204" pitchFamily="18" charset="0"/>
                <a:ea typeface="Cambria" panose="02040503050406030204" pitchFamily="18" charset="0"/>
              </a:rPr>
              <a:t>RequestDispatcher</a:t>
            </a:r>
            <a:r>
              <a:rPr lang="en-US" sz="2400" dirty="0" smtClean="0">
                <a:latin typeface="Cambria" panose="02040503050406030204" pitchFamily="18" charset="0"/>
                <a:ea typeface="Cambria" panose="02040503050406030204" pitchFamily="18" charset="0"/>
              </a:rPr>
              <a:t> rd=</a:t>
            </a:r>
            <a:r>
              <a:rPr lang="en-US" sz="2400" dirty="0" err="1" smtClean="0">
                <a:latin typeface="Cambria" panose="02040503050406030204" pitchFamily="18" charset="0"/>
                <a:ea typeface="Cambria" panose="02040503050406030204" pitchFamily="18" charset="0"/>
              </a:rPr>
              <a:t>request.getRequestDispatcher</a:t>
            </a:r>
            <a:r>
              <a:rPr lang="en-US" sz="2400" dirty="0" smtClean="0">
                <a:latin typeface="Cambria" panose="02040503050406030204" pitchFamily="18" charset="0"/>
                <a:ea typeface="Cambria" panose="02040503050406030204" pitchFamily="18" charset="0"/>
              </a:rPr>
              <a:t>("servlet2");  </a:t>
            </a:r>
          </a:p>
          <a:p>
            <a:pPr algn="just"/>
            <a:r>
              <a:rPr lang="en-US" sz="2400" dirty="0" smtClean="0">
                <a:latin typeface="Cambria" panose="02040503050406030204" pitchFamily="18" charset="0"/>
                <a:ea typeface="Cambria" panose="02040503050406030204" pitchFamily="18" charset="0"/>
              </a:rPr>
              <a:t>//servlet2 is the </a:t>
            </a:r>
            <a:r>
              <a:rPr lang="en-US" sz="2400" dirty="0" err="1" smtClean="0">
                <a:latin typeface="Cambria" panose="02040503050406030204" pitchFamily="18" charset="0"/>
                <a:ea typeface="Cambria" panose="02040503050406030204" pitchFamily="18" charset="0"/>
              </a:rPr>
              <a:t>url</a:t>
            </a:r>
            <a:r>
              <a:rPr lang="en-US" sz="2400" dirty="0" smtClean="0">
                <a:latin typeface="Cambria" panose="02040503050406030204" pitchFamily="18" charset="0"/>
                <a:ea typeface="Cambria" panose="02040503050406030204" pitchFamily="18" charset="0"/>
              </a:rPr>
              <a:t>-pattern of the second </a:t>
            </a:r>
            <a:r>
              <a:rPr lang="en-US" sz="2400" dirty="0" err="1" smtClean="0">
                <a:latin typeface="Cambria" panose="02040503050406030204" pitchFamily="18" charset="0"/>
                <a:ea typeface="Cambria" panose="02040503050406030204" pitchFamily="18" charset="0"/>
              </a:rPr>
              <a:t>servlet</a:t>
            </a:r>
            <a:r>
              <a:rPr lang="en-US" sz="2400" dirty="0" smtClean="0">
                <a:latin typeface="Cambria" panose="02040503050406030204" pitchFamily="18" charset="0"/>
                <a:ea typeface="Cambria" panose="02040503050406030204" pitchFamily="18" charset="0"/>
              </a:rPr>
              <a:t>  </a:t>
            </a:r>
          </a:p>
          <a:p>
            <a:pPr algn="just"/>
            <a:r>
              <a:rPr lang="en-US" sz="2400" dirty="0" err="1" smtClean="0">
                <a:latin typeface="Cambria" panose="02040503050406030204" pitchFamily="18" charset="0"/>
                <a:ea typeface="Cambria" panose="02040503050406030204" pitchFamily="18" charset="0"/>
              </a:rPr>
              <a:t>rd.forward</a:t>
            </a:r>
            <a:r>
              <a:rPr lang="en-US" sz="2400" dirty="0" smtClean="0">
                <a:latin typeface="Cambria" panose="02040503050406030204" pitchFamily="18" charset="0"/>
                <a:ea typeface="Cambria" panose="02040503050406030204" pitchFamily="18" charset="0"/>
              </a:rPr>
              <a:t>(request, response);//method may be include or forward  </a:t>
            </a:r>
          </a:p>
          <a:p>
            <a:pPr algn="just"/>
            <a:endParaRPr lang="en-US" sz="24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37</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116632"/>
            <a:ext cx="8958820" cy="479546"/>
          </a:xfrm>
        </p:spPr>
        <p:txBody>
          <a:bodyPr/>
          <a:lstStyle/>
          <a:p>
            <a:r>
              <a:rPr lang="en-US" sz="3600" b="1" dirty="0" smtClean="0">
                <a:solidFill>
                  <a:schemeClr val="accent5"/>
                </a:solidFill>
                <a:latin typeface="Cambria" panose="02040503050406030204" pitchFamily="18" charset="0"/>
                <a:ea typeface="Cambria" panose="02040503050406030204" pitchFamily="18" charset="0"/>
              </a:rPr>
              <a:t/>
            </a:r>
            <a:br>
              <a:rPr lang="en-US" sz="3600" b="1" dirty="0" smtClean="0">
                <a:solidFill>
                  <a:schemeClr val="accent5"/>
                </a:solidFill>
                <a:latin typeface="Cambria" panose="02040503050406030204" pitchFamily="18" charset="0"/>
                <a:ea typeface="Cambria" panose="02040503050406030204" pitchFamily="18" charset="0"/>
              </a:rPr>
            </a:br>
            <a:r>
              <a:rPr lang="en-US" sz="3600" b="1" dirty="0" smtClean="0">
                <a:solidFill>
                  <a:schemeClr val="accent5"/>
                </a:solidFill>
                <a:latin typeface="Cambria" panose="02040503050406030204" pitchFamily="18" charset="0"/>
                <a:ea typeface="Cambria" panose="02040503050406030204" pitchFamily="18" charset="0"/>
              </a:rPr>
              <a:t>Example of RequestDispatcher interface</a:t>
            </a:r>
            <a:r>
              <a:rPr lang="en-GB" sz="3600" b="1" dirty="0" smtClean="0">
                <a:solidFill>
                  <a:schemeClr val="accent5"/>
                </a:solidFill>
                <a:latin typeface="Cambria" panose="02040503050406030204" pitchFamily="18" charset="0"/>
                <a:ea typeface="Cambria" panose="02040503050406030204" pitchFamily="18" charset="0"/>
              </a:rPr>
              <a:t/>
            </a:r>
            <a:br>
              <a:rPr lang="en-GB" sz="3600" b="1" dirty="0" smtClean="0">
                <a:solidFill>
                  <a:schemeClr val="accent5"/>
                </a:solidFill>
                <a:latin typeface="Cambria" panose="02040503050406030204" pitchFamily="18" charset="0"/>
                <a:ea typeface="Cambria" panose="02040503050406030204" pitchFamily="18" charset="0"/>
              </a:rPr>
            </a:br>
            <a:endParaRPr lang="en-US" sz="36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335360" y="764705"/>
            <a:ext cx="11521280" cy="4032448"/>
          </a:xfrm>
        </p:spPr>
        <p:txBody>
          <a:bodyPr/>
          <a:lstStyle/>
          <a:p>
            <a:pPr algn="just"/>
            <a:r>
              <a:rPr lang="en-GB" sz="2400" dirty="0" smtClean="0">
                <a:latin typeface="Cambria" panose="02040503050406030204" pitchFamily="18" charset="0"/>
                <a:ea typeface="Cambria" panose="02040503050406030204" pitchFamily="18" charset="0"/>
              </a:rPr>
              <a:t>In this example,  validating the password entered by the user. If password is </a:t>
            </a:r>
            <a:r>
              <a:rPr lang="en-GB" sz="2400" dirty="0" err="1" smtClean="0">
                <a:latin typeface="Cambria" panose="02040503050406030204" pitchFamily="18" charset="0"/>
                <a:ea typeface="Cambria" panose="02040503050406030204" pitchFamily="18" charset="0"/>
              </a:rPr>
              <a:t>servlet</a:t>
            </a:r>
            <a:r>
              <a:rPr lang="en-GB" sz="2400" dirty="0" smtClean="0">
                <a:latin typeface="Cambria" panose="02040503050406030204" pitchFamily="18" charset="0"/>
                <a:ea typeface="Cambria" panose="02040503050406030204" pitchFamily="18" charset="0"/>
              </a:rPr>
              <a:t>, it will forward the request to the </a:t>
            </a:r>
            <a:r>
              <a:rPr lang="en-GB" sz="2400" dirty="0" err="1" smtClean="0">
                <a:latin typeface="Cambria" panose="02040503050406030204" pitchFamily="18" charset="0"/>
                <a:ea typeface="Cambria" panose="02040503050406030204" pitchFamily="18" charset="0"/>
              </a:rPr>
              <a:t>WelcomeServlet</a:t>
            </a:r>
            <a:r>
              <a:rPr lang="en-GB" sz="2400" dirty="0" smtClean="0">
                <a:latin typeface="Cambria" panose="02040503050406030204" pitchFamily="18" charset="0"/>
                <a:ea typeface="Cambria" panose="02040503050406030204" pitchFamily="18" charset="0"/>
              </a:rPr>
              <a:t>, otherwise will show an error message: sorry username or password error!. In this program, we are checking for hardcoded information.</a:t>
            </a:r>
          </a:p>
          <a:p>
            <a:pPr algn="just"/>
            <a:r>
              <a:rPr lang="en-GB" sz="2400" b="1" dirty="0" smtClean="0">
                <a:latin typeface="Cambria" panose="02040503050406030204" pitchFamily="18" charset="0"/>
                <a:ea typeface="Cambria" panose="02040503050406030204" pitchFamily="18" charset="0"/>
              </a:rPr>
              <a:t>index.html file:</a:t>
            </a:r>
            <a:r>
              <a:rPr lang="en-GB" sz="2400" dirty="0" smtClean="0">
                <a:latin typeface="Cambria" panose="02040503050406030204" pitchFamily="18" charset="0"/>
                <a:ea typeface="Cambria" panose="02040503050406030204" pitchFamily="18" charset="0"/>
              </a:rPr>
              <a:t> for getting input from the user.</a:t>
            </a:r>
          </a:p>
          <a:p>
            <a:pPr algn="just"/>
            <a:r>
              <a:rPr lang="en-GB" sz="2400" b="1" dirty="0" smtClean="0">
                <a:latin typeface="Cambria" panose="02040503050406030204" pitchFamily="18" charset="0"/>
                <a:ea typeface="Cambria" panose="02040503050406030204" pitchFamily="18" charset="0"/>
              </a:rPr>
              <a:t>Login.java file:</a:t>
            </a:r>
            <a:r>
              <a:rPr lang="en-GB" sz="2400" dirty="0" smtClean="0">
                <a:latin typeface="Cambria" panose="02040503050406030204" pitchFamily="18" charset="0"/>
                <a:ea typeface="Cambria" panose="02040503050406030204" pitchFamily="18" charset="0"/>
              </a:rPr>
              <a:t> a </a:t>
            </a:r>
            <a:r>
              <a:rPr lang="en-GB" sz="2400" dirty="0" err="1" smtClean="0">
                <a:latin typeface="Cambria" panose="02040503050406030204" pitchFamily="18" charset="0"/>
                <a:ea typeface="Cambria" panose="02040503050406030204" pitchFamily="18" charset="0"/>
              </a:rPr>
              <a:t>servlet</a:t>
            </a:r>
            <a:r>
              <a:rPr lang="en-GB" sz="2400" dirty="0" smtClean="0">
                <a:latin typeface="Cambria" panose="02040503050406030204" pitchFamily="18" charset="0"/>
                <a:ea typeface="Cambria" panose="02040503050406030204" pitchFamily="18" charset="0"/>
              </a:rPr>
              <a:t> class for processing the response. If password is servlet, it will forward the request to the welcome servlet.</a:t>
            </a:r>
          </a:p>
          <a:p>
            <a:pPr algn="just"/>
            <a:r>
              <a:rPr lang="en-GB" sz="2400" b="1" dirty="0" smtClean="0">
                <a:latin typeface="Cambria" panose="02040503050406030204" pitchFamily="18" charset="0"/>
                <a:ea typeface="Cambria" panose="02040503050406030204" pitchFamily="18" charset="0"/>
              </a:rPr>
              <a:t>WelcomeServlet.java file:</a:t>
            </a:r>
            <a:r>
              <a:rPr lang="en-GB" sz="2400" dirty="0" smtClean="0">
                <a:latin typeface="Cambria" panose="02040503050406030204" pitchFamily="18" charset="0"/>
                <a:ea typeface="Cambria" panose="02040503050406030204" pitchFamily="18" charset="0"/>
              </a:rPr>
              <a:t> a </a:t>
            </a:r>
            <a:r>
              <a:rPr lang="en-GB" sz="2400" dirty="0" err="1" smtClean="0">
                <a:latin typeface="Cambria" panose="02040503050406030204" pitchFamily="18" charset="0"/>
                <a:ea typeface="Cambria" panose="02040503050406030204" pitchFamily="18" charset="0"/>
              </a:rPr>
              <a:t>servlet</a:t>
            </a:r>
            <a:r>
              <a:rPr lang="en-GB" sz="2400" dirty="0" smtClean="0">
                <a:latin typeface="Cambria" panose="02040503050406030204" pitchFamily="18" charset="0"/>
                <a:ea typeface="Cambria" panose="02040503050406030204" pitchFamily="18" charset="0"/>
              </a:rPr>
              <a:t> class for displaying the welcome message.</a:t>
            </a:r>
          </a:p>
          <a:p>
            <a:pPr algn="just"/>
            <a:r>
              <a:rPr lang="en-GB" sz="2400" b="1" dirty="0" smtClean="0">
                <a:latin typeface="Cambria" panose="02040503050406030204" pitchFamily="18" charset="0"/>
                <a:ea typeface="Cambria" panose="02040503050406030204" pitchFamily="18" charset="0"/>
              </a:rPr>
              <a:t>web.xml file:</a:t>
            </a:r>
            <a:r>
              <a:rPr lang="en-GB" sz="2400" dirty="0" smtClean="0">
                <a:latin typeface="Cambria" panose="02040503050406030204" pitchFamily="18" charset="0"/>
                <a:ea typeface="Cambria" panose="02040503050406030204" pitchFamily="18" charset="0"/>
              </a:rPr>
              <a:t> a deployment descriptor file that contains the information about the </a:t>
            </a:r>
            <a:r>
              <a:rPr lang="en-GB" sz="2400" dirty="0" err="1" smtClean="0">
                <a:latin typeface="Cambria" panose="02040503050406030204" pitchFamily="18" charset="0"/>
                <a:ea typeface="Cambria" panose="02040503050406030204" pitchFamily="18" charset="0"/>
              </a:rPr>
              <a:t>servlet</a:t>
            </a:r>
            <a:r>
              <a:rPr lang="en-GB" sz="2400" dirty="0" smtClean="0">
                <a:latin typeface="Cambria" panose="02040503050406030204" pitchFamily="18" charset="0"/>
                <a:ea typeface="Cambria" panose="02040503050406030204" pitchFamily="18" charset="0"/>
              </a:rPr>
              <a:t>.</a:t>
            </a:r>
          </a:p>
          <a:p>
            <a:pPr algn="just"/>
            <a:endParaRPr lang="en-US" sz="24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38</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3352" y="116632"/>
            <a:ext cx="3889648" cy="504056"/>
          </a:xfrm>
        </p:spPr>
        <p:txBody>
          <a:bodyPr/>
          <a:lstStyle/>
          <a:p>
            <a:r>
              <a:rPr lang="en-GB" sz="4000" b="1" dirty="0" smtClean="0">
                <a:latin typeface="Cambria" panose="02040503050406030204" pitchFamily="18" charset="0"/>
                <a:ea typeface="Cambria" panose="02040503050406030204" pitchFamily="18" charset="0"/>
              </a:rPr>
              <a:t> Example</a:t>
            </a:r>
            <a:endParaRPr lang="en-US" sz="4000" b="1"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39</a:t>
            </a:fld>
            <a:endParaRPr lang="en-US" altLang="en-US"/>
          </a:p>
        </p:txBody>
      </p:sp>
      <p:pic>
        <p:nvPicPr>
          <p:cNvPr id="5" name="Content Placeholder 4" descr="RequestDispatcher interface"/>
          <p:cNvPicPr>
            <a:picLocks noGrp="1"/>
          </p:cNvPicPr>
          <p:nvPr>
            <p:ph idx="1"/>
          </p:nvPr>
        </p:nvPicPr>
        <p:blipFill>
          <a:blip r:embed="rId2"/>
          <a:srcRect/>
          <a:stretch>
            <a:fillRect/>
          </a:stretch>
        </p:blipFill>
        <p:spPr bwMode="auto">
          <a:xfrm>
            <a:off x="2208176" y="1052736"/>
            <a:ext cx="6915150" cy="37623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116633"/>
            <a:ext cx="2592288" cy="360040"/>
          </a:xfrm>
        </p:spPr>
        <p:txBody>
          <a:bodyPr/>
          <a:lstStyle/>
          <a:p>
            <a:pPr algn="just"/>
            <a:r>
              <a:rPr lang="en-GB" sz="3600" b="1" dirty="0" smtClean="0">
                <a:solidFill>
                  <a:schemeClr val="accent5"/>
                </a:solidFill>
                <a:latin typeface="Cambria" panose="02040503050406030204" pitchFamily="18" charset="0"/>
                <a:ea typeface="Cambria" panose="02040503050406030204" pitchFamily="18" charset="0"/>
              </a:rPr>
              <a:t>Example</a:t>
            </a:r>
            <a:endParaRPr lang="en-US" sz="36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134797" y="1412776"/>
            <a:ext cx="4364449" cy="1985264"/>
          </a:xfrm>
        </p:spPr>
        <p:txBody>
          <a:bodyPr/>
          <a:lstStyle/>
          <a:p>
            <a:pPr algn="just"/>
            <a:r>
              <a:rPr lang="en-US" sz="2000" b="1" dirty="0" smtClean="0">
                <a:latin typeface="Cambria" panose="02040503050406030204" pitchFamily="18" charset="0"/>
                <a:ea typeface="Cambria" panose="02040503050406030204" pitchFamily="18" charset="0"/>
              </a:rPr>
              <a:t>index.html</a:t>
            </a:r>
            <a:endParaRPr lang="en-US" sz="2000" dirty="0" smtClean="0">
              <a:latin typeface="Cambria" panose="02040503050406030204" pitchFamily="18" charset="0"/>
              <a:ea typeface="Cambria" panose="02040503050406030204" pitchFamily="18" charset="0"/>
            </a:endParaRPr>
          </a:p>
          <a:p>
            <a:pPr algn="just">
              <a:spcBef>
                <a:spcPts val="0"/>
              </a:spcBef>
              <a:buNone/>
            </a:pPr>
            <a:r>
              <a:rPr lang="en-US" sz="1600" dirty="0" smtClean="0">
                <a:latin typeface="Cambria" panose="02040503050406030204" pitchFamily="18" charset="0"/>
                <a:ea typeface="Cambria" panose="02040503050406030204" pitchFamily="18" charset="0"/>
              </a:rPr>
              <a:t>&lt;form action="servlet1" method="post"&gt;  </a:t>
            </a:r>
          </a:p>
          <a:p>
            <a:pPr algn="just">
              <a:spcBef>
                <a:spcPts val="0"/>
              </a:spcBef>
              <a:buNone/>
            </a:pPr>
            <a:r>
              <a:rPr lang="en-US" sz="1600" dirty="0" smtClean="0">
                <a:latin typeface="Cambria" panose="02040503050406030204" pitchFamily="18" charset="0"/>
                <a:ea typeface="Cambria" panose="02040503050406030204" pitchFamily="18" charset="0"/>
              </a:rPr>
              <a:t>Name:&lt;input type="text" name="</a:t>
            </a:r>
            <a:r>
              <a:rPr lang="en-US" sz="1600" dirty="0" err="1" smtClean="0">
                <a:latin typeface="Cambria" panose="02040503050406030204" pitchFamily="18" charset="0"/>
                <a:ea typeface="Cambria" panose="02040503050406030204" pitchFamily="18" charset="0"/>
              </a:rPr>
              <a:t>userName</a:t>
            </a:r>
            <a:r>
              <a:rPr lang="en-US" sz="1600" dirty="0" smtClean="0">
                <a:latin typeface="Cambria" panose="02040503050406030204" pitchFamily="18" charset="0"/>
                <a:ea typeface="Cambria" panose="02040503050406030204" pitchFamily="18" charset="0"/>
              </a:rPr>
              <a:t>"/&gt;&lt;</a:t>
            </a:r>
            <a:r>
              <a:rPr lang="en-US" sz="1600" dirty="0" err="1" smtClean="0">
                <a:latin typeface="Cambria" panose="02040503050406030204" pitchFamily="18" charset="0"/>
                <a:ea typeface="Cambria" panose="02040503050406030204" pitchFamily="18" charset="0"/>
              </a:rPr>
              <a:t>br</a:t>
            </a:r>
            <a:r>
              <a:rPr lang="en-US" sz="1600" dirty="0" smtClean="0">
                <a:latin typeface="Cambria" panose="02040503050406030204" pitchFamily="18" charset="0"/>
                <a:ea typeface="Cambria" panose="02040503050406030204" pitchFamily="18" charset="0"/>
              </a:rPr>
              <a:t>/&gt;  </a:t>
            </a:r>
          </a:p>
          <a:p>
            <a:pPr algn="just">
              <a:spcBef>
                <a:spcPts val="0"/>
              </a:spcBef>
              <a:buNone/>
            </a:pPr>
            <a:r>
              <a:rPr lang="en-US" sz="1600" dirty="0" smtClean="0">
                <a:latin typeface="Cambria" panose="02040503050406030204" pitchFamily="18" charset="0"/>
                <a:ea typeface="Cambria" panose="02040503050406030204" pitchFamily="18" charset="0"/>
              </a:rPr>
              <a:t>Password:&lt;input type="password" name="</a:t>
            </a:r>
            <a:r>
              <a:rPr lang="en-US" sz="1600" dirty="0" err="1" smtClean="0">
                <a:latin typeface="Cambria" panose="02040503050406030204" pitchFamily="18" charset="0"/>
                <a:ea typeface="Cambria" panose="02040503050406030204" pitchFamily="18" charset="0"/>
              </a:rPr>
              <a:t>userPass</a:t>
            </a:r>
            <a:r>
              <a:rPr lang="en-US" sz="1600" dirty="0" smtClean="0">
                <a:latin typeface="Cambria" panose="02040503050406030204" pitchFamily="18" charset="0"/>
                <a:ea typeface="Cambria" panose="02040503050406030204" pitchFamily="18" charset="0"/>
              </a:rPr>
              <a:t>"/&gt;&lt;</a:t>
            </a:r>
            <a:r>
              <a:rPr lang="en-US" sz="1600" dirty="0" err="1" smtClean="0">
                <a:latin typeface="Cambria" panose="02040503050406030204" pitchFamily="18" charset="0"/>
                <a:ea typeface="Cambria" panose="02040503050406030204" pitchFamily="18" charset="0"/>
              </a:rPr>
              <a:t>br</a:t>
            </a:r>
            <a:r>
              <a:rPr lang="en-US" sz="1600" dirty="0" smtClean="0">
                <a:latin typeface="Cambria" panose="02040503050406030204" pitchFamily="18" charset="0"/>
                <a:ea typeface="Cambria" panose="02040503050406030204" pitchFamily="18" charset="0"/>
              </a:rPr>
              <a:t>/&gt;  </a:t>
            </a:r>
          </a:p>
          <a:p>
            <a:pPr algn="just">
              <a:spcBef>
                <a:spcPts val="0"/>
              </a:spcBef>
              <a:buNone/>
            </a:pPr>
            <a:r>
              <a:rPr lang="en-US" sz="1600" dirty="0" smtClean="0">
                <a:latin typeface="Cambria" panose="02040503050406030204" pitchFamily="18" charset="0"/>
                <a:ea typeface="Cambria" panose="02040503050406030204" pitchFamily="18" charset="0"/>
              </a:rPr>
              <a:t>&lt;input type="submit" value="login"/&gt;  </a:t>
            </a:r>
          </a:p>
          <a:p>
            <a:pPr algn="just">
              <a:spcBef>
                <a:spcPts val="0"/>
              </a:spcBef>
              <a:buNone/>
            </a:pPr>
            <a:r>
              <a:rPr lang="en-US" sz="1600" dirty="0" smtClean="0">
                <a:latin typeface="Cambria" panose="02040503050406030204" pitchFamily="18" charset="0"/>
                <a:ea typeface="Cambria" panose="02040503050406030204" pitchFamily="18" charset="0"/>
              </a:rPr>
              <a:t>&lt;/form&gt;  </a:t>
            </a:r>
          </a:p>
          <a:p>
            <a:pPr marL="0" indent="0" algn="just">
              <a:buNone/>
            </a:pPr>
            <a:r>
              <a:rPr lang="en-US" sz="1600" dirty="0" smtClean="0">
                <a:latin typeface="Cambria" panose="02040503050406030204" pitchFamily="18" charset="0"/>
                <a:ea typeface="Cambria" panose="02040503050406030204" pitchFamily="18" charset="0"/>
              </a:rPr>
              <a:t>  </a:t>
            </a:r>
          </a:p>
          <a:p>
            <a:pPr algn="just"/>
            <a:endParaRPr lang="en-US" sz="20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40</a:t>
            </a:fld>
            <a:endParaRPr lang="en-US" altLang="en-US">
              <a:latin typeface="Cambria" panose="02040503050406030204" pitchFamily="18" charset="0"/>
              <a:ea typeface="Cambria" panose="02040503050406030204" pitchFamily="18" charset="0"/>
            </a:endParaRPr>
          </a:p>
        </p:txBody>
      </p:sp>
      <p:sp>
        <p:nvSpPr>
          <p:cNvPr id="5" name="Rectangle 4"/>
          <p:cNvSpPr/>
          <p:nvPr/>
        </p:nvSpPr>
        <p:spPr>
          <a:xfrm>
            <a:off x="4499246" y="116633"/>
            <a:ext cx="7824192" cy="6063198"/>
          </a:xfrm>
          <a:prstGeom prst="rect">
            <a:avLst/>
          </a:prstGeom>
        </p:spPr>
        <p:txBody>
          <a:bodyPr wrap="square">
            <a:spAutoFit/>
          </a:bodyPr>
          <a:lstStyle/>
          <a:p>
            <a:pPr marL="0" indent="0" algn="just">
              <a:buNone/>
            </a:pPr>
            <a:r>
              <a:rPr lang="en-US" sz="2000" b="1" dirty="0">
                <a:latin typeface="Cambria" panose="02040503050406030204" pitchFamily="18" charset="0"/>
                <a:ea typeface="Cambria" panose="02040503050406030204" pitchFamily="18" charset="0"/>
              </a:rPr>
              <a:t>Login.java</a:t>
            </a:r>
            <a:endParaRPr lang="en-US" sz="2000" dirty="0">
              <a:latin typeface="Cambria" panose="02040503050406030204" pitchFamily="18" charset="0"/>
              <a:ea typeface="Cambria" panose="02040503050406030204" pitchFamily="18" charset="0"/>
            </a:endParaRPr>
          </a:p>
          <a:p>
            <a:pPr algn="just">
              <a:spcBef>
                <a:spcPts val="0"/>
              </a:spcBef>
              <a:buNone/>
            </a:pPr>
            <a:r>
              <a:rPr lang="en-US" sz="1600" b="1" dirty="0">
                <a:latin typeface="Cambria" panose="02040503050406030204" pitchFamily="18" charset="0"/>
                <a:ea typeface="Cambria" panose="02040503050406030204" pitchFamily="18" charset="0"/>
              </a:rPr>
              <a:t>import</a:t>
            </a:r>
            <a:r>
              <a:rPr lang="en-US" sz="1600" dirty="0">
                <a:latin typeface="Cambria" panose="02040503050406030204" pitchFamily="18" charset="0"/>
                <a:ea typeface="Cambria" panose="02040503050406030204" pitchFamily="18" charset="0"/>
              </a:rPr>
              <a:t> java.io.*;  </a:t>
            </a:r>
          </a:p>
          <a:p>
            <a:pPr algn="just">
              <a:spcBef>
                <a:spcPts val="0"/>
              </a:spcBef>
              <a:buNone/>
            </a:pPr>
            <a:r>
              <a:rPr lang="en-US" sz="1600" b="1" dirty="0">
                <a:latin typeface="Cambria" panose="02040503050406030204" pitchFamily="18" charset="0"/>
                <a:ea typeface="Cambria" panose="02040503050406030204" pitchFamily="18" charset="0"/>
              </a:rPr>
              <a:t>import</a:t>
            </a:r>
            <a:r>
              <a:rPr lang="en-US" sz="1600" dirty="0">
                <a:latin typeface="Cambria" panose="02040503050406030204" pitchFamily="18" charset="0"/>
                <a:ea typeface="Cambria" panose="02040503050406030204" pitchFamily="18" charset="0"/>
              </a:rPr>
              <a:t> javax.servlet.*;  </a:t>
            </a:r>
          </a:p>
          <a:p>
            <a:pPr algn="just">
              <a:spcBef>
                <a:spcPts val="0"/>
              </a:spcBef>
              <a:buNone/>
            </a:pPr>
            <a:r>
              <a:rPr lang="en-US" sz="1600" b="1" dirty="0">
                <a:latin typeface="Cambria" panose="02040503050406030204" pitchFamily="18" charset="0"/>
                <a:ea typeface="Cambria" panose="02040503050406030204" pitchFamily="18" charset="0"/>
              </a:rPr>
              <a:t>import</a:t>
            </a:r>
            <a:r>
              <a:rPr lang="en-US" sz="1600" dirty="0">
                <a:latin typeface="Cambria" panose="02040503050406030204" pitchFamily="18" charset="0"/>
                <a:ea typeface="Cambria" panose="02040503050406030204" pitchFamily="18" charset="0"/>
              </a:rPr>
              <a:t> javax.servlet.http.*;  </a:t>
            </a:r>
          </a:p>
          <a:p>
            <a:pPr algn="just">
              <a:spcBef>
                <a:spcPts val="0"/>
              </a:spcBef>
              <a:buNone/>
            </a:pPr>
            <a:r>
              <a:rPr lang="en-US" sz="1600" dirty="0">
                <a:latin typeface="Cambria" panose="02040503050406030204" pitchFamily="18" charset="0"/>
                <a:ea typeface="Cambria" panose="02040503050406030204" pitchFamily="18" charset="0"/>
              </a:rPr>
              <a:t> </a:t>
            </a:r>
          </a:p>
          <a:p>
            <a:pPr algn="just">
              <a:spcBef>
                <a:spcPts val="0"/>
              </a:spcBef>
              <a:buNone/>
            </a:pPr>
            <a:r>
              <a:rPr lang="en-US" sz="1600" b="1" dirty="0">
                <a:latin typeface="Cambria" panose="02040503050406030204" pitchFamily="18" charset="0"/>
                <a:ea typeface="Cambria" panose="02040503050406030204" pitchFamily="18" charset="0"/>
              </a:rPr>
              <a:t>public </a:t>
            </a:r>
            <a:r>
              <a:rPr lang="en-US" sz="1600" dirty="0">
                <a:latin typeface="Cambria" panose="02040503050406030204" pitchFamily="18" charset="0"/>
                <a:ea typeface="Cambria" panose="02040503050406030204" pitchFamily="18" charset="0"/>
              </a:rPr>
              <a:t> </a:t>
            </a:r>
            <a:r>
              <a:rPr lang="en-US" sz="1600" b="1" dirty="0">
                <a:latin typeface="Cambria" panose="02040503050406030204" pitchFamily="18" charset="0"/>
                <a:ea typeface="Cambria" panose="02040503050406030204" pitchFamily="18" charset="0"/>
              </a:rPr>
              <a:t>class</a:t>
            </a:r>
            <a:r>
              <a:rPr lang="en-US" sz="1600" dirty="0">
                <a:latin typeface="Cambria" panose="02040503050406030204" pitchFamily="18" charset="0"/>
                <a:ea typeface="Cambria" panose="02040503050406030204" pitchFamily="18" charset="0"/>
              </a:rPr>
              <a:t> Login </a:t>
            </a:r>
            <a:r>
              <a:rPr lang="en-US" sz="1600" b="1" dirty="0">
                <a:latin typeface="Cambria" panose="02040503050406030204" pitchFamily="18" charset="0"/>
                <a:ea typeface="Cambria" panose="02040503050406030204" pitchFamily="18" charset="0"/>
              </a:rPr>
              <a:t>extends</a:t>
            </a:r>
            <a:r>
              <a:rPr lang="en-US" sz="1600" dirty="0">
                <a:latin typeface="Cambria" panose="02040503050406030204" pitchFamily="18" charset="0"/>
                <a:ea typeface="Cambria" panose="02040503050406030204" pitchFamily="18" charset="0"/>
              </a:rPr>
              <a:t> HttpServlet {  </a:t>
            </a:r>
          </a:p>
          <a:p>
            <a:pPr algn="just">
              <a:spcBef>
                <a:spcPts val="0"/>
              </a:spcBef>
              <a:buNone/>
            </a:pPr>
            <a:r>
              <a:rPr lang="en-US" sz="1600" dirty="0">
                <a:latin typeface="Cambria" panose="02040503050406030204" pitchFamily="18" charset="0"/>
                <a:ea typeface="Cambria" panose="02040503050406030204" pitchFamily="18" charset="0"/>
              </a:rPr>
              <a:t>           </a:t>
            </a:r>
            <a:r>
              <a:rPr lang="en-US" sz="1600" b="1" dirty="0">
                <a:latin typeface="Cambria" panose="02040503050406030204" pitchFamily="18" charset="0"/>
                <a:ea typeface="Cambria" panose="02040503050406030204" pitchFamily="18" charset="0"/>
              </a:rPr>
              <a:t>public</a:t>
            </a:r>
            <a:r>
              <a:rPr lang="en-US" sz="1600" dirty="0">
                <a:latin typeface="Cambria" panose="02040503050406030204" pitchFamily="18" charset="0"/>
                <a:ea typeface="Cambria" panose="02040503050406030204" pitchFamily="18" charset="0"/>
              </a:rPr>
              <a:t> </a:t>
            </a:r>
            <a:r>
              <a:rPr lang="en-US" sz="1600" b="1" dirty="0">
                <a:latin typeface="Cambria" panose="02040503050406030204" pitchFamily="18" charset="0"/>
                <a:ea typeface="Cambria" panose="02040503050406030204" pitchFamily="18" charset="0"/>
              </a:rPr>
              <a:t>void</a:t>
            </a:r>
            <a:r>
              <a:rPr lang="en-US" sz="1600" dirty="0">
                <a:latin typeface="Cambria" panose="02040503050406030204" pitchFamily="18" charset="0"/>
                <a:ea typeface="Cambria" panose="02040503050406030204" pitchFamily="18" charset="0"/>
              </a:rPr>
              <a:t> doPost(HttpServletRequest request, HttpServletResponse response</a:t>
            </a:r>
            <a:r>
              <a:rPr lang="en-US" sz="1600" dirty="0" smtClean="0">
                <a:latin typeface="Cambria" panose="02040503050406030204" pitchFamily="18" charset="0"/>
                <a:ea typeface="Cambria" panose="02040503050406030204" pitchFamily="18" charset="0"/>
              </a:rPr>
              <a:t>)</a:t>
            </a:r>
            <a:r>
              <a:rPr lang="en-US" sz="1600" dirty="0">
                <a:latin typeface="Cambria" panose="02040503050406030204" pitchFamily="18" charset="0"/>
                <a:ea typeface="Cambria" panose="02040503050406030204" pitchFamily="18" charset="0"/>
              </a:rPr>
              <a:t>  </a:t>
            </a:r>
            <a:r>
              <a:rPr lang="en-US" sz="1600" b="1" dirty="0">
                <a:latin typeface="Cambria" panose="02040503050406030204" pitchFamily="18" charset="0"/>
                <a:ea typeface="Cambria" panose="02040503050406030204" pitchFamily="18" charset="0"/>
              </a:rPr>
              <a:t>throws</a:t>
            </a:r>
            <a:r>
              <a:rPr lang="en-US" sz="1600" dirty="0">
                <a:latin typeface="Cambria" panose="02040503050406030204" pitchFamily="18" charset="0"/>
                <a:ea typeface="Cambria" panose="02040503050406030204" pitchFamily="18" charset="0"/>
              </a:rPr>
              <a:t> ServletException, IOException {  </a:t>
            </a:r>
          </a:p>
          <a:p>
            <a:pPr algn="just">
              <a:spcBef>
                <a:spcPts val="0"/>
              </a:spcBef>
              <a:buNone/>
            </a:pPr>
            <a:r>
              <a:rPr lang="en-US" sz="1600" dirty="0">
                <a:latin typeface="Cambria" panose="02040503050406030204" pitchFamily="18" charset="0"/>
                <a:ea typeface="Cambria" panose="02040503050406030204" pitchFamily="18" charset="0"/>
              </a:rPr>
              <a:t>                  response.setContentType("text/html");  </a:t>
            </a:r>
          </a:p>
          <a:p>
            <a:pPr algn="just">
              <a:spcBef>
                <a:spcPts val="0"/>
              </a:spcBef>
              <a:buNone/>
            </a:pPr>
            <a:r>
              <a:rPr lang="en-US" sz="1600" dirty="0">
                <a:latin typeface="Cambria" panose="02040503050406030204" pitchFamily="18" charset="0"/>
                <a:ea typeface="Cambria" panose="02040503050406030204" pitchFamily="18" charset="0"/>
              </a:rPr>
              <a:t>                  PrintWriter out = response.getWriter();  </a:t>
            </a:r>
          </a:p>
          <a:p>
            <a:pPr algn="just">
              <a:spcBef>
                <a:spcPts val="0"/>
              </a:spcBef>
              <a:buNone/>
            </a:pPr>
            <a:r>
              <a:rPr lang="en-US" sz="1600" dirty="0">
                <a:latin typeface="Cambria" panose="02040503050406030204" pitchFamily="18" charset="0"/>
                <a:ea typeface="Cambria" panose="02040503050406030204" pitchFamily="18" charset="0"/>
              </a:rPr>
              <a:t>                   String n=request.getParameter("userName");  </a:t>
            </a:r>
          </a:p>
          <a:p>
            <a:pPr algn="just">
              <a:spcBef>
                <a:spcPts val="0"/>
              </a:spcBef>
              <a:buNone/>
            </a:pPr>
            <a:r>
              <a:rPr lang="en-US" sz="1600" dirty="0">
                <a:latin typeface="Cambria" panose="02040503050406030204" pitchFamily="18" charset="0"/>
                <a:ea typeface="Cambria" panose="02040503050406030204" pitchFamily="18" charset="0"/>
              </a:rPr>
              <a:t>                   String p=request.getParameter("userPass");  </a:t>
            </a:r>
          </a:p>
          <a:p>
            <a:pPr algn="just">
              <a:spcBef>
                <a:spcPts val="0"/>
              </a:spcBef>
              <a:buNone/>
            </a:pPr>
            <a:r>
              <a:rPr lang="en-US" sz="1600" dirty="0">
                <a:latin typeface="Cambria" panose="02040503050406030204" pitchFamily="18" charset="0"/>
                <a:ea typeface="Cambria" panose="02040503050406030204" pitchFamily="18" charset="0"/>
              </a:rPr>
              <a:t>                   </a:t>
            </a:r>
            <a:r>
              <a:rPr lang="en-US" sz="1600" b="1" dirty="0">
                <a:latin typeface="Cambria" panose="02040503050406030204" pitchFamily="18" charset="0"/>
                <a:ea typeface="Cambria" panose="02040503050406030204" pitchFamily="18" charset="0"/>
              </a:rPr>
              <a:t>if</a:t>
            </a:r>
            <a:r>
              <a:rPr lang="en-US" sz="1600" dirty="0">
                <a:latin typeface="Cambria" panose="02040503050406030204" pitchFamily="18" charset="0"/>
                <a:ea typeface="Cambria" panose="02040503050406030204" pitchFamily="18" charset="0"/>
              </a:rPr>
              <a:t>(p.equals("servlet") {  </a:t>
            </a:r>
          </a:p>
          <a:p>
            <a:pPr algn="just">
              <a:spcBef>
                <a:spcPts val="0"/>
              </a:spcBef>
              <a:buNone/>
            </a:pPr>
            <a:r>
              <a:rPr lang="en-US" sz="1600" dirty="0">
                <a:latin typeface="Cambria" panose="02040503050406030204" pitchFamily="18" charset="0"/>
                <a:ea typeface="Cambria" panose="02040503050406030204" pitchFamily="18" charset="0"/>
              </a:rPr>
              <a:t>                         RequestDispatcher rd=request.getRequestDispatcher</a:t>
            </a:r>
            <a:r>
              <a:rPr lang="en-US" sz="1600" dirty="0" smtClean="0">
                <a:latin typeface="Cambria" panose="02040503050406030204" pitchFamily="18" charset="0"/>
                <a:ea typeface="Cambria" panose="02040503050406030204" pitchFamily="18" charset="0"/>
              </a:rPr>
              <a:t>(“</a:t>
            </a:r>
            <a:r>
              <a:rPr lang="en-US" sz="1600" b="1" dirty="0" smtClean="0">
                <a:latin typeface="Cambria" panose="02040503050406030204" pitchFamily="18" charset="0"/>
                <a:ea typeface="Cambria" panose="02040503050406030204" pitchFamily="18" charset="0"/>
              </a:rPr>
              <a:t>WelcomeServlet</a:t>
            </a:r>
            <a:r>
              <a:rPr lang="en-US" sz="1600" dirty="0" smtClean="0">
                <a:latin typeface="Cambria" panose="02040503050406030204" pitchFamily="18" charset="0"/>
                <a:ea typeface="Cambria" panose="02040503050406030204" pitchFamily="18" charset="0"/>
              </a:rPr>
              <a:t>");</a:t>
            </a:r>
            <a:r>
              <a:rPr lang="en-US" sz="1600" dirty="0">
                <a:latin typeface="Cambria" panose="02040503050406030204" pitchFamily="18" charset="0"/>
                <a:ea typeface="Cambria" panose="02040503050406030204" pitchFamily="18" charset="0"/>
              </a:rPr>
              <a:t>  </a:t>
            </a:r>
          </a:p>
          <a:p>
            <a:pPr algn="just">
              <a:spcBef>
                <a:spcPts val="0"/>
              </a:spcBef>
              <a:buNone/>
            </a:pPr>
            <a:r>
              <a:rPr lang="en-US" sz="1600" dirty="0">
                <a:latin typeface="Cambria" panose="02040503050406030204" pitchFamily="18" charset="0"/>
                <a:ea typeface="Cambria" panose="02040503050406030204" pitchFamily="18" charset="0"/>
              </a:rPr>
              <a:t>                         rd.forward(request, response);  </a:t>
            </a:r>
          </a:p>
          <a:p>
            <a:pPr algn="just">
              <a:spcBef>
                <a:spcPts val="0"/>
              </a:spcBef>
              <a:buNone/>
            </a:pPr>
            <a:r>
              <a:rPr lang="en-US" sz="1600" dirty="0">
                <a:latin typeface="Cambria" panose="02040503050406030204" pitchFamily="18" charset="0"/>
                <a:ea typeface="Cambria" panose="02040503050406030204" pitchFamily="18" charset="0"/>
              </a:rPr>
              <a:t>                    }  </a:t>
            </a:r>
          </a:p>
          <a:p>
            <a:pPr algn="just">
              <a:spcBef>
                <a:spcPts val="0"/>
              </a:spcBef>
              <a:buNone/>
            </a:pPr>
            <a:r>
              <a:rPr lang="en-US" sz="1600" dirty="0">
                <a:latin typeface="Cambria" panose="02040503050406030204" pitchFamily="18" charset="0"/>
                <a:ea typeface="Cambria" panose="02040503050406030204" pitchFamily="18" charset="0"/>
              </a:rPr>
              <a:t>                  </a:t>
            </a:r>
            <a:r>
              <a:rPr lang="en-US" sz="1600" b="1" dirty="0">
                <a:latin typeface="Cambria" panose="02040503050406030204" pitchFamily="18" charset="0"/>
                <a:ea typeface="Cambria" panose="02040503050406030204" pitchFamily="18" charset="0"/>
              </a:rPr>
              <a:t>else </a:t>
            </a:r>
            <a:r>
              <a:rPr lang="en-US" sz="1600" dirty="0">
                <a:latin typeface="Cambria" panose="02040503050406030204" pitchFamily="18" charset="0"/>
                <a:ea typeface="Cambria" panose="02040503050406030204" pitchFamily="18" charset="0"/>
              </a:rPr>
              <a:t>{  </a:t>
            </a:r>
          </a:p>
          <a:p>
            <a:pPr algn="just">
              <a:spcBef>
                <a:spcPts val="0"/>
              </a:spcBef>
              <a:buNone/>
            </a:pPr>
            <a:r>
              <a:rPr lang="en-US" sz="1600" dirty="0">
                <a:latin typeface="Cambria" panose="02040503050406030204" pitchFamily="18" charset="0"/>
                <a:ea typeface="Cambria" panose="02040503050406030204" pitchFamily="18" charset="0"/>
              </a:rPr>
              <a:t>                         out.print("Sorry </a:t>
            </a:r>
            <a:r>
              <a:rPr lang="en-US" sz="1600" dirty="0" smtClean="0">
                <a:latin typeface="Cambria" panose="02040503050406030204" pitchFamily="18" charset="0"/>
                <a:ea typeface="Cambria" panose="02040503050406030204" pitchFamily="18" charset="0"/>
              </a:rPr>
              <a:t>Password</a:t>
            </a:r>
            <a:r>
              <a:rPr lang="en-US" sz="1600" dirty="0">
                <a:latin typeface="Cambria" panose="02040503050406030204" pitchFamily="18" charset="0"/>
                <a:ea typeface="Cambria" panose="02040503050406030204" pitchFamily="18" charset="0"/>
              </a:rPr>
              <a:t> Error!");  </a:t>
            </a:r>
          </a:p>
          <a:p>
            <a:pPr algn="just">
              <a:spcBef>
                <a:spcPts val="0"/>
              </a:spcBef>
              <a:buNone/>
            </a:pPr>
            <a:r>
              <a:rPr lang="en-US" sz="1600" dirty="0">
                <a:latin typeface="Cambria" panose="02040503050406030204" pitchFamily="18" charset="0"/>
                <a:ea typeface="Cambria" panose="02040503050406030204" pitchFamily="18" charset="0"/>
              </a:rPr>
              <a:t>                         RequestDispatcher rd=request.getRequestDispatcher("/index.html");  </a:t>
            </a:r>
          </a:p>
          <a:p>
            <a:pPr algn="just">
              <a:spcBef>
                <a:spcPts val="0"/>
              </a:spcBef>
              <a:buNone/>
            </a:pPr>
            <a:r>
              <a:rPr lang="en-US" sz="1600" dirty="0">
                <a:latin typeface="Cambria" panose="02040503050406030204" pitchFamily="18" charset="0"/>
                <a:ea typeface="Cambria" panose="02040503050406030204" pitchFamily="18" charset="0"/>
              </a:rPr>
              <a:t>                        rd.include(request, response);  </a:t>
            </a:r>
          </a:p>
          <a:p>
            <a:pPr algn="just">
              <a:spcBef>
                <a:spcPts val="0"/>
              </a:spcBef>
              <a:buNone/>
            </a:pPr>
            <a:r>
              <a:rPr lang="en-US" sz="1600" dirty="0">
                <a:latin typeface="Cambria" panose="02040503050406030204" pitchFamily="18" charset="0"/>
                <a:ea typeface="Cambria" panose="02040503050406030204" pitchFamily="18" charset="0"/>
              </a:rPr>
              <a:t>                 }  </a:t>
            </a:r>
          </a:p>
          <a:p>
            <a:pPr algn="just">
              <a:spcBef>
                <a:spcPts val="0"/>
              </a:spcBef>
              <a:buNone/>
            </a:pPr>
            <a:r>
              <a:rPr lang="en-US" sz="1600" dirty="0">
                <a:latin typeface="Cambria" panose="02040503050406030204" pitchFamily="18" charset="0"/>
                <a:ea typeface="Cambria" panose="02040503050406030204" pitchFamily="18" charset="0"/>
              </a:rPr>
              <a:t>         }  </a:t>
            </a:r>
          </a:p>
          <a:p>
            <a:pPr algn="just">
              <a:spcBef>
                <a:spcPts val="0"/>
              </a:spcBef>
              <a:buNone/>
            </a:pPr>
            <a:r>
              <a:rPr lang="en-US" sz="1600" dirty="0">
                <a:latin typeface="Cambria" panose="02040503050406030204" pitchFamily="18" charset="0"/>
                <a:ea typeface="Cambria" panose="02040503050406030204" pitchFamily="18" charset="0"/>
              </a:rPr>
              <a:t>  }</a:t>
            </a:r>
            <a:endParaRPr lang="en-US" sz="1600" dirty="0"/>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803"/>
            <a:ext cx="2377480" cy="471587"/>
          </a:xfrm>
        </p:spPr>
        <p:txBody>
          <a:bodyPr/>
          <a:lstStyle/>
          <a:p>
            <a:r>
              <a:rPr lang="en-GB" sz="3600" b="1" dirty="0" smtClean="0">
                <a:solidFill>
                  <a:schemeClr val="accent5"/>
                </a:solidFill>
                <a:latin typeface="Cambria" panose="02040503050406030204" pitchFamily="18" charset="0"/>
                <a:ea typeface="Cambria" panose="02040503050406030204" pitchFamily="18" charset="0"/>
              </a:rPr>
              <a:t>Example</a:t>
            </a:r>
            <a:endParaRPr lang="en-US" sz="36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119336" y="489548"/>
            <a:ext cx="5616624" cy="4351338"/>
          </a:xfrm>
        </p:spPr>
        <p:txBody>
          <a:bodyPr/>
          <a:lstStyle/>
          <a:p>
            <a:r>
              <a:rPr lang="en-US" sz="2000" b="1" u="sng" dirty="0" smtClean="0">
                <a:latin typeface="Cambria" panose="02040503050406030204" pitchFamily="18" charset="0"/>
                <a:ea typeface="Cambria" panose="02040503050406030204" pitchFamily="18" charset="0"/>
              </a:rPr>
              <a:t>WelcomeServlet.java</a:t>
            </a:r>
            <a:endParaRPr lang="en-US" sz="2000" u="sng" dirty="0" smtClean="0">
              <a:latin typeface="Cambria" panose="02040503050406030204" pitchFamily="18" charset="0"/>
              <a:ea typeface="Cambria" panose="02040503050406030204" pitchFamily="18" charset="0"/>
            </a:endParaRPr>
          </a:p>
          <a:p>
            <a:pPr>
              <a:spcBef>
                <a:spcPts val="0"/>
              </a:spcBef>
              <a:buNone/>
            </a:pPr>
            <a:r>
              <a:rPr lang="en-US" sz="1600" b="1" dirty="0" smtClean="0">
                <a:latin typeface="Cambria" panose="02040503050406030204" pitchFamily="18" charset="0"/>
                <a:ea typeface="Cambria" panose="02040503050406030204" pitchFamily="18" charset="0"/>
              </a:rPr>
              <a:t>import</a:t>
            </a:r>
            <a:r>
              <a:rPr lang="en-US" sz="1600" dirty="0" smtClean="0">
                <a:latin typeface="Cambria" panose="02040503050406030204" pitchFamily="18" charset="0"/>
                <a:ea typeface="Cambria" panose="02040503050406030204" pitchFamily="18" charset="0"/>
              </a:rPr>
              <a:t> java.io.*;  </a:t>
            </a:r>
          </a:p>
          <a:p>
            <a:pPr>
              <a:spcBef>
                <a:spcPts val="0"/>
              </a:spcBef>
              <a:buNone/>
            </a:pPr>
            <a:r>
              <a:rPr lang="en-US" sz="1600" b="1" dirty="0" smtClean="0">
                <a:latin typeface="Cambria" panose="02040503050406030204" pitchFamily="18" charset="0"/>
                <a:ea typeface="Cambria" panose="02040503050406030204" pitchFamily="18" charset="0"/>
              </a:rPr>
              <a:t>import</a:t>
            </a:r>
            <a:r>
              <a:rPr lang="en-US" sz="1600" dirty="0" smtClean="0">
                <a:latin typeface="Cambria" panose="02040503050406030204" pitchFamily="18" charset="0"/>
                <a:ea typeface="Cambria" panose="02040503050406030204" pitchFamily="18" charset="0"/>
              </a:rPr>
              <a:t> </a:t>
            </a:r>
            <a:r>
              <a:rPr lang="en-US" sz="1600" dirty="0" err="1" smtClean="0">
                <a:latin typeface="Cambria" panose="02040503050406030204" pitchFamily="18" charset="0"/>
                <a:ea typeface="Cambria" panose="02040503050406030204" pitchFamily="18" charset="0"/>
              </a:rPr>
              <a:t>javax.servlet</a:t>
            </a:r>
            <a:r>
              <a:rPr lang="en-US" sz="1600" dirty="0" smtClean="0">
                <a:latin typeface="Cambria" panose="02040503050406030204" pitchFamily="18" charset="0"/>
                <a:ea typeface="Cambria" panose="02040503050406030204" pitchFamily="18" charset="0"/>
              </a:rPr>
              <a:t>.*;  </a:t>
            </a:r>
          </a:p>
          <a:p>
            <a:pPr>
              <a:spcBef>
                <a:spcPts val="0"/>
              </a:spcBef>
              <a:buNone/>
            </a:pPr>
            <a:r>
              <a:rPr lang="en-US" sz="1600" b="1" dirty="0" smtClean="0">
                <a:latin typeface="Cambria" panose="02040503050406030204" pitchFamily="18" charset="0"/>
                <a:ea typeface="Cambria" panose="02040503050406030204" pitchFamily="18" charset="0"/>
              </a:rPr>
              <a:t>import</a:t>
            </a:r>
            <a:r>
              <a:rPr lang="en-US" sz="1600" dirty="0" smtClean="0">
                <a:latin typeface="Cambria" panose="02040503050406030204" pitchFamily="18" charset="0"/>
                <a:ea typeface="Cambria" panose="02040503050406030204" pitchFamily="18" charset="0"/>
              </a:rPr>
              <a:t> </a:t>
            </a:r>
            <a:r>
              <a:rPr lang="en-US" sz="1600" dirty="0" err="1" smtClean="0">
                <a:latin typeface="Cambria" panose="02040503050406030204" pitchFamily="18" charset="0"/>
                <a:ea typeface="Cambria" panose="02040503050406030204" pitchFamily="18" charset="0"/>
              </a:rPr>
              <a:t>javax.servlet.http</a:t>
            </a:r>
            <a:r>
              <a:rPr lang="en-US" sz="1600" dirty="0" smtClean="0">
                <a:latin typeface="Cambria" panose="02040503050406030204" pitchFamily="18" charset="0"/>
                <a:ea typeface="Cambria" panose="02040503050406030204" pitchFamily="18" charset="0"/>
              </a:rPr>
              <a:t>.*;  </a:t>
            </a:r>
          </a:p>
          <a:p>
            <a:pPr>
              <a:spcBef>
                <a:spcPts val="0"/>
              </a:spcBef>
              <a:buNone/>
            </a:pPr>
            <a:r>
              <a:rPr lang="en-US" sz="1600" dirty="0" smtClean="0">
                <a:latin typeface="Cambria" panose="02040503050406030204" pitchFamily="18" charset="0"/>
                <a:ea typeface="Cambria" panose="02040503050406030204" pitchFamily="18" charset="0"/>
              </a:rPr>
              <a:t>  </a:t>
            </a:r>
          </a:p>
          <a:p>
            <a:pPr>
              <a:spcBef>
                <a:spcPts val="0"/>
              </a:spcBef>
              <a:buNone/>
            </a:pPr>
            <a:r>
              <a:rPr lang="en-US" sz="1600" b="1" dirty="0" smtClean="0">
                <a:latin typeface="Cambria" panose="02040503050406030204" pitchFamily="18" charset="0"/>
                <a:ea typeface="Cambria" panose="02040503050406030204" pitchFamily="18" charset="0"/>
              </a:rPr>
              <a:t>public</a:t>
            </a:r>
            <a:r>
              <a:rPr lang="en-US" sz="1600" dirty="0" smtClean="0">
                <a:latin typeface="Cambria" panose="02040503050406030204" pitchFamily="18" charset="0"/>
                <a:ea typeface="Cambria" panose="02040503050406030204" pitchFamily="18" charset="0"/>
              </a:rPr>
              <a:t> </a:t>
            </a:r>
            <a:r>
              <a:rPr lang="en-US" sz="1600" b="1" dirty="0" smtClean="0">
                <a:latin typeface="Cambria" panose="02040503050406030204" pitchFamily="18" charset="0"/>
                <a:ea typeface="Cambria" panose="02040503050406030204" pitchFamily="18" charset="0"/>
              </a:rPr>
              <a:t>class</a:t>
            </a:r>
            <a:r>
              <a:rPr lang="en-US" sz="1600" dirty="0" smtClean="0">
                <a:latin typeface="Cambria" panose="02040503050406030204" pitchFamily="18" charset="0"/>
                <a:ea typeface="Cambria" panose="02040503050406030204" pitchFamily="18" charset="0"/>
              </a:rPr>
              <a:t> WelcomeServlet </a:t>
            </a:r>
            <a:r>
              <a:rPr lang="en-US" sz="1600" b="1" dirty="0" smtClean="0">
                <a:latin typeface="Cambria" panose="02040503050406030204" pitchFamily="18" charset="0"/>
                <a:ea typeface="Cambria" panose="02040503050406030204" pitchFamily="18" charset="0"/>
              </a:rPr>
              <a:t>extends</a:t>
            </a:r>
            <a:r>
              <a:rPr lang="en-US" sz="1600" dirty="0" smtClean="0">
                <a:latin typeface="Cambria" panose="02040503050406030204" pitchFamily="18" charset="0"/>
                <a:ea typeface="Cambria" panose="02040503050406030204" pitchFamily="18" charset="0"/>
              </a:rPr>
              <a:t> HttpServlet {    </a:t>
            </a:r>
          </a:p>
          <a:p>
            <a:pPr>
              <a:spcBef>
                <a:spcPts val="0"/>
              </a:spcBef>
              <a:buNone/>
            </a:pPr>
            <a:r>
              <a:rPr lang="en-US" sz="1600" dirty="0" smtClean="0">
                <a:latin typeface="Cambria" panose="02040503050406030204" pitchFamily="18" charset="0"/>
                <a:ea typeface="Cambria" panose="02040503050406030204" pitchFamily="18" charset="0"/>
              </a:rPr>
              <a:t>   </a:t>
            </a:r>
            <a:r>
              <a:rPr lang="en-US" sz="1600" b="1" dirty="0" smtClean="0">
                <a:latin typeface="Cambria" panose="02040503050406030204" pitchFamily="18" charset="0"/>
                <a:ea typeface="Cambria" panose="02040503050406030204" pitchFamily="18" charset="0"/>
              </a:rPr>
              <a:t>public</a:t>
            </a:r>
            <a:r>
              <a:rPr lang="en-US" sz="1600" dirty="0" smtClean="0">
                <a:latin typeface="Cambria" panose="02040503050406030204" pitchFamily="18" charset="0"/>
                <a:ea typeface="Cambria" panose="02040503050406030204" pitchFamily="18" charset="0"/>
              </a:rPr>
              <a:t> </a:t>
            </a:r>
            <a:r>
              <a:rPr lang="en-US" sz="1600" b="1" dirty="0" smtClean="0">
                <a:latin typeface="Cambria" panose="02040503050406030204" pitchFamily="18" charset="0"/>
                <a:ea typeface="Cambria" panose="02040503050406030204" pitchFamily="18" charset="0"/>
              </a:rPr>
              <a:t>void</a:t>
            </a:r>
            <a:r>
              <a:rPr lang="en-US" sz="1600" dirty="0" smtClean="0">
                <a:latin typeface="Cambria" panose="02040503050406030204" pitchFamily="18" charset="0"/>
                <a:ea typeface="Cambria" panose="02040503050406030204" pitchFamily="18" charset="0"/>
              </a:rPr>
              <a:t> </a:t>
            </a:r>
            <a:r>
              <a:rPr lang="en-US" sz="1600" dirty="0" err="1" smtClean="0">
                <a:latin typeface="Cambria" panose="02040503050406030204" pitchFamily="18" charset="0"/>
                <a:ea typeface="Cambria" panose="02040503050406030204" pitchFamily="18" charset="0"/>
              </a:rPr>
              <a:t>doPost</a:t>
            </a:r>
            <a:r>
              <a:rPr lang="en-US" sz="1600" dirty="0" smtClean="0">
                <a:latin typeface="Cambria" panose="02040503050406030204" pitchFamily="18" charset="0"/>
                <a:ea typeface="Cambria" panose="02040503050406030204" pitchFamily="18" charset="0"/>
              </a:rPr>
              <a:t>(</a:t>
            </a:r>
            <a:r>
              <a:rPr lang="en-US" sz="1600" dirty="0" err="1" smtClean="0">
                <a:latin typeface="Cambria" panose="02040503050406030204" pitchFamily="18" charset="0"/>
                <a:ea typeface="Cambria" panose="02040503050406030204" pitchFamily="18" charset="0"/>
              </a:rPr>
              <a:t>HttpServletRequest</a:t>
            </a:r>
            <a:r>
              <a:rPr lang="en-US" sz="1600" dirty="0" smtClean="0">
                <a:latin typeface="Cambria" panose="02040503050406030204" pitchFamily="18" charset="0"/>
                <a:ea typeface="Cambria" panose="02040503050406030204" pitchFamily="18" charset="0"/>
              </a:rPr>
              <a:t> request, </a:t>
            </a:r>
            <a:r>
              <a:rPr lang="en-US" sz="1600" dirty="0" err="1" smtClean="0">
                <a:latin typeface="Cambria" panose="02040503050406030204" pitchFamily="18" charset="0"/>
                <a:ea typeface="Cambria" panose="02040503050406030204" pitchFamily="18" charset="0"/>
              </a:rPr>
              <a:t>HttpServletRespose</a:t>
            </a:r>
            <a:r>
              <a:rPr lang="en-US" sz="1600" dirty="0" smtClean="0">
                <a:latin typeface="Cambria" panose="02040503050406030204" pitchFamily="18" charset="0"/>
                <a:ea typeface="Cambria" panose="02040503050406030204" pitchFamily="18" charset="0"/>
              </a:rPr>
              <a:t> response)  </a:t>
            </a:r>
          </a:p>
          <a:p>
            <a:pPr>
              <a:spcBef>
                <a:spcPts val="0"/>
              </a:spcBef>
              <a:buNone/>
            </a:pPr>
            <a:r>
              <a:rPr lang="en-US" sz="1600" dirty="0" smtClean="0">
                <a:latin typeface="Cambria" panose="02040503050406030204" pitchFamily="18" charset="0"/>
                <a:ea typeface="Cambria" panose="02040503050406030204" pitchFamily="18" charset="0"/>
              </a:rPr>
              <a:t>        </a:t>
            </a:r>
            <a:r>
              <a:rPr lang="en-US" sz="1600" b="1" dirty="0" smtClean="0">
                <a:latin typeface="Cambria" panose="02040503050406030204" pitchFamily="18" charset="0"/>
                <a:ea typeface="Cambria" panose="02040503050406030204" pitchFamily="18" charset="0"/>
              </a:rPr>
              <a:t>throws</a:t>
            </a:r>
            <a:r>
              <a:rPr lang="en-US" sz="1600" dirty="0" smtClean="0">
                <a:latin typeface="Cambria" panose="02040503050406030204" pitchFamily="18" charset="0"/>
                <a:ea typeface="Cambria" panose="02040503050406030204" pitchFamily="18" charset="0"/>
              </a:rPr>
              <a:t> ServletException, IOException {    </a:t>
            </a:r>
          </a:p>
          <a:p>
            <a:pPr>
              <a:spcBef>
                <a:spcPts val="0"/>
              </a:spcBef>
              <a:buNone/>
            </a:pPr>
            <a:r>
              <a:rPr lang="en-US" sz="1600" dirty="0" smtClean="0">
                <a:latin typeface="Cambria" panose="02040503050406030204" pitchFamily="18" charset="0"/>
                <a:ea typeface="Cambria" panose="02040503050406030204" pitchFamily="18" charset="0"/>
              </a:rPr>
              <a:t>    </a:t>
            </a:r>
            <a:r>
              <a:rPr lang="en-US" sz="1600" dirty="0" err="1" smtClean="0">
                <a:latin typeface="Cambria" panose="02040503050406030204" pitchFamily="18" charset="0"/>
                <a:ea typeface="Cambria" panose="02040503050406030204" pitchFamily="18" charset="0"/>
              </a:rPr>
              <a:t>response.setContentType</a:t>
            </a:r>
            <a:r>
              <a:rPr lang="en-US" sz="1600" dirty="0" smtClean="0">
                <a:latin typeface="Cambria" panose="02040503050406030204" pitchFamily="18" charset="0"/>
                <a:ea typeface="Cambria" panose="02040503050406030204" pitchFamily="18" charset="0"/>
              </a:rPr>
              <a:t>("text/html");  </a:t>
            </a:r>
          </a:p>
          <a:p>
            <a:pPr>
              <a:spcBef>
                <a:spcPts val="0"/>
              </a:spcBef>
              <a:buNone/>
            </a:pPr>
            <a:r>
              <a:rPr lang="en-US" sz="1600" dirty="0" smtClean="0">
                <a:latin typeface="Cambria" panose="02040503050406030204" pitchFamily="18" charset="0"/>
                <a:ea typeface="Cambria" panose="02040503050406030204" pitchFamily="18" charset="0"/>
              </a:rPr>
              <a:t>    PrintWriter out = response.getWriter();            </a:t>
            </a:r>
          </a:p>
          <a:p>
            <a:pPr>
              <a:spcBef>
                <a:spcPts val="0"/>
              </a:spcBef>
              <a:buNone/>
            </a:pPr>
            <a:r>
              <a:rPr lang="en-US" sz="1600" dirty="0" smtClean="0">
                <a:latin typeface="Cambria" panose="02040503050406030204" pitchFamily="18" charset="0"/>
                <a:ea typeface="Cambria" panose="02040503050406030204" pitchFamily="18" charset="0"/>
              </a:rPr>
              <a:t>    String n=</a:t>
            </a:r>
            <a:r>
              <a:rPr lang="en-US" sz="1600" dirty="0" err="1" smtClean="0">
                <a:latin typeface="Cambria" panose="02040503050406030204" pitchFamily="18" charset="0"/>
                <a:ea typeface="Cambria" panose="02040503050406030204" pitchFamily="18" charset="0"/>
              </a:rPr>
              <a:t>request.getParameter</a:t>
            </a:r>
            <a:r>
              <a:rPr lang="en-US" sz="1600" dirty="0" smtClean="0">
                <a:latin typeface="Cambria" panose="02040503050406030204" pitchFamily="18" charset="0"/>
                <a:ea typeface="Cambria" panose="02040503050406030204" pitchFamily="18" charset="0"/>
              </a:rPr>
              <a:t>("</a:t>
            </a:r>
            <a:r>
              <a:rPr lang="en-US" sz="1600" dirty="0" err="1" smtClean="0">
                <a:latin typeface="Cambria" panose="02040503050406030204" pitchFamily="18" charset="0"/>
                <a:ea typeface="Cambria" panose="02040503050406030204" pitchFamily="18" charset="0"/>
              </a:rPr>
              <a:t>userName</a:t>
            </a:r>
            <a:r>
              <a:rPr lang="en-US" sz="1600" dirty="0" smtClean="0">
                <a:latin typeface="Cambria" panose="02040503050406030204" pitchFamily="18" charset="0"/>
                <a:ea typeface="Cambria" panose="02040503050406030204" pitchFamily="18" charset="0"/>
              </a:rPr>
              <a:t>");  </a:t>
            </a:r>
          </a:p>
          <a:p>
            <a:pPr>
              <a:spcBef>
                <a:spcPts val="0"/>
              </a:spcBef>
              <a:buNone/>
            </a:pPr>
            <a:r>
              <a:rPr lang="en-US" sz="1600" dirty="0" smtClean="0">
                <a:latin typeface="Cambria" panose="02040503050406030204" pitchFamily="18" charset="0"/>
                <a:ea typeface="Cambria" panose="02040503050406030204" pitchFamily="18" charset="0"/>
              </a:rPr>
              <a:t>    </a:t>
            </a:r>
            <a:r>
              <a:rPr lang="en-US" sz="1600" dirty="0" err="1" smtClean="0">
                <a:latin typeface="Cambria" panose="02040503050406030204" pitchFamily="18" charset="0"/>
                <a:ea typeface="Cambria" panose="02040503050406030204" pitchFamily="18" charset="0"/>
              </a:rPr>
              <a:t>out.print</a:t>
            </a:r>
            <a:r>
              <a:rPr lang="en-US" sz="1600" dirty="0" smtClean="0">
                <a:latin typeface="Cambria" panose="02040503050406030204" pitchFamily="18" charset="0"/>
                <a:ea typeface="Cambria" panose="02040503050406030204" pitchFamily="18" charset="0"/>
              </a:rPr>
              <a:t>("Welcome "+n);  </a:t>
            </a:r>
          </a:p>
          <a:p>
            <a:pPr>
              <a:spcBef>
                <a:spcPts val="0"/>
              </a:spcBef>
              <a:buNone/>
            </a:pPr>
            <a:r>
              <a:rPr lang="en-US" sz="1600" dirty="0" smtClean="0">
                <a:latin typeface="Cambria" panose="02040503050406030204" pitchFamily="18" charset="0"/>
                <a:ea typeface="Cambria" panose="02040503050406030204" pitchFamily="18" charset="0"/>
              </a:rPr>
              <a:t>    }    </a:t>
            </a:r>
          </a:p>
          <a:p>
            <a:pPr>
              <a:spcBef>
                <a:spcPts val="0"/>
              </a:spcBef>
              <a:buNone/>
            </a:pPr>
            <a:r>
              <a:rPr lang="en-US" sz="1600" dirty="0" smtClean="0">
                <a:latin typeface="Cambria" panose="02040503050406030204" pitchFamily="18" charset="0"/>
                <a:ea typeface="Cambria" panose="02040503050406030204" pitchFamily="18" charset="0"/>
              </a:rPr>
              <a:t>}  </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41</a:t>
            </a:fld>
            <a:endParaRPr lang="en-US" altLang="en-US">
              <a:latin typeface="Cambria" panose="02040503050406030204" pitchFamily="18" charset="0"/>
              <a:ea typeface="Cambria" panose="02040503050406030204" pitchFamily="18" charset="0"/>
            </a:endParaRPr>
          </a:p>
        </p:txBody>
      </p:sp>
      <p:sp>
        <p:nvSpPr>
          <p:cNvPr id="5" name="Rectangle 4"/>
          <p:cNvSpPr/>
          <p:nvPr/>
        </p:nvSpPr>
        <p:spPr>
          <a:xfrm>
            <a:off x="6457256" y="0"/>
            <a:ext cx="4896544" cy="6001643"/>
          </a:xfrm>
          <a:prstGeom prst="rect">
            <a:avLst/>
          </a:prstGeom>
        </p:spPr>
        <p:txBody>
          <a:bodyPr wrap="square">
            <a:spAutoFit/>
          </a:bodyPr>
          <a:lstStyle/>
          <a:p>
            <a:pPr>
              <a:spcBef>
                <a:spcPts val="0"/>
              </a:spcBef>
              <a:buNone/>
            </a:pPr>
            <a:r>
              <a:rPr lang="en-US" sz="1600" b="1" u="sng" dirty="0">
                <a:latin typeface="Cambria" panose="02040503050406030204" pitchFamily="18" charset="0"/>
                <a:ea typeface="Cambria" panose="02040503050406030204" pitchFamily="18" charset="0"/>
              </a:rPr>
              <a:t>web.xml</a:t>
            </a:r>
            <a:endParaRPr lang="en-US" sz="1600" u="sng" dirty="0">
              <a:latin typeface="Cambria" panose="02040503050406030204" pitchFamily="18" charset="0"/>
              <a:ea typeface="Cambria" panose="02040503050406030204" pitchFamily="18" charset="0"/>
            </a:endParaRPr>
          </a:p>
          <a:p>
            <a:pPr>
              <a:spcBef>
                <a:spcPts val="0"/>
              </a:spcBef>
              <a:buNone/>
            </a:pPr>
            <a:r>
              <a:rPr lang="en-US" sz="1600" dirty="0">
                <a:latin typeface="Cambria" panose="02040503050406030204" pitchFamily="18" charset="0"/>
                <a:ea typeface="Cambria" panose="02040503050406030204" pitchFamily="18" charset="0"/>
              </a:rPr>
              <a:t>&lt;web-app&gt;  </a:t>
            </a:r>
          </a:p>
          <a:p>
            <a:pPr>
              <a:spcBef>
                <a:spcPts val="0"/>
              </a:spcBef>
              <a:buNone/>
            </a:pPr>
            <a:r>
              <a:rPr lang="en-US" sz="1600" dirty="0">
                <a:latin typeface="Cambria" panose="02040503050406030204" pitchFamily="18" charset="0"/>
                <a:ea typeface="Cambria" panose="02040503050406030204" pitchFamily="18" charset="0"/>
              </a:rPr>
              <a:t> &lt;servlet&gt;  </a:t>
            </a:r>
          </a:p>
          <a:p>
            <a:pPr>
              <a:spcBef>
                <a:spcPts val="0"/>
              </a:spcBef>
              <a:buNone/>
            </a:pPr>
            <a:r>
              <a:rPr lang="en-US" sz="1600" dirty="0">
                <a:latin typeface="Cambria" panose="02040503050406030204" pitchFamily="18" charset="0"/>
                <a:ea typeface="Cambria" panose="02040503050406030204" pitchFamily="18" charset="0"/>
              </a:rPr>
              <a:t>    &lt;servlet-name&gt;Login&lt;/servlet-name&gt;  </a:t>
            </a:r>
          </a:p>
          <a:p>
            <a:pPr>
              <a:spcBef>
                <a:spcPts val="0"/>
              </a:spcBef>
              <a:buNone/>
            </a:pPr>
            <a:r>
              <a:rPr lang="en-US" sz="1600" dirty="0">
                <a:latin typeface="Cambria" panose="02040503050406030204" pitchFamily="18" charset="0"/>
                <a:ea typeface="Cambria" panose="02040503050406030204" pitchFamily="18" charset="0"/>
              </a:rPr>
              <a:t>    &lt;servlet-</a:t>
            </a:r>
            <a:r>
              <a:rPr lang="en-US" sz="1600" b="1" dirty="0">
                <a:latin typeface="Cambria" panose="02040503050406030204" pitchFamily="18" charset="0"/>
                <a:ea typeface="Cambria" panose="02040503050406030204" pitchFamily="18" charset="0"/>
              </a:rPr>
              <a:t>class</a:t>
            </a:r>
            <a:r>
              <a:rPr lang="en-US" sz="1600" dirty="0">
                <a:latin typeface="Cambria" panose="02040503050406030204" pitchFamily="18" charset="0"/>
                <a:ea typeface="Cambria" panose="02040503050406030204" pitchFamily="18" charset="0"/>
              </a:rPr>
              <a:t>&gt;Login&lt;/servlet-</a:t>
            </a:r>
            <a:r>
              <a:rPr lang="en-US" sz="1600" b="1" dirty="0">
                <a:latin typeface="Cambria" panose="02040503050406030204" pitchFamily="18" charset="0"/>
                <a:ea typeface="Cambria" panose="02040503050406030204" pitchFamily="18" charset="0"/>
              </a:rPr>
              <a:t>class</a:t>
            </a:r>
            <a:r>
              <a:rPr lang="en-US" sz="1600" dirty="0">
                <a:latin typeface="Cambria" panose="02040503050406030204" pitchFamily="18" charset="0"/>
                <a:ea typeface="Cambria" panose="02040503050406030204" pitchFamily="18" charset="0"/>
              </a:rPr>
              <a:t>&gt;  </a:t>
            </a:r>
          </a:p>
          <a:p>
            <a:pPr>
              <a:spcBef>
                <a:spcPts val="0"/>
              </a:spcBef>
              <a:buNone/>
            </a:pPr>
            <a:r>
              <a:rPr lang="en-US" sz="1600" dirty="0">
                <a:latin typeface="Cambria" panose="02040503050406030204" pitchFamily="18" charset="0"/>
                <a:ea typeface="Cambria" panose="02040503050406030204" pitchFamily="18" charset="0"/>
              </a:rPr>
              <a:t>  &lt;/servlet&gt;  </a:t>
            </a:r>
          </a:p>
          <a:p>
            <a:pPr>
              <a:spcBef>
                <a:spcPts val="0"/>
              </a:spcBef>
              <a:buNone/>
            </a:pPr>
            <a:r>
              <a:rPr lang="en-US" sz="1600" dirty="0">
                <a:latin typeface="Cambria" panose="02040503050406030204" pitchFamily="18" charset="0"/>
                <a:ea typeface="Cambria" panose="02040503050406030204" pitchFamily="18" charset="0"/>
              </a:rPr>
              <a:t>  &lt;servlet&gt;  </a:t>
            </a:r>
          </a:p>
          <a:p>
            <a:pPr>
              <a:spcBef>
                <a:spcPts val="0"/>
              </a:spcBef>
              <a:buNone/>
            </a:pPr>
            <a:r>
              <a:rPr lang="en-US" sz="1600" dirty="0">
                <a:latin typeface="Cambria" panose="02040503050406030204" pitchFamily="18" charset="0"/>
                <a:ea typeface="Cambria" panose="02040503050406030204" pitchFamily="18" charset="0"/>
              </a:rPr>
              <a:t>    &lt;servlet-name&gt;WelcomeServlet&lt;/servlet-name&gt;  </a:t>
            </a:r>
          </a:p>
          <a:p>
            <a:pPr>
              <a:spcBef>
                <a:spcPts val="0"/>
              </a:spcBef>
              <a:buNone/>
            </a:pPr>
            <a:r>
              <a:rPr lang="en-US" sz="1600" dirty="0">
                <a:latin typeface="Cambria" panose="02040503050406030204" pitchFamily="18" charset="0"/>
                <a:ea typeface="Cambria" panose="02040503050406030204" pitchFamily="18" charset="0"/>
              </a:rPr>
              <a:t>    &lt;servlet-</a:t>
            </a:r>
            <a:r>
              <a:rPr lang="en-US" sz="1600" b="1" dirty="0">
                <a:latin typeface="Cambria" panose="02040503050406030204" pitchFamily="18" charset="0"/>
                <a:ea typeface="Cambria" panose="02040503050406030204" pitchFamily="18" charset="0"/>
              </a:rPr>
              <a:t>class</a:t>
            </a:r>
            <a:r>
              <a:rPr lang="en-US" sz="1600" dirty="0">
                <a:latin typeface="Cambria" panose="02040503050406030204" pitchFamily="18" charset="0"/>
                <a:ea typeface="Cambria" panose="02040503050406030204" pitchFamily="18" charset="0"/>
              </a:rPr>
              <a:t>&gt;WelcomeServlet&lt;/servlet-</a:t>
            </a:r>
            <a:r>
              <a:rPr lang="en-US" sz="1600" b="1" dirty="0">
                <a:latin typeface="Cambria" panose="02040503050406030204" pitchFamily="18" charset="0"/>
                <a:ea typeface="Cambria" panose="02040503050406030204" pitchFamily="18" charset="0"/>
              </a:rPr>
              <a:t>class</a:t>
            </a:r>
            <a:r>
              <a:rPr lang="en-US" sz="1600" dirty="0">
                <a:latin typeface="Cambria" panose="02040503050406030204" pitchFamily="18" charset="0"/>
                <a:ea typeface="Cambria" panose="02040503050406030204" pitchFamily="18" charset="0"/>
              </a:rPr>
              <a:t>&gt;  </a:t>
            </a:r>
          </a:p>
          <a:p>
            <a:pPr>
              <a:spcBef>
                <a:spcPts val="0"/>
              </a:spcBef>
              <a:buNone/>
            </a:pPr>
            <a:r>
              <a:rPr lang="en-US" sz="1600" dirty="0">
                <a:latin typeface="Cambria" panose="02040503050406030204" pitchFamily="18" charset="0"/>
                <a:ea typeface="Cambria" panose="02040503050406030204" pitchFamily="18" charset="0"/>
              </a:rPr>
              <a:t>  &lt;/servlet&gt;    </a:t>
            </a:r>
          </a:p>
          <a:p>
            <a:pPr>
              <a:spcBef>
                <a:spcPts val="0"/>
              </a:spcBef>
              <a:buNone/>
            </a:pPr>
            <a:r>
              <a:rPr lang="en-US" sz="1600" dirty="0">
                <a:latin typeface="Cambria" panose="02040503050406030204" pitchFamily="18" charset="0"/>
                <a:ea typeface="Cambria" panose="02040503050406030204" pitchFamily="18" charset="0"/>
              </a:rPr>
              <a:t>  </a:t>
            </a:r>
          </a:p>
          <a:p>
            <a:pPr>
              <a:spcBef>
                <a:spcPts val="0"/>
              </a:spcBef>
              <a:buNone/>
            </a:pPr>
            <a:r>
              <a:rPr lang="en-US" sz="1600" dirty="0">
                <a:latin typeface="Cambria" panose="02040503050406030204" pitchFamily="18" charset="0"/>
                <a:ea typeface="Cambria" panose="02040503050406030204" pitchFamily="18" charset="0"/>
              </a:rPr>
              <a:t>  &lt;servlet-mapping&gt;  </a:t>
            </a:r>
          </a:p>
          <a:p>
            <a:pPr>
              <a:spcBef>
                <a:spcPts val="0"/>
              </a:spcBef>
              <a:buNone/>
            </a:pPr>
            <a:r>
              <a:rPr lang="en-US" sz="1600" dirty="0">
                <a:latin typeface="Cambria" panose="02040503050406030204" pitchFamily="18" charset="0"/>
                <a:ea typeface="Cambria" panose="02040503050406030204" pitchFamily="18" charset="0"/>
              </a:rPr>
              <a:t>    &lt;servlet-name&gt;Login&lt;/servlet-name&gt;  </a:t>
            </a:r>
          </a:p>
          <a:p>
            <a:pPr>
              <a:spcBef>
                <a:spcPts val="0"/>
              </a:spcBef>
              <a:buNone/>
            </a:pPr>
            <a:r>
              <a:rPr lang="en-US" sz="1600" dirty="0">
                <a:latin typeface="Cambria" panose="02040503050406030204" pitchFamily="18" charset="0"/>
                <a:ea typeface="Cambria" panose="02040503050406030204" pitchFamily="18" charset="0"/>
              </a:rPr>
              <a:t>    &lt;url-pattern&gt;/servlet1&lt;/url-pattern&gt;  </a:t>
            </a:r>
          </a:p>
          <a:p>
            <a:pPr>
              <a:spcBef>
                <a:spcPts val="0"/>
              </a:spcBef>
              <a:buNone/>
            </a:pPr>
            <a:r>
              <a:rPr lang="en-US" sz="1600" dirty="0">
                <a:latin typeface="Cambria" panose="02040503050406030204" pitchFamily="18" charset="0"/>
                <a:ea typeface="Cambria" panose="02040503050406030204" pitchFamily="18" charset="0"/>
              </a:rPr>
              <a:t>  &lt;/servlet-mapping&gt;  </a:t>
            </a:r>
          </a:p>
          <a:p>
            <a:pPr>
              <a:spcBef>
                <a:spcPts val="0"/>
              </a:spcBef>
              <a:buNone/>
            </a:pPr>
            <a:r>
              <a:rPr lang="en-US" sz="1600" dirty="0">
                <a:latin typeface="Cambria" panose="02040503050406030204" pitchFamily="18" charset="0"/>
                <a:ea typeface="Cambria" panose="02040503050406030204" pitchFamily="18" charset="0"/>
              </a:rPr>
              <a:t>  &lt;servlet-mapping&gt;  </a:t>
            </a:r>
          </a:p>
          <a:p>
            <a:pPr>
              <a:spcBef>
                <a:spcPts val="0"/>
              </a:spcBef>
              <a:buNone/>
            </a:pPr>
            <a:r>
              <a:rPr lang="en-US" sz="1600" dirty="0">
                <a:latin typeface="Cambria" panose="02040503050406030204" pitchFamily="18" charset="0"/>
                <a:ea typeface="Cambria" panose="02040503050406030204" pitchFamily="18" charset="0"/>
              </a:rPr>
              <a:t>    &lt;servlet-name&gt;WelcomeServlet&lt;/servlet-name&gt;  </a:t>
            </a:r>
          </a:p>
          <a:p>
            <a:pPr>
              <a:spcBef>
                <a:spcPts val="0"/>
              </a:spcBef>
              <a:buNone/>
            </a:pPr>
            <a:r>
              <a:rPr lang="en-US" sz="1600" dirty="0">
                <a:latin typeface="Cambria" panose="02040503050406030204" pitchFamily="18" charset="0"/>
                <a:ea typeface="Cambria" panose="02040503050406030204" pitchFamily="18" charset="0"/>
              </a:rPr>
              <a:t>    &lt;url-pattern&gt;/servlet2&lt;/url-pattern&gt;  </a:t>
            </a:r>
          </a:p>
          <a:p>
            <a:pPr>
              <a:spcBef>
                <a:spcPts val="0"/>
              </a:spcBef>
              <a:buNone/>
            </a:pPr>
            <a:r>
              <a:rPr lang="en-US" sz="1600" dirty="0">
                <a:latin typeface="Cambria" panose="02040503050406030204" pitchFamily="18" charset="0"/>
                <a:ea typeface="Cambria" panose="02040503050406030204" pitchFamily="18" charset="0"/>
              </a:rPr>
              <a:t>  &lt;/servlet-mapping&gt;  </a:t>
            </a:r>
          </a:p>
          <a:p>
            <a:pPr>
              <a:spcBef>
                <a:spcPts val="0"/>
              </a:spcBef>
              <a:buNone/>
            </a:pPr>
            <a:r>
              <a:rPr lang="en-US" sz="1600" dirty="0">
                <a:latin typeface="Cambria" panose="02040503050406030204" pitchFamily="18" charset="0"/>
                <a:ea typeface="Cambria" panose="02040503050406030204" pitchFamily="18" charset="0"/>
              </a:rPr>
              <a:t>  </a:t>
            </a:r>
          </a:p>
          <a:p>
            <a:pPr>
              <a:spcBef>
                <a:spcPts val="0"/>
              </a:spcBef>
              <a:buNone/>
            </a:pPr>
            <a:r>
              <a:rPr lang="en-US" sz="1600" dirty="0">
                <a:latin typeface="Cambria" panose="02040503050406030204" pitchFamily="18" charset="0"/>
                <a:ea typeface="Cambria" panose="02040503050406030204" pitchFamily="18" charset="0"/>
              </a:rPr>
              <a:t>  &lt;welcome-file-list&gt;  </a:t>
            </a:r>
          </a:p>
          <a:p>
            <a:pPr>
              <a:spcBef>
                <a:spcPts val="0"/>
              </a:spcBef>
              <a:buNone/>
            </a:pPr>
            <a:r>
              <a:rPr lang="en-US" sz="1600" dirty="0">
                <a:latin typeface="Cambria" panose="02040503050406030204" pitchFamily="18" charset="0"/>
                <a:ea typeface="Cambria" panose="02040503050406030204" pitchFamily="18" charset="0"/>
              </a:rPr>
              <a:t>   &lt;welcome-file&gt;index.html&lt;/welcome-file&gt;  </a:t>
            </a:r>
          </a:p>
          <a:p>
            <a:pPr>
              <a:spcBef>
                <a:spcPts val="0"/>
              </a:spcBef>
              <a:buNone/>
            </a:pPr>
            <a:r>
              <a:rPr lang="en-US" sz="1600" dirty="0">
                <a:latin typeface="Cambria" panose="02040503050406030204" pitchFamily="18" charset="0"/>
                <a:ea typeface="Cambria" panose="02040503050406030204" pitchFamily="18" charset="0"/>
              </a:rPr>
              <a:t>  &lt;/welcome-file-list&gt;  </a:t>
            </a:r>
          </a:p>
          <a:p>
            <a:pPr>
              <a:spcBef>
                <a:spcPts val="0"/>
              </a:spcBef>
              <a:buNone/>
            </a:pPr>
            <a:r>
              <a:rPr lang="en-US" sz="1600" dirty="0">
                <a:latin typeface="Cambria" panose="02040503050406030204" pitchFamily="18" charset="0"/>
                <a:ea typeface="Cambria" panose="02040503050406030204" pitchFamily="18" charset="0"/>
              </a:rPr>
              <a:t>&lt;/web-app</a:t>
            </a:r>
            <a:r>
              <a:rPr lang="en-US" sz="1600" dirty="0" smtClean="0">
                <a:latin typeface="Cambria" panose="02040503050406030204" pitchFamily="18" charset="0"/>
                <a:ea typeface="Cambria" panose="02040503050406030204" pitchFamily="18" charset="0"/>
              </a:rPr>
              <a:t>&gt;</a:t>
            </a:r>
            <a:endParaRPr lang="en-US" sz="1600" dirty="0">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344" y="188640"/>
            <a:ext cx="5760640" cy="504056"/>
          </a:xfrm>
        </p:spPr>
        <p:txBody>
          <a:bodyPr/>
          <a:lstStyle/>
          <a:p>
            <a:r>
              <a:rPr lang="en-US" sz="3600" b="1" dirty="0" smtClean="0">
                <a:solidFill>
                  <a:schemeClr val="accent5"/>
                </a:solidFill>
                <a:latin typeface="Cambria" panose="02040503050406030204" pitchFamily="18" charset="0"/>
                <a:ea typeface="Cambria" panose="02040503050406030204" pitchFamily="18" charset="0"/>
              </a:rPr>
              <a:t>SendRedirect in servlet</a:t>
            </a:r>
            <a:endParaRPr lang="en-US" sz="36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07368" y="980729"/>
            <a:ext cx="10946432" cy="3096344"/>
          </a:xfrm>
        </p:spPr>
        <p:txBody>
          <a:bodyPr/>
          <a:lstStyle/>
          <a:p>
            <a:pPr algn="just"/>
            <a:r>
              <a:rPr lang="en-GB" dirty="0" smtClean="0">
                <a:latin typeface="Cambria" panose="02040503050406030204" pitchFamily="18" charset="0"/>
                <a:ea typeface="Cambria" panose="02040503050406030204" pitchFamily="18" charset="0"/>
              </a:rPr>
              <a:t>The </a:t>
            </a:r>
            <a:r>
              <a:rPr lang="en-GB" b="1" dirty="0" err="1" smtClean="0">
                <a:latin typeface="Cambria" panose="02040503050406030204" pitchFamily="18" charset="0"/>
                <a:ea typeface="Cambria" panose="02040503050406030204" pitchFamily="18" charset="0"/>
              </a:rPr>
              <a:t>sendRedirect</a:t>
            </a:r>
            <a:r>
              <a:rPr lang="en-GB" b="1" dirty="0" smtClean="0">
                <a:latin typeface="Cambria" panose="02040503050406030204" pitchFamily="18" charset="0"/>
                <a:ea typeface="Cambria" panose="02040503050406030204" pitchFamily="18" charset="0"/>
              </a:rPr>
              <a:t>()</a:t>
            </a:r>
            <a:r>
              <a:rPr lang="en-GB" dirty="0" smtClean="0">
                <a:latin typeface="Cambria" panose="02040503050406030204" pitchFamily="18" charset="0"/>
                <a:ea typeface="Cambria" panose="02040503050406030204" pitchFamily="18" charset="0"/>
              </a:rPr>
              <a:t> method of </a:t>
            </a:r>
            <a:r>
              <a:rPr lang="en-GB" b="1" dirty="0" err="1" smtClean="0">
                <a:latin typeface="Cambria" panose="02040503050406030204" pitchFamily="18" charset="0"/>
                <a:ea typeface="Cambria" panose="02040503050406030204" pitchFamily="18" charset="0"/>
              </a:rPr>
              <a:t>HttpServletResponse</a:t>
            </a:r>
            <a:r>
              <a:rPr lang="en-GB" dirty="0" smtClean="0">
                <a:latin typeface="Cambria" panose="02040503050406030204" pitchFamily="18" charset="0"/>
                <a:ea typeface="Cambria" panose="02040503050406030204" pitchFamily="18" charset="0"/>
              </a:rPr>
              <a:t> interface can be used to redirect response to another resource, it may be </a:t>
            </a:r>
            <a:r>
              <a:rPr lang="en-GB" dirty="0" err="1" smtClean="0">
                <a:latin typeface="Cambria" panose="02040503050406030204" pitchFamily="18" charset="0"/>
                <a:ea typeface="Cambria" panose="02040503050406030204" pitchFamily="18" charset="0"/>
              </a:rPr>
              <a:t>servlet</a:t>
            </a:r>
            <a:r>
              <a:rPr lang="en-GB" dirty="0" smtClean="0">
                <a:latin typeface="Cambria" panose="02040503050406030204" pitchFamily="18" charset="0"/>
                <a:ea typeface="Cambria" panose="02040503050406030204" pitchFamily="18" charset="0"/>
              </a:rPr>
              <a:t>, </a:t>
            </a:r>
            <a:r>
              <a:rPr lang="en-GB" dirty="0" err="1" smtClean="0">
                <a:latin typeface="Cambria" panose="02040503050406030204" pitchFamily="18" charset="0"/>
                <a:ea typeface="Cambria" panose="02040503050406030204" pitchFamily="18" charset="0"/>
              </a:rPr>
              <a:t>jsp</a:t>
            </a:r>
            <a:r>
              <a:rPr lang="en-GB" dirty="0" smtClean="0">
                <a:latin typeface="Cambria" panose="02040503050406030204" pitchFamily="18" charset="0"/>
                <a:ea typeface="Cambria" panose="02040503050406030204" pitchFamily="18" charset="0"/>
              </a:rPr>
              <a:t> or html file.</a:t>
            </a:r>
          </a:p>
          <a:p>
            <a:pPr algn="just"/>
            <a:r>
              <a:rPr lang="en-GB" dirty="0" smtClean="0">
                <a:latin typeface="Cambria" panose="02040503050406030204" pitchFamily="18" charset="0"/>
                <a:ea typeface="Cambria" panose="02040503050406030204" pitchFamily="18" charset="0"/>
              </a:rPr>
              <a:t>It accepts relative as well as absolute URL.</a:t>
            </a:r>
          </a:p>
          <a:p>
            <a:pPr algn="just"/>
            <a:r>
              <a:rPr lang="en-GB" dirty="0" smtClean="0">
                <a:latin typeface="Cambria" panose="02040503050406030204" pitchFamily="18" charset="0"/>
                <a:ea typeface="Cambria" panose="02040503050406030204" pitchFamily="18" charset="0"/>
              </a:rPr>
              <a:t>It works at client side because it uses the url bar of the browser to make another request. </a:t>
            </a:r>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42</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59" y="31685"/>
            <a:ext cx="2377480" cy="543595"/>
          </a:xfrm>
        </p:spPr>
        <p:txBody>
          <a:bodyPr/>
          <a:lstStyle/>
          <a:p>
            <a:r>
              <a:rPr lang="en-GB" sz="3600" b="1" dirty="0" smtClean="0">
                <a:solidFill>
                  <a:schemeClr val="accent5"/>
                </a:solidFill>
                <a:latin typeface="Cambria" panose="02040503050406030204" pitchFamily="18" charset="0"/>
                <a:ea typeface="Cambria" panose="02040503050406030204" pitchFamily="18" charset="0"/>
              </a:rPr>
              <a:t/>
            </a:r>
            <a:br>
              <a:rPr lang="en-GB" sz="3600" b="1" dirty="0" smtClean="0">
                <a:solidFill>
                  <a:schemeClr val="accent5"/>
                </a:solidFill>
                <a:latin typeface="Cambria" panose="02040503050406030204" pitchFamily="18" charset="0"/>
                <a:ea typeface="Cambria" panose="02040503050406030204" pitchFamily="18" charset="0"/>
              </a:rPr>
            </a:br>
            <a:r>
              <a:rPr lang="en-GB" sz="3600" b="1" dirty="0" smtClean="0">
                <a:solidFill>
                  <a:schemeClr val="accent5"/>
                </a:solidFill>
                <a:latin typeface="Cambria" panose="02040503050406030204" pitchFamily="18" charset="0"/>
                <a:ea typeface="Cambria" panose="02040503050406030204" pitchFamily="18" charset="0"/>
              </a:rPr>
              <a:t>Example</a:t>
            </a:r>
            <a:br>
              <a:rPr lang="en-GB" sz="3600" b="1" dirty="0" smtClean="0">
                <a:solidFill>
                  <a:schemeClr val="accent5"/>
                </a:solidFill>
                <a:latin typeface="Cambria" panose="02040503050406030204" pitchFamily="18" charset="0"/>
                <a:ea typeface="Cambria" panose="02040503050406030204" pitchFamily="18" charset="0"/>
              </a:rPr>
            </a:br>
            <a:endParaRPr lang="en-US" sz="36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191344" y="609139"/>
            <a:ext cx="6912768" cy="4351338"/>
          </a:xfrm>
        </p:spPr>
        <p:txBody>
          <a:bodyPr/>
          <a:lstStyle/>
          <a:p>
            <a:pPr>
              <a:spcBef>
                <a:spcPts val="0"/>
              </a:spcBef>
            </a:pPr>
            <a:r>
              <a:rPr lang="en-US" sz="1800" b="1" u="sng" dirty="0" smtClean="0">
                <a:latin typeface="Cambria" panose="02040503050406030204" pitchFamily="18" charset="0"/>
                <a:ea typeface="Cambria" panose="02040503050406030204" pitchFamily="18" charset="0"/>
              </a:rPr>
              <a:t>DemoServlet.java</a:t>
            </a:r>
            <a:endParaRPr lang="en-GB" sz="1800" b="1" u="sng" dirty="0" smtClean="0">
              <a:latin typeface="Cambria" panose="02040503050406030204" pitchFamily="18" charset="0"/>
              <a:ea typeface="Cambria" panose="02040503050406030204" pitchFamily="18" charset="0"/>
            </a:endParaRPr>
          </a:p>
          <a:p>
            <a:pPr>
              <a:spcBef>
                <a:spcPts val="0"/>
              </a:spcBef>
              <a:buNone/>
            </a:pPr>
            <a:r>
              <a:rPr lang="en-GB" sz="1800" dirty="0" smtClean="0">
                <a:latin typeface="Cambria" panose="02040503050406030204" pitchFamily="18" charset="0"/>
                <a:ea typeface="Cambria" panose="02040503050406030204" pitchFamily="18" charset="0"/>
              </a:rPr>
              <a:t> </a:t>
            </a:r>
            <a:r>
              <a:rPr lang="en-GB" sz="1800" b="1" dirty="0" smtClean="0">
                <a:latin typeface="Cambria" panose="02040503050406030204" pitchFamily="18" charset="0"/>
                <a:ea typeface="Cambria" panose="02040503050406030204" pitchFamily="18" charset="0"/>
              </a:rPr>
              <a:t>import</a:t>
            </a:r>
            <a:r>
              <a:rPr lang="en-GB" sz="1800" dirty="0" smtClean="0">
                <a:latin typeface="Cambria" panose="02040503050406030204" pitchFamily="18" charset="0"/>
                <a:ea typeface="Cambria" panose="02040503050406030204" pitchFamily="18" charset="0"/>
              </a:rPr>
              <a:t> java.io.*;  </a:t>
            </a:r>
          </a:p>
          <a:p>
            <a:pPr>
              <a:spcBef>
                <a:spcPts val="0"/>
              </a:spcBef>
              <a:buNone/>
            </a:pPr>
            <a:r>
              <a:rPr lang="en-GB" sz="1800" b="1" dirty="0" smtClean="0">
                <a:latin typeface="Cambria" panose="02040503050406030204" pitchFamily="18" charset="0"/>
                <a:ea typeface="Cambria" panose="02040503050406030204" pitchFamily="18" charset="0"/>
              </a:rPr>
              <a:t>import</a:t>
            </a:r>
            <a:r>
              <a:rPr lang="en-GB" sz="1800" dirty="0" smtClean="0">
                <a:latin typeface="Cambria" panose="02040503050406030204" pitchFamily="18" charset="0"/>
                <a:ea typeface="Cambria" panose="02040503050406030204" pitchFamily="18" charset="0"/>
              </a:rPr>
              <a:t> </a:t>
            </a:r>
            <a:r>
              <a:rPr lang="en-GB" sz="1800" dirty="0" err="1" smtClean="0">
                <a:latin typeface="Cambria" panose="02040503050406030204" pitchFamily="18" charset="0"/>
                <a:ea typeface="Cambria" panose="02040503050406030204" pitchFamily="18" charset="0"/>
              </a:rPr>
              <a:t>javax.servlet</a:t>
            </a:r>
            <a:r>
              <a:rPr lang="en-GB" sz="1800" dirty="0" smtClean="0">
                <a:latin typeface="Cambria" panose="02040503050406030204" pitchFamily="18" charset="0"/>
                <a:ea typeface="Cambria" panose="02040503050406030204" pitchFamily="18" charset="0"/>
              </a:rPr>
              <a:t>.*;  </a:t>
            </a:r>
          </a:p>
          <a:p>
            <a:pPr>
              <a:spcBef>
                <a:spcPts val="0"/>
              </a:spcBef>
              <a:buNone/>
            </a:pPr>
            <a:r>
              <a:rPr lang="en-GB" sz="1800" b="1" dirty="0" smtClean="0">
                <a:latin typeface="Cambria" panose="02040503050406030204" pitchFamily="18" charset="0"/>
                <a:ea typeface="Cambria" panose="02040503050406030204" pitchFamily="18" charset="0"/>
              </a:rPr>
              <a:t>import</a:t>
            </a:r>
            <a:r>
              <a:rPr lang="en-GB" sz="1800" dirty="0" smtClean="0">
                <a:latin typeface="Cambria" panose="02040503050406030204" pitchFamily="18" charset="0"/>
                <a:ea typeface="Cambria" panose="02040503050406030204" pitchFamily="18" charset="0"/>
              </a:rPr>
              <a:t> </a:t>
            </a:r>
            <a:r>
              <a:rPr lang="en-GB" sz="1800" dirty="0" err="1" smtClean="0">
                <a:latin typeface="Cambria" panose="02040503050406030204" pitchFamily="18" charset="0"/>
                <a:ea typeface="Cambria" panose="02040503050406030204" pitchFamily="18" charset="0"/>
              </a:rPr>
              <a:t>javax.servlet.http</a:t>
            </a:r>
            <a:r>
              <a:rPr lang="en-GB" sz="1800" dirty="0" smtClean="0">
                <a:latin typeface="Cambria" panose="02040503050406030204" pitchFamily="18" charset="0"/>
                <a:ea typeface="Cambria" panose="02040503050406030204" pitchFamily="18" charset="0"/>
              </a:rPr>
              <a:t>.*;  </a:t>
            </a:r>
          </a:p>
          <a:p>
            <a:pPr>
              <a:spcBef>
                <a:spcPts val="0"/>
              </a:spcBef>
              <a:buNone/>
            </a:pPr>
            <a:r>
              <a:rPr lang="en-GB" sz="1800" dirty="0" smtClean="0">
                <a:latin typeface="Cambria" panose="02040503050406030204" pitchFamily="18" charset="0"/>
                <a:ea typeface="Cambria" panose="02040503050406030204" pitchFamily="18" charset="0"/>
              </a:rPr>
              <a:t>  </a:t>
            </a:r>
          </a:p>
          <a:p>
            <a:pPr>
              <a:spcBef>
                <a:spcPts val="0"/>
              </a:spcBef>
              <a:buNone/>
            </a:pPr>
            <a:r>
              <a:rPr lang="en-GB" sz="1800" b="1" dirty="0" smtClean="0">
                <a:latin typeface="Cambria" panose="02040503050406030204" pitchFamily="18" charset="0"/>
                <a:ea typeface="Cambria" panose="02040503050406030204" pitchFamily="18" charset="0"/>
              </a:rPr>
              <a:t>public</a:t>
            </a:r>
            <a:r>
              <a:rPr lang="en-GB" sz="1800" dirty="0" smtClean="0">
                <a:latin typeface="Cambria" panose="02040503050406030204" pitchFamily="18" charset="0"/>
                <a:ea typeface="Cambria" panose="02040503050406030204" pitchFamily="18" charset="0"/>
              </a:rPr>
              <a:t> </a:t>
            </a:r>
            <a:r>
              <a:rPr lang="en-GB" sz="1800" b="1" dirty="0" smtClean="0">
                <a:latin typeface="Cambria" panose="02040503050406030204" pitchFamily="18" charset="0"/>
                <a:ea typeface="Cambria" panose="02040503050406030204" pitchFamily="18" charset="0"/>
              </a:rPr>
              <a:t>class</a:t>
            </a:r>
            <a:r>
              <a:rPr lang="en-GB" sz="1800" dirty="0" smtClean="0">
                <a:latin typeface="Cambria" panose="02040503050406030204" pitchFamily="18" charset="0"/>
                <a:ea typeface="Cambria" panose="02040503050406030204" pitchFamily="18" charset="0"/>
              </a:rPr>
              <a:t> </a:t>
            </a:r>
            <a:r>
              <a:rPr lang="en-GB" sz="1800" dirty="0" err="1" smtClean="0">
                <a:latin typeface="Cambria" panose="02040503050406030204" pitchFamily="18" charset="0"/>
                <a:ea typeface="Cambria" panose="02040503050406030204" pitchFamily="18" charset="0"/>
              </a:rPr>
              <a:t>DemoServlet</a:t>
            </a:r>
            <a:r>
              <a:rPr lang="en-GB" sz="1800" dirty="0" smtClean="0">
                <a:latin typeface="Cambria" panose="02040503050406030204" pitchFamily="18" charset="0"/>
                <a:ea typeface="Cambria" panose="02040503050406030204" pitchFamily="18" charset="0"/>
              </a:rPr>
              <a:t> </a:t>
            </a:r>
            <a:r>
              <a:rPr lang="en-GB" sz="1800" b="1" dirty="0" smtClean="0">
                <a:latin typeface="Cambria" panose="02040503050406030204" pitchFamily="18" charset="0"/>
                <a:ea typeface="Cambria" panose="02040503050406030204" pitchFamily="18" charset="0"/>
              </a:rPr>
              <a:t>extends</a:t>
            </a:r>
            <a:r>
              <a:rPr lang="en-GB" sz="1800" dirty="0" smtClean="0">
                <a:latin typeface="Cambria" panose="02040503050406030204" pitchFamily="18" charset="0"/>
                <a:ea typeface="Cambria" panose="02040503050406030204" pitchFamily="18" charset="0"/>
              </a:rPr>
              <a:t> </a:t>
            </a:r>
            <a:r>
              <a:rPr lang="en-GB" sz="1800" dirty="0" err="1" smtClean="0">
                <a:latin typeface="Cambria" panose="02040503050406030204" pitchFamily="18" charset="0"/>
                <a:ea typeface="Cambria" panose="02040503050406030204" pitchFamily="18" charset="0"/>
              </a:rPr>
              <a:t>HttpServlet</a:t>
            </a:r>
            <a:r>
              <a:rPr lang="en-GB" sz="1800" dirty="0" smtClean="0">
                <a:latin typeface="Cambria" panose="02040503050406030204" pitchFamily="18" charset="0"/>
                <a:ea typeface="Cambria" panose="02040503050406030204" pitchFamily="18" charset="0"/>
              </a:rPr>
              <a:t>{  </a:t>
            </a:r>
          </a:p>
          <a:p>
            <a:pPr>
              <a:spcBef>
                <a:spcPts val="0"/>
              </a:spcBef>
              <a:buNone/>
            </a:pPr>
            <a:r>
              <a:rPr lang="en-GB" sz="1800" b="1" dirty="0" smtClean="0">
                <a:latin typeface="Cambria" panose="02040503050406030204" pitchFamily="18" charset="0"/>
                <a:ea typeface="Cambria" panose="02040503050406030204" pitchFamily="18" charset="0"/>
              </a:rPr>
              <a:t>public</a:t>
            </a:r>
            <a:r>
              <a:rPr lang="en-GB" sz="1800" dirty="0" smtClean="0">
                <a:latin typeface="Cambria" panose="02040503050406030204" pitchFamily="18" charset="0"/>
                <a:ea typeface="Cambria" panose="02040503050406030204" pitchFamily="18" charset="0"/>
              </a:rPr>
              <a:t> </a:t>
            </a:r>
            <a:r>
              <a:rPr lang="en-GB" sz="1800" b="1" dirty="0" smtClean="0">
                <a:latin typeface="Cambria" panose="02040503050406030204" pitchFamily="18" charset="0"/>
                <a:ea typeface="Cambria" panose="02040503050406030204" pitchFamily="18" charset="0"/>
              </a:rPr>
              <a:t>void</a:t>
            </a:r>
            <a:r>
              <a:rPr lang="en-GB" sz="1800" dirty="0" smtClean="0">
                <a:latin typeface="Cambria" panose="02040503050406030204" pitchFamily="18" charset="0"/>
                <a:ea typeface="Cambria" panose="02040503050406030204" pitchFamily="18" charset="0"/>
              </a:rPr>
              <a:t> doGet(HttpServletRequest req,HttpServletResponse res </a:t>
            </a:r>
          </a:p>
          <a:p>
            <a:pPr>
              <a:spcBef>
                <a:spcPts val="0"/>
              </a:spcBef>
              <a:buNone/>
            </a:pPr>
            <a:r>
              <a:rPr lang="en-GB" sz="1800" b="1" dirty="0" smtClean="0">
                <a:latin typeface="Cambria" panose="02040503050406030204" pitchFamily="18" charset="0"/>
                <a:ea typeface="Cambria" panose="02040503050406030204" pitchFamily="18" charset="0"/>
              </a:rPr>
              <a:t>throws</a:t>
            </a:r>
            <a:r>
              <a:rPr lang="en-GB" sz="1800" dirty="0" smtClean="0">
                <a:latin typeface="Cambria" panose="02040503050406030204" pitchFamily="18" charset="0"/>
                <a:ea typeface="Cambria" panose="02040503050406030204" pitchFamily="18" charset="0"/>
              </a:rPr>
              <a:t> ServletException,IOException  {</a:t>
            </a:r>
          </a:p>
          <a:p>
            <a:pPr>
              <a:spcBef>
                <a:spcPts val="0"/>
              </a:spcBef>
              <a:buNone/>
            </a:pPr>
            <a:r>
              <a:rPr lang="en-GB" sz="1800" dirty="0" err="1" smtClean="0">
                <a:latin typeface="Cambria" panose="02040503050406030204" pitchFamily="18" charset="0"/>
                <a:ea typeface="Cambria" panose="02040503050406030204" pitchFamily="18" charset="0"/>
              </a:rPr>
              <a:t>res.setContentType</a:t>
            </a:r>
            <a:r>
              <a:rPr lang="en-GB" sz="1800" dirty="0" smtClean="0">
                <a:latin typeface="Cambria" panose="02040503050406030204" pitchFamily="18" charset="0"/>
                <a:ea typeface="Cambria" panose="02040503050406030204" pitchFamily="18" charset="0"/>
              </a:rPr>
              <a:t>("text/html");  </a:t>
            </a:r>
          </a:p>
          <a:p>
            <a:pPr>
              <a:spcBef>
                <a:spcPts val="0"/>
              </a:spcBef>
              <a:buNone/>
            </a:pPr>
            <a:r>
              <a:rPr lang="en-GB" sz="1800" dirty="0" err="1" smtClean="0">
                <a:latin typeface="Cambria" panose="02040503050406030204" pitchFamily="18" charset="0"/>
                <a:ea typeface="Cambria" panose="02040503050406030204" pitchFamily="18" charset="0"/>
              </a:rPr>
              <a:t>PrintWriter</a:t>
            </a:r>
            <a:r>
              <a:rPr lang="en-GB" sz="1800" dirty="0" smtClean="0">
                <a:latin typeface="Cambria" panose="02040503050406030204" pitchFamily="18" charset="0"/>
                <a:ea typeface="Cambria" panose="02040503050406030204" pitchFamily="18" charset="0"/>
              </a:rPr>
              <a:t> </a:t>
            </a:r>
            <a:r>
              <a:rPr lang="en-GB" sz="1800" dirty="0" err="1" smtClean="0">
                <a:latin typeface="Cambria" panose="02040503050406030204" pitchFamily="18" charset="0"/>
                <a:ea typeface="Cambria" panose="02040503050406030204" pitchFamily="18" charset="0"/>
              </a:rPr>
              <a:t>pw</a:t>
            </a:r>
            <a:r>
              <a:rPr lang="en-GB" sz="1800" dirty="0" smtClean="0">
                <a:latin typeface="Cambria" panose="02040503050406030204" pitchFamily="18" charset="0"/>
                <a:ea typeface="Cambria" panose="02040503050406030204" pitchFamily="18" charset="0"/>
              </a:rPr>
              <a:t>=</a:t>
            </a:r>
            <a:r>
              <a:rPr lang="en-GB" sz="1800" dirty="0" err="1" smtClean="0">
                <a:latin typeface="Cambria" panose="02040503050406030204" pitchFamily="18" charset="0"/>
                <a:ea typeface="Cambria" panose="02040503050406030204" pitchFamily="18" charset="0"/>
              </a:rPr>
              <a:t>res.getWriter</a:t>
            </a:r>
            <a:r>
              <a:rPr lang="en-GB" sz="1800" dirty="0" smtClean="0">
                <a:latin typeface="Cambria" panose="02040503050406030204" pitchFamily="18" charset="0"/>
                <a:ea typeface="Cambria" panose="02040503050406030204" pitchFamily="18" charset="0"/>
              </a:rPr>
              <a:t>();  </a:t>
            </a:r>
          </a:p>
          <a:p>
            <a:pPr>
              <a:spcBef>
                <a:spcPts val="0"/>
              </a:spcBef>
              <a:buNone/>
            </a:pPr>
            <a:r>
              <a:rPr lang="en-GB" sz="1800" dirty="0" smtClean="0">
                <a:latin typeface="Cambria" panose="02040503050406030204" pitchFamily="18" charset="0"/>
                <a:ea typeface="Cambria" panose="02040503050406030204" pitchFamily="18" charset="0"/>
              </a:rPr>
              <a:t>  </a:t>
            </a:r>
          </a:p>
          <a:p>
            <a:pPr>
              <a:spcBef>
                <a:spcPts val="0"/>
              </a:spcBef>
              <a:buNone/>
            </a:pPr>
            <a:r>
              <a:rPr lang="en-GB" sz="1800" dirty="0" err="1" smtClean="0">
                <a:latin typeface="Cambria" panose="02040503050406030204" pitchFamily="18" charset="0"/>
                <a:ea typeface="Cambria" panose="02040503050406030204" pitchFamily="18" charset="0"/>
              </a:rPr>
              <a:t>response.sendRedirect</a:t>
            </a:r>
            <a:r>
              <a:rPr lang="en-GB" sz="1800" dirty="0" smtClean="0">
                <a:latin typeface="Cambria" panose="02040503050406030204" pitchFamily="18" charset="0"/>
                <a:ea typeface="Cambria" panose="02040503050406030204" pitchFamily="18" charset="0"/>
              </a:rPr>
              <a:t>("http://www.google.com");  </a:t>
            </a:r>
          </a:p>
          <a:p>
            <a:pPr>
              <a:spcBef>
                <a:spcPts val="0"/>
              </a:spcBef>
              <a:buNone/>
            </a:pPr>
            <a:r>
              <a:rPr lang="en-GB" sz="1800" dirty="0" smtClean="0">
                <a:latin typeface="Cambria" panose="02040503050406030204" pitchFamily="18" charset="0"/>
                <a:ea typeface="Cambria" panose="02040503050406030204" pitchFamily="18" charset="0"/>
              </a:rPr>
              <a:t>  </a:t>
            </a:r>
          </a:p>
          <a:p>
            <a:pPr>
              <a:spcBef>
                <a:spcPts val="0"/>
              </a:spcBef>
              <a:buNone/>
            </a:pPr>
            <a:r>
              <a:rPr lang="en-GB" sz="1800" dirty="0" err="1" smtClean="0">
                <a:latin typeface="Cambria" panose="02040503050406030204" pitchFamily="18" charset="0"/>
                <a:ea typeface="Cambria" panose="02040503050406030204" pitchFamily="18" charset="0"/>
              </a:rPr>
              <a:t>pw.close</a:t>
            </a:r>
            <a:r>
              <a:rPr lang="en-GB" sz="1800" dirty="0" smtClean="0">
                <a:latin typeface="Cambria" panose="02040503050406030204" pitchFamily="18" charset="0"/>
                <a:ea typeface="Cambria" panose="02040503050406030204" pitchFamily="18" charset="0"/>
              </a:rPr>
              <a:t>();  </a:t>
            </a:r>
          </a:p>
          <a:p>
            <a:pPr>
              <a:spcBef>
                <a:spcPts val="0"/>
              </a:spcBef>
              <a:buNone/>
            </a:pPr>
            <a:r>
              <a:rPr lang="en-GB" sz="1800" dirty="0" smtClean="0">
                <a:latin typeface="Cambria" panose="02040503050406030204" pitchFamily="18" charset="0"/>
                <a:ea typeface="Cambria" panose="02040503050406030204" pitchFamily="18" charset="0"/>
              </a:rPr>
              <a:t>}}  </a:t>
            </a:r>
          </a:p>
          <a:p>
            <a:pPr>
              <a:spcBef>
                <a:spcPts val="0"/>
              </a:spcBef>
              <a:buNone/>
            </a:pPr>
            <a:r>
              <a:rPr lang="en-GB" sz="1800" dirty="0" smtClean="0">
                <a:latin typeface="Cambria" panose="02040503050406030204" pitchFamily="18" charset="0"/>
                <a:ea typeface="Cambria" panose="02040503050406030204" pitchFamily="18" charset="0"/>
              </a:rPr>
              <a:t>Creating custom </a:t>
            </a:r>
            <a:r>
              <a:rPr lang="en-GB" sz="1800" dirty="0" err="1" smtClean="0">
                <a:latin typeface="Cambria" panose="02040503050406030204" pitchFamily="18" charset="0"/>
                <a:ea typeface="Cambria" panose="02040503050406030204" pitchFamily="18" charset="0"/>
              </a:rPr>
              <a:t>google</a:t>
            </a:r>
            <a:r>
              <a:rPr lang="en-GB" sz="1800" dirty="0" smtClean="0">
                <a:latin typeface="Cambria" panose="02040503050406030204" pitchFamily="18" charset="0"/>
                <a:ea typeface="Cambria" panose="02040503050406030204" pitchFamily="18" charset="0"/>
              </a:rPr>
              <a:t> search using </a:t>
            </a:r>
            <a:r>
              <a:rPr lang="en-GB" sz="1800" dirty="0" err="1" smtClean="0">
                <a:latin typeface="Cambria" panose="02040503050406030204" pitchFamily="18" charset="0"/>
                <a:ea typeface="Cambria" panose="02040503050406030204" pitchFamily="18" charset="0"/>
              </a:rPr>
              <a:t>sendRedirect</a:t>
            </a:r>
            <a:endParaRPr lang="en-GB" sz="1800" dirty="0" smtClean="0">
              <a:latin typeface="Cambria" panose="02040503050406030204" pitchFamily="18" charset="0"/>
              <a:ea typeface="Cambria" panose="02040503050406030204" pitchFamily="18" charset="0"/>
            </a:endParaRPr>
          </a:p>
          <a:p>
            <a:pPr>
              <a:spcBef>
                <a:spcPts val="0"/>
              </a:spcBef>
              <a:buNone/>
            </a:pPr>
            <a:r>
              <a:rPr lang="en-GB" sz="1800" dirty="0" smtClean="0">
                <a:latin typeface="Cambria" panose="02040503050406030204" pitchFamily="18" charset="0"/>
                <a:ea typeface="Cambria" panose="02040503050406030204" pitchFamily="18" charset="0"/>
              </a:rPr>
              <a:t>In this example, we are using </a:t>
            </a:r>
            <a:r>
              <a:rPr lang="en-GB" sz="1800" dirty="0" err="1" smtClean="0">
                <a:latin typeface="Cambria" panose="02040503050406030204" pitchFamily="18" charset="0"/>
                <a:ea typeface="Cambria" panose="02040503050406030204" pitchFamily="18" charset="0"/>
              </a:rPr>
              <a:t>sendRedirect</a:t>
            </a:r>
            <a:r>
              <a:rPr lang="en-GB" sz="1800" dirty="0" smtClean="0">
                <a:latin typeface="Cambria" panose="02040503050406030204" pitchFamily="18" charset="0"/>
                <a:ea typeface="Cambria" panose="02040503050406030204" pitchFamily="18" charset="0"/>
              </a:rPr>
              <a:t> method to send request to </a:t>
            </a:r>
            <a:r>
              <a:rPr lang="en-GB" sz="1800" dirty="0" err="1" smtClean="0">
                <a:latin typeface="Cambria" panose="02040503050406030204" pitchFamily="18" charset="0"/>
                <a:ea typeface="Cambria" panose="02040503050406030204" pitchFamily="18" charset="0"/>
              </a:rPr>
              <a:t>google</a:t>
            </a:r>
            <a:r>
              <a:rPr lang="en-GB" sz="1800" dirty="0" smtClean="0">
                <a:latin typeface="Cambria" panose="02040503050406030204" pitchFamily="18" charset="0"/>
                <a:ea typeface="Cambria" panose="02040503050406030204" pitchFamily="18" charset="0"/>
              </a:rPr>
              <a:t> server with the request data.</a:t>
            </a:r>
          </a:p>
          <a:p>
            <a:pPr>
              <a:spcBef>
                <a:spcPts val="0"/>
              </a:spcBef>
            </a:pPr>
            <a:r>
              <a:rPr lang="en-GB" sz="1800" dirty="0" smtClean="0">
                <a:latin typeface="Cambria" panose="02040503050406030204" pitchFamily="18" charset="0"/>
                <a:ea typeface="Cambria" panose="02040503050406030204" pitchFamily="18" charset="0"/>
              </a:rPr>
              <a:t> </a:t>
            </a:r>
          </a:p>
          <a:p>
            <a:endParaRPr lang="en-GB" sz="2400" dirty="0" smtClean="0">
              <a:latin typeface="Cambria" panose="02040503050406030204" pitchFamily="18" charset="0"/>
              <a:ea typeface="Cambria" panose="02040503050406030204" pitchFamily="18" charset="0"/>
            </a:endParaRPr>
          </a:p>
          <a:p>
            <a:endParaRPr lang="en-US" sz="24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43</a:t>
            </a:fld>
            <a:endParaRPr lang="en-US" altLang="en-US">
              <a:latin typeface="Cambria" panose="02040503050406030204" pitchFamily="18" charset="0"/>
              <a:ea typeface="Cambria" panose="02040503050406030204" pitchFamily="18" charset="0"/>
            </a:endParaRPr>
          </a:p>
        </p:txBody>
      </p:sp>
      <p:sp>
        <p:nvSpPr>
          <p:cNvPr id="5" name="Rectangle 4"/>
          <p:cNvSpPr/>
          <p:nvPr/>
        </p:nvSpPr>
        <p:spPr>
          <a:xfrm>
            <a:off x="7320136" y="522650"/>
            <a:ext cx="4778424" cy="4524315"/>
          </a:xfrm>
          <a:prstGeom prst="rect">
            <a:avLst/>
          </a:prstGeom>
        </p:spPr>
        <p:txBody>
          <a:bodyPr wrap="square">
            <a:spAutoFit/>
          </a:bodyPr>
          <a:lstStyle/>
          <a:p>
            <a:pPr>
              <a:spcBef>
                <a:spcPts val="0"/>
              </a:spcBef>
            </a:pPr>
            <a:r>
              <a:rPr lang="en-GB" b="1" i="1" u="sng" dirty="0">
                <a:latin typeface="Cambria" panose="02040503050406030204" pitchFamily="18" charset="0"/>
                <a:ea typeface="Cambria" panose="02040503050406030204" pitchFamily="18" charset="0"/>
              </a:rPr>
              <a:t>index.html</a:t>
            </a:r>
          </a:p>
          <a:p>
            <a:pPr>
              <a:spcBef>
                <a:spcPts val="0"/>
              </a:spcBef>
              <a:buNone/>
            </a:pPr>
            <a:r>
              <a:rPr lang="en-GB" dirty="0">
                <a:latin typeface="Cambria" panose="02040503050406030204" pitchFamily="18" charset="0"/>
                <a:ea typeface="Cambria" panose="02040503050406030204" pitchFamily="18" charset="0"/>
              </a:rPr>
              <a:t>&lt;!DOCTYPE html</a:t>
            </a:r>
            <a:r>
              <a:rPr lang="en-GB" b="1" dirty="0">
                <a:latin typeface="Cambria" panose="02040503050406030204" pitchFamily="18" charset="0"/>
                <a:ea typeface="Cambria" panose="02040503050406030204" pitchFamily="18" charset="0"/>
              </a:rPr>
              <a:t>&gt;</a:t>
            </a:r>
            <a:r>
              <a:rPr lang="en-GB" dirty="0">
                <a:latin typeface="Cambria" panose="02040503050406030204" pitchFamily="18" charset="0"/>
                <a:ea typeface="Cambria" panose="02040503050406030204" pitchFamily="18" charset="0"/>
              </a:rPr>
              <a:t>  </a:t>
            </a:r>
          </a:p>
          <a:p>
            <a:pPr>
              <a:spcBef>
                <a:spcPts val="0"/>
              </a:spcBef>
              <a:buNone/>
            </a:pPr>
            <a:r>
              <a:rPr lang="en-GB" b="1" dirty="0">
                <a:latin typeface="Cambria" panose="02040503050406030204" pitchFamily="18" charset="0"/>
                <a:ea typeface="Cambria" panose="02040503050406030204" pitchFamily="18" charset="0"/>
              </a:rPr>
              <a:t>&lt;html&gt;</a:t>
            </a:r>
            <a:r>
              <a:rPr lang="en-GB" dirty="0">
                <a:latin typeface="Cambria" panose="02040503050406030204" pitchFamily="18" charset="0"/>
                <a:ea typeface="Cambria" panose="02040503050406030204" pitchFamily="18" charset="0"/>
              </a:rPr>
              <a:t>  </a:t>
            </a:r>
          </a:p>
          <a:p>
            <a:pPr>
              <a:spcBef>
                <a:spcPts val="0"/>
              </a:spcBef>
              <a:buNone/>
            </a:pPr>
            <a:r>
              <a:rPr lang="en-GB" b="1" dirty="0">
                <a:latin typeface="Cambria" panose="02040503050406030204" pitchFamily="18" charset="0"/>
                <a:ea typeface="Cambria" panose="02040503050406030204" pitchFamily="18" charset="0"/>
              </a:rPr>
              <a:t>&lt;head&gt;</a:t>
            </a:r>
            <a:r>
              <a:rPr lang="en-GB" dirty="0">
                <a:latin typeface="Cambria" panose="02040503050406030204" pitchFamily="18" charset="0"/>
                <a:ea typeface="Cambria" panose="02040503050406030204" pitchFamily="18" charset="0"/>
              </a:rPr>
              <a:t>  </a:t>
            </a:r>
          </a:p>
          <a:p>
            <a:pPr>
              <a:spcBef>
                <a:spcPts val="0"/>
              </a:spcBef>
              <a:buNone/>
            </a:pPr>
            <a:r>
              <a:rPr lang="en-GB" b="1" dirty="0">
                <a:latin typeface="Cambria" panose="02040503050406030204" pitchFamily="18" charset="0"/>
                <a:ea typeface="Cambria" panose="02040503050406030204" pitchFamily="18" charset="0"/>
              </a:rPr>
              <a:t>&lt;meta</a:t>
            </a:r>
            <a:r>
              <a:rPr lang="en-GB" dirty="0">
                <a:latin typeface="Cambria" panose="02040503050406030204" pitchFamily="18" charset="0"/>
                <a:ea typeface="Cambria" panose="02040503050406030204" pitchFamily="18" charset="0"/>
              </a:rPr>
              <a:t> charset="ISO-8859-1"</a:t>
            </a:r>
            <a:r>
              <a:rPr lang="en-GB" b="1" dirty="0">
                <a:latin typeface="Cambria" panose="02040503050406030204" pitchFamily="18" charset="0"/>
                <a:ea typeface="Cambria" panose="02040503050406030204" pitchFamily="18" charset="0"/>
              </a:rPr>
              <a:t>&gt;</a:t>
            </a:r>
            <a:r>
              <a:rPr lang="en-GB" dirty="0">
                <a:latin typeface="Cambria" panose="02040503050406030204" pitchFamily="18" charset="0"/>
                <a:ea typeface="Cambria" panose="02040503050406030204" pitchFamily="18" charset="0"/>
              </a:rPr>
              <a:t>  </a:t>
            </a:r>
          </a:p>
          <a:p>
            <a:pPr>
              <a:spcBef>
                <a:spcPts val="0"/>
              </a:spcBef>
              <a:buNone/>
            </a:pPr>
            <a:r>
              <a:rPr lang="en-GB" b="1" dirty="0">
                <a:latin typeface="Cambria" panose="02040503050406030204" pitchFamily="18" charset="0"/>
                <a:ea typeface="Cambria" panose="02040503050406030204" pitchFamily="18" charset="0"/>
              </a:rPr>
              <a:t>&lt;title&gt;</a:t>
            </a:r>
            <a:r>
              <a:rPr lang="en-GB" dirty="0">
                <a:latin typeface="Cambria" panose="02040503050406030204" pitchFamily="18" charset="0"/>
                <a:ea typeface="Cambria" panose="02040503050406030204" pitchFamily="18" charset="0"/>
              </a:rPr>
              <a:t>sendRedirect example</a:t>
            </a:r>
            <a:r>
              <a:rPr lang="en-GB" b="1" dirty="0">
                <a:latin typeface="Cambria" panose="02040503050406030204" pitchFamily="18" charset="0"/>
                <a:ea typeface="Cambria" panose="02040503050406030204" pitchFamily="18" charset="0"/>
              </a:rPr>
              <a:t>&lt;/title&gt;</a:t>
            </a:r>
            <a:r>
              <a:rPr lang="en-GB" dirty="0">
                <a:latin typeface="Cambria" panose="02040503050406030204" pitchFamily="18" charset="0"/>
                <a:ea typeface="Cambria" panose="02040503050406030204" pitchFamily="18" charset="0"/>
              </a:rPr>
              <a:t>  </a:t>
            </a:r>
          </a:p>
          <a:p>
            <a:pPr>
              <a:spcBef>
                <a:spcPts val="0"/>
              </a:spcBef>
              <a:buNone/>
            </a:pPr>
            <a:r>
              <a:rPr lang="en-GB" b="1" dirty="0">
                <a:latin typeface="Cambria" panose="02040503050406030204" pitchFamily="18" charset="0"/>
                <a:ea typeface="Cambria" panose="02040503050406030204" pitchFamily="18" charset="0"/>
              </a:rPr>
              <a:t>&lt;/head&gt;</a:t>
            </a:r>
            <a:r>
              <a:rPr lang="en-GB" dirty="0">
                <a:latin typeface="Cambria" panose="02040503050406030204" pitchFamily="18" charset="0"/>
                <a:ea typeface="Cambria" panose="02040503050406030204" pitchFamily="18" charset="0"/>
              </a:rPr>
              <a:t>  </a:t>
            </a:r>
          </a:p>
          <a:p>
            <a:pPr>
              <a:spcBef>
                <a:spcPts val="0"/>
              </a:spcBef>
              <a:buNone/>
            </a:pPr>
            <a:r>
              <a:rPr lang="en-GB" b="1" dirty="0">
                <a:latin typeface="Cambria" panose="02040503050406030204" pitchFamily="18" charset="0"/>
                <a:ea typeface="Cambria" panose="02040503050406030204" pitchFamily="18" charset="0"/>
              </a:rPr>
              <a:t>&lt;body&gt;</a:t>
            </a:r>
            <a:r>
              <a:rPr lang="en-GB" dirty="0">
                <a:latin typeface="Cambria" panose="02040503050406030204" pitchFamily="18" charset="0"/>
                <a:ea typeface="Cambria" panose="02040503050406030204" pitchFamily="18" charset="0"/>
              </a:rPr>
              <a:t>  </a:t>
            </a:r>
          </a:p>
          <a:p>
            <a:pPr>
              <a:spcBef>
                <a:spcPts val="0"/>
              </a:spcBef>
              <a:buNone/>
            </a:pPr>
            <a:r>
              <a:rPr lang="en-GB" dirty="0">
                <a:latin typeface="Cambria" panose="02040503050406030204" pitchFamily="18" charset="0"/>
                <a:ea typeface="Cambria" panose="02040503050406030204" pitchFamily="18" charset="0"/>
              </a:rPr>
              <a:t>  </a:t>
            </a:r>
          </a:p>
          <a:p>
            <a:pPr>
              <a:spcBef>
                <a:spcPts val="0"/>
              </a:spcBef>
              <a:buNone/>
            </a:pPr>
            <a:r>
              <a:rPr lang="en-GB" b="1" dirty="0">
                <a:latin typeface="Cambria" panose="02040503050406030204" pitchFamily="18" charset="0"/>
                <a:ea typeface="Cambria" panose="02040503050406030204" pitchFamily="18" charset="0"/>
              </a:rPr>
              <a:t>&lt;form</a:t>
            </a:r>
            <a:r>
              <a:rPr lang="en-GB" dirty="0">
                <a:latin typeface="Cambria" panose="02040503050406030204" pitchFamily="18" charset="0"/>
                <a:ea typeface="Cambria" panose="02040503050406030204" pitchFamily="18" charset="0"/>
              </a:rPr>
              <a:t> action="MySearcher"</a:t>
            </a:r>
            <a:r>
              <a:rPr lang="en-GB" b="1" dirty="0">
                <a:latin typeface="Cambria" panose="02040503050406030204" pitchFamily="18" charset="0"/>
                <a:ea typeface="Cambria" panose="02040503050406030204" pitchFamily="18" charset="0"/>
              </a:rPr>
              <a:t>&gt;</a:t>
            </a:r>
            <a:r>
              <a:rPr lang="en-GB" dirty="0">
                <a:latin typeface="Cambria" panose="02040503050406030204" pitchFamily="18" charset="0"/>
                <a:ea typeface="Cambria" panose="02040503050406030204" pitchFamily="18" charset="0"/>
              </a:rPr>
              <a:t>  </a:t>
            </a:r>
          </a:p>
          <a:p>
            <a:pPr>
              <a:spcBef>
                <a:spcPts val="0"/>
              </a:spcBef>
              <a:buNone/>
            </a:pPr>
            <a:r>
              <a:rPr lang="en-GB" b="1" dirty="0">
                <a:latin typeface="Cambria" panose="02040503050406030204" pitchFamily="18" charset="0"/>
                <a:ea typeface="Cambria" panose="02040503050406030204" pitchFamily="18" charset="0"/>
              </a:rPr>
              <a:t>&lt;input</a:t>
            </a:r>
            <a:r>
              <a:rPr lang="en-GB" dirty="0">
                <a:latin typeface="Cambria" panose="02040503050406030204" pitchFamily="18" charset="0"/>
                <a:ea typeface="Cambria" panose="02040503050406030204" pitchFamily="18" charset="0"/>
              </a:rPr>
              <a:t> type="text" name="name"</a:t>
            </a:r>
            <a:r>
              <a:rPr lang="en-GB" b="1" dirty="0">
                <a:latin typeface="Cambria" panose="02040503050406030204" pitchFamily="18" charset="0"/>
                <a:ea typeface="Cambria" panose="02040503050406030204" pitchFamily="18" charset="0"/>
              </a:rPr>
              <a:t>&gt;</a:t>
            </a:r>
            <a:r>
              <a:rPr lang="en-GB" dirty="0">
                <a:latin typeface="Cambria" panose="02040503050406030204" pitchFamily="18" charset="0"/>
                <a:ea typeface="Cambria" panose="02040503050406030204" pitchFamily="18" charset="0"/>
              </a:rPr>
              <a:t>  </a:t>
            </a:r>
          </a:p>
          <a:p>
            <a:pPr>
              <a:spcBef>
                <a:spcPts val="0"/>
              </a:spcBef>
              <a:buNone/>
            </a:pPr>
            <a:r>
              <a:rPr lang="en-GB" b="1" dirty="0">
                <a:latin typeface="Cambria" panose="02040503050406030204" pitchFamily="18" charset="0"/>
                <a:ea typeface="Cambria" panose="02040503050406030204" pitchFamily="18" charset="0"/>
              </a:rPr>
              <a:t>&lt;input</a:t>
            </a:r>
            <a:r>
              <a:rPr lang="en-GB" dirty="0">
                <a:latin typeface="Cambria" panose="02040503050406030204" pitchFamily="18" charset="0"/>
                <a:ea typeface="Cambria" panose="02040503050406030204" pitchFamily="18" charset="0"/>
              </a:rPr>
              <a:t> type="submit" value="Google Search"</a:t>
            </a:r>
            <a:r>
              <a:rPr lang="en-GB" b="1" dirty="0">
                <a:latin typeface="Cambria" panose="02040503050406030204" pitchFamily="18" charset="0"/>
                <a:ea typeface="Cambria" panose="02040503050406030204" pitchFamily="18" charset="0"/>
              </a:rPr>
              <a:t>&gt;</a:t>
            </a:r>
            <a:r>
              <a:rPr lang="en-GB" dirty="0">
                <a:latin typeface="Cambria" panose="02040503050406030204" pitchFamily="18" charset="0"/>
                <a:ea typeface="Cambria" panose="02040503050406030204" pitchFamily="18" charset="0"/>
              </a:rPr>
              <a:t>  </a:t>
            </a:r>
          </a:p>
          <a:p>
            <a:pPr>
              <a:spcBef>
                <a:spcPts val="0"/>
              </a:spcBef>
              <a:buNone/>
            </a:pPr>
            <a:r>
              <a:rPr lang="en-GB" b="1" dirty="0">
                <a:latin typeface="Cambria" panose="02040503050406030204" pitchFamily="18" charset="0"/>
                <a:ea typeface="Cambria" panose="02040503050406030204" pitchFamily="18" charset="0"/>
              </a:rPr>
              <a:t>&lt;/form&gt;</a:t>
            </a:r>
            <a:r>
              <a:rPr lang="en-GB" dirty="0">
                <a:latin typeface="Cambria" panose="02040503050406030204" pitchFamily="18" charset="0"/>
                <a:ea typeface="Cambria" panose="02040503050406030204" pitchFamily="18" charset="0"/>
              </a:rPr>
              <a:t>    </a:t>
            </a:r>
          </a:p>
          <a:p>
            <a:pPr>
              <a:spcBef>
                <a:spcPts val="0"/>
              </a:spcBef>
              <a:buNone/>
            </a:pPr>
            <a:r>
              <a:rPr lang="en-GB" b="1" dirty="0">
                <a:latin typeface="Cambria" panose="02040503050406030204" pitchFamily="18" charset="0"/>
                <a:ea typeface="Cambria" panose="02040503050406030204" pitchFamily="18" charset="0"/>
              </a:rPr>
              <a:t>&lt;/body&gt;</a:t>
            </a:r>
            <a:r>
              <a:rPr lang="en-GB" dirty="0">
                <a:latin typeface="Cambria" panose="02040503050406030204" pitchFamily="18" charset="0"/>
                <a:ea typeface="Cambria" panose="02040503050406030204" pitchFamily="18" charset="0"/>
              </a:rPr>
              <a:t>  </a:t>
            </a:r>
          </a:p>
          <a:p>
            <a:pPr>
              <a:spcBef>
                <a:spcPts val="0"/>
              </a:spcBef>
              <a:buNone/>
            </a:pPr>
            <a:r>
              <a:rPr lang="en-GB" b="1" dirty="0">
                <a:latin typeface="Cambria" panose="02040503050406030204" pitchFamily="18" charset="0"/>
                <a:ea typeface="Cambria" panose="02040503050406030204" pitchFamily="18" charset="0"/>
              </a:rPr>
              <a:t>&lt;/html&gt;</a:t>
            </a:r>
            <a:r>
              <a:rPr lang="en-GB" dirty="0">
                <a:latin typeface="Cambria" panose="02040503050406030204" pitchFamily="18" charset="0"/>
                <a:ea typeface="Cambria" panose="02040503050406030204" pitchFamily="18" charset="0"/>
              </a:rPr>
              <a:t>  </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58" y="31685"/>
            <a:ext cx="4360750" cy="543595"/>
          </a:xfrm>
        </p:spPr>
        <p:txBody>
          <a:bodyPr/>
          <a:lstStyle/>
          <a:p>
            <a:r>
              <a:rPr lang="en-GB" sz="3600" b="1" dirty="0" smtClean="0">
                <a:solidFill>
                  <a:schemeClr val="accent5"/>
                </a:solidFill>
                <a:latin typeface="Cambria" panose="02040503050406030204" pitchFamily="18" charset="0"/>
                <a:ea typeface="Cambria" panose="02040503050406030204" pitchFamily="18" charset="0"/>
              </a:rPr>
              <a:t/>
            </a:r>
            <a:br>
              <a:rPr lang="en-GB" sz="3600" b="1" dirty="0" smtClean="0">
                <a:solidFill>
                  <a:schemeClr val="accent5"/>
                </a:solidFill>
                <a:latin typeface="Cambria" panose="02040503050406030204" pitchFamily="18" charset="0"/>
                <a:ea typeface="Cambria" panose="02040503050406030204" pitchFamily="18" charset="0"/>
              </a:rPr>
            </a:br>
            <a:r>
              <a:rPr lang="en-GB" sz="3600" b="1" dirty="0" smtClean="0">
                <a:solidFill>
                  <a:schemeClr val="accent5"/>
                </a:solidFill>
                <a:latin typeface="Cambria" panose="02040503050406030204" pitchFamily="18" charset="0"/>
                <a:ea typeface="Cambria" panose="02040503050406030204" pitchFamily="18" charset="0"/>
              </a:rPr>
              <a:t>Example (contd...)</a:t>
            </a:r>
            <a:br>
              <a:rPr lang="en-GB" sz="3600" b="1" dirty="0" smtClean="0">
                <a:solidFill>
                  <a:schemeClr val="accent5"/>
                </a:solidFill>
                <a:latin typeface="Cambria" panose="02040503050406030204" pitchFamily="18" charset="0"/>
                <a:ea typeface="Cambria" panose="02040503050406030204" pitchFamily="18" charset="0"/>
              </a:rPr>
            </a:br>
            <a:endParaRPr lang="en-US" sz="3600" b="1" dirty="0">
              <a:solidFill>
                <a:schemeClr val="accent5"/>
              </a:solidFill>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44</a:t>
            </a:fld>
            <a:endParaRPr lang="en-US" altLang="en-US">
              <a:latin typeface="Cambria" panose="02040503050406030204" pitchFamily="18" charset="0"/>
              <a:ea typeface="Cambria" panose="02040503050406030204" pitchFamily="18" charset="0"/>
            </a:endParaRPr>
          </a:p>
        </p:txBody>
      </p:sp>
      <p:sp>
        <p:nvSpPr>
          <p:cNvPr id="7" name="Rectangle 6"/>
          <p:cNvSpPr/>
          <p:nvPr/>
        </p:nvSpPr>
        <p:spPr>
          <a:xfrm>
            <a:off x="2135560" y="581450"/>
            <a:ext cx="8856984" cy="4247317"/>
          </a:xfrm>
          <a:prstGeom prst="rect">
            <a:avLst/>
          </a:prstGeom>
        </p:spPr>
        <p:txBody>
          <a:bodyPr wrap="square">
            <a:spAutoFit/>
          </a:bodyPr>
          <a:lstStyle/>
          <a:p>
            <a:pPr>
              <a:spcBef>
                <a:spcPts val="0"/>
              </a:spcBef>
            </a:pPr>
            <a:r>
              <a:rPr lang="en-GB" b="1" i="1" u="sng" dirty="0">
                <a:latin typeface="Cambria" panose="02040503050406030204" pitchFamily="18" charset="0"/>
                <a:ea typeface="Cambria" panose="02040503050406030204" pitchFamily="18" charset="0"/>
              </a:rPr>
              <a:t>MySearcher.java</a:t>
            </a:r>
          </a:p>
          <a:p>
            <a:pPr>
              <a:spcBef>
                <a:spcPts val="0"/>
              </a:spcBef>
              <a:buNone/>
            </a:pPr>
            <a:r>
              <a:rPr lang="en-GB" b="1" dirty="0">
                <a:latin typeface="Cambria" panose="02040503050406030204" pitchFamily="18" charset="0"/>
                <a:ea typeface="Cambria" panose="02040503050406030204" pitchFamily="18" charset="0"/>
              </a:rPr>
              <a:t>import</a:t>
            </a:r>
            <a:r>
              <a:rPr lang="en-GB" dirty="0">
                <a:latin typeface="Cambria" panose="02040503050406030204" pitchFamily="18" charset="0"/>
                <a:ea typeface="Cambria" panose="02040503050406030204" pitchFamily="18" charset="0"/>
              </a:rPr>
              <a:t> java.io.IOException;  </a:t>
            </a:r>
          </a:p>
          <a:p>
            <a:pPr>
              <a:spcBef>
                <a:spcPts val="0"/>
              </a:spcBef>
              <a:buNone/>
            </a:pPr>
            <a:r>
              <a:rPr lang="en-GB" b="1" dirty="0">
                <a:latin typeface="Cambria" panose="02040503050406030204" pitchFamily="18" charset="0"/>
                <a:ea typeface="Cambria" panose="02040503050406030204" pitchFamily="18" charset="0"/>
              </a:rPr>
              <a:t>import</a:t>
            </a:r>
            <a:r>
              <a:rPr lang="en-GB" dirty="0">
                <a:latin typeface="Cambria" panose="02040503050406030204" pitchFamily="18" charset="0"/>
                <a:ea typeface="Cambria" panose="02040503050406030204" pitchFamily="18" charset="0"/>
              </a:rPr>
              <a:t> javax.servlet.ServletException;  </a:t>
            </a:r>
          </a:p>
          <a:p>
            <a:pPr>
              <a:spcBef>
                <a:spcPts val="0"/>
              </a:spcBef>
              <a:buNone/>
            </a:pPr>
            <a:r>
              <a:rPr lang="en-GB" b="1" dirty="0">
                <a:latin typeface="Cambria" panose="02040503050406030204" pitchFamily="18" charset="0"/>
                <a:ea typeface="Cambria" panose="02040503050406030204" pitchFamily="18" charset="0"/>
              </a:rPr>
              <a:t>import</a:t>
            </a:r>
            <a:r>
              <a:rPr lang="en-GB" dirty="0">
                <a:latin typeface="Cambria" panose="02040503050406030204" pitchFamily="18" charset="0"/>
                <a:ea typeface="Cambria" panose="02040503050406030204" pitchFamily="18" charset="0"/>
              </a:rPr>
              <a:t> javax.servlet.http.HttpServlet;  </a:t>
            </a:r>
          </a:p>
          <a:p>
            <a:pPr>
              <a:spcBef>
                <a:spcPts val="0"/>
              </a:spcBef>
              <a:buNone/>
            </a:pPr>
            <a:r>
              <a:rPr lang="en-GB" b="1" dirty="0">
                <a:latin typeface="Cambria" panose="02040503050406030204" pitchFamily="18" charset="0"/>
                <a:ea typeface="Cambria" panose="02040503050406030204" pitchFamily="18" charset="0"/>
              </a:rPr>
              <a:t>import</a:t>
            </a:r>
            <a:r>
              <a:rPr lang="en-GB" dirty="0">
                <a:latin typeface="Cambria" panose="02040503050406030204" pitchFamily="18" charset="0"/>
                <a:ea typeface="Cambria" panose="02040503050406030204" pitchFamily="18" charset="0"/>
              </a:rPr>
              <a:t> javax.servlet.http.HttpServletRequest;  </a:t>
            </a:r>
          </a:p>
          <a:p>
            <a:pPr>
              <a:spcBef>
                <a:spcPts val="0"/>
              </a:spcBef>
              <a:buNone/>
            </a:pPr>
            <a:r>
              <a:rPr lang="en-GB" b="1" dirty="0">
                <a:latin typeface="Cambria" panose="02040503050406030204" pitchFamily="18" charset="0"/>
                <a:ea typeface="Cambria" panose="02040503050406030204" pitchFamily="18" charset="0"/>
              </a:rPr>
              <a:t>import</a:t>
            </a:r>
            <a:r>
              <a:rPr lang="en-GB" dirty="0">
                <a:latin typeface="Cambria" panose="02040503050406030204" pitchFamily="18" charset="0"/>
                <a:ea typeface="Cambria" panose="02040503050406030204" pitchFamily="18" charset="0"/>
              </a:rPr>
              <a:t> javax.servlet.http.HttpServletResponse;  </a:t>
            </a:r>
          </a:p>
          <a:p>
            <a:pPr>
              <a:spcBef>
                <a:spcPts val="0"/>
              </a:spcBef>
              <a:buNone/>
            </a:pPr>
            <a:r>
              <a:rPr lang="en-GB" dirty="0">
                <a:latin typeface="Cambria" panose="02040503050406030204" pitchFamily="18" charset="0"/>
                <a:ea typeface="Cambria" panose="02040503050406030204" pitchFamily="18" charset="0"/>
              </a:rPr>
              <a:t>  </a:t>
            </a:r>
          </a:p>
          <a:p>
            <a:pPr>
              <a:spcBef>
                <a:spcPts val="0"/>
              </a:spcBef>
              <a:buNone/>
            </a:pPr>
            <a:r>
              <a:rPr lang="en-GB" b="1" dirty="0">
                <a:latin typeface="Cambria" panose="02040503050406030204" pitchFamily="18" charset="0"/>
                <a:ea typeface="Cambria" panose="02040503050406030204" pitchFamily="18" charset="0"/>
              </a:rPr>
              <a:t>public</a:t>
            </a:r>
            <a:r>
              <a:rPr lang="en-GB" dirty="0">
                <a:latin typeface="Cambria" panose="02040503050406030204" pitchFamily="18" charset="0"/>
                <a:ea typeface="Cambria" panose="02040503050406030204" pitchFamily="18" charset="0"/>
              </a:rPr>
              <a:t> </a:t>
            </a:r>
            <a:r>
              <a:rPr lang="en-GB" b="1" dirty="0">
                <a:latin typeface="Cambria" panose="02040503050406030204" pitchFamily="18" charset="0"/>
                <a:ea typeface="Cambria" panose="02040503050406030204" pitchFamily="18" charset="0"/>
              </a:rPr>
              <a:t>class</a:t>
            </a:r>
            <a:r>
              <a:rPr lang="en-GB" dirty="0">
                <a:latin typeface="Cambria" panose="02040503050406030204" pitchFamily="18" charset="0"/>
                <a:ea typeface="Cambria" panose="02040503050406030204" pitchFamily="18" charset="0"/>
              </a:rPr>
              <a:t> MySearcher </a:t>
            </a:r>
            <a:r>
              <a:rPr lang="en-GB" b="1" dirty="0">
                <a:latin typeface="Cambria" panose="02040503050406030204" pitchFamily="18" charset="0"/>
                <a:ea typeface="Cambria" panose="02040503050406030204" pitchFamily="18" charset="0"/>
              </a:rPr>
              <a:t>extends</a:t>
            </a:r>
            <a:r>
              <a:rPr lang="en-GB" dirty="0">
                <a:latin typeface="Cambria" panose="02040503050406030204" pitchFamily="18" charset="0"/>
                <a:ea typeface="Cambria" panose="02040503050406030204" pitchFamily="18" charset="0"/>
              </a:rPr>
              <a:t> HttpServlet {  </a:t>
            </a:r>
          </a:p>
          <a:p>
            <a:pPr>
              <a:spcBef>
                <a:spcPts val="0"/>
              </a:spcBef>
              <a:buNone/>
            </a:pPr>
            <a:r>
              <a:rPr lang="en-GB" dirty="0">
                <a:latin typeface="Cambria" panose="02040503050406030204" pitchFamily="18" charset="0"/>
                <a:ea typeface="Cambria" panose="02040503050406030204" pitchFamily="18" charset="0"/>
              </a:rPr>
              <a:t>    </a:t>
            </a:r>
            <a:r>
              <a:rPr lang="en-GB" b="1" dirty="0">
                <a:latin typeface="Cambria" panose="02040503050406030204" pitchFamily="18" charset="0"/>
                <a:ea typeface="Cambria" panose="02040503050406030204" pitchFamily="18" charset="0"/>
              </a:rPr>
              <a:t>protected</a:t>
            </a:r>
            <a:r>
              <a:rPr lang="en-GB" dirty="0">
                <a:latin typeface="Cambria" panose="02040503050406030204" pitchFamily="18" charset="0"/>
                <a:ea typeface="Cambria" panose="02040503050406030204" pitchFamily="18" charset="0"/>
              </a:rPr>
              <a:t> </a:t>
            </a:r>
            <a:r>
              <a:rPr lang="en-GB" b="1" dirty="0">
                <a:latin typeface="Cambria" panose="02040503050406030204" pitchFamily="18" charset="0"/>
                <a:ea typeface="Cambria" panose="02040503050406030204" pitchFamily="18" charset="0"/>
              </a:rPr>
              <a:t>void</a:t>
            </a:r>
            <a:r>
              <a:rPr lang="en-GB" dirty="0">
                <a:latin typeface="Cambria" panose="02040503050406030204" pitchFamily="18" charset="0"/>
                <a:ea typeface="Cambria" panose="02040503050406030204" pitchFamily="18" charset="0"/>
              </a:rPr>
              <a:t> doGet(HttpServletRequest request, HttpServletResponse response)  </a:t>
            </a:r>
          </a:p>
          <a:p>
            <a:pPr>
              <a:spcBef>
                <a:spcPts val="0"/>
              </a:spcBef>
              <a:buNone/>
            </a:pPr>
            <a:r>
              <a:rPr lang="en-GB" dirty="0">
                <a:latin typeface="Cambria" panose="02040503050406030204" pitchFamily="18" charset="0"/>
                <a:ea typeface="Cambria" panose="02040503050406030204" pitchFamily="18" charset="0"/>
              </a:rPr>
              <a:t>            </a:t>
            </a:r>
            <a:r>
              <a:rPr lang="en-GB" b="1" dirty="0">
                <a:latin typeface="Cambria" panose="02040503050406030204" pitchFamily="18" charset="0"/>
                <a:ea typeface="Cambria" panose="02040503050406030204" pitchFamily="18" charset="0"/>
              </a:rPr>
              <a:t>throws</a:t>
            </a:r>
            <a:r>
              <a:rPr lang="en-GB" dirty="0">
                <a:latin typeface="Cambria" panose="02040503050406030204" pitchFamily="18" charset="0"/>
                <a:ea typeface="Cambria" panose="02040503050406030204" pitchFamily="18" charset="0"/>
              </a:rPr>
              <a:t> ServletException, IOException {  </a:t>
            </a:r>
          </a:p>
          <a:p>
            <a:pPr>
              <a:spcBef>
                <a:spcPts val="0"/>
              </a:spcBef>
              <a:buNone/>
            </a:pPr>
            <a:r>
              <a:rPr lang="en-GB" dirty="0">
                <a:latin typeface="Cambria" panose="02040503050406030204" pitchFamily="18" charset="0"/>
                <a:ea typeface="Cambria" panose="02040503050406030204" pitchFamily="18" charset="0"/>
              </a:rPr>
              <a:t>  </a:t>
            </a:r>
          </a:p>
          <a:p>
            <a:pPr>
              <a:spcBef>
                <a:spcPts val="0"/>
              </a:spcBef>
              <a:buNone/>
            </a:pPr>
            <a:r>
              <a:rPr lang="en-GB" dirty="0">
                <a:latin typeface="Cambria" panose="02040503050406030204" pitchFamily="18" charset="0"/>
                <a:ea typeface="Cambria" panose="02040503050406030204" pitchFamily="18" charset="0"/>
              </a:rPr>
              <a:t>        String name=request.getParameter("name");  </a:t>
            </a:r>
          </a:p>
          <a:p>
            <a:pPr>
              <a:spcBef>
                <a:spcPts val="0"/>
              </a:spcBef>
              <a:buNone/>
            </a:pPr>
            <a:r>
              <a:rPr lang="en-GB" dirty="0">
                <a:latin typeface="Cambria" panose="02040503050406030204" pitchFamily="18" charset="0"/>
                <a:ea typeface="Cambria" panose="02040503050406030204" pitchFamily="18" charset="0"/>
              </a:rPr>
              <a:t>        response.sendRedirect("https://www.google.co.in/#q="+name);  </a:t>
            </a:r>
          </a:p>
          <a:p>
            <a:pPr>
              <a:spcBef>
                <a:spcPts val="0"/>
              </a:spcBef>
              <a:buNone/>
            </a:pPr>
            <a:r>
              <a:rPr lang="en-GB" dirty="0">
                <a:latin typeface="Cambria" panose="02040503050406030204" pitchFamily="18" charset="0"/>
                <a:ea typeface="Cambria" panose="02040503050406030204" pitchFamily="18" charset="0"/>
              </a:rPr>
              <a:t>    }  </a:t>
            </a:r>
          </a:p>
          <a:p>
            <a:pPr>
              <a:spcBef>
                <a:spcPts val="0"/>
              </a:spcBef>
              <a:buNone/>
            </a:pPr>
            <a:r>
              <a:rPr lang="en-GB" dirty="0">
                <a:latin typeface="Cambria" panose="02040503050406030204" pitchFamily="18" charset="0"/>
                <a:ea typeface="Cambria" panose="02040503050406030204" pitchFamily="18" charset="0"/>
              </a:rPr>
              <a:t>} </a:t>
            </a:r>
            <a:endParaRPr lang="en-US" dirty="0"/>
          </a:p>
        </p:txBody>
      </p:sp>
    </p:spTree>
    <p:extLst>
      <p:ext uri="{BB962C8B-B14F-4D97-AF65-F5344CB8AC3E}">
        <p14:creationId xmlns:p14="http://schemas.microsoft.com/office/powerpoint/2010/main" val="313369547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259" y="116632"/>
            <a:ext cx="8568952" cy="569882"/>
          </a:xfrm>
        </p:spPr>
        <p:txBody>
          <a:bodyPr/>
          <a:lstStyle/>
          <a:p>
            <a:r>
              <a:rPr lang="en-GB" sz="3600" b="1" dirty="0" smtClean="0">
                <a:solidFill>
                  <a:schemeClr val="accent5"/>
                </a:solidFill>
                <a:latin typeface="Cambria" panose="02040503050406030204" pitchFamily="18" charset="0"/>
                <a:ea typeface="Cambria" panose="02040503050406030204" pitchFamily="18" charset="0"/>
              </a:rPr>
              <a:t>Session Tracking/Session Management</a:t>
            </a:r>
            <a:endParaRPr lang="en-US" sz="36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191344" y="734859"/>
            <a:ext cx="7704856" cy="4206309"/>
          </a:xfrm>
        </p:spPr>
        <p:txBody>
          <a:bodyPr/>
          <a:lstStyle/>
          <a:p>
            <a:pPr algn="just"/>
            <a:r>
              <a:rPr lang="en-GB" sz="2200" dirty="0" smtClean="0">
                <a:latin typeface="Cambria" panose="02040503050406030204" pitchFamily="18" charset="0"/>
                <a:ea typeface="Cambria" panose="02040503050406030204" pitchFamily="18" charset="0"/>
              </a:rPr>
              <a:t>Session - a particular interval of time.</a:t>
            </a:r>
          </a:p>
          <a:p>
            <a:pPr algn="just"/>
            <a:r>
              <a:rPr lang="en-GB" sz="2200" b="1" dirty="0" smtClean="0">
                <a:latin typeface="Cambria" panose="02040503050406030204" pitchFamily="18" charset="0"/>
                <a:ea typeface="Cambria" panose="02040503050406030204" pitchFamily="18" charset="0"/>
              </a:rPr>
              <a:t>Session Tracking</a:t>
            </a:r>
            <a:r>
              <a:rPr lang="en-GB" sz="2200" dirty="0" smtClean="0">
                <a:latin typeface="Cambria" panose="02040503050406030204" pitchFamily="18" charset="0"/>
                <a:ea typeface="Cambria" panose="02040503050406030204" pitchFamily="18" charset="0"/>
              </a:rPr>
              <a:t> is a way to maintain state (data) of a user.</a:t>
            </a:r>
          </a:p>
          <a:p>
            <a:pPr algn="just"/>
            <a:r>
              <a:rPr lang="en-GB" sz="2200" dirty="0" smtClean="0">
                <a:latin typeface="Cambria" panose="02040503050406030204" pitchFamily="18" charset="0"/>
                <a:ea typeface="Cambria" panose="02040503050406030204" pitchFamily="18" charset="0"/>
              </a:rPr>
              <a:t>Http protocol is a stateless, so need to maintain state using session tracking techniques. Each time user requests to the server, server treats the request as the new request. So we need to maintain the state of a user to recognize to particular user.</a:t>
            </a:r>
          </a:p>
          <a:p>
            <a:pPr algn="just"/>
            <a:r>
              <a:rPr lang="en-GB" sz="2200" dirty="0" smtClean="0">
                <a:latin typeface="Cambria" panose="02040503050406030204" pitchFamily="18" charset="0"/>
                <a:ea typeface="Cambria" panose="02040503050406030204" pitchFamily="18" charset="0"/>
              </a:rPr>
              <a:t>HTTP is stateless that means each request is considered as the new request. It is shown in the figure given below:</a:t>
            </a:r>
          </a:p>
          <a:p>
            <a:pPr algn="just"/>
            <a:r>
              <a:rPr lang="en-GB" sz="2200" dirty="0" smtClean="0">
                <a:latin typeface="Cambria" panose="02040503050406030204" pitchFamily="18" charset="0"/>
                <a:ea typeface="Cambria" panose="02040503050406030204" pitchFamily="18" charset="0"/>
              </a:rPr>
              <a:t>Why use Session Tracking?</a:t>
            </a:r>
          </a:p>
          <a:p>
            <a:pPr marL="0" indent="0" algn="just">
              <a:buNone/>
            </a:pPr>
            <a:r>
              <a:rPr lang="en-GB" sz="2200" b="1" dirty="0" smtClean="0">
                <a:latin typeface="Cambria" panose="02040503050406030204" pitchFamily="18" charset="0"/>
                <a:ea typeface="Cambria" panose="02040503050406030204" pitchFamily="18" charset="0"/>
              </a:rPr>
              <a:t>	To recognize a particular user</a:t>
            </a:r>
            <a:endParaRPr lang="en-GB" sz="2200" dirty="0" smtClean="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45</a:t>
            </a:fld>
            <a:endParaRPr lang="en-US" altLang="en-US">
              <a:latin typeface="Cambria" panose="02040503050406030204" pitchFamily="18" charset="0"/>
              <a:ea typeface="Cambria" panose="02040503050406030204" pitchFamily="18" charset="0"/>
            </a:endParaRPr>
          </a:p>
        </p:txBody>
      </p:sp>
      <p:pic>
        <p:nvPicPr>
          <p:cNvPr id="5" name="Picture 4" descr="session tracking"/>
          <p:cNvPicPr/>
          <p:nvPr/>
        </p:nvPicPr>
        <p:blipFill>
          <a:blip r:embed="rId2"/>
          <a:srcRect/>
          <a:stretch>
            <a:fillRect/>
          </a:stretch>
        </p:blipFill>
        <p:spPr bwMode="auto">
          <a:xfrm>
            <a:off x="8040216" y="1196752"/>
            <a:ext cx="3678088" cy="244827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849297"/>
          </a:xfrm>
        </p:spPr>
        <p:txBody>
          <a:bodyPr/>
          <a:lstStyle/>
          <a:p>
            <a:r>
              <a:rPr lang="en-US" dirty="0" smtClean="0">
                <a:latin typeface="Cambria" panose="02040503050406030204" pitchFamily="18" charset="0"/>
                <a:ea typeface="Cambria" panose="02040503050406030204" pitchFamily="18" charset="0"/>
              </a:rPr>
              <a:t/>
            </a:r>
            <a:br>
              <a:rPr lang="en-US" dirty="0" smtClean="0">
                <a:latin typeface="Cambria" panose="02040503050406030204" pitchFamily="18" charset="0"/>
                <a:ea typeface="Cambria" panose="02040503050406030204" pitchFamily="18" charset="0"/>
              </a:rPr>
            </a:br>
            <a:r>
              <a:rPr lang="en-US" dirty="0" smtClean="0">
                <a:latin typeface="Cambria" panose="02040503050406030204" pitchFamily="18" charset="0"/>
                <a:ea typeface="Cambria" panose="02040503050406030204" pitchFamily="18" charset="0"/>
              </a:rPr>
              <a:t>Session Tracking Techniques</a:t>
            </a:r>
            <a:br>
              <a:rPr lang="en-US" dirty="0" smtClean="0">
                <a:latin typeface="Cambria" panose="02040503050406030204" pitchFamily="18" charset="0"/>
                <a:ea typeface="Cambria" panose="02040503050406030204" pitchFamily="18" charset="0"/>
              </a:rPr>
            </a:br>
            <a:r>
              <a:rPr lang="en-GB" dirty="0" smtClean="0">
                <a:latin typeface="Cambria" panose="02040503050406030204" pitchFamily="18" charset="0"/>
                <a:ea typeface="Cambria" panose="02040503050406030204" pitchFamily="18" charset="0"/>
              </a:rPr>
              <a:t/>
            </a:r>
            <a:br>
              <a:rPr lang="en-GB" dirty="0" smtClean="0">
                <a:latin typeface="Cambria" panose="02040503050406030204" pitchFamily="18" charset="0"/>
                <a:ea typeface="Cambria" panose="02040503050406030204" pitchFamily="18" charset="0"/>
              </a:rPr>
            </a:b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838200" y="1000108"/>
            <a:ext cx="10515600" cy="5176855"/>
          </a:xfrm>
        </p:spPr>
        <p:txBody>
          <a:bodyPr/>
          <a:lstStyle/>
          <a:p>
            <a:r>
              <a:rPr lang="en-GB" dirty="0" smtClean="0">
                <a:latin typeface="Cambria" panose="02040503050406030204" pitchFamily="18" charset="0"/>
                <a:ea typeface="Cambria" panose="02040503050406030204" pitchFamily="18" charset="0"/>
              </a:rPr>
              <a:t>There are four techniques used in Session tracking:</a:t>
            </a:r>
          </a:p>
          <a:p>
            <a:pPr marL="514350" indent="-514350">
              <a:buFont typeface="+mj-lt"/>
              <a:buAutoNum type="arabicPeriod"/>
            </a:pPr>
            <a:r>
              <a:rPr lang="en-GB" b="1" dirty="0" smtClean="0">
                <a:latin typeface="Cambria" panose="02040503050406030204" pitchFamily="18" charset="0"/>
                <a:ea typeface="Cambria" panose="02040503050406030204" pitchFamily="18" charset="0"/>
              </a:rPr>
              <a:t>Cookies</a:t>
            </a:r>
            <a:endParaRPr lang="en-GB" dirty="0" smtClean="0">
              <a:latin typeface="Cambria" panose="02040503050406030204" pitchFamily="18" charset="0"/>
              <a:ea typeface="Cambria" panose="02040503050406030204" pitchFamily="18" charset="0"/>
            </a:endParaRPr>
          </a:p>
          <a:p>
            <a:pPr marL="514350" indent="-514350">
              <a:buFont typeface="+mj-lt"/>
              <a:buAutoNum type="arabicPeriod"/>
            </a:pPr>
            <a:r>
              <a:rPr lang="en-GB" b="1" dirty="0" smtClean="0">
                <a:latin typeface="Cambria" panose="02040503050406030204" pitchFamily="18" charset="0"/>
                <a:ea typeface="Cambria" panose="02040503050406030204" pitchFamily="18" charset="0"/>
              </a:rPr>
              <a:t>Hidden Form Field</a:t>
            </a:r>
            <a:endParaRPr lang="en-GB" dirty="0" smtClean="0">
              <a:latin typeface="Cambria" panose="02040503050406030204" pitchFamily="18" charset="0"/>
              <a:ea typeface="Cambria" panose="02040503050406030204" pitchFamily="18" charset="0"/>
            </a:endParaRPr>
          </a:p>
          <a:p>
            <a:pPr marL="514350" indent="-514350">
              <a:buFont typeface="+mj-lt"/>
              <a:buAutoNum type="arabicPeriod"/>
            </a:pPr>
            <a:r>
              <a:rPr lang="en-GB" b="1" dirty="0" smtClean="0">
                <a:latin typeface="Cambria" panose="02040503050406030204" pitchFamily="18" charset="0"/>
                <a:ea typeface="Cambria" panose="02040503050406030204" pitchFamily="18" charset="0"/>
              </a:rPr>
              <a:t>URL Rewriting</a:t>
            </a:r>
            <a:endParaRPr lang="en-GB" dirty="0" smtClean="0">
              <a:latin typeface="Cambria" panose="02040503050406030204" pitchFamily="18" charset="0"/>
              <a:ea typeface="Cambria" panose="02040503050406030204" pitchFamily="18" charset="0"/>
            </a:endParaRPr>
          </a:p>
          <a:p>
            <a:pPr marL="514350" indent="-514350">
              <a:buFont typeface="+mj-lt"/>
              <a:buAutoNum type="arabicPeriod"/>
            </a:pPr>
            <a:r>
              <a:rPr lang="en-GB" b="1" dirty="0" err="1" smtClean="0">
                <a:latin typeface="Cambria" panose="02040503050406030204" pitchFamily="18" charset="0"/>
                <a:ea typeface="Cambria" panose="02040503050406030204" pitchFamily="18" charset="0"/>
              </a:rPr>
              <a:t>HttpSession</a:t>
            </a:r>
            <a:endParaRPr lang="en-GB" dirty="0" smtClean="0">
              <a:latin typeface="Cambria" panose="02040503050406030204" pitchFamily="18" charset="0"/>
              <a:ea typeface="Cambria" panose="02040503050406030204" pitchFamily="18" charset="0"/>
            </a:endParaRPr>
          </a:p>
          <a:p>
            <a:pPr>
              <a:buNone/>
            </a:pPr>
            <a:r>
              <a:rPr lang="en-GB" dirty="0" smtClean="0">
                <a:latin typeface="Cambria" panose="02040503050406030204" pitchFamily="18" charset="0"/>
                <a:ea typeface="Cambria" panose="02040503050406030204" pitchFamily="18" charset="0"/>
              </a:rPr>
              <a:t/>
            </a:r>
            <a:br>
              <a:rPr lang="en-GB" dirty="0" smtClean="0">
                <a:latin typeface="Cambria" panose="02040503050406030204" pitchFamily="18" charset="0"/>
                <a:ea typeface="Cambria" panose="02040503050406030204" pitchFamily="18" charset="0"/>
              </a:rPr>
            </a:br>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46</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116632"/>
            <a:ext cx="2665512" cy="471587"/>
          </a:xfrm>
        </p:spPr>
        <p:txBody>
          <a:bodyPr/>
          <a:lstStyle/>
          <a:p>
            <a:r>
              <a:rPr lang="en-GB" sz="4000" b="1" dirty="0" smtClean="0">
                <a:solidFill>
                  <a:srgbClr val="002060"/>
                </a:solidFill>
                <a:latin typeface="Cambria" panose="02040503050406030204" pitchFamily="18" charset="0"/>
                <a:ea typeface="Cambria" panose="02040503050406030204" pitchFamily="18" charset="0"/>
              </a:rPr>
              <a:t>Cookies</a:t>
            </a:r>
            <a:endParaRPr lang="en-US" sz="4000" b="1" dirty="0">
              <a:solidFill>
                <a:srgbClr val="00206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79376" y="839592"/>
            <a:ext cx="6336704" cy="4461616"/>
          </a:xfrm>
        </p:spPr>
        <p:txBody>
          <a:bodyPr/>
          <a:lstStyle/>
          <a:p>
            <a:pPr algn="just">
              <a:spcBef>
                <a:spcPts val="0"/>
              </a:spcBef>
              <a:buNone/>
            </a:pPr>
            <a:r>
              <a:rPr lang="en-GB" sz="2200" dirty="0" smtClean="0">
                <a:latin typeface="Cambria" panose="02040503050406030204" pitchFamily="18" charset="0"/>
                <a:ea typeface="Cambria" panose="02040503050406030204" pitchFamily="18" charset="0"/>
              </a:rPr>
              <a:t>A </a:t>
            </a:r>
            <a:r>
              <a:rPr lang="en-GB" sz="2200" b="1" dirty="0" smtClean="0">
                <a:latin typeface="Cambria" panose="02040503050406030204" pitchFamily="18" charset="0"/>
                <a:ea typeface="Cambria" panose="02040503050406030204" pitchFamily="18" charset="0"/>
              </a:rPr>
              <a:t>cookie</a:t>
            </a:r>
            <a:r>
              <a:rPr lang="en-GB" sz="2200" dirty="0" smtClean="0">
                <a:latin typeface="Cambria" panose="02040503050406030204" pitchFamily="18" charset="0"/>
                <a:ea typeface="Cambria" panose="02040503050406030204" pitchFamily="18" charset="0"/>
              </a:rPr>
              <a:t> is a small piece of information that is persisted between the multiple client requests.</a:t>
            </a:r>
          </a:p>
          <a:p>
            <a:pPr algn="just">
              <a:spcBef>
                <a:spcPts val="0"/>
              </a:spcBef>
              <a:buNone/>
            </a:pPr>
            <a:r>
              <a:rPr lang="en-GB" sz="2200" dirty="0" smtClean="0">
                <a:latin typeface="Cambria" panose="02040503050406030204" pitchFamily="18" charset="0"/>
                <a:ea typeface="Cambria" panose="02040503050406030204" pitchFamily="18" charset="0"/>
              </a:rPr>
              <a:t>A cookie has a name, a single value, and optional attributes such as a comment, path and domain qualifiers, a maximum age, and a version number.</a:t>
            </a:r>
          </a:p>
          <a:p>
            <a:pPr algn="just"/>
            <a:r>
              <a:rPr lang="en-GB" sz="2200" dirty="0" smtClean="0">
                <a:solidFill>
                  <a:srgbClr val="FF0000"/>
                </a:solidFill>
                <a:latin typeface="Cambria" panose="02040503050406030204" pitchFamily="18" charset="0"/>
                <a:ea typeface="Cambria" panose="02040503050406030204" pitchFamily="18" charset="0"/>
              </a:rPr>
              <a:t>How Cookie works?</a:t>
            </a:r>
          </a:p>
          <a:p>
            <a:pPr algn="just"/>
            <a:r>
              <a:rPr lang="en-GB" sz="2200" dirty="0" smtClean="0">
                <a:latin typeface="Cambria" panose="02040503050406030204" pitchFamily="18" charset="0"/>
                <a:ea typeface="Cambria" panose="02040503050406030204" pitchFamily="18" charset="0"/>
              </a:rPr>
              <a:t>By default, each request is considered as a new request. In cookies technique, we add cookie with response from the </a:t>
            </a:r>
            <a:r>
              <a:rPr lang="en-GB" sz="2200" dirty="0" err="1" smtClean="0">
                <a:latin typeface="Cambria" panose="02040503050406030204" pitchFamily="18" charset="0"/>
                <a:ea typeface="Cambria" panose="02040503050406030204" pitchFamily="18" charset="0"/>
              </a:rPr>
              <a:t>servlet</a:t>
            </a:r>
            <a:r>
              <a:rPr lang="en-GB" sz="2200" dirty="0" smtClean="0">
                <a:latin typeface="Cambria" panose="02040503050406030204" pitchFamily="18" charset="0"/>
                <a:ea typeface="Cambria" panose="02040503050406030204" pitchFamily="18" charset="0"/>
              </a:rPr>
              <a:t>. So cookie is stored in the cache of the browser. After that if request is sent by the user, cookie is added with request by default. Thus, we recognize the user as the old user.</a:t>
            </a:r>
          </a:p>
          <a:p>
            <a:pPr algn="just">
              <a:spcBef>
                <a:spcPts val="0"/>
              </a:spcBef>
              <a:buNone/>
            </a:pPr>
            <a:endParaRPr lang="en-US" sz="22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47</a:t>
            </a:fld>
            <a:endParaRPr lang="en-US" altLang="en-US">
              <a:latin typeface="Cambria" panose="02040503050406030204" pitchFamily="18" charset="0"/>
              <a:ea typeface="Cambria" panose="02040503050406030204" pitchFamily="18" charset="0"/>
            </a:endParaRPr>
          </a:p>
        </p:txBody>
      </p:sp>
      <p:pic>
        <p:nvPicPr>
          <p:cNvPr id="5" name="Picture 4" descr="cookies in servlet"/>
          <p:cNvPicPr/>
          <p:nvPr/>
        </p:nvPicPr>
        <p:blipFill>
          <a:blip r:embed="rId2"/>
          <a:srcRect/>
          <a:stretch>
            <a:fillRect/>
          </a:stretch>
        </p:blipFill>
        <p:spPr bwMode="auto">
          <a:xfrm>
            <a:off x="7248128" y="1412776"/>
            <a:ext cx="4592955" cy="1467485"/>
          </a:xfrm>
          <a:prstGeom prst="rect">
            <a:avLst/>
          </a:prstGeom>
          <a:noFill/>
          <a:ln w="9525">
            <a:noFill/>
            <a:miter lim="800000"/>
            <a:headEnd/>
            <a:tailEnd/>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344" y="100381"/>
            <a:ext cx="4248472" cy="448299"/>
          </a:xfrm>
        </p:spPr>
        <p:txBody>
          <a:bodyPr/>
          <a:lstStyle/>
          <a:p>
            <a:r>
              <a:rPr lang="en-US" sz="4000" b="1" dirty="0" smtClean="0">
                <a:solidFill>
                  <a:srgbClr val="002060"/>
                </a:solidFill>
                <a:latin typeface="Cambria" panose="02040503050406030204" pitchFamily="18" charset="0"/>
                <a:ea typeface="Cambria" panose="02040503050406030204" pitchFamily="18" charset="0"/>
              </a:rPr>
              <a:t/>
            </a:r>
            <a:br>
              <a:rPr lang="en-US" sz="4000" b="1" dirty="0" smtClean="0">
                <a:solidFill>
                  <a:srgbClr val="002060"/>
                </a:solidFill>
                <a:latin typeface="Cambria" panose="02040503050406030204" pitchFamily="18" charset="0"/>
                <a:ea typeface="Cambria" panose="02040503050406030204" pitchFamily="18" charset="0"/>
              </a:rPr>
            </a:br>
            <a:r>
              <a:rPr lang="en-US" sz="4000" b="1" dirty="0" smtClean="0">
                <a:solidFill>
                  <a:srgbClr val="002060"/>
                </a:solidFill>
                <a:latin typeface="Cambria" panose="02040503050406030204" pitchFamily="18" charset="0"/>
                <a:ea typeface="Cambria" panose="02040503050406030204" pitchFamily="18" charset="0"/>
              </a:rPr>
              <a:t/>
            </a:r>
            <a:br>
              <a:rPr lang="en-US" sz="4000" b="1" dirty="0" smtClean="0">
                <a:solidFill>
                  <a:srgbClr val="002060"/>
                </a:solidFill>
                <a:latin typeface="Cambria" panose="02040503050406030204" pitchFamily="18" charset="0"/>
                <a:ea typeface="Cambria" panose="02040503050406030204" pitchFamily="18" charset="0"/>
              </a:rPr>
            </a:br>
            <a:r>
              <a:rPr lang="en-US" sz="4000" b="1" dirty="0" smtClean="0">
                <a:solidFill>
                  <a:srgbClr val="002060"/>
                </a:solidFill>
                <a:latin typeface="Cambria" panose="02040503050406030204" pitchFamily="18" charset="0"/>
                <a:ea typeface="Cambria" panose="02040503050406030204" pitchFamily="18" charset="0"/>
              </a:rPr>
              <a:t>Types of Cookie</a:t>
            </a:r>
            <a:br>
              <a:rPr lang="en-US" sz="4000" b="1" dirty="0" smtClean="0">
                <a:solidFill>
                  <a:srgbClr val="002060"/>
                </a:solidFill>
                <a:latin typeface="Cambria" panose="02040503050406030204" pitchFamily="18" charset="0"/>
                <a:ea typeface="Cambria" panose="02040503050406030204" pitchFamily="18" charset="0"/>
              </a:rPr>
            </a:br>
            <a:r>
              <a:rPr lang="en-US" sz="4000" b="1" dirty="0" smtClean="0">
                <a:solidFill>
                  <a:srgbClr val="002060"/>
                </a:solidFill>
                <a:latin typeface="Cambria" panose="02040503050406030204" pitchFamily="18" charset="0"/>
                <a:ea typeface="Cambria" panose="02040503050406030204" pitchFamily="18" charset="0"/>
              </a:rPr>
              <a:t/>
            </a:r>
            <a:br>
              <a:rPr lang="en-US" sz="4000" b="1" dirty="0" smtClean="0">
                <a:solidFill>
                  <a:srgbClr val="002060"/>
                </a:solidFill>
                <a:latin typeface="Cambria" panose="02040503050406030204" pitchFamily="18" charset="0"/>
                <a:ea typeface="Cambria" panose="02040503050406030204" pitchFamily="18" charset="0"/>
              </a:rPr>
            </a:br>
            <a:endParaRPr lang="en-US" sz="4000" b="1" dirty="0">
              <a:solidFill>
                <a:srgbClr val="00206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07368" y="548680"/>
            <a:ext cx="11377264" cy="4796163"/>
          </a:xfrm>
        </p:spPr>
        <p:txBody>
          <a:bodyPr/>
          <a:lstStyle/>
          <a:p>
            <a:pPr algn="just">
              <a:lnSpc>
                <a:spcPct val="100000"/>
              </a:lnSpc>
              <a:spcBef>
                <a:spcPts val="0"/>
              </a:spcBef>
              <a:buNone/>
            </a:pPr>
            <a:r>
              <a:rPr lang="en-GB" sz="2200" dirty="0" smtClean="0">
                <a:latin typeface="Cambria" panose="02040503050406030204" pitchFamily="18" charset="0"/>
                <a:ea typeface="Cambria" panose="02040503050406030204" pitchFamily="18" charset="0"/>
              </a:rPr>
              <a:t>There are 2 types of cookies in </a:t>
            </a:r>
            <a:r>
              <a:rPr lang="en-GB" sz="2200" dirty="0" err="1" smtClean="0">
                <a:latin typeface="Cambria" panose="02040503050406030204" pitchFamily="18" charset="0"/>
                <a:ea typeface="Cambria" panose="02040503050406030204" pitchFamily="18" charset="0"/>
              </a:rPr>
              <a:t>servlets</a:t>
            </a:r>
            <a:r>
              <a:rPr lang="en-GB" sz="2200" dirty="0" smtClean="0">
                <a:latin typeface="Cambria" panose="02040503050406030204" pitchFamily="18" charset="0"/>
                <a:ea typeface="Cambria" panose="02040503050406030204" pitchFamily="18" charset="0"/>
              </a:rPr>
              <a:t>.</a:t>
            </a:r>
          </a:p>
          <a:p>
            <a:pPr marL="514350" indent="-514350" algn="just">
              <a:lnSpc>
                <a:spcPct val="100000"/>
              </a:lnSpc>
              <a:spcBef>
                <a:spcPts val="0"/>
              </a:spcBef>
              <a:buFont typeface="+mj-lt"/>
              <a:buAutoNum type="arabicPeriod"/>
            </a:pPr>
            <a:r>
              <a:rPr lang="en-GB" sz="2200" dirty="0" smtClean="0">
                <a:latin typeface="Cambria" panose="02040503050406030204" pitchFamily="18" charset="0"/>
                <a:ea typeface="Cambria" panose="02040503050406030204" pitchFamily="18" charset="0"/>
              </a:rPr>
              <a:t>Non-persistent cookie</a:t>
            </a:r>
          </a:p>
          <a:p>
            <a:pPr marL="514350" indent="-514350" algn="just">
              <a:lnSpc>
                <a:spcPct val="100000"/>
              </a:lnSpc>
              <a:spcBef>
                <a:spcPts val="0"/>
              </a:spcBef>
              <a:buFont typeface="+mj-lt"/>
              <a:buAutoNum type="arabicPeriod"/>
            </a:pPr>
            <a:r>
              <a:rPr lang="en-GB" sz="2200" dirty="0" smtClean="0">
                <a:latin typeface="Cambria" panose="02040503050406030204" pitchFamily="18" charset="0"/>
                <a:ea typeface="Cambria" panose="02040503050406030204" pitchFamily="18" charset="0"/>
              </a:rPr>
              <a:t>Persistent cookie</a:t>
            </a:r>
          </a:p>
          <a:p>
            <a:pPr algn="just">
              <a:lnSpc>
                <a:spcPct val="100000"/>
              </a:lnSpc>
              <a:spcBef>
                <a:spcPts val="0"/>
              </a:spcBef>
            </a:pPr>
            <a:r>
              <a:rPr lang="en-GB" sz="2200" u="sng" dirty="0" smtClean="0">
                <a:latin typeface="Cambria" panose="02040503050406030204" pitchFamily="18" charset="0"/>
                <a:ea typeface="Cambria" panose="02040503050406030204" pitchFamily="18" charset="0"/>
              </a:rPr>
              <a:t>Non-persistent cookie</a:t>
            </a:r>
          </a:p>
          <a:p>
            <a:pPr algn="just">
              <a:lnSpc>
                <a:spcPct val="100000"/>
              </a:lnSpc>
              <a:spcBef>
                <a:spcPts val="0"/>
              </a:spcBef>
              <a:buNone/>
            </a:pPr>
            <a:r>
              <a:rPr lang="en-GB" sz="2200" dirty="0" smtClean="0">
                <a:latin typeface="Cambria" panose="02040503050406030204" pitchFamily="18" charset="0"/>
                <a:ea typeface="Cambria" panose="02040503050406030204" pitchFamily="18" charset="0"/>
              </a:rPr>
              <a:t>   It is </a:t>
            </a:r>
            <a:r>
              <a:rPr lang="en-GB" sz="2200" b="1" dirty="0" smtClean="0">
                <a:latin typeface="Cambria" panose="02040503050406030204" pitchFamily="18" charset="0"/>
                <a:ea typeface="Cambria" panose="02040503050406030204" pitchFamily="18" charset="0"/>
              </a:rPr>
              <a:t>valid for single session</a:t>
            </a:r>
            <a:r>
              <a:rPr lang="en-GB" sz="2200" dirty="0" smtClean="0">
                <a:latin typeface="Cambria" panose="02040503050406030204" pitchFamily="18" charset="0"/>
                <a:ea typeface="Cambria" panose="02040503050406030204" pitchFamily="18" charset="0"/>
              </a:rPr>
              <a:t> only. It is removed each time when user closes the browser.</a:t>
            </a:r>
          </a:p>
          <a:p>
            <a:pPr algn="just">
              <a:lnSpc>
                <a:spcPct val="100000"/>
              </a:lnSpc>
              <a:spcBef>
                <a:spcPts val="0"/>
              </a:spcBef>
            </a:pPr>
            <a:r>
              <a:rPr lang="en-GB" sz="2200" u="sng" dirty="0" smtClean="0">
                <a:latin typeface="Cambria" panose="02040503050406030204" pitchFamily="18" charset="0"/>
                <a:ea typeface="Cambria" panose="02040503050406030204" pitchFamily="18" charset="0"/>
              </a:rPr>
              <a:t>Persistent cookie</a:t>
            </a:r>
          </a:p>
          <a:p>
            <a:pPr algn="just">
              <a:lnSpc>
                <a:spcPct val="100000"/>
              </a:lnSpc>
              <a:spcBef>
                <a:spcPts val="0"/>
              </a:spcBef>
              <a:buNone/>
            </a:pPr>
            <a:r>
              <a:rPr lang="en-GB" sz="2200" dirty="0" smtClean="0">
                <a:latin typeface="Cambria" panose="02040503050406030204" pitchFamily="18" charset="0"/>
                <a:ea typeface="Cambria" panose="02040503050406030204" pitchFamily="18" charset="0"/>
              </a:rPr>
              <a:t>   It is </a:t>
            </a:r>
            <a:r>
              <a:rPr lang="en-GB" sz="2200" b="1" dirty="0" smtClean="0">
                <a:latin typeface="Cambria" panose="02040503050406030204" pitchFamily="18" charset="0"/>
                <a:ea typeface="Cambria" panose="02040503050406030204" pitchFamily="18" charset="0"/>
              </a:rPr>
              <a:t>valid for multiple sessions</a:t>
            </a:r>
            <a:r>
              <a:rPr lang="en-GB" sz="2200" dirty="0" smtClean="0">
                <a:latin typeface="Cambria" panose="02040503050406030204" pitchFamily="18" charset="0"/>
                <a:ea typeface="Cambria" panose="02040503050406030204" pitchFamily="18" charset="0"/>
              </a:rPr>
              <a:t>. It is not removed each time when user closes the browser. It is removed only if user logout or </a:t>
            </a:r>
            <a:r>
              <a:rPr lang="en-GB" sz="2200" dirty="0" err="1" smtClean="0">
                <a:latin typeface="Cambria" panose="02040503050406030204" pitchFamily="18" charset="0"/>
                <a:ea typeface="Cambria" panose="02040503050406030204" pitchFamily="18" charset="0"/>
              </a:rPr>
              <a:t>signout</a:t>
            </a:r>
            <a:r>
              <a:rPr lang="en-GB" sz="2200" dirty="0" smtClean="0">
                <a:latin typeface="Cambria" panose="02040503050406030204" pitchFamily="18" charset="0"/>
                <a:ea typeface="Cambria" panose="02040503050406030204" pitchFamily="18" charset="0"/>
              </a:rPr>
              <a:t>.</a:t>
            </a:r>
          </a:p>
          <a:p>
            <a:pPr algn="just">
              <a:lnSpc>
                <a:spcPct val="100000"/>
              </a:lnSpc>
              <a:spcBef>
                <a:spcPts val="0"/>
              </a:spcBef>
            </a:pPr>
            <a:r>
              <a:rPr lang="en-GB" sz="2200" b="1" u="sng" dirty="0" smtClean="0">
                <a:latin typeface="Cambria" panose="02040503050406030204" pitchFamily="18" charset="0"/>
                <a:ea typeface="Cambria" panose="02040503050406030204" pitchFamily="18" charset="0"/>
              </a:rPr>
              <a:t>Advantage of Cookies</a:t>
            </a:r>
          </a:p>
          <a:p>
            <a:pPr algn="just">
              <a:lnSpc>
                <a:spcPct val="100000"/>
              </a:lnSpc>
              <a:spcBef>
                <a:spcPts val="0"/>
              </a:spcBef>
            </a:pPr>
            <a:r>
              <a:rPr lang="en-GB" sz="2200" dirty="0" smtClean="0">
                <a:latin typeface="Cambria" panose="02040503050406030204" pitchFamily="18" charset="0"/>
                <a:ea typeface="Cambria" panose="02040503050406030204" pitchFamily="18" charset="0"/>
              </a:rPr>
              <a:t>Simplest technique of maintaining the state.</a:t>
            </a:r>
          </a:p>
          <a:p>
            <a:pPr algn="just">
              <a:lnSpc>
                <a:spcPct val="100000"/>
              </a:lnSpc>
              <a:spcBef>
                <a:spcPts val="0"/>
              </a:spcBef>
            </a:pPr>
            <a:r>
              <a:rPr lang="en-GB" sz="2200" dirty="0" smtClean="0">
                <a:latin typeface="Cambria" panose="02040503050406030204" pitchFamily="18" charset="0"/>
                <a:ea typeface="Cambria" panose="02040503050406030204" pitchFamily="18" charset="0"/>
              </a:rPr>
              <a:t>Cookies are maintained at client side.</a:t>
            </a:r>
          </a:p>
          <a:p>
            <a:pPr algn="just">
              <a:lnSpc>
                <a:spcPct val="100000"/>
              </a:lnSpc>
              <a:spcBef>
                <a:spcPts val="0"/>
              </a:spcBef>
            </a:pPr>
            <a:r>
              <a:rPr lang="en-GB" sz="2200" b="1" u="sng" dirty="0" smtClean="0">
                <a:latin typeface="Cambria" panose="02040503050406030204" pitchFamily="18" charset="0"/>
                <a:ea typeface="Cambria" panose="02040503050406030204" pitchFamily="18" charset="0"/>
              </a:rPr>
              <a:t>Disadvantage of Cookies</a:t>
            </a:r>
          </a:p>
          <a:p>
            <a:pPr algn="just">
              <a:lnSpc>
                <a:spcPct val="100000"/>
              </a:lnSpc>
              <a:spcBef>
                <a:spcPts val="0"/>
              </a:spcBef>
            </a:pPr>
            <a:r>
              <a:rPr lang="en-GB" sz="2200" dirty="0" smtClean="0">
                <a:latin typeface="Cambria" panose="02040503050406030204" pitchFamily="18" charset="0"/>
                <a:ea typeface="Cambria" panose="02040503050406030204" pitchFamily="18" charset="0"/>
              </a:rPr>
              <a:t>It will not work, if cookie is disabled from the browser.</a:t>
            </a:r>
          </a:p>
          <a:p>
            <a:pPr algn="just">
              <a:lnSpc>
                <a:spcPct val="100000"/>
              </a:lnSpc>
              <a:spcBef>
                <a:spcPts val="0"/>
              </a:spcBef>
            </a:pPr>
            <a:r>
              <a:rPr lang="en-GB" sz="2200" dirty="0" smtClean="0">
                <a:latin typeface="Cambria" panose="02040503050406030204" pitchFamily="18" charset="0"/>
                <a:ea typeface="Cambria" panose="02040503050406030204" pitchFamily="18" charset="0"/>
              </a:rPr>
              <a:t>Only textual information can be set in Cookie object.</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48</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69239"/>
            <a:ext cx="7200800" cy="576970"/>
          </a:xfrm>
        </p:spPr>
        <p:txBody>
          <a:bodyPr/>
          <a:lstStyle/>
          <a:p>
            <a:r>
              <a:rPr lang="en-GB" sz="3600" b="1" dirty="0" smtClean="0">
                <a:solidFill>
                  <a:srgbClr val="002060"/>
                </a:solidFill>
                <a:latin typeface="Cambria" panose="02040503050406030204" pitchFamily="18" charset="0"/>
                <a:ea typeface="Cambria" panose="02040503050406030204" pitchFamily="18" charset="0"/>
              </a:rPr>
              <a:t>How to create/delete/get/cookie</a:t>
            </a:r>
            <a:endParaRPr lang="en-US" sz="3600" b="1" dirty="0">
              <a:solidFill>
                <a:srgbClr val="002060"/>
              </a:solidFill>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49</a:t>
            </a:fld>
            <a:endParaRPr lang="en-US" altLang="en-US">
              <a:latin typeface="Cambria" panose="02040503050406030204" pitchFamily="18" charset="0"/>
              <a:ea typeface="Cambria" panose="02040503050406030204" pitchFamily="18" charset="0"/>
            </a:endParaRPr>
          </a:p>
        </p:txBody>
      </p:sp>
      <p:sp>
        <p:nvSpPr>
          <p:cNvPr id="6" name="Content Placeholder 5"/>
          <p:cNvSpPr>
            <a:spLocks noGrp="1"/>
          </p:cNvSpPr>
          <p:nvPr>
            <p:ph idx="1"/>
          </p:nvPr>
        </p:nvSpPr>
        <p:spPr>
          <a:xfrm>
            <a:off x="479376" y="646209"/>
            <a:ext cx="11161240" cy="4727007"/>
          </a:xfrm>
        </p:spPr>
        <p:txBody>
          <a:bodyPr/>
          <a:lstStyle/>
          <a:p>
            <a:pPr marL="0" indent="0">
              <a:lnSpc>
                <a:spcPct val="100000"/>
              </a:lnSpc>
              <a:spcBef>
                <a:spcPts val="0"/>
              </a:spcBef>
              <a:buNone/>
            </a:pPr>
            <a:r>
              <a:rPr lang="en-GB" sz="2200" b="1" u="sng" dirty="0" smtClean="0">
                <a:latin typeface="Cambria" panose="02040503050406030204" pitchFamily="18" charset="0"/>
                <a:ea typeface="Cambria" panose="02040503050406030204" pitchFamily="18" charset="0"/>
              </a:rPr>
              <a:t>create cookie.</a:t>
            </a:r>
          </a:p>
          <a:p>
            <a:pPr marL="0" indent="0">
              <a:lnSpc>
                <a:spcPct val="100000"/>
              </a:lnSpc>
              <a:spcBef>
                <a:spcPts val="0"/>
              </a:spcBef>
              <a:buNone/>
            </a:pPr>
            <a:r>
              <a:rPr lang="en-GB" sz="2200" dirty="0" smtClean="0">
                <a:latin typeface="Cambria" panose="02040503050406030204" pitchFamily="18" charset="0"/>
                <a:ea typeface="Cambria" panose="02040503050406030204" pitchFamily="18" charset="0"/>
              </a:rPr>
              <a:t>Cookie ck=</a:t>
            </a:r>
            <a:r>
              <a:rPr lang="en-GB" sz="2200" b="1" dirty="0" smtClean="0">
                <a:latin typeface="Cambria" panose="02040503050406030204" pitchFamily="18" charset="0"/>
                <a:ea typeface="Cambria" panose="02040503050406030204" pitchFamily="18" charset="0"/>
              </a:rPr>
              <a:t>new</a:t>
            </a:r>
            <a:r>
              <a:rPr lang="en-GB" sz="2200" dirty="0" smtClean="0">
                <a:latin typeface="Cambria" panose="02040503050406030204" pitchFamily="18" charset="0"/>
                <a:ea typeface="Cambria" panose="02040503050406030204" pitchFamily="18" charset="0"/>
              </a:rPr>
              <a:t> Cookie("user", “Rahul");//creating cookie object  </a:t>
            </a:r>
          </a:p>
          <a:p>
            <a:pPr marL="0" indent="0">
              <a:lnSpc>
                <a:spcPct val="100000"/>
              </a:lnSpc>
              <a:spcBef>
                <a:spcPts val="0"/>
              </a:spcBef>
              <a:buNone/>
            </a:pPr>
            <a:r>
              <a:rPr lang="en-GB" sz="2200" dirty="0" smtClean="0">
                <a:latin typeface="Cambria" panose="02040503050406030204" pitchFamily="18" charset="0"/>
                <a:ea typeface="Cambria" panose="02040503050406030204" pitchFamily="18" charset="0"/>
              </a:rPr>
              <a:t>response.addCookie(ck);//adding cookie in the response </a:t>
            </a:r>
          </a:p>
          <a:p>
            <a:pPr marL="0" indent="0">
              <a:lnSpc>
                <a:spcPct val="100000"/>
              </a:lnSpc>
              <a:spcBef>
                <a:spcPts val="0"/>
              </a:spcBef>
              <a:buNone/>
            </a:pPr>
            <a:r>
              <a:rPr lang="en-GB" sz="2200" dirty="0" smtClean="0">
                <a:latin typeface="Cambria" panose="02040503050406030204" pitchFamily="18" charset="0"/>
                <a:ea typeface="Cambria" panose="02040503050406030204" pitchFamily="18" charset="0"/>
              </a:rPr>
              <a:t> </a:t>
            </a:r>
            <a:r>
              <a:rPr lang="en-GB" sz="2200" u="sng" dirty="0" smtClean="0">
                <a:latin typeface="Cambria" panose="02040503050406030204" pitchFamily="18" charset="0"/>
                <a:ea typeface="Cambria" panose="02040503050406030204" pitchFamily="18" charset="0"/>
              </a:rPr>
              <a:t>delete Cookie</a:t>
            </a:r>
            <a:endParaRPr lang="en-GB" sz="2200" dirty="0" smtClean="0">
              <a:latin typeface="Cambria" panose="02040503050406030204" pitchFamily="18" charset="0"/>
              <a:ea typeface="Cambria" panose="02040503050406030204" pitchFamily="18" charset="0"/>
            </a:endParaRPr>
          </a:p>
          <a:p>
            <a:pPr marL="0" indent="0">
              <a:lnSpc>
                <a:spcPct val="100000"/>
              </a:lnSpc>
              <a:spcBef>
                <a:spcPts val="0"/>
              </a:spcBef>
              <a:buNone/>
            </a:pPr>
            <a:r>
              <a:rPr lang="en-GB" sz="2200" dirty="0" smtClean="0">
                <a:latin typeface="Cambria" panose="02040503050406030204" pitchFamily="18" charset="0"/>
                <a:ea typeface="Cambria" panose="02040503050406030204" pitchFamily="18" charset="0"/>
              </a:rPr>
              <a:t> It is mainly used to logout or signout the user.</a:t>
            </a:r>
          </a:p>
          <a:p>
            <a:pPr marL="0" indent="0">
              <a:lnSpc>
                <a:spcPct val="100000"/>
              </a:lnSpc>
              <a:spcBef>
                <a:spcPts val="0"/>
              </a:spcBef>
              <a:buNone/>
            </a:pPr>
            <a:r>
              <a:rPr lang="en-GB" sz="2200" dirty="0" smtClean="0">
                <a:latin typeface="Cambria" panose="02040503050406030204" pitchFamily="18" charset="0"/>
                <a:ea typeface="Cambria" panose="02040503050406030204" pitchFamily="18" charset="0"/>
              </a:rPr>
              <a:t>Cookie ck=</a:t>
            </a:r>
            <a:r>
              <a:rPr lang="en-GB" sz="2200" b="1" dirty="0" smtClean="0">
                <a:latin typeface="Cambria" panose="02040503050406030204" pitchFamily="18" charset="0"/>
                <a:ea typeface="Cambria" panose="02040503050406030204" pitchFamily="18" charset="0"/>
              </a:rPr>
              <a:t>new</a:t>
            </a:r>
            <a:r>
              <a:rPr lang="en-GB" sz="2200" dirty="0" smtClean="0">
                <a:latin typeface="Cambria" panose="02040503050406030204" pitchFamily="18" charset="0"/>
                <a:ea typeface="Cambria" panose="02040503050406030204" pitchFamily="18" charset="0"/>
              </a:rPr>
              <a:t> Cookie("user", "");//deleting value of cookie  </a:t>
            </a:r>
          </a:p>
          <a:p>
            <a:pPr marL="0" indent="0">
              <a:lnSpc>
                <a:spcPct val="100000"/>
              </a:lnSpc>
              <a:spcBef>
                <a:spcPts val="0"/>
              </a:spcBef>
              <a:buNone/>
            </a:pPr>
            <a:r>
              <a:rPr lang="en-GB" sz="2200" dirty="0" smtClean="0">
                <a:latin typeface="Cambria" panose="02040503050406030204" pitchFamily="18" charset="0"/>
                <a:ea typeface="Cambria" panose="02040503050406030204" pitchFamily="18" charset="0"/>
              </a:rPr>
              <a:t>ck.setMaxAge(0);//changing the maximum age to 0 seconds  </a:t>
            </a:r>
          </a:p>
          <a:p>
            <a:pPr marL="0" indent="0">
              <a:lnSpc>
                <a:spcPct val="100000"/>
              </a:lnSpc>
              <a:spcBef>
                <a:spcPts val="0"/>
              </a:spcBef>
              <a:buNone/>
            </a:pPr>
            <a:r>
              <a:rPr lang="en-GB" sz="2200" dirty="0" smtClean="0">
                <a:latin typeface="Cambria" panose="02040503050406030204" pitchFamily="18" charset="0"/>
                <a:ea typeface="Cambria" panose="02040503050406030204" pitchFamily="18" charset="0"/>
              </a:rPr>
              <a:t>  </a:t>
            </a:r>
          </a:p>
          <a:p>
            <a:pPr marL="0" indent="0">
              <a:lnSpc>
                <a:spcPct val="100000"/>
              </a:lnSpc>
              <a:spcBef>
                <a:spcPts val="0"/>
              </a:spcBef>
              <a:buNone/>
            </a:pPr>
            <a:r>
              <a:rPr lang="en-GB" sz="2200" b="1" dirty="0" smtClean="0">
                <a:latin typeface="Cambria" panose="02040503050406030204" pitchFamily="18" charset="0"/>
                <a:ea typeface="Cambria" panose="02040503050406030204" pitchFamily="18" charset="0"/>
              </a:rPr>
              <a:t> </a:t>
            </a:r>
            <a:r>
              <a:rPr lang="en-GB" sz="2200" b="1" u="sng" dirty="0" smtClean="0">
                <a:latin typeface="Cambria" panose="02040503050406030204" pitchFamily="18" charset="0"/>
                <a:ea typeface="Cambria" panose="02040503050406030204" pitchFamily="18" charset="0"/>
              </a:rPr>
              <a:t>get Cookies</a:t>
            </a:r>
          </a:p>
          <a:p>
            <a:pPr marL="0" indent="0">
              <a:lnSpc>
                <a:spcPct val="100000"/>
              </a:lnSpc>
              <a:spcBef>
                <a:spcPts val="0"/>
              </a:spcBef>
              <a:buNone/>
            </a:pPr>
            <a:r>
              <a:rPr lang="en-GB" sz="2200" dirty="0" smtClean="0">
                <a:latin typeface="Cambria" panose="02040503050406030204" pitchFamily="18" charset="0"/>
                <a:ea typeface="Cambria" panose="02040503050406030204" pitchFamily="18" charset="0"/>
              </a:rPr>
              <a:t>to get all the cookies.</a:t>
            </a:r>
          </a:p>
          <a:p>
            <a:pPr>
              <a:lnSpc>
                <a:spcPct val="100000"/>
              </a:lnSpc>
              <a:spcBef>
                <a:spcPts val="0"/>
              </a:spcBef>
              <a:buNone/>
            </a:pPr>
            <a:r>
              <a:rPr lang="en-GB" sz="2200" dirty="0" smtClean="0">
                <a:latin typeface="Cambria" panose="02040503050406030204" pitchFamily="18" charset="0"/>
                <a:ea typeface="Cambria" panose="02040503050406030204" pitchFamily="18" charset="0"/>
              </a:rPr>
              <a:t>Cookie ck[]=request.getCookies();  </a:t>
            </a:r>
          </a:p>
          <a:p>
            <a:pPr>
              <a:lnSpc>
                <a:spcPct val="100000"/>
              </a:lnSpc>
              <a:spcBef>
                <a:spcPts val="0"/>
              </a:spcBef>
              <a:buNone/>
            </a:pPr>
            <a:r>
              <a:rPr lang="en-GB" sz="2200" b="1" dirty="0" smtClean="0">
                <a:latin typeface="Cambria" panose="02040503050406030204" pitchFamily="18" charset="0"/>
                <a:ea typeface="Cambria" panose="02040503050406030204" pitchFamily="18" charset="0"/>
              </a:rPr>
              <a:t>for</a:t>
            </a:r>
            <a:r>
              <a:rPr lang="en-GB" sz="2200" dirty="0" smtClean="0">
                <a:latin typeface="Cambria" panose="02040503050406030204" pitchFamily="18" charset="0"/>
                <a:ea typeface="Cambria" panose="02040503050406030204" pitchFamily="18" charset="0"/>
              </a:rPr>
              <a:t>(</a:t>
            </a:r>
            <a:r>
              <a:rPr lang="en-GB" sz="2200" b="1" dirty="0" smtClean="0">
                <a:latin typeface="Cambria" panose="02040503050406030204" pitchFamily="18" charset="0"/>
                <a:ea typeface="Cambria" panose="02040503050406030204" pitchFamily="18" charset="0"/>
              </a:rPr>
              <a:t>int</a:t>
            </a:r>
            <a:r>
              <a:rPr lang="en-GB" sz="2200" dirty="0" smtClean="0">
                <a:latin typeface="Cambria" panose="02040503050406030204" pitchFamily="18" charset="0"/>
                <a:ea typeface="Cambria" panose="02040503050406030204" pitchFamily="18" charset="0"/>
              </a:rPr>
              <a:t> i=0;i&lt;ck.length;i++){  </a:t>
            </a:r>
          </a:p>
          <a:p>
            <a:pPr>
              <a:lnSpc>
                <a:spcPct val="100000"/>
              </a:lnSpc>
              <a:spcBef>
                <a:spcPts val="0"/>
              </a:spcBef>
              <a:buNone/>
            </a:pPr>
            <a:r>
              <a:rPr lang="en-GB" sz="2200" dirty="0" smtClean="0">
                <a:latin typeface="Cambria" panose="02040503050406030204" pitchFamily="18" charset="0"/>
                <a:ea typeface="Cambria" panose="02040503050406030204" pitchFamily="18" charset="0"/>
              </a:rPr>
              <a:t> out.print("&lt;br&gt;"+ck[i].getName()+" "+ck[i].getValue());//printing name and value of cookie</a:t>
            </a:r>
          </a:p>
          <a:p>
            <a:pPr>
              <a:lnSpc>
                <a:spcPct val="100000"/>
              </a:lnSpc>
              <a:spcBef>
                <a:spcPts val="0"/>
              </a:spcBef>
              <a:buNone/>
            </a:pPr>
            <a:r>
              <a:rPr lang="en-GB" sz="2200" dirty="0" smtClean="0">
                <a:latin typeface="Cambria" panose="02040503050406030204" pitchFamily="18" charset="0"/>
                <a:ea typeface="Cambria" panose="02040503050406030204" pitchFamily="18" charset="0"/>
              </a:rPr>
              <a:t>}  </a:t>
            </a:r>
          </a:p>
          <a:p>
            <a:pPr>
              <a:lnSpc>
                <a:spcPct val="100000"/>
              </a:lnSpc>
              <a:spcBef>
                <a:spcPts val="0"/>
              </a:spcBef>
              <a:buNone/>
            </a:pPr>
            <a:r>
              <a:rPr lang="en-GB" sz="2200" dirty="0" smtClean="0">
                <a:latin typeface="Cambria" panose="02040503050406030204" pitchFamily="18" charset="0"/>
                <a:ea typeface="Cambria" panose="02040503050406030204" pitchFamily="18" charset="0"/>
              </a:rPr>
              <a:t/>
            </a:r>
            <a:br>
              <a:rPr lang="en-GB" sz="2200" dirty="0" smtClean="0">
                <a:latin typeface="Cambria" panose="02040503050406030204" pitchFamily="18" charset="0"/>
                <a:ea typeface="Cambria" panose="02040503050406030204" pitchFamily="18" charset="0"/>
              </a:rPr>
            </a:br>
            <a:endParaRPr lang="en-US" sz="2200" dirty="0">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344" y="188640"/>
            <a:ext cx="2665512" cy="543595"/>
          </a:xfrm>
        </p:spPr>
        <p:txBody>
          <a:bodyPr/>
          <a:lstStyle/>
          <a:p>
            <a:r>
              <a:rPr lang="en-GB" sz="4000" b="1" dirty="0" smtClean="0">
                <a:solidFill>
                  <a:srgbClr val="002060"/>
                </a:solidFill>
                <a:latin typeface="Cambria" panose="02040503050406030204" pitchFamily="18" charset="0"/>
                <a:ea typeface="Cambria" panose="02040503050406030204" pitchFamily="18" charset="0"/>
              </a:rPr>
              <a:t>Example</a:t>
            </a:r>
            <a:endParaRPr lang="en-US" sz="4000" b="1" dirty="0">
              <a:solidFill>
                <a:srgbClr val="00206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07368" y="895430"/>
            <a:ext cx="11089232" cy="1957506"/>
          </a:xfrm>
        </p:spPr>
        <p:txBody>
          <a:bodyPr/>
          <a:lstStyle/>
          <a:p>
            <a:pPr marL="0" indent="0" algn="just">
              <a:buNone/>
            </a:pPr>
            <a:r>
              <a:rPr lang="en-GB" dirty="0">
                <a:latin typeface="Cambria" panose="02040503050406030204" pitchFamily="18" charset="0"/>
                <a:ea typeface="Cambria" panose="02040503050406030204" pitchFamily="18" charset="0"/>
              </a:rPr>
              <a:t>S</a:t>
            </a:r>
            <a:r>
              <a:rPr lang="en-GB" dirty="0" smtClean="0">
                <a:latin typeface="Cambria" panose="02040503050406030204" pitchFamily="18" charset="0"/>
                <a:ea typeface="Cambria" panose="02040503050406030204" pitchFamily="18" charset="0"/>
              </a:rPr>
              <a:t>toring the name of the user in the cookie object and accessing it in another servlet. As we know well that session corresponds to the particular user. So if you access it from too many browsers with different values, you will get the different value.</a:t>
            </a:r>
          </a:p>
          <a:p>
            <a:pPr algn="just"/>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50</a:t>
            </a:fld>
            <a:endParaRPr lang="en-US" altLang="en-US">
              <a:latin typeface="Cambria" panose="02040503050406030204" pitchFamily="18" charset="0"/>
              <a:ea typeface="Cambria" panose="02040503050406030204" pitchFamily="18" charset="0"/>
            </a:endParaRPr>
          </a:p>
        </p:txBody>
      </p:sp>
      <p:pic>
        <p:nvPicPr>
          <p:cNvPr id="5" name="Picture 4" descr="cookies in session tracking"/>
          <p:cNvPicPr/>
          <p:nvPr/>
        </p:nvPicPr>
        <p:blipFill>
          <a:blip r:embed="rId2"/>
          <a:srcRect/>
          <a:stretch>
            <a:fillRect/>
          </a:stretch>
        </p:blipFill>
        <p:spPr bwMode="auto">
          <a:xfrm>
            <a:off x="2351584" y="2636912"/>
            <a:ext cx="6552728" cy="3024336"/>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3352" y="188641"/>
            <a:ext cx="2952328" cy="648072"/>
          </a:xfrm>
        </p:spPr>
        <p:txBody>
          <a:bodyPr/>
          <a:lstStyle/>
          <a:p>
            <a:r>
              <a:rPr lang="en-US" sz="4000" b="1" dirty="0" smtClean="0">
                <a:solidFill>
                  <a:srgbClr val="002060"/>
                </a:solidFill>
                <a:latin typeface="Cambria" panose="02040503050406030204" pitchFamily="18" charset="0"/>
                <a:ea typeface="Cambria" panose="02040503050406030204" pitchFamily="18" charset="0"/>
              </a:rPr>
              <a:t>index.html</a:t>
            </a:r>
            <a:endParaRPr lang="en-US" b="1" dirty="0">
              <a:solidFill>
                <a:srgbClr val="00206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767408" y="1052736"/>
            <a:ext cx="10370368" cy="2144280"/>
          </a:xfrm>
        </p:spPr>
        <p:txBody>
          <a:bodyPr/>
          <a:lstStyle/>
          <a:p>
            <a:r>
              <a:rPr lang="en-GB" dirty="0" smtClean="0">
                <a:latin typeface="Cambria" panose="02040503050406030204" pitchFamily="18" charset="0"/>
                <a:ea typeface="Cambria" panose="02040503050406030204" pitchFamily="18" charset="0"/>
              </a:rPr>
              <a:t>&lt;form action="servlet1" method="post"&gt;  </a:t>
            </a:r>
          </a:p>
          <a:p>
            <a:r>
              <a:rPr lang="en-GB" dirty="0" smtClean="0">
                <a:latin typeface="Cambria" panose="02040503050406030204" pitchFamily="18" charset="0"/>
                <a:ea typeface="Cambria" panose="02040503050406030204" pitchFamily="18" charset="0"/>
              </a:rPr>
              <a:t>Name:&lt;input type="text" name="</a:t>
            </a:r>
            <a:r>
              <a:rPr lang="en-GB" dirty="0" err="1" smtClean="0">
                <a:latin typeface="Cambria" panose="02040503050406030204" pitchFamily="18" charset="0"/>
                <a:ea typeface="Cambria" panose="02040503050406030204" pitchFamily="18" charset="0"/>
              </a:rPr>
              <a:t>userName</a:t>
            </a:r>
            <a:r>
              <a:rPr lang="en-GB" dirty="0" smtClean="0">
                <a:latin typeface="Cambria" panose="02040503050406030204" pitchFamily="18" charset="0"/>
                <a:ea typeface="Cambria" panose="02040503050406030204" pitchFamily="18" charset="0"/>
              </a:rPr>
              <a:t>"/&gt;&lt;</a:t>
            </a:r>
            <a:r>
              <a:rPr lang="en-GB" dirty="0" err="1" smtClean="0">
                <a:latin typeface="Cambria" panose="02040503050406030204" pitchFamily="18" charset="0"/>
                <a:ea typeface="Cambria" panose="02040503050406030204" pitchFamily="18" charset="0"/>
              </a:rPr>
              <a:t>br</a:t>
            </a:r>
            <a:r>
              <a:rPr lang="en-GB" dirty="0" smtClean="0">
                <a:latin typeface="Cambria" panose="02040503050406030204" pitchFamily="18" charset="0"/>
                <a:ea typeface="Cambria" panose="02040503050406030204" pitchFamily="18" charset="0"/>
              </a:rPr>
              <a:t>/&gt;  </a:t>
            </a:r>
          </a:p>
          <a:p>
            <a:r>
              <a:rPr lang="en-GB" dirty="0" smtClean="0">
                <a:latin typeface="Cambria" panose="02040503050406030204" pitchFamily="18" charset="0"/>
                <a:ea typeface="Cambria" panose="02040503050406030204" pitchFamily="18" charset="0"/>
              </a:rPr>
              <a:t>&lt;input type="submit" value="go"/&gt;  </a:t>
            </a:r>
          </a:p>
          <a:p>
            <a:r>
              <a:rPr lang="en-GB" dirty="0" smtClean="0">
                <a:latin typeface="Cambria" panose="02040503050406030204" pitchFamily="18" charset="0"/>
                <a:ea typeface="Cambria" panose="02040503050406030204" pitchFamily="18" charset="0"/>
              </a:rPr>
              <a:t>&lt;/form&gt;</a:t>
            </a:r>
          </a:p>
          <a:p>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51</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7368" y="0"/>
            <a:ext cx="10515600" cy="634983"/>
          </a:xfrm>
        </p:spPr>
        <p:txBody>
          <a:bodyPr/>
          <a:lstStyle/>
          <a:p>
            <a:r>
              <a:rPr lang="en-US" sz="4000" b="1" dirty="0" smtClean="0">
                <a:solidFill>
                  <a:srgbClr val="002060"/>
                </a:solidFill>
                <a:latin typeface="Cambria" panose="02040503050406030204" pitchFamily="18" charset="0"/>
                <a:ea typeface="Cambria" panose="02040503050406030204" pitchFamily="18" charset="0"/>
              </a:rPr>
              <a:t>FirstServlet.java</a:t>
            </a:r>
            <a:endParaRPr lang="en-US" sz="4000" b="1" dirty="0">
              <a:solidFill>
                <a:srgbClr val="00206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767408" y="634983"/>
            <a:ext cx="10297144" cy="6086492"/>
          </a:xfrm>
        </p:spPr>
        <p:txBody>
          <a:bodyPr/>
          <a:lstStyle/>
          <a:p>
            <a:pPr>
              <a:lnSpc>
                <a:spcPct val="100000"/>
              </a:lnSpc>
              <a:spcBef>
                <a:spcPts val="0"/>
              </a:spcBef>
              <a:buNone/>
            </a:pPr>
            <a:r>
              <a:rPr lang="en-US" sz="2000" b="1" dirty="0" smtClean="0">
                <a:latin typeface="Cambria" panose="02040503050406030204" pitchFamily="18" charset="0"/>
                <a:ea typeface="Cambria" panose="02040503050406030204" pitchFamily="18" charset="0"/>
              </a:rPr>
              <a:t>import</a:t>
            </a:r>
            <a:r>
              <a:rPr lang="en-US" sz="2000" dirty="0" smtClean="0">
                <a:latin typeface="Cambria" panose="02040503050406030204" pitchFamily="18" charset="0"/>
                <a:ea typeface="Cambria" panose="02040503050406030204" pitchFamily="18" charset="0"/>
              </a:rPr>
              <a:t> java.io.*;  </a:t>
            </a:r>
          </a:p>
          <a:p>
            <a:pPr>
              <a:lnSpc>
                <a:spcPct val="100000"/>
              </a:lnSpc>
              <a:spcBef>
                <a:spcPts val="0"/>
              </a:spcBef>
              <a:buNone/>
            </a:pPr>
            <a:r>
              <a:rPr lang="en-US" sz="2000" b="1" dirty="0" smtClean="0">
                <a:latin typeface="Cambria" panose="02040503050406030204" pitchFamily="18" charset="0"/>
                <a:ea typeface="Cambria" panose="02040503050406030204" pitchFamily="18" charset="0"/>
              </a:rPr>
              <a:t>import</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javax.servlet</a:t>
            </a:r>
            <a:r>
              <a:rPr lang="en-US" sz="2000" dirty="0" smtClean="0">
                <a:latin typeface="Cambria" panose="02040503050406030204" pitchFamily="18" charset="0"/>
                <a:ea typeface="Cambria" panose="02040503050406030204" pitchFamily="18" charset="0"/>
              </a:rPr>
              <a:t>.*;  </a:t>
            </a:r>
          </a:p>
          <a:p>
            <a:pPr>
              <a:lnSpc>
                <a:spcPct val="100000"/>
              </a:lnSpc>
              <a:spcBef>
                <a:spcPts val="0"/>
              </a:spcBef>
              <a:buNone/>
            </a:pPr>
            <a:r>
              <a:rPr lang="en-US" sz="2000" b="1" dirty="0" smtClean="0">
                <a:latin typeface="Cambria" panose="02040503050406030204" pitchFamily="18" charset="0"/>
                <a:ea typeface="Cambria" panose="02040503050406030204" pitchFamily="18" charset="0"/>
              </a:rPr>
              <a:t>import</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javax.servlet.http</a:t>
            </a:r>
            <a:r>
              <a:rPr lang="en-US" sz="2000" dirty="0" smtClean="0">
                <a:latin typeface="Cambria" panose="02040503050406030204" pitchFamily="18" charset="0"/>
                <a:ea typeface="Cambria" panose="02040503050406030204" pitchFamily="18" charset="0"/>
              </a:rPr>
              <a:t>.*;  </a:t>
            </a:r>
          </a:p>
          <a:p>
            <a:pPr>
              <a:lnSpc>
                <a:spcPct val="100000"/>
              </a:lnSpc>
              <a:spcBef>
                <a:spcPts val="0"/>
              </a:spcBef>
              <a:buNone/>
            </a:pPr>
            <a:r>
              <a:rPr lang="en-US" sz="2000" b="1" dirty="0" smtClean="0">
                <a:latin typeface="Cambria" panose="02040503050406030204" pitchFamily="18" charset="0"/>
                <a:ea typeface="Cambria" panose="02040503050406030204" pitchFamily="18" charset="0"/>
              </a:rPr>
              <a:t> public</a:t>
            </a: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class</a:t>
            </a:r>
            <a:r>
              <a:rPr lang="en-US" sz="2000" dirty="0" smtClean="0">
                <a:latin typeface="Cambria" panose="02040503050406030204" pitchFamily="18" charset="0"/>
                <a:ea typeface="Cambria" panose="02040503050406030204" pitchFamily="18" charset="0"/>
              </a:rPr>
              <a:t> FirstServlet </a:t>
            </a:r>
            <a:r>
              <a:rPr lang="en-US" sz="2000" b="1" dirty="0" smtClean="0">
                <a:latin typeface="Cambria" panose="02040503050406030204" pitchFamily="18" charset="0"/>
                <a:ea typeface="Cambria" panose="02040503050406030204" pitchFamily="18" charset="0"/>
              </a:rPr>
              <a:t>extends</a:t>
            </a:r>
            <a:r>
              <a:rPr lang="en-US" sz="2000" dirty="0" smtClean="0">
                <a:latin typeface="Cambria" panose="02040503050406030204" pitchFamily="18" charset="0"/>
                <a:ea typeface="Cambria" panose="02040503050406030204" pitchFamily="18" charset="0"/>
              </a:rPr>
              <a:t> HttpServlet {  </a:t>
            </a:r>
          </a:p>
          <a:p>
            <a:pPr>
              <a:lnSpc>
                <a:spcPct val="100000"/>
              </a:lnSpc>
              <a:spcBef>
                <a:spcPts val="0"/>
              </a:spcBef>
              <a:buNone/>
            </a:pP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public</a:t>
            </a: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void</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doPost</a:t>
            </a:r>
            <a:r>
              <a:rPr lang="en-US" sz="2000" dirty="0" smtClean="0">
                <a:latin typeface="Cambria" panose="02040503050406030204" pitchFamily="18" charset="0"/>
                <a:ea typeface="Cambria" panose="02040503050406030204" pitchFamily="18" charset="0"/>
              </a:rPr>
              <a:t>(</a:t>
            </a:r>
            <a:r>
              <a:rPr lang="en-US" sz="2000" dirty="0" err="1" smtClean="0">
                <a:latin typeface="Cambria" panose="02040503050406030204" pitchFamily="18" charset="0"/>
                <a:ea typeface="Cambria" panose="02040503050406030204" pitchFamily="18" charset="0"/>
              </a:rPr>
              <a:t>HttpServletRequest</a:t>
            </a:r>
            <a:r>
              <a:rPr lang="en-US" sz="2000" dirty="0" smtClean="0">
                <a:latin typeface="Cambria" panose="02040503050406030204" pitchFamily="18" charset="0"/>
                <a:ea typeface="Cambria" panose="02040503050406030204" pitchFamily="18" charset="0"/>
              </a:rPr>
              <a:t> request, </a:t>
            </a:r>
            <a:r>
              <a:rPr lang="en-US" sz="2000" dirty="0" err="1" smtClean="0">
                <a:latin typeface="Cambria" panose="02040503050406030204" pitchFamily="18" charset="0"/>
                <a:ea typeface="Cambria" panose="02040503050406030204" pitchFamily="18" charset="0"/>
              </a:rPr>
              <a:t>HttpServletResponse</a:t>
            </a:r>
            <a:r>
              <a:rPr lang="en-US" sz="2000" dirty="0" smtClean="0">
                <a:latin typeface="Cambria" panose="02040503050406030204" pitchFamily="18" charset="0"/>
                <a:ea typeface="Cambria" panose="02040503050406030204" pitchFamily="18" charset="0"/>
              </a:rPr>
              <a:t> response){  </a:t>
            </a:r>
          </a:p>
          <a:p>
            <a:pPr>
              <a:lnSpc>
                <a:spcPct val="100000"/>
              </a:lnSpc>
              <a:spcBef>
                <a:spcPts val="0"/>
              </a:spcBef>
              <a:buNone/>
            </a:pP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try</a:t>
            </a:r>
            <a:r>
              <a:rPr lang="en-US" sz="2000" dirty="0" smtClean="0">
                <a:latin typeface="Cambria" panose="02040503050406030204" pitchFamily="18" charset="0"/>
                <a:ea typeface="Cambria" panose="02040503050406030204" pitchFamily="18" charset="0"/>
              </a:rPr>
              <a:t>{  </a:t>
            </a:r>
          </a:p>
          <a:p>
            <a:pPr>
              <a:lnSpc>
                <a:spcPct val="100000"/>
              </a:lnSpc>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response.setContentType</a:t>
            </a:r>
            <a:r>
              <a:rPr lang="en-US" sz="2000" dirty="0" smtClean="0">
                <a:latin typeface="Cambria" panose="02040503050406030204" pitchFamily="18" charset="0"/>
                <a:ea typeface="Cambria" panose="02040503050406030204" pitchFamily="18" charset="0"/>
              </a:rPr>
              <a:t>("text/html");  </a:t>
            </a:r>
          </a:p>
          <a:p>
            <a:pPr>
              <a:lnSpc>
                <a:spcPct val="100000"/>
              </a:lnSpc>
              <a:spcBef>
                <a:spcPts val="0"/>
              </a:spcBef>
              <a:buNone/>
            </a:pPr>
            <a:r>
              <a:rPr lang="en-US" sz="2000" dirty="0" smtClean="0">
                <a:latin typeface="Cambria" panose="02040503050406030204" pitchFamily="18" charset="0"/>
                <a:ea typeface="Cambria" panose="02040503050406030204" pitchFamily="18" charset="0"/>
              </a:rPr>
              <a:t>    PrintWriter out = response.getWriter();            </a:t>
            </a:r>
          </a:p>
          <a:p>
            <a:pPr>
              <a:lnSpc>
                <a:spcPct val="100000"/>
              </a:lnSpc>
              <a:spcBef>
                <a:spcPts val="0"/>
              </a:spcBef>
              <a:buNone/>
            </a:pPr>
            <a:r>
              <a:rPr lang="en-US" sz="2000" dirty="0" smtClean="0">
                <a:latin typeface="Cambria" panose="02040503050406030204" pitchFamily="18" charset="0"/>
                <a:ea typeface="Cambria" panose="02040503050406030204" pitchFamily="18" charset="0"/>
              </a:rPr>
              <a:t>    String n=</a:t>
            </a:r>
            <a:r>
              <a:rPr lang="en-US" sz="2000" dirty="0" err="1" smtClean="0">
                <a:latin typeface="Cambria" panose="02040503050406030204" pitchFamily="18" charset="0"/>
                <a:ea typeface="Cambria" panose="02040503050406030204" pitchFamily="18" charset="0"/>
              </a:rPr>
              <a:t>request.getParameter</a:t>
            </a:r>
            <a:r>
              <a:rPr lang="en-US" sz="2000" dirty="0" smtClean="0">
                <a:latin typeface="Cambria" panose="02040503050406030204" pitchFamily="18" charset="0"/>
                <a:ea typeface="Cambria" panose="02040503050406030204" pitchFamily="18" charset="0"/>
              </a:rPr>
              <a:t>("</a:t>
            </a:r>
            <a:r>
              <a:rPr lang="en-US" sz="2000" dirty="0" err="1" smtClean="0">
                <a:latin typeface="Cambria" panose="02040503050406030204" pitchFamily="18" charset="0"/>
                <a:ea typeface="Cambria" panose="02040503050406030204" pitchFamily="18" charset="0"/>
              </a:rPr>
              <a:t>userName</a:t>
            </a:r>
            <a:r>
              <a:rPr lang="en-US" sz="2000" dirty="0" smtClean="0">
                <a:latin typeface="Cambria" panose="02040503050406030204" pitchFamily="18" charset="0"/>
                <a:ea typeface="Cambria" panose="02040503050406030204" pitchFamily="18" charset="0"/>
              </a:rPr>
              <a:t>");  </a:t>
            </a:r>
          </a:p>
          <a:p>
            <a:pPr>
              <a:lnSpc>
                <a:spcPct val="100000"/>
              </a:lnSpc>
              <a:spcBef>
                <a:spcPts val="0"/>
              </a:spcBef>
              <a:buNone/>
            </a:pPr>
            <a:r>
              <a:rPr lang="en-US" sz="2000" dirty="0" smtClean="0">
                <a:latin typeface="Cambria" panose="02040503050406030204" pitchFamily="18" charset="0"/>
                <a:ea typeface="Cambria" panose="02040503050406030204" pitchFamily="18" charset="0"/>
              </a:rPr>
              <a:t>    out.print("Welcome "+n);    </a:t>
            </a:r>
          </a:p>
          <a:p>
            <a:pPr>
              <a:lnSpc>
                <a:spcPct val="100000"/>
              </a:lnSpc>
              <a:spcBef>
                <a:spcPts val="0"/>
              </a:spcBef>
              <a:buNone/>
            </a:pPr>
            <a:r>
              <a:rPr lang="en-US" sz="2000" dirty="0" smtClean="0">
                <a:latin typeface="Cambria" panose="02040503050406030204" pitchFamily="18" charset="0"/>
                <a:ea typeface="Cambria" panose="02040503050406030204" pitchFamily="18" charset="0"/>
              </a:rPr>
              <a:t>    Cookie ck=</a:t>
            </a:r>
            <a:r>
              <a:rPr lang="en-US" sz="2000" b="1" dirty="0" smtClean="0">
                <a:latin typeface="Cambria" panose="02040503050406030204" pitchFamily="18" charset="0"/>
                <a:ea typeface="Cambria" panose="02040503050406030204" pitchFamily="18" charset="0"/>
              </a:rPr>
              <a:t>new</a:t>
            </a:r>
            <a:r>
              <a:rPr lang="en-US" sz="2000" dirty="0" smtClean="0">
                <a:latin typeface="Cambria" panose="02040503050406030204" pitchFamily="18" charset="0"/>
                <a:ea typeface="Cambria" panose="02040503050406030204" pitchFamily="18" charset="0"/>
              </a:rPr>
              <a:t> Cookie("</a:t>
            </a:r>
            <a:r>
              <a:rPr lang="en-US" sz="2000" dirty="0" err="1" smtClean="0">
                <a:latin typeface="Cambria" panose="02040503050406030204" pitchFamily="18" charset="0"/>
                <a:ea typeface="Cambria" panose="02040503050406030204" pitchFamily="18" charset="0"/>
              </a:rPr>
              <a:t>uname",n</a:t>
            </a:r>
            <a:r>
              <a:rPr lang="en-US" sz="2000" dirty="0" smtClean="0">
                <a:latin typeface="Cambria" panose="02040503050406030204" pitchFamily="18" charset="0"/>
                <a:ea typeface="Cambria" panose="02040503050406030204" pitchFamily="18" charset="0"/>
              </a:rPr>
              <a:t>);//creating cookie object  </a:t>
            </a:r>
          </a:p>
          <a:p>
            <a:pPr>
              <a:lnSpc>
                <a:spcPct val="100000"/>
              </a:lnSpc>
              <a:spcBef>
                <a:spcPts val="0"/>
              </a:spcBef>
              <a:buNone/>
            </a:pPr>
            <a:r>
              <a:rPr lang="en-US" sz="2000" dirty="0" smtClean="0">
                <a:latin typeface="Cambria" panose="02040503050406030204" pitchFamily="18" charset="0"/>
                <a:ea typeface="Cambria" panose="02040503050406030204" pitchFamily="18" charset="0"/>
              </a:rPr>
              <a:t>    response.addCookie(ck);//adding cookie in the response    </a:t>
            </a:r>
          </a:p>
          <a:p>
            <a:pPr>
              <a:lnSpc>
                <a:spcPct val="100000"/>
              </a:lnSpc>
              <a:spcBef>
                <a:spcPts val="0"/>
              </a:spcBef>
              <a:buNone/>
            </a:pPr>
            <a:r>
              <a:rPr lang="en-US" sz="2000" dirty="0" smtClean="0">
                <a:latin typeface="Cambria" panose="02040503050406030204" pitchFamily="18" charset="0"/>
                <a:ea typeface="Cambria" panose="02040503050406030204" pitchFamily="18" charset="0"/>
              </a:rPr>
              <a:t>    //creating submit button  </a:t>
            </a:r>
          </a:p>
          <a:p>
            <a:pPr>
              <a:lnSpc>
                <a:spcPct val="100000"/>
              </a:lnSpc>
              <a:spcBef>
                <a:spcPts val="0"/>
              </a:spcBef>
              <a:buNone/>
            </a:pPr>
            <a:r>
              <a:rPr lang="en-US" sz="2000" dirty="0" smtClean="0">
                <a:latin typeface="Cambria" panose="02040503050406030204" pitchFamily="18" charset="0"/>
                <a:ea typeface="Cambria" panose="02040503050406030204" pitchFamily="18" charset="0"/>
              </a:rPr>
              <a:t>    out.print("&lt;form action=‘SecondServlet‘ method=‘post’&gt;");  </a:t>
            </a:r>
          </a:p>
          <a:p>
            <a:pPr>
              <a:lnSpc>
                <a:spcPct val="100000"/>
              </a:lnSpc>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out.print</a:t>
            </a:r>
            <a:r>
              <a:rPr lang="en-US" sz="2000" dirty="0" smtClean="0">
                <a:latin typeface="Cambria" panose="02040503050406030204" pitchFamily="18" charset="0"/>
                <a:ea typeface="Cambria" panose="02040503050406030204" pitchFamily="18" charset="0"/>
              </a:rPr>
              <a:t>("&lt;input type='submit' value='go'&gt;");  </a:t>
            </a:r>
          </a:p>
          <a:p>
            <a:pPr>
              <a:lnSpc>
                <a:spcPct val="100000"/>
              </a:lnSpc>
              <a:spcBef>
                <a:spcPts val="0"/>
              </a:spcBef>
              <a:buNone/>
            </a:pPr>
            <a:r>
              <a:rPr lang="en-US" sz="2000" dirty="0" smtClean="0">
                <a:latin typeface="Cambria" panose="02040503050406030204" pitchFamily="18" charset="0"/>
                <a:ea typeface="Cambria" panose="02040503050406030204" pitchFamily="18" charset="0"/>
              </a:rPr>
              <a:t>    out.print("&lt;/form&gt;");            </a:t>
            </a:r>
          </a:p>
          <a:p>
            <a:pPr>
              <a:lnSpc>
                <a:spcPct val="100000"/>
              </a:lnSpc>
              <a:spcBef>
                <a:spcPts val="0"/>
              </a:spcBef>
              <a:buNone/>
            </a:pPr>
            <a:r>
              <a:rPr lang="en-US" sz="2000" dirty="0" smtClean="0">
                <a:latin typeface="Cambria" panose="02040503050406030204" pitchFamily="18" charset="0"/>
                <a:ea typeface="Cambria" panose="02040503050406030204" pitchFamily="18" charset="0"/>
              </a:rPr>
              <a:t>    out.close();    </a:t>
            </a:r>
          </a:p>
          <a:p>
            <a:pPr>
              <a:lnSpc>
                <a:spcPct val="100000"/>
              </a:lnSpc>
              <a:spcBef>
                <a:spcPts val="0"/>
              </a:spcBef>
              <a:buNone/>
            </a:pP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catch</a:t>
            </a:r>
            <a:r>
              <a:rPr lang="en-US" sz="2000" dirty="0" smtClean="0">
                <a:latin typeface="Cambria" panose="02040503050406030204" pitchFamily="18" charset="0"/>
                <a:ea typeface="Cambria" panose="02040503050406030204" pitchFamily="18" charset="0"/>
              </a:rPr>
              <a:t>(Exception e){</a:t>
            </a:r>
            <a:r>
              <a:rPr lang="en-US" sz="2000" dirty="0" err="1" smtClean="0">
                <a:latin typeface="Cambria" panose="02040503050406030204" pitchFamily="18" charset="0"/>
                <a:ea typeface="Cambria" panose="02040503050406030204" pitchFamily="18" charset="0"/>
              </a:rPr>
              <a:t>System.out.println</a:t>
            </a:r>
            <a:r>
              <a:rPr lang="en-US" sz="2000" dirty="0" smtClean="0">
                <a:latin typeface="Cambria" panose="02040503050406030204" pitchFamily="18" charset="0"/>
                <a:ea typeface="Cambria" panose="02040503050406030204" pitchFamily="18" charset="0"/>
              </a:rPr>
              <a:t>(e);}  </a:t>
            </a:r>
          </a:p>
          <a:p>
            <a:pPr>
              <a:lnSpc>
                <a:spcPct val="100000"/>
              </a:lnSpc>
              <a:spcBef>
                <a:spcPts val="0"/>
              </a:spcBef>
              <a:buNone/>
            </a:pPr>
            <a:r>
              <a:rPr lang="en-US" sz="2000" dirty="0" smtClean="0">
                <a:latin typeface="Cambria" panose="02040503050406030204" pitchFamily="18" charset="0"/>
                <a:ea typeface="Cambria" panose="02040503050406030204" pitchFamily="18" charset="0"/>
              </a:rPr>
              <a:t>  }  </a:t>
            </a:r>
          </a:p>
          <a:p>
            <a:pPr>
              <a:lnSpc>
                <a:spcPct val="100000"/>
              </a:lnSpc>
              <a:spcBef>
                <a:spcPts val="0"/>
              </a:spcBef>
              <a:buNone/>
            </a:pPr>
            <a:r>
              <a:rPr lang="en-US" sz="2000" dirty="0" smtClean="0">
                <a:latin typeface="Cambria" panose="02040503050406030204" pitchFamily="18" charset="0"/>
                <a:ea typeface="Cambria" panose="02040503050406030204" pitchFamily="18" charset="0"/>
              </a:rPr>
              <a:t>}  </a:t>
            </a:r>
          </a:p>
          <a:p>
            <a:pPr>
              <a:lnSpc>
                <a:spcPct val="100000"/>
              </a:lnSpc>
              <a:spcBef>
                <a:spcPts val="0"/>
              </a:spcBef>
            </a:pPr>
            <a:endParaRPr lang="en-US" sz="20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52</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344" y="188641"/>
            <a:ext cx="4752528" cy="504056"/>
          </a:xfrm>
        </p:spPr>
        <p:txBody>
          <a:bodyPr/>
          <a:lstStyle/>
          <a:p>
            <a:r>
              <a:rPr lang="en-US" sz="4000" b="1" dirty="0" smtClean="0">
                <a:solidFill>
                  <a:srgbClr val="002060"/>
                </a:solidFill>
                <a:latin typeface="Cambria" panose="02040503050406030204" pitchFamily="18" charset="0"/>
                <a:ea typeface="Cambria" panose="02040503050406030204" pitchFamily="18" charset="0"/>
              </a:rPr>
              <a:t/>
            </a:r>
            <a:br>
              <a:rPr lang="en-US" sz="4000" b="1" dirty="0" smtClean="0">
                <a:solidFill>
                  <a:srgbClr val="002060"/>
                </a:solidFill>
                <a:latin typeface="Cambria" panose="02040503050406030204" pitchFamily="18" charset="0"/>
                <a:ea typeface="Cambria" panose="02040503050406030204" pitchFamily="18" charset="0"/>
              </a:rPr>
            </a:br>
            <a:r>
              <a:rPr lang="en-US" sz="4000" b="1" dirty="0" smtClean="0">
                <a:solidFill>
                  <a:srgbClr val="002060"/>
                </a:solidFill>
                <a:latin typeface="Cambria" panose="02040503050406030204" pitchFamily="18" charset="0"/>
                <a:ea typeface="Cambria" panose="02040503050406030204" pitchFamily="18" charset="0"/>
              </a:rPr>
              <a:t>SecondServlet.java</a:t>
            </a:r>
            <a:r>
              <a:rPr lang="en-GB" sz="4000" b="1" dirty="0" smtClean="0">
                <a:solidFill>
                  <a:srgbClr val="002060"/>
                </a:solidFill>
                <a:latin typeface="Cambria" panose="02040503050406030204" pitchFamily="18" charset="0"/>
                <a:ea typeface="Cambria" panose="02040503050406030204" pitchFamily="18" charset="0"/>
              </a:rPr>
              <a:t/>
            </a:r>
            <a:br>
              <a:rPr lang="en-GB" sz="4000" b="1" dirty="0" smtClean="0">
                <a:solidFill>
                  <a:srgbClr val="002060"/>
                </a:solidFill>
                <a:latin typeface="Cambria" panose="02040503050406030204" pitchFamily="18" charset="0"/>
                <a:ea typeface="Cambria" panose="02040503050406030204" pitchFamily="18" charset="0"/>
              </a:rPr>
            </a:br>
            <a:endParaRPr lang="en-US" sz="4000" b="1" dirty="0">
              <a:solidFill>
                <a:srgbClr val="00206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767408" y="722567"/>
            <a:ext cx="9289032" cy="4362617"/>
          </a:xfrm>
        </p:spPr>
        <p:txBody>
          <a:bodyPr/>
          <a:lstStyle/>
          <a:p>
            <a:pPr>
              <a:lnSpc>
                <a:spcPct val="100000"/>
              </a:lnSpc>
              <a:spcBef>
                <a:spcPts val="0"/>
              </a:spcBef>
              <a:buNone/>
            </a:pPr>
            <a:r>
              <a:rPr lang="en-US" sz="2000" b="1" dirty="0" smtClean="0">
                <a:latin typeface="Cambria" panose="02040503050406030204" pitchFamily="18" charset="0"/>
                <a:ea typeface="Cambria" panose="02040503050406030204" pitchFamily="18" charset="0"/>
              </a:rPr>
              <a:t>import</a:t>
            </a:r>
            <a:r>
              <a:rPr lang="en-US" sz="2000" dirty="0" smtClean="0">
                <a:latin typeface="Cambria" panose="02040503050406030204" pitchFamily="18" charset="0"/>
                <a:ea typeface="Cambria" panose="02040503050406030204" pitchFamily="18" charset="0"/>
              </a:rPr>
              <a:t> java.io.*;  </a:t>
            </a:r>
          </a:p>
          <a:p>
            <a:pPr>
              <a:lnSpc>
                <a:spcPct val="100000"/>
              </a:lnSpc>
              <a:spcBef>
                <a:spcPts val="0"/>
              </a:spcBef>
              <a:buNone/>
            </a:pPr>
            <a:r>
              <a:rPr lang="en-US" sz="2000" b="1" dirty="0" smtClean="0">
                <a:latin typeface="Cambria" panose="02040503050406030204" pitchFamily="18" charset="0"/>
                <a:ea typeface="Cambria" panose="02040503050406030204" pitchFamily="18" charset="0"/>
              </a:rPr>
              <a:t>import</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javax.servlet</a:t>
            </a:r>
            <a:r>
              <a:rPr lang="en-US" sz="2000" dirty="0" smtClean="0">
                <a:latin typeface="Cambria" panose="02040503050406030204" pitchFamily="18" charset="0"/>
                <a:ea typeface="Cambria" panose="02040503050406030204" pitchFamily="18" charset="0"/>
              </a:rPr>
              <a:t>.*;  </a:t>
            </a:r>
          </a:p>
          <a:p>
            <a:pPr>
              <a:lnSpc>
                <a:spcPct val="100000"/>
              </a:lnSpc>
              <a:spcBef>
                <a:spcPts val="0"/>
              </a:spcBef>
              <a:buNone/>
            </a:pPr>
            <a:r>
              <a:rPr lang="en-US" sz="2000" b="1" dirty="0" smtClean="0">
                <a:latin typeface="Cambria" panose="02040503050406030204" pitchFamily="18" charset="0"/>
                <a:ea typeface="Cambria" panose="02040503050406030204" pitchFamily="18" charset="0"/>
              </a:rPr>
              <a:t>import</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javax.servlet.http</a:t>
            </a:r>
            <a:r>
              <a:rPr lang="en-US" sz="2000" dirty="0" smtClean="0">
                <a:latin typeface="Cambria" panose="02040503050406030204" pitchFamily="18" charset="0"/>
                <a:ea typeface="Cambria" panose="02040503050406030204" pitchFamily="18" charset="0"/>
              </a:rPr>
              <a:t>.*;  </a:t>
            </a:r>
          </a:p>
          <a:p>
            <a:pPr>
              <a:lnSpc>
                <a:spcPct val="100000"/>
              </a:lnSpc>
              <a:spcBef>
                <a:spcPts val="0"/>
              </a:spcBef>
              <a:buNone/>
            </a:pP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public</a:t>
            </a: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class</a:t>
            </a:r>
            <a:r>
              <a:rPr lang="en-US" sz="2000" dirty="0" smtClean="0">
                <a:latin typeface="Cambria" panose="02040503050406030204" pitchFamily="18" charset="0"/>
                <a:ea typeface="Cambria" panose="02040503050406030204" pitchFamily="18" charset="0"/>
              </a:rPr>
              <a:t> SecondServlet </a:t>
            </a:r>
            <a:r>
              <a:rPr lang="en-US" sz="2000" b="1" dirty="0" smtClean="0">
                <a:latin typeface="Cambria" panose="02040503050406030204" pitchFamily="18" charset="0"/>
                <a:ea typeface="Cambria" panose="02040503050406030204" pitchFamily="18" charset="0"/>
              </a:rPr>
              <a:t>extends</a:t>
            </a:r>
            <a:r>
              <a:rPr lang="en-US" sz="2000" dirty="0" smtClean="0">
                <a:latin typeface="Cambria" panose="02040503050406030204" pitchFamily="18" charset="0"/>
                <a:ea typeface="Cambria" panose="02040503050406030204" pitchFamily="18" charset="0"/>
              </a:rPr>
              <a:t> HttpServlet {  </a:t>
            </a:r>
          </a:p>
          <a:p>
            <a:pPr>
              <a:lnSpc>
                <a:spcPct val="100000"/>
              </a:lnSpc>
              <a:spcBef>
                <a:spcPts val="0"/>
              </a:spcBef>
              <a:buNone/>
            </a:pP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public</a:t>
            </a: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void</a:t>
            </a:r>
            <a:r>
              <a:rPr lang="en-US" sz="2000" dirty="0" smtClean="0">
                <a:latin typeface="Cambria" panose="02040503050406030204" pitchFamily="18" charset="0"/>
                <a:ea typeface="Cambria" panose="02040503050406030204" pitchFamily="18" charset="0"/>
              </a:rPr>
              <a:t> doPost(HttpServletRequest request, HttpServletResponse response){  </a:t>
            </a:r>
          </a:p>
          <a:p>
            <a:pPr>
              <a:lnSpc>
                <a:spcPct val="100000"/>
              </a:lnSpc>
              <a:spcBef>
                <a:spcPts val="0"/>
              </a:spcBef>
              <a:buNone/>
            </a:pP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try</a:t>
            </a:r>
            <a:r>
              <a:rPr lang="en-US" sz="2000" dirty="0" smtClean="0">
                <a:latin typeface="Cambria" panose="02040503050406030204" pitchFamily="18" charset="0"/>
                <a:ea typeface="Cambria" panose="02040503050406030204" pitchFamily="18" charset="0"/>
              </a:rPr>
              <a:t>{  </a:t>
            </a:r>
          </a:p>
          <a:p>
            <a:pPr>
              <a:lnSpc>
                <a:spcPct val="100000"/>
              </a:lnSpc>
              <a:spcBef>
                <a:spcPts val="0"/>
              </a:spcBef>
              <a:buNone/>
            </a:pPr>
            <a:r>
              <a:rPr lang="en-US" sz="2000" dirty="0" smtClean="0">
                <a:latin typeface="Cambria" panose="02040503050406030204" pitchFamily="18" charset="0"/>
                <a:ea typeface="Cambria" panose="02040503050406030204" pitchFamily="18" charset="0"/>
              </a:rPr>
              <a:t>    response.setContentType("text/html");  </a:t>
            </a:r>
          </a:p>
          <a:p>
            <a:pPr>
              <a:lnSpc>
                <a:spcPct val="100000"/>
              </a:lnSpc>
              <a:spcBef>
                <a:spcPts val="0"/>
              </a:spcBef>
              <a:buNone/>
            </a:pPr>
            <a:r>
              <a:rPr lang="en-US" sz="2000" dirty="0" smtClean="0">
                <a:latin typeface="Cambria" panose="02040503050406030204" pitchFamily="18" charset="0"/>
                <a:ea typeface="Cambria" panose="02040503050406030204" pitchFamily="18" charset="0"/>
              </a:rPr>
              <a:t>    PrintWriter out = response.getWriter();      </a:t>
            </a:r>
          </a:p>
          <a:p>
            <a:pPr>
              <a:lnSpc>
                <a:spcPct val="100000"/>
              </a:lnSpc>
              <a:spcBef>
                <a:spcPts val="0"/>
              </a:spcBef>
              <a:buNone/>
            </a:pPr>
            <a:r>
              <a:rPr lang="en-US" sz="2000" dirty="0" smtClean="0">
                <a:latin typeface="Cambria" panose="02040503050406030204" pitchFamily="18" charset="0"/>
                <a:ea typeface="Cambria" panose="02040503050406030204" pitchFamily="18" charset="0"/>
              </a:rPr>
              <a:t>    Cookie ck[]=</a:t>
            </a:r>
            <a:r>
              <a:rPr lang="en-US" sz="2000" dirty="0" err="1" smtClean="0">
                <a:latin typeface="Cambria" panose="02040503050406030204" pitchFamily="18" charset="0"/>
                <a:ea typeface="Cambria" panose="02040503050406030204" pitchFamily="18" charset="0"/>
              </a:rPr>
              <a:t>request.getCookies</a:t>
            </a:r>
            <a:r>
              <a:rPr lang="en-US" sz="2000" dirty="0" smtClean="0">
                <a:latin typeface="Cambria" panose="02040503050406030204" pitchFamily="18" charset="0"/>
                <a:ea typeface="Cambria" panose="02040503050406030204" pitchFamily="18" charset="0"/>
              </a:rPr>
              <a:t>();  </a:t>
            </a:r>
          </a:p>
          <a:p>
            <a:pPr>
              <a:lnSpc>
                <a:spcPct val="100000"/>
              </a:lnSpc>
              <a:spcBef>
                <a:spcPts val="0"/>
              </a:spcBef>
              <a:buNone/>
            </a:pPr>
            <a:r>
              <a:rPr lang="en-US" sz="2000" dirty="0" smtClean="0">
                <a:latin typeface="Cambria" panose="02040503050406030204" pitchFamily="18" charset="0"/>
                <a:ea typeface="Cambria" panose="02040503050406030204" pitchFamily="18" charset="0"/>
              </a:rPr>
              <a:t>    out.print("Hello "+ck[0].getValue());    </a:t>
            </a:r>
          </a:p>
          <a:p>
            <a:pPr>
              <a:lnSpc>
                <a:spcPct val="100000"/>
              </a:lnSpc>
              <a:spcBef>
                <a:spcPts val="0"/>
              </a:spcBef>
              <a:buNone/>
            </a:pPr>
            <a:r>
              <a:rPr lang="en-US" sz="2000" dirty="0" smtClean="0">
                <a:latin typeface="Cambria" panose="02040503050406030204" pitchFamily="18" charset="0"/>
                <a:ea typeface="Cambria" panose="02040503050406030204" pitchFamily="18" charset="0"/>
              </a:rPr>
              <a:t>    out.close();    </a:t>
            </a:r>
          </a:p>
          <a:p>
            <a:pPr>
              <a:lnSpc>
                <a:spcPct val="100000"/>
              </a:lnSpc>
              <a:spcBef>
                <a:spcPts val="0"/>
              </a:spcBef>
              <a:buNone/>
            </a:pP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catch</a:t>
            </a:r>
            <a:r>
              <a:rPr lang="en-US" sz="2000" dirty="0" smtClean="0">
                <a:latin typeface="Cambria" panose="02040503050406030204" pitchFamily="18" charset="0"/>
                <a:ea typeface="Cambria" panose="02040503050406030204" pitchFamily="18" charset="0"/>
              </a:rPr>
              <a:t>(Exception e){</a:t>
            </a:r>
            <a:r>
              <a:rPr lang="en-US" sz="2000" dirty="0" err="1" smtClean="0">
                <a:latin typeface="Cambria" panose="02040503050406030204" pitchFamily="18" charset="0"/>
                <a:ea typeface="Cambria" panose="02040503050406030204" pitchFamily="18" charset="0"/>
              </a:rPr>
              <a:t>System.out.println</a:t>
            </a:r>
            <a:r>
              <a:rPr lang="en-US" sz="2000" dirty="0" smtClean="0">
                <a:latin typeface="Cambria" panose="02040503050406030204" pitchFamily="18" charset="0"/>
                <a:ea typeface="Cambria" panose="02040503050406030204" pitchFamily="18" charset="0"/>
              </a:rPr>
              <a:t>(e);}  </a:t>
            </a:r>
          </a:p>
          <a:p>
            <a:pPr>
              <a:lnSpc>
                <a:spcPct val="100000"/>
              </a:lnSpc>
              <a:spcBef>
                <a:spcPts val="0"/>
              </a:spcBef>
              <a:buNone/>
            </a:pPr>
            <a:r>
              <a:rPr lang="en-US" sz="2000" dirty="0" smtClean="0">
                <a:latin typeface="Cambria" panose="02040503050406030204" pitchFamily="18" charset="0"/>
                <a:ea typeface="Cambria" panose="02040503050406030204" pitchFamily="18" charset="0"/>
              </a:rPr>
              <a:t>    } </a:t>
            </a:r>
          </a:p>
          <a:p>
            <a:pPr>
              <a:lnSpc>
                <a:spcPct val="100000"/>
              </a:lnSpc>
              <a:spcBef>
                <a:spcPts val="0"/>
              </a:spcBef>
              <a:buNone/>
            </a:pPr>
            <a:r>
              <a:rPr lang="en-US" sz="2000" dirty="0" smtClean="0">
                <a:latin typeface="Cambria" panose="02040503050406030204" pitchFamily="18" charset="0"/>
                <a:ea typeface="Cambria" panose="02040503050406030204" pitchFamily="18" charset="0"/>
              </a:rPr>
              <a:t>} </a:t>
            </a:r>
          </a:p>
          <a:p>
            <a:pPr>
              <a:lnSpc>
                <a:spcPct val="100000"/>
              </a:lnSpc>
              <a:spcBef>
                <a:spcPts val="0"/>
              </a:spcBef>
              <a:buNone/>
            </a:pPr>
            <a:r>
              <a:rPr lang="en-US" dirty="0" smtClean="0">
                <a:latin typeface="Cambria" panose="02040503050406030204" pitchFamily="18" charset="0"/>
                <a:ea typeface="Cambria" panose="02040503050406030204" pitchFamily="18" charset="0"/>
              </a:rPr>
              <a:t>      </a:t>
            </a:r>
          </a:p>
          <a:p>
            <a:pPr>
              <a:lnSpc>
                <a:spcPct val="100000"/>
              </a:lnSpc>
              <a:spcBef>
                <a:spcPts val="0"/>
              </a:spcBef>
              <a:buNone/>
            </a:pPr>
            <a:r>
              <a:rPr lang="en-US" dirty="0" smtClean="0">
                <a:latin typeface="Cambria" panose="02040503050406030204" pitchFamily="18" charset="0"/>
                <a:ea typeface="Cambria" panose="02040503050406030204" pitchFamily="18" charset="0"/>
              </a:rPr>
              <a:t>  </a:t>
            </a:r>
          </a:p>
          <a:p>
            <a:pPr>
              <a:lnSpc>
                <a:spcPct val="100000"/>
              </a:lnSpc>
              <a:spcBef>
                <a:spcPts val="0"/>
              </a:spcBef>
              <a:buNone/>
            </a:pPr>
            <a:r>
              <a:rPr lang="en-US" dirty="0" smtClean="0">
                <a:latin typeface="Cambria" panose="02040503050406030204" pitchFamily="18" charset="0"/>
                <a:ea typeface="Cambria" panose="02040503050406030204" pitchFamily="18" charset="0"/>
              </a:rPr>
              <a:t>  </a:t>
            </a:r>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53</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1"/>
            <a:ext cx="10441160" cy="548680"/>
          </a:xfrm>
        </p:spPr>
        <p:txBody>
          <a:bodyPr/>
          <a:lstStyle/>
          <a:p>
            <a:r>
              <a:rPr lang="en-GB" sz="4000" b="1" dirty="0" smtClean="0"/>
              <a:t/>
            </a:r>
            <a:br>
              <a:rPr lang="en-GB" sz="4000" b="1" dirty="0" smtClean="0"/>
            </a:br>
            <a:r>
              <a:rPr lang="en-US" sz="4000" b="1" dirty="0" smtClean="0"/>
              <a:t>web.xml</a:t>
            </a:r>
            <a:r>
              <a:rPr lang="en-GB" sz="4000" b="1" dirty="0" smtClean="0"/>
              <a:t/>
            </a:r>
            <a:br>
              <a:rPr lang="en-GB" sz="4000" b="1" dirty="0" smtClean="0"/>
            </a:br>
            <a:endParaRPr lang="en-US" sz="4000" b="1" dirty="0"/>
          </a:p>
        </p:txBody>
      </p:sp>
      <p:sp>
        <p:nvSpPr>
          <p:cNvPr id="3" name="Content Placeholder 2"/>
          <p:cNvSpPr>
            <a:spLocks noGrp="1"/>
          </p:cNvSpPr>
          <p:nvPr>
            <p:ph idx="1"/>
          </p:nvPr>
        </p:nvSpPr>
        <p:spPr>
          <a:xfrm>
            <a:off x="551384" y="476672"/>
            <a:ext cx="10657184" cy="6327575"/>
          </a:xfrm>
        </p:spPr>
        <p:txBody>
          <a:bodyPr/>
          <a:lstStyle/>
          <a:p>
            <a:pPr>
              <a:lnSpc>
                <a:spcPct val="100000"/>
              </a:lnSpc>
              <a:spcBef>
                <a:spcPts val="0"/>
              </a:spcBef>
              <a:buNone/>
            </a:pPr>
            <a:r>
              <a:rPr lang="en-US" sz="2000" dirty="0" smtClean="0"/>
              <a:t>https://www.javatpoint.com/servlet-login-and-logout-example-using-cookies</a:t>
            </a:r>
          </a:p>
          <a:p>
            <a:pPr>
              <a:lnSpc>
                <a:spcPct val="100000"/>
              </a:lnSpc>
              <a:spcBef>
                <a:spcPts val="0"/>
              </a:spcBef>
              <a:buNone/>
            </a:pPr>
            <a:r>
              <a:rPr lang="en-US" sz="2000" dirty="0" smtClean="0"/>
              <a:t>&lt;web-app&gt;   </a:t>
            </a:r>
          </a:p>
          <a:p>
            <a:pPr>
              <a:lnSpc>
                <a:spcPct val="100000"/>
              </a:lnSpc>
              <a:spcBef>
                <a:spcPts val="0"/>
              </a:spcBef>
              <a:buNone/>
            </a:pPr>
            <a:r>
              <a:rPr lang="en-US" sz="2000" dirty="0" smtClean="0"/>
              <a:t>&lt;</a:t>
            </a:r>
            <a:r>
              <a:rPr lang="en-US" sz="2000" dirty="0" err="1" smtClean="0"/>
              <a:t>servlet</a:t>
            </a:r>
            <a:r>
              <a:rPr lang="en-US" sz="2000" dirty="0" smtClean="0"/>
              <a:t>&gt;  </a:t>
            </a:r>
          </a:p>
          <a:p>
            <a:pPr>
              <a:lnSpc>
                <a:spcPct val="100000"/>
              </a:lnSpc>
              <a:spcBef>
                <a:spcPts val="0"/>
              </a:spcBef>
              <a:buNone/>
            </a:pPr>
            <a:r>
              <a:rPr lang="en-US" sz="2000" dirty="0" smtClean="0"/>
              <a:t>&lt;</a:t>
            </a:r>
            <a:r>
              <a:rPr lang="en-US" sz="2000" dirty="0" err="1" smtClean="0"/>
              <a:t>servlet</a:t>
            </a:r>
            <a:r>
              <a:rPr lang="en-US" sz="2000" dirty="0" smtClean="0"/>
              <a:t>-name&gt;s1&lt;/</a:t>
            </a:r>
            <a:r>
              <a:rPr lang="en-US" sz="2000" dirty="0" err="1" smtClean="0"/>
              <a:t>servlet</a:t>
            </a:r>
            <a:r>
              <a:rPr lang="en-US" sz="2000" dirty="0" smtClean="0"/>
              <a:t>-name&gt;  </a:t>
            </a:r>
          </a:p>
          <a:p>
            <a:pPr>
              <a:lnSpc>
                <a:spcPct val="100000"/>
              </a:lnSpc>
              <a:spcBef>
                <a:spcPts val="0"/>
              </a:spcBef>
              <a:buNone/>
            </a:pPr>
            <a:r>
              <a:rPr lang="en-US" sz="2000" dirty="0" smtClean="0"/>
              <a:t>&lt;</a:t>
            </a:r>
            <a:r>
              <a:rPr lang="en-US" sz="2000" dirty="0" err="1" smtClean="0"/>
              <a:t>servlet</a:t>
            </a:r>
            <a:r>
              <a:rPr lang="en-US" sz="2000" dirty="0" smtClean="0"/>
              <a:t>-</a:t>
            </a:r>
            <a:r>
              <a:rPr lang="en-US" sz="2000" b="1" dirty="0" smtClean="0"/>
              <a:t>class</a:t>
            </a:r>
            <a:r>
              <a:rPr lang="en-US" sz="2000" dirty="0" smtClean="0"/>
              <a:t>&gt;</a:t>
            </a:r>
            <a:r>
              <a:rPr lang="en-US" sz="2000" dirty="0" err="1" smtClean="0"/>
              <a:t>FirstServlet</a:t>
            </a:r>
            <a:r>
              <a:rPr lang="en-US" sz="2000" dirty="0" smtClean="0"/>
              <a:t>&lt;/</a:t>
            </a:r>
            <a:r>
              <a:rPr lang="en-US" sz="2000" dirty="0" err="1" smtClean="0"/>
              <a:t>servlet</a:t>
            </a:r>
            <a:r>
              <a:rPr lang="en-US" sz="2000" dirty="0" smtClean="0"/>
              <a:t>-</a:t>
            </a:r>
            <a:r>
              <a:rPr lang="en-US" sz="2000" b="1" dirty="0" smtClean="0"/>
              <a:t>class</a:t>
            </a:r>
            <a:r>
              <a:rPr lang="en-US" sz="2000" dirty="0" smtClean="0"/>
              <a:t>&gt;  </a:t>
            </a:r>
          </a:p>
          <a:p>
            <a:pPr>
              <a:lnSpc>
                <a:spcPct val="100000"/>
              </a:lnSpc>
              <a:spcBef>
                <a:spcPts val="0"/>
              </a:spcBef>
              <a:buNone/>
            </a:pPr>
            <a:r>
              <a:rPr lang="en-US" sz="2000" dirty="0" smtClean="0"/>
              <a:t>&lt;/</a:t>
            </a:r>
            <a:r>
              <a:rPr lang="en-US" sz="2000" dirty="0" err="1" smtClean="0"/>
              <a:t>servlet</a:t>
            </a:r>
            <a:r>
              <a:rPr lang="en-US" sz="2000" dirty="0" smtClean="0"/>
              <a:t>&gt;  </a:t>
            </a:r>
          </a:p>
          <a:p>
            <a:pPr>
              <a:lnSpc>
                <a:spcPct val="100000"/>
              </a:lnSpc>
              <a:spcBef>
                <a:spcPts val="0"/>
              </a:spcBef>
              <a:buNone/>
            </a:pPr>
            <a:r>
              <a:rPr lang="en-US" sz="2000" dirty="0" smtClean="0"/>
              <a:t>  </a:t>
            </a:r>
          </a:p>
          <a:p>
            <a:pPr>
              <a:lnSpc>
                <a:spcPct val="100000"/>
              </a:lnSpc>
              <a:spcBef>
                <a:spcPts val="0"/>
              </a:spcBef>
              <a:buNone/>
            </a:pPr>
            <a:r>
              <a:rPr lang="en-US" sz="2000" dirty="0" smtClean="0"/>
              <a:t>&lt;</a:t>
            </a:r>
            <a:r>
              <a:rPr lang="en-US" sz="2000" dirty="0" err="1" smtClean="0"/>
              <a:t>servlet</a:t>
            </a:r>
            <a:r>
              <a:rPr lang="en-US" sz="2000" dirty="0" smtClean="0"/>
              <a:t>-mapping&gt;  </a:t>
            </a:r>
          </a:p>
          <a:p>
            <a:pPr>
              <a:lnSpc>
                <a:spcPct val="100000"/>
              </a:lnSpc>
              <a:spcBef>
                <a:spcPts val="0"/>
              </a:spcBef>
              <a:buNone/>
            </a:pPr>
            <a:r>
              <a:rPr lang="en-US" sz="2000" dirty="0" smtClean="0"/>
              <a:t>&lt;</a:t>
            </a:r>
            <a:r>
              <a:rPr lang="en-US" sz="2000" dirty="0" err="1" smtClean="0"/>
              <a:t>servlet</a:t>
            </a:r>
            <a:r>
              <a:rPr lang="en-US" sz="2000" dirty="0" smtClean="0"/>
              <a:t>-name&gt;s1&lt;/</a:t>
            </a:r>
            <a:r>
              <a:rPr lang="en-US" sz="2000" dirty="0" err="1" smtClean="0"/>
              <a:t>servlet</a:t>
            </a:r>
            <a:r>
              <a:rPr lang="en-US" sz="2000" dirty="0" smtClean="0"/>
              <a:t>-name&gt;  </a:t>
            </a:r>
          </a:p>
          <a:p>
            <a:pPr>
              <a:lnSpc>
                <a:spcPct val="100000"/>
              </a:lnSpc>
              <a:spcBef>
                <a:spcPts val="0"/>
              </a:spcBef>
              <a:buNone/>
            </a:pPr>
            <a:r>
              <a:rPr lang="en-US" sz="2000" dirty="0" smtClean="0"/>
              <a:t>&lt;</a:t>
            </a:r>
            <a:r>
              <a:rPr lang="en-US" sz="2000" dirty="0" err="1" smtClean="0"/>
              <a:t>url</a:t>
            </a:r>
            <a:r>
              <a:rPr lang="en-US" sz="2000" dirty="0" smtClean="0"/>
              <a:t>-pattern&gt;/servlet1&lt;/</a:t>
            </a:r>
            <a:r>
              <a:rPr lang="en-US" sz="2000" dirty="0" err="1" smtClean="0"/>
              <a:t>url</a:t>
            </a:r>
            <a:r>
              <a:rPr lang="en-US" sz="2000" dirty="0" smtClean="0"/>
              <a:t>-pattern&gt;  </a:t>
            </a:r>
          </a:p>
          <a:p>
            <a:pPr>
              <a:lnSpc>
                <a:spcPct val="100000"/>
              </a:lnSpc>
              <a:spcBef>
                <a:spcPts val="0"/>
              </a:spcBef>
              <a:buNone/>
            </a:pPr>
            <a:r>
              <a:rPr lang="en-US" sz="2000" dirty="0" smtClean="0"/>
              <a:t>&lt;/</a:t>
            </a:r>
            <a:r>
              <a:rPr lang="en-US" sz="2000" dirty="0" err="1" smtClean="0"/>
              <a:t>servlet</a:t>
            </a:r>
            <a:r>
              <a:rPr lang="en-US" sz="2000" dirty="0" smtClean="0"/>
              <a:t>-mapping&gt;  </a:t>
            </a:r>
          </a:p>
          <a:p>
            <a:pPr>
              <a:lnSpc>
                <a:spcPct val="100000"/>
              </a:lnSpc>
              <a:spcBef>
                <a:spcPts val="0"/>
              </a:spcBef>
              <a:buNone/>
            </a:pPr>
            <a:r>
              <a:rPr lang="en-US" sz="2000" dirty="0" smtClean="0"/>
              <a:t>  </a:t>
            </a:r>
          </a:p>
          <a:p>
            <a:pPr>
              <a:lnSpc>
                <a:spcPct val="100000"/>
              </a:lnSpc>
              <a:spcBef>
                <a:spcPts val="0"/>
              </a:spcBef>
              <a:buNone/>
            </a:pPr>
            <a:r>
              <a:rPr lang="en-US" sz="2000" dirty="0" smtClean="0"/>
              <a:t>&lt;</a:t>
            </a:r>
            <a:r>
              <a:rPr lang="en-US" sz="2000" dirty="0" err="1" smtClean="0"/>
              <a:t>servlet</a:t>
            </a:r>
            <a:r>
              <a:rPr lang="en-US" sz="2000" dirty="0" smtClean="0"/>
              <a:t>&gt;  </a:t>
            </a:r>
          </a:p>
          <a:p>
            <a:pPr>
              <a:lnSpc>
                <a:spcPct val="100000"/>
              </a:lnSpc>
              <a:spcBef>
                <a:spcPts val="0"/>
              </a:spcBef>
              <a:buNone/>
            </a:pPr>
            <a:r>
              <a:rPr lang="en-US" sz="2000" dirty="0" smtClean="0"/>
              <a:t>&lt;</a:t>
            </a:r>
            <a:r>
              <a:rPr lang="en-US" sz="2000" dirty="0" err="1" smtClean="0"/>
              <a:t>servlet</a:t>
            </a:r>
            <a:r>
              <a:rPr lang="en-US" sz="2000" dirty="0" smtClean="0"/>
              <a:t>-name&gt;s2&lt;/</a:t>
            </a:r>
            <a:r>
              <a:rPr lang="en-US" sz="2000" dirty="0" err="1" smtClean="0"/>
              <a:t>servlet</a:t>
            </a:r>
            <a:r>
              <a:rPr lang="en-US" sz="2000" dirty="0" smtClean="0"/>
              <a:t>-name&gt;  </a:t>
            </a:r>
          </a:p>
          <a:p>
            <a:pPr>
              <a:lnSpc>
                <a:spcPct val="100000"/>
              </a:lnSpc>
              <a:spcBef>
                <a:spcPts val="0"/>
              </a:spcBef>
              <a:buNone/>
            </a:pPr>
            <a:r>
              <a:rPr lang="en-US" sz="2000" dirty="0" smtClean="0"/>
              <a:t>&lt;</a:t>
            </a:r>
            <a:r>
              <a:rPr lang="en-US" sz="2000" dirty="0" err="1" smtClean="0"/>
              <a:t>servlet</a:t>
            </a:r>
            <a:r>
              <a:rPr lang="en-US" sz="2000" dirty="0" smtClean="0"/>
              <a:t>-</a:t>
            </a:r>
            <a:r>
              <a:rPr lang="en-US" sz="2000" b="1" dirty="0" smtClean="0"/>
              <a:t>class</a:t>
            </a:r>
            <a:r>
              <a:rPr lang="en-US" sz="2000" dirty="0" smtClean="0"/>
              <a:t>&gt;</a:t>
            </a:r>
            <a:r>
              <a:rPr lang="en-US" sz="2000" dirty="0" err="1" smtClean="0"/>
              <a:t>SecondServlet</a:t>
            </a:r>
            <a:r>
              <a:rPr lang="en-US" sz="2000" dirty="0" smtClean="0"/>
              <a:t>&lt;/</a:t>
            </a:r>
            <a:r>
              <a:rPr lang="en-US" sz="2000" dirty="0" err="1" smtClean="0"/>
              <a:t>servlet</a:t>
            </a:r>
            <a:r>
              <a:rPr lang="en-US" sz="2000" dirty="0" smtClean="0"/>
              <a:t>-</a:t>
            </a:r>
            <a:r>
              <a:rPr lang="en-US" sz="2000" b="1" dirty="0" smtClean="0"/>
              <a:t>class</a:t>
            </a:r>
            <a:r>
              <a:rPr lang="en-US" sz="2000" dirty="0" smtClean="0"/>
              <a:t>&gt;  </a:t>
            </a:r>
          </a:p>
          <a:p>
            <a:pPr>
              <a:lnSpc>
                <a:spcPct val="100000"/>
              </a:lnSpc>
              <a:spcBef>
                <a:spcPts val="0"/>
              </a:spcBef>
              <a:buNone/>
            </a:pPr>
            <a:r>
              <a:rPr lang="en-US" sz="2000" dirty="0" smtClean="0"/>
              <a:t>&lt;/</a:t>
            </a:r>
            <a:r>
              <a:rPr lang="en-US" sz="2000" dirty="0" err="1" smtClean="0"/>
              <a:t>servlet</a:t>
            </a:r>
            <a:r>
              <a:rPr lang="en-US" sz="2000" dirty="0" smtClean="0"/>
              <a:t>&gt;  </a:t>
            </a:r>
          </a:p>
          <a:p>
            <a:pPr>
              <a:lnSpc>
                <a:spcPct val="100000"/>
              </a:lnSpc>
              <a:spcBef>
                <a:spcPts val="0"/>
              </a:spcBef>
              <a:buNone/>
            </a:pPr>
            <a:r>
              <a:rPr lang="en-US" sz="2000" dirty="0" smtClean="0"/>
              <a:t>  </a:t>
            </a:r>
          </a:p>
          <a:p>
            <a:pPr>
              <a:lnSpc>
                <a:spcPct val="100000"/>
              </a:lnSpc>
              <a:spcBef>
                <a:spcPts val="0"/>
              </a:spcBef>
              <a:buNone/>
            </a:pPr>
            <a:r>
              <a:rPr lang="en-US" sz="2000" dirty="0" smtClean="0"/>
              <a:t>&lt;</a:t>
            </a:r>
            <a:r>
              <a:rPr lang="en-US" sz="2000" dirty="0" err="1" smtClean="0"/>
              <a:t>servlet</a:t>
            </a:r>
            <a:r>
              <a:rPr lang="en-US" sz="2000" dirty="0" smtClean="0"/>
              <a:t>-mapping&gt;  </a:t>
            </a:r>
          </a:p>
          <a:p>
            <a:pPr>
              <a:lnSpc>
                <a:spcPct val="100000"/>
              </a:lnSpc>
              <a:spcBef>
                <a:spcPts val="0"/>
              </a:spcBef>
              <a:buNone/>
            </a:pPr>
            <a:r>
              <a:rPr lang="en-US" sz="2000" dirty="0" smtClean="0"/>
              <a:t>&lt;</a:t>
            </a:r>
            <a:r>
              <a:rPr lang="en-US" sz="2000" dirty="0" err="1" smtClean="0"/>
              <a:t>servlet</a:t>
            </a:r>
            <a:r>
              <a:rPr lang="en-US" sz="2000" dirty="0" smtClean="0"/>
              <a:t>-name&gt;s2&lt;/</a:t>
            </a:r>
            <a:r>
              <a:rPr lang="en-US" sz="2000" dirty="0" err="1" smtClean="0"/>
              <a:t>servlet</a:t>
            </a:r>
            <a:r>
              <a:rPr lang="en-US" sz="2000" dirty="0" smtClean="0"/>
              <a:t>-name&gt;  </a:t>
            </a:r>
          </a:p>
          <a:p>
            <a:pPr>
              <a:lnSpc>
                <a:spcPct val="100000"/>
              </a:lnSpc>
              <a:spcBef>
                <a:spcPts val="0"/>
              </a:spcBef>
              <a:buNone/>
            </a:pPr>
            <a:r>
              <a:rPr lang="en-US" sz="2000" dirty="0" smtClean="0"/>
              <a:t>&lt;</a:t>
            </a:r>
            <a:r>
              <a:rPr lang="en-US" sz="2000" dirty="0" err="1" smtClean="0"/>
              <a:t>url</a:t>
            </a:r>
            <a:r>
              <a:rPr lang="en-US" sz="2000" dirty="0" smtClean="0"/>
              <a:t>-pattern&gt;/servlet2&lt;/</a:t>
            </a:r>
            <a:r>
              <a:rPr lang="en-US" sz="2000" dirty="0" err="1" smtClean="0"/>
              <a:t>url</a:t>
            </a:r>
            <a:r>
              <a:rPr lang="en-US" sz="2000" dirty="0" smtClean="0"/>
              <a:t>-pattern&gt;  </a:t>
            </a:r>
          </a:p>
          <a:p>
            <a:pPr>
              <a:lnSpc>
                <a:spcPct val="100000"/>
              </a:lnSpc>
              <a:spcBef>
                <a:spcPts val="0"/>
              </a:spcBef>
              <a:buNone/>
            </a:pPr>
            <a:r>
              <a:rPr lang="en-US" sz="2000" dirty="0" smtClean="0"/>
              <a:t>&lt;/servlet-mapping&gt;  </a:t>
            </a:r>
          </a:p>
          <a:p>
            <a:pPr>
              <a:lnSpc>
                <a:spcPct val="100000"/>
              </a:lnSpc>
              <a:spcBef>
                <a:spcPts val="0"/>
              </a:spcBef>
              <a:buNone/>
            </a:pPr>
            <a:r>
              <a:rPr lang="en-US" sz="2000" dirty="0" smtClean="0"/>
              <a:t>&lt;/web-app&gt;  </a:t>
            </a:r>
          </a:p>
          <a:p>
            <a:pPr>
              <a:lnSpc>
                <a:spcPct val="100000"/>
              </a:lnSpc>
            </a:pPr>
            <a:endParaRPr lang="en-GB" dirty="0" smtClean="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54</a:t>
            </a:fld>
            <a:endParaRPr lang="en-US" altLang="en-US"/>
          </a:p>
        </p:txBody>
      </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344" y="116633"/>
            <a:ext cx="4896544" cy="576064"/>
          </a:xfrm>
        </p:spPr>
        <p:txBody>
          <a:bodyPr/>
          <a:lstStyle/>
          <a:p>
            <a:r>
              <a:rPr lang="en-US" sz="4000" b="1" dirty="0" smtClean="0">
                <a:solidFill>
                  <a:srgbClr val="002060"/>
                </a:solidFill>
                <a:latin typeface="Cambria" panose="02040503050406030204" pitchFamily="18" charset="0"/>
                <a:ea typeface="Cambria" panose="02040503050406030204" pitchFamily="18" charset="0"/>
              </a:rPr>
              <a:t> Hidden Form Field</a:t>
            </a:r>
            <a:endParaRPr lang="en-US" sz="4000" b="1" dirty="0">
              <a:solidFill>
                <a:srgbClr val="00206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79376" y="836713"/>
            <a:ext cx="10874424" cy="4248472"/>
          </a:xfrm>
        </p:spPr>
        <p:txBody>
          <a:bodyPr/>
          <a:lstStyle/>
          <a:p>
            <a:pPr algn="just"/>
            <a:r>
              <a:rPr lang="en-GB" dirty="0" smtClean="0">
                <a:latin typeface="Cambria" panose="02040503050406030204" pitchFamily="18" charset="0"/>
                <a:ea typeface="Cambria" panose="02040503050406030204" pitchFamily="18" charset="0"/>
              </a:rPr>
              <a:t>In case of Hidden Form Field </a:t>
            </a:r>
            <a:r>
              <a:rPr lang="en-GB" b="1" dirty="0" smtClean="0">
                <a:latin typeface="Cambria" panose="02040503050406030204" pitchFamily="18" charset="0"/>
                <a:ea typeface="Cambria" panose="02040503050406030204" pitchFamily="18" charset="0"/>
              </a:rPr>
              <a:t>a hidden (invisible) textfield</a:t>
            </a:r>
            <a:r>
              <a:rPr lang="en-GB" dirty="0" smtClean="0">
                <a:latin typeface="Cambria" panose="02040503050406030204" pitchFamily="18" charset="0"/>
                <a:ea typeface="Cambria" panose="02040503050406030204" pitchFamily="18" charset="0"/>
              </a:rPr>
              <a:t> is used for maintaining the state of a user.</a:t>
            </a:r>
          </a:p>
          <a:p>
            <a:pPr algn="just"/>
            <a:r>
              <a:rPr lang="en-GB" dirty="0" smtClean="0">
                <a:latin typeface="Cambria" panose="02040503050406030204" pitchFamily="18" charset="0"/>
                <a:ea typeface="Cambria" panose="02040503050406030204" pitchFamily="18" charset="0"/>
              </a:rPr>
              <a:t>In such case, we store the information in the hidden field and get it from another </a:t>
            </a:r>
            <a:r>
              <a:rPr lang="en-GB" dirty="0" err="1" smtClean="0">
                <a:latin typeface="Cambria" panose="02040503050406030204" pitchFamily="18" charset="0"/>
                <a:ea typeface="Cambria" panose="02040503050406030204" pitchFamily="18" charset="0"/>
              </a:rPr>
              <a:t>servlet</a:t>
            </a:r>
            <a:r>
              <a:rPr lang="en-GB" dirty="0" smtClean="0">
                <a:latin typeface="Cambria" panose="02040503050406030204" pitchFamily="18" charset="0"/>
                <a:ea typeface="Cambria" panose="02040503050406030204" pitchFamily="18" charset="0"/>
              </a:rPr>
              <a:t>. This approach is better if we have to submit form in all the pages and we don't want to depend on the browser.</a:t>
            </a:r>
          </a:p>
          <a:p>
            <a:pPr algn="just"/>
            <a:r>
              <a:rPr lang="en-GB" dirty="0" smtClean="0">
                <a:latin typeface="Cambria" panose="02040503050406030204" pitchFamily="18" charset="0"/>
                <a:ea typeface="Cambria" panose="02040503050406030204" pitchFamily="18" charset="0"/>
              </a:rPr>
              <a:t>Let's see the code to store value in hidden field.</a:t>
            </a:r>
          </a:p>
          <a:p>
            <a:pPr algn="just"/>
            <a:r>
              <a:rPr lang="en-GB" dirty="0" smtClean="0">
                <a:latin typeface="Cambria" panose="02040503050406030204" pitchFamily="18" charset="0"/>
                <a:ea typeface="Cambria" panose="02040503050406030204" pitchFamily="18" charset="0"/>
              </a:rPr>
              <a:t>&lt;input type="hidden" name="uname" value=“Rahul"&gt;  </a:t>
            </a:r>
          </a:p>
          <a:p>
            <a:pPr algn="just"/>
            <a:r>
              <a:rPr lang="en-GB" dirty="0" smtClean="0">
                <a:latin typeface="Cambria" panose="02040503050406030204" pitchFamily="18" charset="0"/>
                <a:ea typeface="Cambria" panose="02040503050406030204" pitchFamily="18" charset="0"/>
              </a:rPr>
              <a:t>Here, uname is the hidden field name </a:t>
            </a:r>
            <a:r>
              <a:rPr lang="en-GB" smtClean="0">
                <a:latin typeface="Cambria" panose="02040503050406030204" pitchFamily="18" charset="0"/>
                <a:ea typeface="Cambria" panose="02040503050406030204" pitchFamily="18" charset="0"/>
              </a:rPr>
              <a:t>and Rahul </a:t>
            </a:r>
            <a:r>
              <a:rPr lang="en-GB" dirty="0" smtClean="0">
                <a:latin typeface="Cambria" panose="02040503050406030204" pitchFamily="18" charset="0"/>
                <a:ea typeface="Cambria" panose="02040503050406030204" pitchFamily="18" charset="0"/>
              </a:rPr>
              <a:t>is the hidden field value.</a:t>
            </a:r>
          </a:p>
          <a:p>
            <a:pPr algn="just"/>
            <a:endParaRPr lang="en-GB"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55</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19" y="51389"/>
            <a:ext cx="4291281" cy="641308"/>
          </a:xfrm>
        </p:spPr>
        <p:txBody>
          <a:bodyPr/>
          <a:lstStyle/>
          <a:p>
            <a:r>
              <a:rPr lang="en-GB" sz="4000" b="1" dirty="0" smtClean="0">
                <a:solidFill>
                  <a:srgbClr val="002060"/>
                </a:solidFill>
                <a:latin typeface="Cambria" panose="02040503050406030204" pitchFamily="18" charset="0"/>
                <a:ea typeface="Cambria" panose="02040503050406030204" pitchFamily="18" charset="0"/>
              </a:rPr>
              <a:t>Hidden Field</a:t>
            </a:r>
            <a:endParaRPr lang="en-US" sz="4000" b="1" dirty="0">
              <a:solidFill>
                <a:srgbClr val="00206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07368" y="836713"/>
            <a:ext cx="11233248" cy="3960439"/>
          </a:xfrm>
        </p:spPr>
        <p:txBody>
          <a:bodyPr/>
          <a:lstStyle/>
          <a:p>
            <a:pPr algn="just"/>
            <a:r>
              <a:rPr lang="en-GB" b="1" dirty="0" smtClean="0">
                <a:latin typeface="Cambria" panose="02040503050406030204" pitchFamily="18" charset="0"/>
                <a:ea typeface="Cambria" panose="02040503050406030204" pitchFamily="18" charset="0"/>
              </a:rPr>
              <a:t>Real application of hidden form field:</a:t>
            </a:r>
          </a:p>
          <a:p>
            <a:pPr lvl="1" algn="just"/>
            <a:r>
              <a:rPr lang="en-GB" dirty="0" smtClean="0">
                <a:latin typeface="Cambria" panose="02040503050406030204" pitchFamily="18" charset="0"/>
                <a:ea typeface="Cambria" panose="02040503050406030204" pitchFamily="18" charset="0"/>
              </a:rPr>
              <a:t>It is widely used in comment form of a website. In such case, we store page id or page name in the hidden field so that each page can be uniquely identified.</a:t>
            </a:r>
          </a:p>
          <a:p>
            <a:pPr algn="just"/>
            <a:r>
              <a:rPr lang="en-GB" b="1" dirty="0" smtClean="0">
                <a:latin typeface="Cambria" panose="02040503050406030204" pitchFamily="18" charset="0"/>
                <a:ea typeface="Cambria" panose="02040503050406030204" pitchFamily="18" charset="0"/>
              </a:rPr>
              <a:t>Advantage of Hidden Form Field:</a:t>
            </a:r>
            <a:endParaRPr lang="en-GB" b="1" dirty="0">
              <a:latin typeface="Cambria" panose="02040503050406030204" pitchFamily="18" charset="0"/>
              <a:ea typeface="Cambria" panose="02040503050406030204" pitchFamily="18" charset="0"/>
            </a:endParaRPr>
          </a:p>
          <a:p>
            <a:pPr lvl="1" algn="just"/>
            <a:r>
              <a:rPr lang="en-GB" dirty="0" smtClean="0">
                <a:latin typeface="Cambria" panose="02040503050406030204" pitchFamily="18" charset="0"/>
                <a:ea typeface="Cambria" panose="02040503050406030204" pitchFamily="18" charset="0"/>
              </a:rPr>
              <a:t>It will always work whether cookie is disabled or not.</a:t>
            </a:r>
          </a:p>
          <a:p>
            <a:pPr algn="just"/>
            <a:r>
              <a:rPr lang="en-GB" b="1" dirty="0" smtClean="0">
                <a:latin typeface="Cambria" panose="02040503050406030204" pitchFamily="18" charset="0"/>
                <a:ea typeface="Cambria" panose="02040503050406030204" pitchFamily="18" charset="0"/>
              </a:rPr>
              <a:t>Disadvantage of Hidden Form Field:</a:t>
            </a:r>
          </a:p>
          <a:p>
            <a:pPr lvl="1" algn="just"/>
            <a:r>
              <a:rPr lang="en-GB" dirty="0" smtClean="0">
                <a:latin typeface="Cambria" panose="02040503050406030204" pitchFamily="18" charset="0"/>
                <a:ea typeface="Cambria" panose="02040503050406030204" pitchFamily="18" charset="0"/>
              </a:rPr>
              <a:t>It is maintained at server side.</a:t>
            </a:r>
          </a:p>
          <a:p>
            <a:pPr lvl="1" algn="just"/>
            <a:r>
              <a:rPr lang="en-GB" dirty="0" smtClean="0">
                <a:latin typeface="Cambria" panose="02040503050406030204" pitchFamily="18" charset="0"/>
                <a:ea typeface="Cambria" panose="02040503050406030204" pitchFamily="18" charset="0"/>
              </a:rPr>
              <a:t>Extra form submission is required on each pages.</a:t>
            </a:r>
          </a:p>
          <a:p>
            <a:pPr lvl="1" algn="just"/>
            <a:r>
              <a:rPr lang="en-GB" dirty="0" smtClean="0">
                <a:latin typeface="Cambria" panose="02040503050406030204" pitchFamily="18" charset="0"/>
                <a:ea typeface="Cambria" panose="02040503050406030204" pitchFamily="18" charset="0"/>
              </a:rPr>
              <a:t>Only textual information can be used.</a:t>
            </a:r>
          </a:p>
          <a:p>
            <a:pPr algn="just"/>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56</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Example of using Hidden Form Field</a:t>
            </a:r>
            <a:endParaRPr lang="en-GB"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57</a:t>
            </a:fld>
            <a:endParaRPr lang="en-US" altLang="en-US"/>
          </a:p>
        </p:txBody>
      </p:sp>
      <p:pic>
        <p:nvPicPr>
          <p:cNvPr id="6" name="Content Placeholder 5" descr="Hidden Form Field in Servlet"/>
          <p:cNvPicPr>
            <a:picLocks noGrp="1"/>
          </p:cNvPicPr>
          <p:nvPr>
            <p:ph idx="1"/>
          </p:nvPr>
        </p:nvPicPr>
        <p:blipFill>
          <a:blip r:embed="rId2"/>
          <a:srcRect/>
          <a:stretch>
            <a:fillRect/>
          </a:stretch>
        </p:blipFill>
        <p:spPr bwMode="auto">
          <a:xfrm>
            <a:off x="2762250" y="2300288"/>
            <a:ext cx="6667500" cy="293370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344" y="32229"/>
            <a:ext cx="2665512" cy="399579"/>
          </a:xfrm>
        </p:spPr>
        <p:txBody>
          <a:bodyPr/>
          <a:lstStyle/>
          <a:p>
            <a:r>
              <a:rPr lang="en-US" sz="4000" b="1" dirty="0" smtClean="0">
                <a:solidFill>
                  <a:srgbClr val="002060"/>
                </a:solidFill>
                <a:latin typeface="Cambria" panose="02040503050406030204" pitchFamily="18" charset="0"/>
                <a:ea typeface="Cambria" panose="02040503050406030204" pitchFamily="18" charset="0"/>
              </a:rPr>
              <a:t>Example</a:t>
            </a:r>
            <a:endParaRPr lang="en-US" sz="4000" b="1" dirty="0">
              <a:solidFill>
                <a:srgbClr val="00206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184557" y="1196752"/>
            <a:ext cx="4039235" cy="1944216"/>
          </a:xfrm>
        </p:spPr>
        <p:txBody>
          <a:bodyPr/>
          <a:lstStyle/>
          <a:p>
            <a:pPr>
              <a:spcBef>
                <a:spcPts val="0"/>
              </a:spcBef>
              <a:buNone/>
            </a:pPr>
            <a:r>
              <a:rPr lang="en-US" sz="2000" dirty="0" smtClean="0">
                <a:latin typeface="Cambria" panose="02040503050406030204" pitchFamily="18" charset="0"/>
                <a:ea typeface="Cambria" panose="02040503050406030204" pitchFamily="18" charset="0"/>
              </a:rPr>
              <a:t>index.html</a:t>
            </a:r>
          </a:p>
          <a:p>
            <a:pPr>
              <a:spcBef>
                <a:spcPts val="0"/>
              </a:spcBef>
              <a:buNone/>
            </a:pPr>
            <a:r>
              <a:rPr lang="en-US" sz="2000" dirty="0" smtClean="0">
                <a:latin typeface="Cambria" panose="02040503050406030204" pitchFamily="18" charset="0"/>
                <a:ea typeface="Cambria" panose="02040503050406030204" pitchFamily="18" charset="0"/>
              </a:rPr>
              <a:t>&lt;form action="servlet1"&gt;  </a:t>
            </a:r>
          </a:p>
          <a:p>
            <a:pPr>
              <a:spcBef>
                <a:spcPts val="0"/>
              </a:spcBef>
              <a:buNone/>
            </a:pPr>
            <a:r>
              <a:rPr lang="en-US" sz="2000" dirty="0" smtClean="0">
                <a:latin typeface="Cambria" panose="02040503050406030204" pitchFamily="18" charset="0"/>
                <a:ea typeface="Cambria" panose="02040503050406030204" pitchFamily="18" charset="0"/>
              </a:rPr>
              <a:t>Name:&lt;input type="text" name="</a:t>
            </a:r>
            <a:r>
              <a:rPr lang="en-US" sz="2000" dirty="0" err="1" smtClean="0">
                <a:latin typeface="Cambria" panose="02040503050406030204" pitchFamily="18" charset="0"/>
                <a:ea typeface="Cambria" panose="02040503050406030204" pitchFamily="18" charset="0"/>
              </a:rPr>
              <a:t>userName</a:t>
            </a:r>
            <a:r>
              <a:rPr lang="en-US" sz="2000" dirty="0" smtClean="0">
                <a:latin typeface="Cambria" panose="02040503050406030204" pitchFamily="18" charset="0"/>
                <a:ea typeface="Cambria" panose="02040503050406030204" pitchFamily="18" charset="0"/>
              </a:rPr>
              <a:t>"/&gt;&lt;</a:t>
            </a:r>
            <a:r>
              <a:rPr lang="en-US" sz="2000" dirty="0" err="1" smtClean="0">
                <a:latin typeface="Cambria" panose="02040503050406030204" pitchFamily="18" charset="0"/>
                <a:ea typeface="Cambria" panose="02040503050406030204" pitchFamily="18" charset="0"/>
              </a:rPr>
              <a:t>br</a:t>
            </a:r>
            <a:r>
              <a:rPr lang="en-US" sz="2000" dirty="0" smtClean="0">
                <a:latin typeface="Cambria" panose="02040503050406030204" pitchFamily="18" charset="0"/>
                <a:ea typeface="Cambria" panose="02040503050406030204" pitchFamily="18" charset="0"/>
              </a:rPr>
              <a:t>/&gt;  </a:t>
            </a:r>
          </a:p>
          <a:p>
            <a:pPr>
              <a:spcBef>
                <a:spcPts val="0"/>
              </a:spcBef>
              <a:buNone/>
            </a:pPr>
            <a:r>
              <a:rPr lang="en-US" sz="2000" dirty="0" smtClean="0">
                <a:latin typeface="Cambria" panose="02040503050406030204" pitchFamily="18" charset="0"/>
                <a:ea typeface="Cambria" panose="02040503050406030204" pitchFamily="18" charset="0"/>
              </a:rPr>
              <a:t>&lt;input type="submit" value="go"/&gt;  </a:t>
            </a:r>
          </a:p>
          <a:p>
            <a:pPr>
              <a:spcBef>
                <a:spcPts val="0"/>
              </a:spcBef>
              <a:buNone/>
            </a:pPr>
            <a:r>
              <a:rPr lang="en-US" sz="2000" dirty="0" smtClean="0">
                <a:latin typeface="Cambria" panose="02040503050406030204" pitchFamily="18" charset="0"/>
                <a:ea typeface="Cambria" panose="02040503050406030204" pitchFamily="18" charset="0"/>
              </a:rPr>
              <a:t>&lt;/form&gt;  </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58</a:t>
            </a:fld>
            <a:endParaRPr lang="en-US" altLang="en-US">
              <a:latin typeface="Cambria" panose="02040503050406030204" pitchFamily="18" charset="0"/>
              <a:ea typeface="Cambria" panose="02040503050406030204" pitchFamily="18" charset="0"/>
            </a:endParaRPr>
          </a:p>
        </p:txBody>
      </p:sp>
      <p:sp>
        <p:nvSpPr>
          <p:cNvPr id="5" name="Rectangle 4"/>
          <p:cNvSpPr/>
          <p:nvPr/>
        </p:nvSpPr>
        <p:spPr>
          <a:xfrm>
            <a:off x="4655840" y="17602"/>
            <a:ext cx="7128792" cy="6186309"/>
          </a:xfrm>
          <a:prstGeom prst="rect">
            <a:avLst/>
          </a:prstGeom>
        </p:spPr>
        <p:txBody>
          <a:bodyPr wrap="square">
            <a:spAutoFit/>
          </a:bodyPr>
          <a:lstStyle/>
          <a:p>
            <a:pPr>
              <a:spcBef>
                <a:spcPts val="0"/>
              </a:spcBef>
              <a:buNone/>
            </a:pPr>
            <a:r>
              <a:rPr lang="en-US" dirty="0">
                <a:latin typeface="Cambria" panose="02040503050406030204" pitchFamily="18" charset="0"/>
                <a:ea typeface="Cambria" panose="02040503050406030204" pitchFamily="18" charset="0"/>
              </a:rPr>
              <a:t>FirstServlet.java</a:t>
            </a:r>
          </a:p>
          <a:p>
            <a:pPr>
              <a:spcBef>
                <a:spcPts val="0"/>
              </a:spcBef>
              <a:buNone/>
            </a:pPr>
            <a:r>
              <a:rPr lang="en-US" b="1" dirty="0">
                <a:latin typeface="Cambria" panose="02040503050406030204" pitchFamily="18" charset="0"/>
                <a:ea typeface="Cambria" panose="02040503050406030204" pitchFamily="18" charset="0"/>
              </a:rPr>
              <a:t>import</a:t>
            </a:r>
            <a:r>
              <a:rPr lang="en-US" dirty="0">
                <a:latin typeface="Cambria" panose="02040503050406030204" pitchFamily="18" charset="0"/>
                <a:ea typeface="Cambria" panose="02040503050406030204" pitchFamily="18" charset="0"/>
              </a:rPr>
              <a:t> java.io.*;  </a:t>
            </a:r>
          </a:p>
          <a:p>
            <a:pPr>
              <a:spcBef>
                <a:spcPts val="0"/>
              </a:spcBef>
              <a:buNone/>
            </a:pPr>
            <a:r>
              <a:rPr lang="en-US" b="1" dirty="0">
                <a:latin typeface="Cambria" panose="02040503050406030204" pitchFamily="18" charset="0"/>
                <a:ea typeface="Cambria" panose="02040503050406030204" pitchFamily="18" charset="0"/>
              </a:rPr>
              <a:t>import</a:t>
            </a:r>
            <a:r>
              <a:rPr lang="en-US" dirty="0">
                <a:latin typeface="Cambria" panose="02040503050406030204" pitchFamily="18" charset="0"/>
                <a:ea typeface="Cambria" panose="02040503050406030204" pitchFamily="18" charset="0"/>
              </a:rPr>
              <a:t> javax.servlet.*;  </a:t>
            </a:r>
          </a:p>
          <a:p>
            <a:pPr>
              <a:spcBef>
                <a:spcPts val="0"/>
              </a:spcBef>
              <a:buNone/>
            </a:pPr>
            <a:r>
              <a:rPr lang="en-US" b="1" dirty="0">
                <a:latin typeface="Cambria" panose="02040503050406030204" pitchFamily="18" charset="0"/>
                <a:ea typeface="Cambria" panose="02040503050406030204" pitchFamily="18" charset="0"/>
              </a:rPr>
              <a:t>import</a:t>
            </a:r>
            <a:r>
              <a:rPr lang="en-US" dirty="0">
                <a:latin typeface="Cambria" panose="02040503050406030204" pitchFamily="18" charset="0"/>
                <a:ea typeface="Cambria" panose="02040503050406030204" pitchFamily="18" charset="0"/>
              </a:rPr>
              <a:t> javax.servlet.http.*;  </a:t>
            </a:r>
          </a:p>
          <a:p>
            <a:pPr>
              <a:spcBef>
                <a:spcPts val="0"/>
              </a:spcBef>
              <a:buNone/>
            </a:pPr>
            <a:r>
              <a:rPr lang="en-US" dirty="0">
                <a:latin typeface="Cambria" panose="02040503050406030204" pitchFamily="18" charset="0"/>
                <a:ea typeface="Cambria" panose="02040503050406030204" pitchFamily="18" charset="0"/>
              </a:rPr>
              <a:t>  </a:t>
            </a:r>
          </a:p>
          <a:p>
            <a:pPr>
              <a:spcBef>
                <a:spcPts val="0"/>
              </a:spcBef>
              <a:buNone/>
            </a:pPr>
            <a:r>
              <a:rPr lang="en-US" b="1" dirty="0">
                <a:latin typeface="Cambria" panose="02040503050406030204" pitchFamily="18" charset="0"/>
                <a:ea typeface="Cambria" panose="02040503050406030204" pitchFamily="18" charset="0"/>
              </a:rPr>
              <a:t>public</a:t>
            </a:r>
            <a:r>
              <a:rPr lang="en-US" dirty="0">
                <a:latin typeface="Cambria" panose="02040503050406030204" pitchFamily="18" charset="0"/>
                <a:ea typeface="Cambria" panose="02040503050406030204" pitchFamily="18" charset="0"/>
              </a:rPr>
              <a:t> </a:t>
            </a:r>
            <a:r>
              <a:rPr lang="en-US" b="1" dirty="0">
                <a:latin typeface="Cambria" panose="02040503050406030204" pitchFamily="18" charset="0"/>
                <a:ea typeface="Cambria" panose="02040503050406030204" pitchFamily="18" charset="0"/>
              </a:rPr>
              <a:t>class</a:t>
            </a:r>
            <a:r>
              <a:rPr lang="en-US" dirty="0">
                <a:latin typeface="Cambria" panose="02040503050406030204" pitchFamily="18" charset="0"/>
                <a:ea typeface="Cambria" panose="02040503050406030204" pitchFamily="18" charset="0"/>
              </a:rPr>
              <a:t> FirstServlet </a:t>
            </a:r>
            <a:r>
              <a:rPr lang="en-US" b="1" dirty="0">
                <a:latin typeface="Cambria" panose="02040503050406030204" pitchFamily="18" charset="0"/>
                <a:ea typeface="Cambria" panose="02040503050406030204" pitchFamily="18" charset="0"/>
              </a:rPr>
              <a:t>extends</a:t>
            </a:r>
            <a:r>
              <a:rPr lang="en-US" dirty="0">
                <a:latin typeface="Cambria" panose="02040503050406030204" pitchFamily="18" charset="0"/>
                <a:ea typeface="Cambria" panose="02040503050406030204" pitchFamily="18" charset="0"/>
              </a:rPr>
              <a:t> HttpServlet {  </a:t>
            </a:r>
          </a:p>
          <a:p>
            <a:pPr>
              <a:spcBef>
                <a:spcPts val="0"/>
              </a:spcBef>
              <a:buNone/>
            </a:pPr>
            <a:r>
              <a:rPr lang="en-US" b="1" dirty="0">
                <a:latin typeface="Cambria" panose="02040503050406030204" pitchFamily="18" charset="0"/>
                <a:ea typeface="Cambria" panose="02040503050406030204" pitchFamily="18" charset="0"/>
              </a:rPr>
              <a:t>public</a:t>
            </a:r>
            <a:r>
              <a:rPr lang="en-US" dirty="0">
                <a:latin typeface="Cambria" panose="02040503050406030204" pitchFamily="18" charset="0"/>
                <a:ea typeface="Cambria" panose="02040503050406030204" pitchFamily="18" charset="0"/>
              </a:rPr>
              <a:t> </a:t>
            </a:r>
            <a:r>
              <a:rPr lang="en-US" b="1" dirty="0">
                <a:latin typeface="Cambria" panose="02040503050406030204" pitchFamily="18" charset="0"/>
                <a:ea typeface="Cambria" panose="02040503050406030204" pitchFamily="18" charset="0"/>
              </a:rPr>
              <a:t>void</a:t>
            </a:r>
            <a:r>
              <a:rPr lang="en-US" dirty="0">
                <a:latin typeface="Cambria" panose="02040503050406030204" pitchFamily="18" charset="0"/>
                <a:ea typeface="Cambria" panose="02040503050406030204" pitchFamily="18" charset="0"/>
              </a:rPr>
              <a:t> doGet(HttpServletRequest request, HttpServletResponse response){  </a:t>
            </a:r>
          </a:p>
          <a:p>
            <a:pPr>
              <a:spcBef>
                <a:spcPts val="0"/>
              </a:spcBef>
              <a:buNone/>
            </a:pPr>
            <a:r>
              <a:rPr lang="en-US" dirty="0">
                <a:latin typeface="Cambria" panose="02040503050406030204" pitchFamily="18" charset="0"/>
                <a:ea typeface="Cambria" panose="02040503050406030204" pitchFamily="18" charset="0"/>
              </a:rPr>
              <a:t>        </a:t>
            </a:r>
            <a:r>
              <a:rPr lang="en-US" b="1" dirty="0">
                <a:latin typeface="Cambria" panose="02040503050406030204" pitchFamily="18" charset="0"/>
                <a:ea typeface="Cambria" panose="02040503050406030204" pitchFamily="18" charset="0"/>
              </a:rPr>
              <a:t>try</a:t>
            </a:r>
            <a:r>
              <a:rPr lang="en-US" dirty="0">
                <a:latin typeface="Cambria" panose="02040503050406030204" pitchFamily="18" charset="0"/>
                <a:ea typeface="Cambria" panose="02040503050406030204" pitchFamily="18" charset="0"/>
              </a:rPr>
              <a:t>{    </a:t>
            </a:r>
          </a:p>
          <a:p>
            <a:pPr>
              <a:spcBef>
                <a:spcPts val="0"/>
              </a:spcBef>
              <a:buNone/>
            </a:pPr>
            <a:r>
              <a:rPr lang="en-US" dirty="0">
                <a:latin typeface="Cambria" panose="02040503050406030204" pitchFamily="18" charset="0"/>
                <a:ea typeface="Cambria" panose="02040503050406030204" pitchFamily="18" charset="0"/>
              </a:rPr>
              <a:t>        response.setContentType("text/html");  </a:t>
            </a:r>
          </a:p>
          <a:p>
            <a:pPr>
              <a:spcBef>
                <a:spcPts val="0"/>
              </a:spcBef>
              <a:buNone/>
            </a:pPr>
            <a:r>
              <a:rPr lang="en-US" dirty="0">
                <a:latin typeface="Cambria" panose="02040503050406030204" pitchFamily="18" charset="0"/>
                <a:ea typeface="Cambria" panose="02040503050406030204" pitchFamily="18" charset="0"/>
              </a:rPr>
              <a:t>        PrintWriter out = response.getWriter();            </a:t>
            </a:r>
          </a:p>
          <a:p>
            <a:pPr>
              <a:spcBef>
                <a:spcPts val="0"/>
              </a:spcBef>
              <a:buNone/>
            </a:pPr>
            <a:r>
              <a:rPr lang="en-US" dirty="0">
                <a:latin typeface="Cambria" panose="02040503050406030204" pitchFamily="18" charset="0"/>
                <a:ea typeface="Cambria" panose="02040503050406030204" pitchFamily="18" charset="0"/>
              </a:rPr>
              <a:t>        String n=request.getParameter("userName");  </a:t>
            </a:r>
          </a:p>
          <a:p>
            <a:pPr>
              <a:spcBef>
                <a:spcPts val="0"/>
              </a:spcBef>
              <a:buNone/>
            </a:pPr>
            <a:r>
              <a:rPr lang="en-US" dirty="0">
                <a:latin typeface="Cambria" panose="02040503050406030204" pitchFamily="18" charset="0"/>
                <a:ea typeface="Cambria" panose="02040503050406030204" pitchFamily="18" charset="0"/>
              </a:rPr>
              <a:t>        out.print("Welcome "+n);            </a:t>
            </a:r>
          </a:p>
          <a:p>
            <a:pPr>
              <a:spcBef>
                <a:spcPts val="0"/>
              </a:spcBef>
              <a:buNone/>
            </a:pPr>
            <a:r>
              <a:rPr lang="en-US" dirty="0">
                <a:latin typeface="Cambria" panose="02040503050406030204" pitchFamily="18" charset="0"/>
                <a:ea typeface="Cambria" panose="02040503050406030204" pitchFamily="18" charset="0"/>
              </a:rPr>
              <a:t>        //creating form that have invisible textfield  </a:t>
            </a:r>
          </a:p>
          <a:p>
            <a:pPr>
              <a:spcBef>
                <a:spcPts val="0"/>
              </a:spcBef>
              <a:buNone/>
            </a:pPr>
            <a:r>
              <a:rPr lang="en-US" dirty="0">
                <a:latin typeface="Cambria" panose="02040503050406030204" pitchFamily="18" charset="0"/>
                <a:ea typeface="Cambria" panose="02040503050406030204" pitchFamily="18" charset="0"/>
              </a:rPr>
              <a:t>        out.print("&lt;form action='servlet2'&gt;");  </a:t>
            </a:r>
          </a:p>
          <a:p>
            <a:pPr>
              <a:spcBef>
                <a:spcPts val="0"/>
              </a:spcBef>
              <a:buNone/>
            </a:pPr>
            <a:r>
              <a:rPr lang="en-US" dirty="0">
                <a:latin typeface="Cambria" panose="02040503050406030204" pitchFamily="18" charset="0"/>
                <a:ea typeface="Cambria" panose="02040503050406030204" pitchFamily="18" charset="0"/>
              </a:rPr>
              <a:t>        out.print("&lt;input type='hidden' name='uname' value='"+n+"'&gt;");  </a:t>
            </a:r>
          </a:p>
          <a:p>
            <a:pPr>
              <a:spcBef>
                <a:spcPts val="0"/>
              </a:spcBef>
              <a:buNone/>
            </a:pPr>
            <a:r>
              <a:rPr lang="en-US" dirty="0">
                <a:latin typeface="Cambria" panose="02040503050406030204" pitchFamily="18" charset="0"/>
                <a:ea typeface="Cambria" panose="02040503050406030204" pitchFamily="18" charset="0"/>
              </a:rPr>
              <a:t>        out.print("&lt;input type='submit' value='go'&gt;");  </a:t>
            </a:r>
          </a:p>
          <a:p>
            <a:pPr>
              <a:spcBef>
                <a:spcPts val="0"/>
              </a:spcBef>
              <a:buNone/>
            </a:pPr>
            <a:r>
              <a:rPr lang="en-US" dirty="0">
                <a:latin typeface="Cambria" panose="02040503050406030204" pitchFamily="18" charset="0"/>
                <a:ea typeface="Cambria" panose="02040503050406030204" pitchFamily="18" charset="0"/>
              </a:rPr>
              <a:t>        out.print("&lt;/form&gt;");  </a:t>
            </a:r>
          </a:p>
          <a:p>
            <a:pPr>
              <a:spcBef>
                <a:spcPts val="0"/>
              </a:spcBef>
              <a:buNone/>
            </a:pPr>
            <a:r>
              <a:rPr lang="en-US" dirty="0">
                <a:latin typeface="Cambria" panose="02040503050406030204" pitchFamily="18" charset="0"/>
                <a:ea typeface="Cambria" panose="02040503050406030204" pitchFamily="18" charset="0"/>
              </a:rPr>
              <a:t>        out.close();    </a:t>
            </a:r>
          </a:p>
          <a:p>
            <a:pPr>
              <a:spcBef>
                <a:spcPts val="0"/>
              </a:spcBef>
              <a:buNone/>
            </a:pPr>
            <a:r>
              <a:rPr lang="en-US" dirty="0">
                <a:latin typeface="Cambria" panose="02040503050406030204" pitchFamily="18" charset="0"/>
                <a:ea typeface="Cambria" panose="02040503050406030204" pitchFamily="18" charset="0"/>
              </a:rPr>
              <a:t>                }</a:t>
            </a:r>
            <a:r>
              <a:rPr lang="en-US" b="1" dirty="0">
                <a:latin typeface="Cambria" panose="02040503050406030204" pitchFamily="18" charset="0"/>
                <a:ea typeface="Cambria" panose="02040503050406030204" pitchFamily="18" charset="0"/>
              </a:rPr>
              <a:t>catch</a:t>
            </a:r>
            <a:r>
              <a:rPr lang="en-US" dirty="0">
                <a:latin typeface="Cambria" panose="02040503050406030204" pitchFamily="18" charset="0"/>
                <a:ea typeface="Cambria" panose="02040503050406030204" pitchFamily="18" charset="0"/>
              </a:rPr>
              <a:t>(Exception e){System.out.println(e);}  </a:t>
            </a:r>
          </a:p>
          <a:p>
            <a:pPr>
              <a:spcBef>
                <a:spcPts val="0"/>
              </a:spcBef>
              <a:buNone/>
            </a:pPr>
            <a:r>
              <a:rPr lang="en-US" dirty="0">
                <a:latin typeface="Cambria" panose="02040503050406030204" pitchFamily="18" charset="0"/>
                <a:ea typeface="Cambria" panose="02040503050406030204" pitchFamily="18" charset="0"/>
              </a:rPr>
              <a:t>    }    </a:t>
            </a:r>
          </a:p>
          <a:p>
            <a:pPr>
              <a:spcBef>
                <a:spcPts val="0"/>
              </a:spcBef>
              <a:buNone/>
            </a:pPr>
            <a:r>
              <a:rPr lang="en-US" dirty="0">
                <a:latin typeface="Cambria" panose="02040503050406030204" pitchFamily="18" charset="0"/>
                <a:ea typeface="Cambria" panose="02040503050406030204" pitchFamily="18" charset="0"/>
              </a:rPr>
              <a:t>}  </a:t>
            </a: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61117"/>
            <a:ext cx="2448272" cy="631579"/>
          </a:xfrm>
        </p:spPr>
        <p:txBody>
          <a:bodyPr/>
          <a:lstStyle/>
          <a:p>
            <a:r>
              <a:rPr lang="en-US" sz="4000" b="1" dirty="0" smtClean="0">
                <a:solidFill>
                  <a:srgbClr val="002060"/>
                </a:solidFill>
                <a:latin typeface="Cambria" panose="02040503050406030204" pitchFamily="18" charset="0"/>
                <a:ea typeface="Cambria" panose="02040503050406030204" pitchFamily="18" charset="0"/>
              </a:rPr>
              <a:t>Example</a:t>
            </a:r>
            <a:endParaRPr lang="en-US" sz="4000" b="1" dirty="0">
              <a:solidFill>
                <a:srgbClr val="00206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119336" y="692696"/>
            <a:ext cx="6624736" cy="4553308"/>
          </a:xfrm>
        </p:spPr>
        <p:txBody>
          <a:bodyPr/>
          <a:lstStyle/>
          <a:p>
            <a:r>
              <a:rPr lang="en-US" sz="1800" dirty="0" smtClean="0">
                <a:latin typeface="Cambria" panose="02040503050406030204" pitchFamily="18" charset="0"/>
                <a:ea typeface="Cambria" panose="02040503050406030204" pitchFamily="18" charset="0"/>
              </a:rPr>
              <a:t>SecondServlet.java</a:t>
            </a:r>
          </a:p>
          <a:p>
            <a:pPr>
              <a:spcBef>
                <a:spcPts val="0"/>
              </a:spcBef>
              <a:buNone/>
            </a:pPr>
            <a:r>
              <a:rPr lang="en-US" sz="1800" b="1" dirty="0" smtClean="0">
                <a:latin typeface="Cambria" panose="02040503050406030204" pitchFamily="18" charset="0"/>
                <a:ea typeface="Cambria" panose="02040503050406030204" pitchFamily="18" charset="0"/>
              </a:rPr>
              <a:t>import</a:t>
            </a:r>
            <a:r>
              <a:rPr lang="en-US" sz="1800" dirty="0" smtClean="0">
                <a:latin typeface="Cambria" panose="02040503050406030204" pitchFamily="18" charset="0"/>
                <a:ea typeface="Cambria" panose="02040503050406030204" pitchFamily="18" charset="0"/>
              </a:rPr>
              <a:t> java.io.*;  </a:t>
            </a:r>
          </a:p>
          <a:p>
            <a:pPr>
              <a:spcBef>
                <a:spcPts val="0"/>
              </a:spcBef>
              <a:buNone/>
            </a:pPr>
            <a:r>
              <a:rPr lang="en-US" sz="1800" b="1" dirty="0" smtClean="0">
                <a:latin typeface="Cambria" panose="02040503050406030204" pitchFamily="18" charset="0"/>
                <a:ea typeface="Cambria" panose="02040503050406030204" pitchFamily="18" charset="0"/>
              </a:rPr>
              <a:t>import</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javax.servlet</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b="1" dirty="0" smtClean="0">
                <a:latin typeface="Cambria" panose="02040503050406030204" pitchFamily="18" charset="0"/>
                <a:ea typeface="Cambria" panose="02040503050406030204" pitchFamily="18" charset="0"/>
              </a:rPr>
              <a:t>import</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javax.servlet.http</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b="1" dirty="0" smtClean="0">
                <a:latin typeface="Cambria" panose="02040503050406030204" pitchFamily="18" charset="0"/>
                <a:ea typeface="Cambria" panose="02040503050406030204" pitchFamily="18" charset="0"/>
              </a:rPr>
              <a:t>public</a:t>
            </a: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class</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SecondServlet</a:t>
            </a: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extends</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HttpServlet</a:t>
            </a:r>
            <a:r>
              <a:rPr lang="en-US" sz="1800" dirty="0" smtClean="0">
                <a:latin typeface="Cambria" panose="02040503050406030204" pitchFamily="18" charset="0"/>
                <a:ea typeface="Cambria" panose="02040503050406030204" pitchFamily="18" charset="0"/>
              </a:rPr>
              <a:t> {  </a:t>
            </a:r>
          </a:p>
          <a:p>
            <a:pPr>
              <a:spcBef>
                <a:spcPts val="0"/>
              </a:spcBef>
              <a:buNone/>
            </a:pPr>
            <a:r>
              <a:rPr lang="en-US" sz="1800" b="1" dirty="0" smtClean="0">
                <a:latin typeface="Cambria" panose="02040503050406030204" pitchFamily="18" charset="0"/>
                <a:ea typeface="Cambria" panose="02040503050406030204" pitchFamily="18" charset="0"/>
              </a:rPr>
              <a:t>public</a:t>
            </a: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void</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doGet</a:t>
            </a:r>
            <a:r>
              <a:rPr lang="en-US" sz="1800" dirty="0" smtClean="0">
                <a:latin typeface="Cambria" panose="02040503050406030204" pitchFamily="18" charset="0"/>
                <a:ea typeface="Cambria" panose="02040503050406030204" pitchFamily="18" charset="0"/>
              </a:rPr>
              <a:t>(</a:t>
            </a:r>
            <a:r>
              <a:rPr lang="en-US" sz="1800" dirty="0" err="1" smtClean="0">
                <a:latin typeface="Cambria" panose="02040503050406030204" pitchFamily="18" charset="0"/>
                <a:ea typeface="Cambria" panose="02040503050406030204" pitchFamily="18" charset="0"/>
              </a:rPr>
              <a:t>HttpServletRequest</a:t>
            </a:r>
            <a:r>
              <a:rPr lang="en-US" sz="1800" dirty="0" smtClean="0">
                <a:latin typeface="Cambria" panose="02040503050406030204" pitchFamily="18" charset="0"/>
                <a:ea typeface="Cambria" panose="02040503050406030204" pitchFamily="18" charset="0"/>
              </a:rPr>
              <a:t> request, </a:t>
            </a:r>
            <a:r>
              <a:rPr lang="en-US" sz="1800" dirty="0" err="1" smtClean="0">
                <a:latin typeface="Cambria" panose="02040503050406030204" pitchFamily="18" charset="0"/>
                <a:ea typeface="Cambria" panose="02040503050406030204" pitchFamily="18" charset="0"/>
              </a:rPr>
              <a:t>HttpServletResponse</a:t>
            </a:r>
            <a:r>
              <a:rPr lang="en-US" sz="1800" dirty="0" smtClean="0">
                <a:latin typeface="Cambria" panose="02040503050406030204" pitchFamily="18" charset="0"/>
                <a:ea typeface="Cambria" panose="02040503050406030204" pitchFamily="18" charset="0"/>
              </a:rPr>
              <a:t> response)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try</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response.setContentType</a:t>
            </a:r>
            <a:r>
              <a:rPr lang="en-US" sz="1800" dirty="0" smtClean="0">
                <a:latin typeface="Cambria" panose="02040503050406030204" pitchFamily="18" charset="0"/>
                <a:ea typeface="Cambria" panose="02040503050406030204" pitchFamily="18" charset="0"/>
              </a:rPr>
              <a:t>("text/html");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PrintWriter</a:t>
            </a:r>
            <a:r>
              <a:rPr lang="en-US" sz="1800" dirty="0" smtClean="0">
                <a:latin typeface="Cambria" panose="02040503050406030204" pitchFamily="18" charset="0"/>
                <a:ea typeface="Cambria" panose="02040503050406030204" pitchFamily="18" charset="0"/>
              </a:rPr>
              <a:t> out = </a:t>
            </a:r>
            <a:r>
              <a:rPr lang="en-US" sz="1800" dirty="0" err="1" smtClean="0">
                <a:latin typeface="Cambria" panose="02040503050406030204" pitchFamily="18" charset="0"/>
                <a:ea typeface="Cambria" panose="02040503050406030204" pitchFamily="18" charset="0"/>
              </a:rPr>
              <a:t>response.getWriter</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//Getting the value from the hidden field  </a:t>
            </a:r>
          </a:p>
          <a:p>
            <a:pPr>
              <a:spcBef>
                <a:spcPts val="0"/>
              </a:spcBef>
              <a:buNone/>
            </a:pPr>
            <a:r>
              <a:rPr lang="en-US" sz="1800" dirty="0" smtClean="0">
                <a:latin typeface="Cambria" panose="02040503050406030204" pitchFamily="18" charset="0"/>
                <a:ea typeface="Cambria" panose="02040503050406030204" pitchFamily="18" charset="0"/>
              </a:rPr>
              <a:t>        String n=</a:t>
            </a:r>
            <a:r>
              <a:rPr lang="en-US" sz="1800" dirty="0" err="1" smtClean="0">
                <a:latin typeface="Cambria" panose="02040503050406030204" pitchFamily="18" charset="0"/>
                <a:ea typeface="Cambria" panose="02040503050406030204" pitchFamily="18" charset="0"/>
              </a:rPr>
              <a:t>request.getParameter</a:t>
            </a:r>
            <a:r>
              <a:rPr lang="en-US" sz="1800" dirty="0" smtClean="0">
                <a:latin typeface="Cambria" panose="02040503050406030204" pitchFamily="18" charset="0"/>
                <a:ea typeface="Cambria" panose="02040503050406030204" pitchFamily="18" charset="0"/>
              </a:rPr>
              <a:t>("</a:t>
            </a:r>
            <a:r>
              <a:rPr lang="en-US" sz="1800" dirty="0" err="1" smtClean="0">
                <a:latin typeface="Cambria" panose="02040503050406030204" pitchFamily="18" charset="0"/>
                <a:ea typeface="Cambria" panose="02040503050406030204" pitchFamily="18" charset="0"/>
              </a:rPr>
              <a:t>uname</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out.print</a:t>
            </a:r>
            <a:r>
              <a:rPr lang="en-US" sz="1800" dirty="0" smtClean="0">
                <a:latin typeface="Cambria" panose="02040503050406030204" pitchFamily="18" charset="0"/>
                <a:ea typeface="Cambria" panose="02040503050406030204" pitchFamily="18" charset="0"/>
              </a:rPr>
              <a:t>("Hello "+n);  </a:t>
            </a:r>
          </a:p>
          <a:p>
            <a:pPr>
              <a:spcBef>
                <a:spcPts val="0"/>
              </a:spcBef>
              <a:buNone/>
            </a:pP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out.close</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catch</a:t>
            </a:r>
            <a:r>
              <a:rPr lang="en-US" sz="1800" dirty="0" smtClean="0">
                <a:latin typeface="Cambria" panose="02040503050406030204" pitchFamily="18" charset="0"/>
                <a:ea typeface="Cambria" panose="02040503050406030204" pitchFamily="18" charset="0"/>
              </a:rPr>
              <a:t>(Exception e){</a:t>
            </a:r>
            <a:r>
              <a:rPr lang="en-US" sz="1800" dirty="0" err="1" smtClean="0">
                <a:latin typeface="Cambria" panose="02040503050406030204" pitchFamily="18" charset="0"/>
                <a:ea typeface="Cambria" panose="02040503050406030204" pitchFamily="18" charset="0"/>
              </a:rPr>
              <a:t>System.out.println</a:t>
            </a:r>
            <a:r>
              <a:rPr lang="en-US" sz="1800" dirty="0" smtClean="0">
                <a:latin typeface="Cambria" panose="02040503050406030204" pitchFamily="18" charset="0"/>
                <a:ea typeface="Cambria" panose="02040503050406030204" pitchFamily="18" charset="0"/>
              </a:rPr>
              <a:t>(e);}  </a:t>
            </a:r>
          </a:p>
          <a:p>
            <a:pPr>
              <a:spcBef>
                <a:spcPts val="0"/>
              </a:spcBef>
              <a:buNone/>
            </a:pPr>
            <a:r>
              <a:rPr lang="en-US" sz="1800" dirty="0" smtClean="0">
                <a:latin typeface="Cambria" panose="02040503050406030204" pitchFamily="18" charset="0"/>
                <a:ea typeface="Cambria" panose="02040503050406030204" pitchFamily="18" charset="0"/>
              </a:rPr>
              <a:t>    }  </a:t>
            </a:r>
          </a:p>
          <a:p>
            <a:pPr>
              <a:spcBef>
                <a:spcPts val="0"/>
              </a:spcBef>
              <a:buNone/>
            </a:pPr>
            <a:r>
              <a:rPr lang="en-US" sz="1800" dirty="0" smtClean="0">
                <a:latin typeface="Cambria" panose="02040503050406030204" pitchFamily="18" charset="0"/>
                <a:ea typeface="Cambria" panose="02040503050406030204" pitchFamily="18" charset="0"/>
              </a:rPr>
              <a:t>}  </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59</a:t>
            </a:fld>
            <a:endParaRPr lang="en-US" altLang="en-US">
              <a:latin typeface="Cambria" panose="02040503050406030204" pitchFamily="18" charset="0"/>
              <a:ea typeface="Cambria" panose="02040503050406030204" pitchFamily="18" charset="0"/>
            </a:endParaRPr>
          </a:p>
        </p:txBody>
      </p:sp>
      <p:sp>
        <p:nvSpPr>
          <p:cNvPr id="5" name="Rectangle 4"/>
          <p:cNvSpPr/>
          <p:nvPr/>
        </p:nvSpPr>
        <p:spPr>
          <a:xfrm>
            <a:off x="6744072" y="70009"/>
            <a:ext cx="4896544" cy="6186309"/>
          </a:xfrm>
          <a:prstGeom prst="rect">
            <a:avLst/>
          </a:prstGeom>
        </p:spPr>
        <p:txBody>
          <a:bodyPr wrap="square">
            <a:spAutoFit/>
          </a:bodyPr>
          <a:lstStyle/>
          <a:p>
            <a:pPr>
              <a:spcBef>
                <a:spcPts val="0"/>
              </a:spcBef>
              <a:buNone/>
            </a:pPr>
            <a:r>
              <a:rPr lang="en-US" dirty="0">
                <a:latin typeface="Cambria" panose="02040503050406030204" pitchFamily="18" charset="0"/>
                <a:ea typeface="Cambria" panose="02040503050406030204" pitchFamily="18" charset="0"/>
              </a:rPr>
              <a:t>web.xml</a:t>
            </a:r>
          </a:p>
          <a:p>
            <a:pPr>
              <a:spcBef>
                <a:spcPts val="0"/>
              </a:spcBef>
              <a:buNone/>
            </a:pPr>
            <a:r>
              <a:rPr lang="en-US" dirty="0">
                <a:latin typeface="Cambria" panose="02040503050406030204" pitchFamily="18" charset="0"/>
                <a:ea typeface="Cambria" panose="02040503050406030204" pitchFamily="18" charset="0"/>
              </a:rPr>
              <a:t>&lt;web-app&gt;  </a:t>
            </a:r>
          </a:p>
          <a:p>
            <a:pPr>
              <a:spcBef>
                <a:spcPts val="0"/>
              </a:spcBef>
              <a:buNone/>
            </a:pPr>
            <a:r>
              <a:rPr lang="en-US" dirty="0">
                <a:latin typeface="Cambria" panose="02040503050406030204" pitchFamily="18" charset="0"/>
                <a:ea typeface="Cambria" panose="02040503050406030204" pitchFamily="18" charset="0"/>
              </a:rPr>
              <a:t> </a:t>
            </a:r>
            <a:r>
              <a:rPr lang="en-US" dirty="0" smtClean="0">
                <a:latin typeface="Cambria" panose="02040503050406030204" pitchFamily="18" charset="0"/>
                <a:ea typeface="Cambria" panose="02040503050406030204" pitchFamily="18" charset="0"/>
              </a:rPr>
              <a:t>&lt;</a:t>
            </a:r>
            <a:r>
              <a:rPr lang="en-US" dirty="0">
                <a:latin typeface="Cambria" panose="02040503050406030204" pitchFamily="18" charset="0"/>
                <a:ea typeface="Cambria" panose="02040503050406030204" pitchFamily="18" charset="0"/>
              </a:rPr>
              <a:t>servlet&gt;  </a:t>
            </a:r>
          </a:p>
          <a:p>
            <a:pPr>
              <a:spcBef>
                <a:spcPts val="0"/>
              </a:spcBef>
              <a:buNone/>
            </a:pPr>
            <a:r>
              <a:rPr lang="en-US" dirty="0">
                <a:latin typeface="Cambria" panose="02040503050406030204" pitchFamily="18" charset="0"/>
                <a:ea typeface="Cambria" panose="02040503050406030204" pitchFamily="18" charset="0"/>
              </a:rPr>
              <a:t>&lt;servlet-name&gt;s1&lt;/servlet-name&gt;  </a:t>
            </a:r>
          </a:p>
          <a:p>
            <a:pPr>
              <a:spcBef>
                <a:spcPts val="0"/>
              </a:spcBef>
              <a:buNone/>
            </a:pPr>
            <a:r>
              <a:rPr lang="en-US" dirty="0">
                <a:latin typeface="Cambria" panose="02040503050406030204" pitchFamily="18" charset="0"/>
                <a:ea typeface="Cambria" panose="02040503050406030204" pitchFamily="18" charset="0"/>
              </a:rPr>
              <a:t>&lt;servlet-</a:t>
            </a:r>
            <a:r>
              <a:rPr lang="en-US" b="1" dirty="0">
                <a:latin typeface="Cambria" panose="02040503050406030204" pitchFamily="18" charset="0"/>
                <a:ea typeface="Cambria" panose="02040503050406030204" pitchFamily="18" charset="0"/>
              </a:rPr>
              <a:t>class</a:t>
            </a:r>
            <a:r>
              <a:rPr lang="en-US" dirty="0">
                <a:latin typeface="Cambria" panose="02040503050406030204" pitchFamily="18" charset="0"/>
                <a:ea typeface="Cambria" panose="02040503050406030204" pitchFamily="18" charset="0"/>
              </a:rPr>
              <a:t>&gt;FirstServlet&lt;/servlet-</a:t>
            </a:r>
            <a:r>
              <a:rPr lang="en-US" b="1" dirty="0">
                <a:latin typeface="Cambria" panose="02040503050406030204" pitchFamily="18" charset="0"/>
                <a:ea typeface="Cambria" panose="02040503050406030204" pitchFamily="18" charset="0"/>
              </a:rPr>
              <a:t>class</a:t>
            </a:r>
            <a:r>
              <a:rPr lang="en-US" dirty="0">
                <a:latin typeface="Cambria" panose="02040503050406030204" pitchFamily="18" charset="0"/>
                <a:ea typeface="Cambria" panose="02040503050406030204" pitchFamily="18" charset="0"/>
              </a:rPr>
              <a:t>&gt;  </a:t>
            </a:r>
          </a:p>
          <a:p>
            <a:pPr>
              <a:spcBef>
                <a:spcPts val="0"/>
              </a:spcBef>
              <a:buNone/>
            </a:pPr>
            <a:r>
              <a:rPr lang="en-US" dirty="0">
                <a:latin typeface="Cambria" panose="02040503050406030204" pitchFamily="18" charset="0"/>
                <a:ea typeface="Cambria" panose="02040503050406030204" pitchFamily="18" charset="0"/>
              </a:rPr>
              <a:t>&lt;/servlet&gt;  </a:t>
            </a:r>
          </a:p>
          <a:p>
            <a:pPr>
              <a:spcBef>
                <a:spcPts val="0"/>
              </a:spcBef>
              <a:buNone/>
            </a:pPr>
            <a:r>
              <a:rPr lang="en-US" dirty="0">
                <a:latin typeface="Cambria" panose="02040503050406030204" pitchFamily="18" charset="0"/>
                <a:ea typeface="Cambria" panose="02040503050406030204" pitchFamily="18" charset="0"/>
              </a:rPr>
              <a:t>  </a:t>
            </a:r>
          </a:p>
          <a:p>
            <a:pPr>
              <a:spcBef>
                <a:spcPts val="0"/>
              </a:spcBef>
              <a:buNone/>
            </a:pPr>
            <a:r>
              <a:rPr lang="en-US" dirty="0">
                <a:latin typeface="Cambria" panose="02040503050406030204" pitchFamily="18" charset="0"/>
                <a:ea typeface="Cambria" panose="02040503050406030204" pitchFamily="18" charset="0"/>
              </a:rPr>
              <a:t>&lt;servlet-mapping&gt;  </a:t>
            </a:r>
          </a:p>
          <a:p>
            <a:pPr>
              <a:spcBef>
                <a:spcPts val="0"/>
              </a:spcBef>
              <a:buNone/>
            </a:pPr>
            <a:r>
              <a:rPr lang="en-US" dirty="0">
                <a:latin typeface="Cambria" panose="02040503050406030204" pitchFamily="18" charset="0"/>
                <a:ea typeface="Cambria" panose="02040503050406030204" pitchFamily="18" charset="0"/>
              </a:rPr>
              <a:t>&lt;servlet-name&gt;s1&lt;/servlet-name&gt;  </a:t>
            </a:r>
          </a:p>
          <a:p>
            <a:pPr>
              <a:spcBef>
                <a:spcPts val="0"/>
              </a:spcBef>
              <a:buNone/>
            </a:pPr>
            <a:r>
              <a:rPr lang="en-US" dirty="0">
                <a:latin typeface="Cambria" panose="02040503050406030204" pitchFamily="18" charset="0"/>
                <a:ea typeface="Cambria" panose="02040503050406030204" pitchFamily="18" charset="0"/>
              </a:rPr>
              <a:t>&lt;url-pattern&gt;/servlet1&lt;/url-pattern&gt;  </a:t>
            </a:r>
          </a:p>
          <a:p>
            <a:pPr>
              <a:spcBef>
                <a:spcPts val="0"/>
              </a:spcBef>
              <a:buNone/>
            </a:pPr>
            <a:r>
              <a:rPr lang="en-US" dirty="0">
                <a:latin typeface="Cambria" panose="02040503050406030204" pitchFamily="18" charset="0"/>
                <a:ea typeface="Cambria" panose="02040503050406030204" pitchFamily="18" charset="0"/>
              </a:rPr>
              <a:t>&lt;/servlet-mapping&gt;  </a:t>
            </a:r>
          </a:p>
          <a:p>
            <a:pPr>
              <a:spcBef>
                <a:spcPts val="0"/>
              </a:spcBef>
              <a:buNone/>
            </a:pPr>
            <a:r>
              <a:rPr lang="en-US" dirty="0">
                <a:latin typeface="Cambria" panose="02040503050406030204" pitchFamily="18" charset="0"/>
                <a:ea typeface="Cambria" panose="02040503050406030204" pitchFamily="18" charset="0"/>
              </a:rPr>
              <a:t>  </a:t>
            </a:r>
          </a:p>
          <a:p>
            <a:pPr>
              <a:spcBef>
                <a:spcPts val="0"/>
              </a:spcBef>
              <a:buNone/>
            </a:pPr>
            <a:r>
              <a:rPr lang="en-US" dirty="0">
                <a:latin typeface="Cambria" panose="02040503050406030204" pitchFamily="18" charset="0"/>
                <a:ea typeface="Cambria" panose="02040503050406030204" pitchFamily="18" charset="0"/>
              </a:rPr>
              <a:t>&lt;servlet&gt;  </a:t>
            </a:r>
          </a:p>
          <a:p>
            <a:pPr>
              <a:spcBef>
                <a:spcPts val="0"/>
              </a:spcBef>
              <a:buNone/>
            </a:pPr>
            <a:r>
              <a:rPr lang="en-US" dirty="0">
                <a:latin typeface="Cambria" panose="02040503050406030204" pitchFamily="18" charset="0"/>
                <a:ea typeface="Cambria" panose="02040503050406030204" pitchFamily="18" charset="0"/>
              </a:rPr>
              <a:t>&lt;servlet-name&gt;s2&lt;/servlet-name&gt;  </a:t>
            </a:r>
          </a:p>
          <a:p>
            <a:pPr>
              <a:spcBef>
                <a:spcPts val="0"/>
              </a:spcBef>
              <a:buNone/>
            </a:pPr>
            <a:r>
              <a:rPr lang="en-US" dirty="0">
                <a:latin typeface="Cambria" panose="02040503050406030204" pitchFamily="18" charset="0"/>
                <a:ea typeface="Cambria" panose="02040503050406030204" pitchFamily="18" charset="0"/>
              </a:rPr>
              <a:t>&lt;servlet-</a:t>
            </a:r>
            <a:r>
              <a:rPr lang="en-US" b="1" dirty="0">
                <a:latin typeface="Cambria" panose="02040503050406030204" pitchFamily="18" charset="0"/>
                <a:ea typeface="Cambria" panose="02040503050406030204" pitchFamily="18" charset="0"/>
              </a:rPr>
              <a:t>class</a:t>
            </a:r>
            <a:r>
              <a:rPr lang="en-US" dirty="0">
                <a:latin typeface="Cambria" panose="02040503050406030204" pitchFamily="18" charset="0"/>
                <a:ea typeface="Cambria" panose="02040503050406030204" pitchFamily="18" charset="0"/>
              </a:rPr>
              <a:t>&gt;SecondServlet&lt;/servlet-</a:t>
            </a:r>
            <a:r>
              <a:rPr lang="en-US" b="1" dirty="0">
                <a:latin typeface="Cambria" panose="02040503050406030204" pitchFamily="18" charset="0"/>
                <a:ea typeface="Cambria" panose="02040503050406030204" pitchFamily="18" charset="0"/>
              </a:rPr>
              <a:t>class</a:t>
            </a:r>
            <a:r>
              <a:rPr lang="en-US" dirty="0">
                <a:latin typeface="Cambria" panose="02040503050406030204" pitchFamily="18" charset="0"/>
                <a:ea typeface="Cambria" panose="02040503050406030204" pitchFamily="18" charset="0"/>
              </a:rPr>
              <a:t>&gt;  </a:t>
            </a:r>
          </a:p>
          <a:p>
            <a:pPr>
              <a:spcBef>
                <a:spcPts val="0"/>
              </a:spcBef>
              <a:buNone/>
            </a:pPr>
            <a:r>
              <a:rPr lang="en-US" dirty="0">
                <a:latin typeface="Cambria" panose="02040503050406030204" pitchFamily="18" charset="0"/>
                <a:ea typeface="Cambria" panose="02040503050406030204" pitchFamily="18" charset="0"/>
              </a:rPr>
              <a:t>&lt;/servlet&gt;  </a:t>
            </a:r>
          </a:p>
          <a:p>
            <a:pPr>
              <a:spcBef>
                <a:spcPts val="0"/>
              </a:spcBef>
              <a:buNone/>
            </a:pPr>
            <a:r>
              <a:rPr lang="en-US" dirty="0">
                <a:latin typeface="Cambria" panose="02040503050406030204" pitchFamily="18" charset="0"/>
                <a:ea typeface="Cambria" panose="02040503050406030204" pitchFamily="18" charset="0"/>
              </a:rPr>
              <a:t>  </a:t>
            </a:r>
          </a:p>
          <a:p>
            <a:pPr>
              <a:spcBef>
                <a:spcPts val="0"/>
              </a:spcBef>
              <a:buNone/>
            </a:pPr>
            <a:r>
              <a:rPr lang="en-US" dirty="0">
                <a:latin typeface="Cambria" panose="02040503050406030204" pitchFamily="18" charset="0"/>
                <a:ea typeface="Cambria" panose="02040503050406030204" pitchFamily="18" charset="0"/>
              </a:rPr>
              <a:t>&lt;servlet-mapping&gt;  </a:t>
            </a:r>
          </a:p>
          <a:p>
            <a:pPr>
              <a:spcBef>
                <a:spcPts val="0"/>
              </a:spcBef>
              <a:buNone/>
            </a:pPr>
            <a:r>
              <a:rPr lang="en-US" dirty="0">
                <a:latin typeface="Cambria" panose="02040503050406030204" pitchFamily="18" charset="0"/>
                <a:ea typeface="Cambria" panose="02040503050406030204" pitchFamily="18" charset="0"/>
              </a:rPr>
              <a:t>&lt;servlet-name&gt;s2&lt;/servlet-name&gt;  </a:t>
            </a:r>
          </a:p>
          <a:p>
            <a:pPr>
              <a:spcBef>
                <a:spcPts val="0"/>
              </a:spcBef>
              <a:buNone/>
            </a:pPr>
            <a:r>
              <a:rPr lang="en-US" dirty="0">
                <a:latin typeface="Cambria" panose="02040503050406030204" pitchFamily="18" charset="0"/>
                <a:ea typeface="Cambria" panose="02040503050406030204" pitchFamily="18" charset="0"/>
              </a:rPr>
              <a:t>&lt;url-pattern&gt;/servlet2&lt;/url-pattern&gt;  </a:t>
            </a:r>
          </a:p>
          <a:p>
            <a:pPr>
              <a:spcBef>
                <a:spcPts val="0"/>
              </a:spcBef>
              <a:buNone/>
            </a:pPr>
            <a:r>
              <a:rPr lang="en-US" dirty="0">
                <a:latin typeface="Cambria" panose="02040503050406030204" pitchFamily="18" charset="0"/>
                <a:ea typeface="Cambria" panose="02040503050406030204" pitchFamily="18" charset="0"/>
              </a:rPr>
              <a:t>&lt;/servlet-mapping&gt;    </a:t>
            </a:r>
          </a:p>
          <a:p>
            <a:pPr>
              <a:spcBef>
                <a:spcPts val="0"/>
              </a:spcBef>
              <a:buNone/>
            </a:pPr>
            <a:r>
              <a:rPr lang="en-US" dirty="0">
                <a:latin typeface="Cambria" panose="02040503050406030204" pitchFamily="18" charset="0"/>
                <a:ea typeface="Cambria" panose="02040503050406030204" pitchFamily="18" charset="0"/>
              </a:rPr>
              <a:t>&lt;/web-app&gt;  </a:t>
            </a: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1"/>
            <a:ext cx="3600400" cy="548680"/>
          </a:xfrm>
        </p:spPr>
        <p:txBody>
          <a:bodyPr/>
          <a:lstStyle/>
          <a:p>
            <a:r>
              <a:rPr lang="en-US" sz="3600" b="1" dirty="0" smtClean="0">
                <a:solidFill>
                  <a:srgbClr val="002060"/>
                </a:solidFill>
                <a:latin typeface="Cambria" panose="02040503050406030204" pitchFamily="18" charset="0"/>
                <a:ea typeface="Cambria" panose="02040503050406030204" pitchFamily="18" charset="0"/>
              </a:rPr>
              <a:t>URL rewriting</a:t>
            </a:r>
            <a:endParaRPr lang="en-US" sz="3600" b="1" dirty="0">
              <a:solidFill>
                <a:srgbClr val="00206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588004" y="548681"/>
            <a:ext cx="11052611" cy="4680519"/>
          </a:xfrm>
        </p:spPr>
        <p:txBody>
          <a:bodyPr/>
          <a:lstStyle/>
          <a:p>
            <a:pPr algn="just"/>
            <a:r>
              <a:rPr lang="en-GB" sz="2200" dirty="0" smtClean="0">
                <a:latin typeface="Cambria" panose="02040503050406030204" pitchFamily="18" charset="0"/>
                <a:ea typeface="Cambria" panose="02040503050406030204" pitchFamily="18" charset="0"/>
              </a:rPr>
              <a:t>URL rewriting, we append a token or identifier to the URL of the next </a:t>
            </a:r>
            <a:r>
              <a:rPr lang="en-GB" sz="2200" dirty="0" err="1" smtClean="0">
                <a:latin typeface="Cambria" panose="02040503050406030204" pitchFamily="18" charset="0"/>
                <a:ea typeface="Cambria" panose="02040503050406030204" pitchFamily="18" charset="0"/>
              </a:rPr>
              <a:t>Servlet</a:t>
            </a:r>
            <a:r>
              <a:rPr lang="en-GB" sz="2200" dirty="0" smtClean="0">
                <a:latin typeface="Cambria" panose="02040503050406030204" pitchFamily="18" charset="0"/>
                <a:ea typeface="Cambria" panose="02040503050406030204" pitchFamily="18" charset="0"/>
              </a:rPr>
              <a:t> or the next resource. We can send parameter name/value pairs using the following format:</a:t>
            </a:r>
          </a:p>
          <a:p>
            <a:pPr algn="just"/>
            <a:r>
              <a:rPr lang="en-GB" sz="2200" dirty="0" smtClean="0">
                <a:latin typeface="Cambria" panose="02040503050406030204" pitchFamily="18" charset="0"/>
                <a:ea typeface="Cambria" panose="02040503050406030204" pitchFamily="18" charset="0"/>
              </a:rPr>
              <a:t>url?name1=value1&amp;name2=value2&amp;??</a:t>
            </a:r>
          </a:p>
          <a:p>
            <a:pPr algn="just"/>
            <a:r>
              <a:rPr lang="en-GB" sz="2200" dirty="0" smtClean="0">
                <a:latin typeface="Cambria" panose="02040503050406030204" pitchFamily="18" charset="0"/>
                <a:ea typeface="Cambria" panose="02040503050406030204" pitchFamily="18" charset="0"/>
              </a:rPr>
              <a:t>A name and a value is separated using an equal = sign, a parameter name/value pair is separated from another parameter using the ampersand(&amp;). </a:t>
            </a:r>
          </a:p>
          <a:p>
            <a:pPr marL="0" indent="0" algn="just">
              <a:buNone/>
            </a:pPr>
            <a:r>
              <a:rPr lang="en-GB" sz="2200" b="1" dirty="0" smtClean="0">
                <a:latin typeface="Cambria" panose="02040503050406030204" pitchFamily="18" charset="0"/>
                <a:ea typeface="Cambria" panose="02040503050406030204" pitchFamily="18" charset="0"/>
              </a:rPr>
              <a:t> Advantage of URL Rewriting</a:t>
            </a:r>
          </a:p>
          <a:p>
            <a:pPr algn="just"/>
            <a:r>
              <a:rPr lang="en-GB" sz="2200" dirty="0" smtClean="0">
                <a:latin typeface="Cambria" panose="02040503050406030204" pitchFamily="18" charset="0"/>
                <a:ea typeface="Cambria" panose="02040503050406030204" pitchFamily="18" charset="0"/>
              </a:rPr>
              <a:t>It will always work whether cookie is disabled or not.</a:t>
            </a:r>
          </a:p>
          <a:p>
            <a:pPr algn="just"/>
            <a:r>
              <a:rPr lang="en-GB" sz="2200" dirty="0" smtClean="0">
                <a:latin typeface="Cambria" panose="02040503050406030204" pitchFamily="18" charset="0"/>
                <a:ea typeface="Cambria" panose="02040503050406030204" pitchFamily="18" charset="0"/>
              </a:rPr>
              <a:t>Extra form submission is not required on each pages.</a:t>
            </a:r>
          </a:p>
          <a:p>
            <a:pPr marL="0" indent="0" algn="just">
              <a:buNone/>
            </a:pPr>
            <a:r>
              <a:rPr lang="en-GB" sz="2200" b="1" dirty="0" smtClean="0">
                <a:latin typeface="Cambria" panose="02040503050406030204" pitchFamily="18" charset="0"/>
                <a:ea typeface="Cambria" panose="02040503050406030204" pitchFamily="18" charset="0"/>
              </a:rPr>
              <a:t>Disadvantage of URL Rewriting</a:t>
            </a:r>
          </a:p>
          <a:p>
            <a:pPr algn="just"/>
            <a:r>
              <a:rPr lang="en-GB" sz="2200" dirty="0" smtClean="0">
                <a:latin typeface="Cambria" panose="02040503050406030204" pitchFamily="18" charset="0"/>
                <a:ea typeface="Cambria" panose="02040503050406030204" pitchFamily="18" charset="0"/>
              </a:rPr>
              <a:t>It will work only with links.</a:t>
            </a:r>
          </a:p>
          <a:p>
            <a:pPr algn="just"/>
            <a:r>
              <a:rPr lang="en-GB" sz="2200" dirty="0" smtClean="0">
                <a:latin typeface="Cambria" panose="02040503050406030204" pitchFamily="18" charset="0"/>
                <a:ea typeface="Cambria" panose="02040503050406030204" pitchFamily="18" charset="0"/>
              </a:rPr>
              <a:t>It can send Only textual information.</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60</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Example</a:t>
            </a:r>
            <a:endParaRPr lang="en-US"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61</a:t>
            </a:fld>
            <a:endParaRPr lang="en-US" altLang="en-US"/>
          </a:p>
        </p:txBody>
      </p:sp>
      <p:pic>
        <p:nvPicPr>
          <p:cNvPr id="5" name="Content Placeholder 4" descr="URL Rewriting"/>
          <p:cNvPicPr>
            <a:picLocks noGrp="1"/>
          </p:cNvPicPr>
          <p:nvPr>
            <p:ph idx="1"/>
          </p:nvPr>
        </p:nvPicPr>
        <p:blipFill>
          <a:blip r:embed="rId2"/>
          <a:srcRect/>
          <a:stretch>
            <a:fillRect/>
          </a:stretch>
        </p:blipFill>
        <p:spPr bwMode="auto">
          <a:xfrm>
            <a:off x="1952596" y="1643050"/>
            <a:ext cx="7039004" cy="3383769"/>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344" y="-27747"/>
            <a:ext cx="2232248" cy="504419"/>
          </a:xfrm>
        </p:spPr>
        <p:txBody>
          <a:bodyPr/>
          <a:lstStyle/>
          <a:p>
            <a:r>
              <a:rPr lang="en-GB" sz="4000" b="1" dirty="0" smtClean="0">
                <a:solidFill>
                  <a:srgbClr val="002060"/>
                </a:solidFill>
                <a:latin typeface="Cambria" panose="02040503050406030204" pitchFamily="18" charset="0"/>
                <a:ea typeface="Cambria" panose="02040503050406030204" pitchFamily="18" charset="0"/>
              </a:rPr>
              <a:t>Example</a:t>
            </a:r>
            <a:endParaRPr lang="en-US" sz="4000" b="1" dirty="0">
              <a:solidFill>
                <a:srgbClr val="00206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2567608" y="7077"/>
            <a:ext cx="8386264" cy="5832648"/>
          </a:xfrm>
        </p:spPr>
        <p:txBody>
          <a:bodyPr/>
          <a:lstStyle/>
          <a:p>
            <a:pPr>
              <a:spcBef>
                <a:spcPts val="0"/>
              </a:spcBef>
              <a:buNone/>
            </a:pPr>
            <a:r>
              <a:rPr lang="en-US" sz="1800" dirty="0" smtClean="0">
                <a:latin typeface="Cambria" panose="02040503050406030204" pitchFamily="18" charset="0"/>
                <a:ea typeface="Cambria" panose="02040503050406030204" pitchFamily="18" charset="0"/>
              </a:rPr>
              <a:t>index.html</a:t>
            </a:r>
          </a:p>
          <a:p>
            <a:pPr>
              <a:spcBef>
                <a:spcPts val="0"/>
              </a:spcBef>
              <a:buNone/>
            </a:pPr>
            <a:r>
              <a:rPr lang="en-US" sz="1800" dirty="0" smtClean="0">
                <a:latin typeface="Cambria" panose="02040503050406030204" pitchFamily="18" charset="0"/>
                <a:ea typeface="Cambria" panose="02040503050406030204" pitchFamily="18" charset="0"/>
              </a:rPr>
              <a:t>&lt;form action="servlet1"&gt;  </a:t>
            </a:r>
          </a:p>
          <a:p>
            <a:pPr>
              <a:spcBef>
                <a:spcPts val="0"/>
              </a:spcBef>
              <a:buNone/>
            </a:pPr>
            <a:r>
              <a:rPr lang="en-US" sz="1800" dirty="0" smtClean="0">
                <a:latin typeface="Cambria" panose="02040503050406030204" pitchFamily="18" charset="0"/>
                <a:ea typeface="Cambria" panose="02040503050406030204" pitchFamily="18" charset="0"/>
              </a:rPr>
              <a:t>Name:&lt;input type="text" name="</a:t>
            </a:r>
            <a:r>
              <a:rPr lang="en-US" sz="1800" dirty="0" err="1" smtClean="0">
                <a:latin typeface="Cambria" panose="02040503050406030204" pitchFamily="18" charset="0"/>
                <a:ea typeface="Cambria" panose="02040503050406030204" pitchFamily="18" charset="0"/>
              </a:rPr>
              <a:t>userName</a:t>
            </a:r>
            <a:r>
              <a:rPr lang="en-US" sz="1800" dirty="0" smtClean="0">
                <a:latin typeface="Cambria" panose="02040503050406030204" pitchFamily="18" charset="0"/>
                <a:ea typeface="Cambria" panose="02040503050406030204" pitchFamily="18" charset="0"/>
              </a:rPr>
              <a:t>"/&gt;&lt;</a:t>
            </a:r>
            <a:r>
              <a:rPr lang="en-US" sz="1800" dirty="0" err="1" smtClean="0">
                <a:latin typeface="Cambria" panose="02040503050406030204" pitchFamily="18" charset="0"/>
                <a:ea typeface="Cambria" panose="02040503050406030204" pitchFamily="18" charset="0"/>
              </a:rPr>
              <a:t>br</a:t>
            </a:r>
            <a:r>
              <a:rPr lang="en-US" sz="1800" dirty="0" smtClean="0">
                <a:latin typeface="Cambria" panose="02040503050406030204" pitchFamily="18" charset="0"/>
                <a:ea typeface="Cambria" panose="02040503050406030204" pitchFamily="18" charset="0"/>
              </a:rPr>
              <a:t>/&gt;  </a:t>
            </a:r>
          </a:p>
          <a:p>
            <a:pPr>
              <a:spcBef>
                <a:spcPts val="0"/>
              </a:spcBef>
              <a:buNone/>
            </a:pPr>
            <a:r>
              <a:rPr lang="en-US" sz="1800" dirty="0" smtClean="0">
                <a:latin typeface="Cambria" panose="02040503050406030204" pitchFamily="18" charset="0"/>
                <a:ea typeface="Cambria" panose="02040503050406030204" pitchFamily="18" charset="0"/>
              </a:rPr>
              <a:t>&lt;input type="submit" value="go"/&gt;  </a:t>
            </a:r>
          </a:p>
          <a:p>
            <a:pPr>
              <a:spcBef>
                <a:spcPts val="0"/>
              </a:spcBef>
              <a:buNone/>
            </a:pPr>
            <a:r>
              <a:rPr lang="en-US" sz="1800" dirty="0" smtClean="0">
                <a:latin typeface="Cambria" panose="02040503050406030204" pitchFamily="18" charset="0"/>
                <a:ea typeface="Cambria" panose="02040503050406030204" pitchFamily="18" charset="0"/>
              </a:rPr>
              <a:t>&lt;/form&gt;  </a:t>
            </a:r>
          </a:p>
          <a:p>
            <a:pPr>
              <a:spcBef>
                <a:spcPts val="0"/>
              </a:spcBef>
              <a:buNone/>
            </a:pPr>
            <a:r>
              <a:rPr lang="en-US" sz="1800" dirty="0" smtClean="0">
                <a:latin typeface="Cambria" panose="02040503050406030204" pitchFamily="18" charset="0"/>
                <a:ea typeface="Cambria" panose="02040503050406030204" pitchFamily="18" charset="0"/>
              </a:rPr>
              <a:t>FirstServlet.java</a:t>
            </a:r>
          </a:p>
          <a:p>
            <a:pPr>
              <a:spcBef>
                <a:spcPts val="0"/>
              </a:spcBef>
              <a:buNone/>
            </a:pPr>
            <a:r>
              <a:rPr lang="en-US" sz="1800" b="1" dirty="0" smtClean="0">
                <a:latin typeface="Cambria" panose="02040503050406030204" pitchFamily="18" charset="0"/>
                <a:ea typeface="Cambria" panose="02040503050406030204" pitchFamily="18" charset="0"/>
              </a:rPr>
              <a:t>import</a:t>
            </a:r>
            <a:r>
              <a:rPr lang="en-US" sz="1800" dirty="0" smtClean="0">
                <a:latin typeface="Cambria" panose="02040503050406030204" pitchFamily="18" charset="0"/>
                <a:ea typeface="Cambria" panose="02040503050406030204" pitchFamily="18" charset="0"/>
              </a:rPr>
              <a:t> java.io.*;  </a:t>
            </a:r>
          </a:p>
          <a:p>
            <a:pPr>
              <a:spcBef>
                <a:spcPts val="0"/>
              </a:spcBef>
              <a:buNone/>
            </a:pPr>
            <a:r>
              <a:rPr lang="en-US" sz="1800" b="1" dirty="0" smtClean="0">
                <a:latin typeface="Cambria" panose="02040503050406030204" pitchFamily="18" charset="0"/>
                <a:ea typeface="Cambria" panose="02040503050406030204" pitchFamily="18" charset="0"/>
              </a:rPr>
              <a:t>import</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javax.servlet</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b="1" dirty="0" smtClean="0">
                <a:latin typeface="Cambria" panose="02040503050406030204" pitchFamily="18" charset="0"/>
                <a:ea typeface="Cambria" panose="02040503050406030204" pitchFamily="18" charset="0"/>
              </a:rPr>
              <a:t>import</a:t>
            </a:r>
            <a:r>
              <a:rPr lang="en-US" sz="1800" dirty="0" smtClean="0">
                <a:latin typeface="Cambria" panose="02040503050406030204" pitchFamily="18" charset="0"/>
                <a:ea typeface="Cambria" panose="02040503050406030204" pitchFamily="18" charset="0"/>
              </a:rPr>
              <a:t> javax.servlet.http.*;    </a:t>
            </a:r>
          </a:p>
          <a:p>
            <a:pPr>
              <a:spcBef>
                <a:spcPts val="0"/>
              </a:spcBef>
              <a:buNone/>
            </a:pPr>
            <a:r>
              <a:rPr lang="en-US" sz="1800" b="1" dirty="0" smtClean="0">
                <a:latin typeface="Cambria" panose="02040503050406030204" pitchFamily="18" charset="0"/>
                <a:ea typeface="Cambria" panose="02040503050406030204" pitchFamily="18" charset="0"/>
              </a:rPr>
              <a:t>public</a:t>
            </a: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class</a:t>
            </a:r>
            <a:r>
              <a:rPr lang="en-US" sz="1800" dirty="0" smtClean="0">
                <a:latin typeface="Cambria" panose="02040503050406030204" pitchFamily="18" charset="0"/>
                <a:ea typeface="Cambria" panose="02040503050406030204" pitchFamily="18" charset="0"/>
              </a:rPr>
              <a:t> FirstServlet </a:t>
            </a:r>
            <a:r>
              <a:rPr lang="en-US" sz="1800" b="1" dirty="0" smtClean="0">
                <a:latin typeface="Cambria" panose="02040503050406030204" pitchFamily="18" charset="0"/>
                <a:ea typeface="Cambria" panose="02040503050406030204" pitchFamily="18" charset="0"/>
              </a:rPr>
              <a:t>extends</a:t>
            </a:r>
            <a:r>
              <a:rPr lang="en-US" sz="1800" dirty="0" smtClean="0">
                <a:latin typeface="Cambria" panose="02040503050406030204" pitchFamily="18" charset="0"/>
                <a:ea typeface="Cambria" panose="02040503050406030204" pitchFamily="18" charset="0"/>
              </a:rPr>
              <a:t> HttpServlet {    </a:t>
            </a:r>
          </a:p>
          <a:p>
            <a:pPr>
              <a:spcBef>
                <a:spcPts val="0"/>
              </a:spcBef>
              <a:buNone/>
            </a:pPr>
            <a:r>
              <a:rPr lang="en-US" sz="1800" b="1" dirty="0" smtClean="0">
                <a:latin typeface="Cambria" panose="02040503050406030204" pitchFamily="18" charset="0"/>
                <a:ea typeface="Cambria" panose="02040503050406030204" pitchFamily="18" charset="0"/>
              </a:rPr>
              <a:t>public</a:t>
            </a: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void</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doGet</a:t>
            </a:r>
            <a:r>
              <a:rPr lang="en-US" sz="1800" dirty="0" smtClean="0">
                <a:latin typeface="Cambria" panose="02040503050406030204" pitchFamily="18" charset="0"/>
                <a:ea typeface="Cambria" panose="02040503050406030204" pitchFamily="18" charset="0"/>
              </a:rPr>
              <a:t>(</a:t>
            </a:r>
            <a:r>
              <a:rPr lang="en-US" sz="1800" dirty="0" err="1" smtClean="0">
                <a:latin typeface="Cambria" panose="02040503050406030204" pitchFamily="18" charset="0"/>
                <a:ea typeface="Cambria" panose="02040503050406030204" pitchFamily="18" charset="0"/>
              </a:rPr>
              <a:t>HttpServletRequest</a:t>
            </a:r>
            <a:r>
              <a:rPr lang="en-US" sz="1800" dirty="0" smtClean="0">
                <a:latin typeface="Cambria" panose="02040503050406030204" pitchFamily="18" charset="0"/>
                <a:ea typeface="Cambria" panose="02040503050406030204" pitchFamily="18" charset="0"/>
              </a:rPr>
              <a:t> request, </a:t>
            </a:r>
            <a:r>
              <a:rPr lang="en-US" sz="1800" dirty="0" err="1" smtClean="0">
                <a:latin typeface="Cambria" panose="02040503050406030204" pitchFamily="18" charset="0"/>
                <a:ea typeface="Cambria" panose="02040503050406030204" pitchFamily="18" charset="0"/>
              </a:rPr>
              <a:t>HttpServletResponse</a:t>
            </a:r>
            <a:r>
              <a:rPr lang="en-US" sz="1800" dirty="0" smtClean="0">
                <a:latin typeface="Cambria" panose="02040503050406030204" pitchFamily="18" charset="0"/>
                <a:ea typeface="Cambria" panose="02040503050406030204" pitchFamily="18" charset="0"/>
              </a:rPr>
              <a:t> response){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try</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response.setContentType</a:t>
            </a:r>
            <a:r>
              <a:rPr lang="en-US" sz="1800" dirty="0" smtClean="0">
                <a:latin typeface="Cambria" panose="02040503050406030204" pitchFamily="18" charset="0"/>
                <a:ea typeface="Cambria" panose="02040503050406030204" pitchFamily="18" charset="0"/>
              </a:rPr>
              <a:t>("text/html");  </a:t>
            </a:r>
          </a:p>
          <a:p>
            <a:pPr>
              <a:spcBef>
                <a:spcPts val="0"/>
              </a:spcBef>
              <a:buNone/>
            </a:pPr>
            <a:r>
              <a:rPr lang="en-US" sz="1800" dirty="0" smtClean="0">
                <a:latin typeface="Cambria" panose="02040503050406030204" pitchFamily="18" charset="0"/>
                <a:ea typeface="Cambria" panose="02040503050406030204" pitchFamily="18" charset="0"/>
              </a:rPr>
              <a:t>        PrintWriter out = response.getWriter();            </a:t>
            </a:r>
          </a:p>
          <a:p>
            <a:pPr>
              <a:spcBef>
                <a:spcPts val="0"/>
              </a:spcBef>
              <a:buNone/>
            </a:pPr>
            <a:r>
              <a:rPr lang="en-US" sz="1800" dirty="0" smtClean="0">
                <a:latin typeface="Cambria" panose="02040503050406030204" pitchFamily="18" charset="0"/>
                <a:ea typeface="Cambria" panose="02040503050406030204" pitchFamily="18" charset="0"/>
              </a:rPr>
              <a:t>        String n=</a:t>
            </a:r>
            <a:r>
              <a:rPr lang="en-US" sz="1800" dirty="0" err="1" smtClean="0">
                <a:latin typeface="Cambria" panose="02040503050406030204" pitchFamily="18" charset="0"/>
                <a:ea typeface="Cambria" panose="02040503050406030204" pitchFamily="18" charset="0"/>
              </a:rPr>
              <a:t>request.getParameter</a:t>
            </a:r>
            <a:r>
              <a:rPr lang="en-US" sz="1800" dirty="0" smtClean="0">
                <a:latin typeface="Cambria" panose="02040503050406030204" pitchFamily="18" charset="0"/>
                <a:ea typeface="Cambria" panose="02040503050406030204" pitchFamily="18" charset="0"/>
              </a:rPr>
              <a:t>("</a:t>
            </a:r>
            <a:r>
              <a:rPr lang="en-US" sz="1800" dirty="0" err="1" smtClean="0">
                <a:latin typeface="Cambria" panose="02040503050406030204" pitchFamily="18" charset="0"/>
                <a:ea typeface="Cambria" panose="02040503050406030204" pitchFamily="18" charset="0"/>
              </a:rPr>
              <a:t>userName</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out.print("Welcome "+n);    </a:t>
            </a:r>
          </a:p>
          <a:p>
            <a:pPr>
              <a:spcBef>
                <a:spcPts val="0"/>
              </a:spcBef>
              <a:buNone/>
            </a:pPr>
            <a:r>
              <a:rPr lang="en-US" sz="1800" dirty="0" smtClean="0">
                <a:latin typeface="Cambria" panose="02040503050406030204" pitchFamily="18" charset="0"/>
                <a:ea typeface="Cambria" panose="02040503050406030204" pitchFamily="18" charset="0"/>
              </a:rPr>
              <a:t>        //appending the username in the query string  </a:t>
            </a:r>
          </a:p>
          <a:p>
            <a:pPr>
              <a:spcBef>
                <a:spcPts val="0"/>
              </a:spcBef>
              <a:buNone/>
            </a:pPr>
            <a:r>
              <a:rPr lang="en-US" sz="1800" dirty="0" smtClean="0">
                <a:latin typeface="Cambria" panose="02040503050406030204" pitchFamily="18" charset="0"/>
                <a:ea typeface="Cambria" panose="02040503050406030204" pitchFamily="18" charset="0"/>
              </a:rPr>
              <a:t>        out.print("&lt;a href='servlet2?uname="+n+"'&gt;visit&lt;/a&gt;");                    </a:t>
            </a:r>
          </a:p>
          <a:p>
            <a:pPr>
              <a:spcBef>
                <a:spcPts val="0"/>
              </a:spcBef>
              <a:buNone/>
            </a:pPr>
            <a:r>
              <a:rPr lang="en-US" sz="1800" dirty="0" smtClean="0">
                <a:latin typeface="Cambria" panose="02040503050406030204" pitchFamily="18" charset="0"/>
                <a:ea typeface="Cambria" panose="02040503050406030204" pitchFamily="18" charset="0"/>
              </a:rPr>
              <a:t>        out.close();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catch</a:t>
            </a:r>
            <a:r>
              <a:rPr lang="en-US" sz="1800" dirty="0" smtClean="0">
                <a:latin typeface="Cambria" panose="02040503050406030204" pitchFamily="18" charset="0"/>
                <a:ea typeface="Cambria" panose="02040503050406030204" pitchFamily="18" charset="0"/>
              </a:rPr>
              <a:t>(Exception e){</a:t>
            </a:r>
            <a:r>
              <a:rPr lang="en-US" sz="1800" dirty="0" err="1" smtClean="0">
                <a:latin typeface="Cambria" panose="02040503050406030204" pitchFamily="18" charset="0"/>
                <a:ea typeface="Cambria" panose="02040503050406030204" pitchFamily="18" charset="0"/>
              </a:rPr>
              <a:t>System.out.println</a:t>
            </a:r>
            <a:r>
              <a:rPr lang="en-US" sz="1800" dirty="0" smtClean="0">
                <a:latin typeface="Cambria" panose="02040503050406030204" pitchFamily="18" charset="0"/>
                <a:ea typeface="Cambria" panose="02040503050406030204" pitchFamily="18" charset="0"/>
              </a:rPr>
              <a:t>(e);}  </a:t>
            </a:r>
          </a:p>
          <a:p>
            <a:pPr>
              <a:spcBef>
                <a:spcPts val="0"/>
              </a:spcBef>
              <a:buNone/>
            </a:pPr>
            <a:r>
              <a:rPr lang="en-US" sz="1800" dirty="0" smtClean="0">
                <a:latin typeface="Cambria" panose="02040503050406030204" pitchFamily="18" charset="0"/>
                <a:ea typeface="Cambria" panose="02040503050406030204" pitchFamily="18" charset="0"/>
              </a:rPr>
              <a:t>    }    </a:t>
            </a:r>
          </a:p>
          <a:p>
            <a:pPr>
              <a:spcBef>
                <a:spcPts val="0"/>
              </a:spcBef>
              <a:buNone/>
            </a:pPr>
            <a:r>
              <a:rPr lang="en-US" sz="1800" dirty="0" smtClean="0">
                <a:latin typeface="Cambria" panose="02040503050406030204" pitchFamily="18" charset="0"/>
                <a:ea typeface="Cambria" panose="02040503050406030204" pitchFamily="18" charset="0"/>
              </a:rPr>
              <a:t>}  </a:t>
            </a:r>
            <a:endParaRPr lang="en-US" sz="18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62</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116632"/>
            <a:ext cx="2736304" cy="432048"/>
          </a:xfrm>
        </p:spPr>
        <p:txBody>
          <a:bodyPr/>
          <a:lstStyle/>
          <a:p>
            <a:r>
              <a:rPr lang="en-GB" sz="4000" b="1" dirty="0" smtClean="0">
                <a:solidFill>
                  <a:srgbClr val="002060"/>
                </a:solidFill>
                <a:latin typeface="Cambria" panose="02040503050406030204" pitchFamily="18" charset="0"/>
                <a:ea typeface="Cambria" panose="02040503050406030204" pitchFamily="18" charset="0"/>
              </a:rPr>
              <a:t>Example</a:t>
            </a:r>
            <a:endParaRPr lang="en-US" sz="4000" b="1" dirty="0">
              <a:solidFill>
                <a:srgbClr val="00206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224517" y="592034"/>
            <a:ext cx="5295419" cy="4781182"/>
          </a:xfrm>
        </p:spPr>
        <p:txBody>
          <a:bodyPr/>
          <a:lstStyle/>
          <a:p>
            <a:pPr>
              <a:spcBef>
                <a:spcPts val="0"/>
              </a:spcBef>
            </a:pPr>
            <a:r>
              <a:rPr lang="en-US" sz="1800" dirty="0" smtClean="0">
                <a:latin typeface="Cambria" panose="02040503050406030204" pitchFamily="18" charset="0"/>
                <a:ea typeface="Cambria" panose="02040503050406030204" pitchFamily="18" charset="0"/>
              </a:rPr>
              <a:t>SecondServlet.java</a:t>
            </a:r>
          </a:p>
          <a:p>
            <a:pPr>
              <a:spcBef>
                <a:spcPts val="0"/>
              </a:spcBef>
              <a:buNone/>
            </a:pPr>
            <a:r>
              <a:rPr lang="en-US" sz="1800" b="1" dirty="0" smtClean="0">
                <a:latin typeface="Cambria" panose="02040503050406030204" pitchFamily="18" charset="0"/>
                <a:ea typeface="Cambria" panose="02040503050406030204" pitchFamily="18" charset="0"/>
              </a:rPr>
              <a:t>import</a:t>
            </a:r>
            <a:r>
              <a:rPr lang="en-US" sz="1800" dirty="0" smtClean="0">
                <a:latin typeface="Cambria" panose="02040503050406030204" pitchFamily="18" charset="0"/>
                <a:ea typeface="Cambria" panose="02040503050406030204" pitchFamily="18" charset="0"/>
              </a:rPr>
              <a:t> java.io.*;  </a:t>
            </a:r>
          </a:p>
          <a:p>
            <a:pPr>
              <a:spcBef>
                <a:spcPts val="0"/>
              </a:spcBef>
              <a:buNone/>
            </a:pPr>
            <a:r>
              <a:rPr lang="en-US" sz="1800" b="1" dirty="0" smtClean="0">
                <a:latin typeface="Cambria" panose="02040503050406030204" pitchFamily="18" charset="0"/>
                <a:ea typeface="Cambria" panose="02040503050406030204" pitchFamily="18" charset="0"/>
              </a:rPr>
              <a:t>import</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javax.servlet</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b="1" dirty="0" smtClean="0">
                <a:latin typeface="Cambria" panose="02040503050406030204" pitchFamily="18" charset="0"/>
                <a:ea typeface="Cambria" panose="02040503050406030204" pitchFamily="18" charset="0"/>
              </a:rPr>
              <a:t>import</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javax.servlet.http</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b="1" dirty="0" smtClean="0">
                <a:latin typeface="Cambria" panose="02040503050406030204" pitchFamily="18" charset="0"/>
                <a:ea typeface="Cambria" panose="02040503050406030204" pitchFamily="18" charset="0"/>
              </a:rPr>
              <a:t>public</a:t>
            </a: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class</a:t>
            </a:r>
            <a:r>
              <a:rPr lang="en-US" sz="1800" dirty="0" smtClean="0">
                <a:latin typeface="Cambria" panose="02040503050406030204" pitchFamily="18" charset="0"/>
                <a:ea typeface="Cambria" panose="02040503050406030204" pitchFamily="18" charset="0"/>
              </a:rPr>
              <a:t> SecondServlet </a:t>
            </a:r>
            <a:r>
              <a:rPr lang="en-US" sz="1800" b="1" dirty="0" smtClean="0">
                <a:latin typeface="Cambria" panose="02040503050406030204" pitchFamily="18" charset="0"/>
                <a:ea typeface="Cambria" panose="02040503050406030204" pitchFamily="18" charset="0"/>
              </a:rPr>
              <a:t>extends</a:t>
            </a:r>
            <a:r>
              <a:rPr lang="en-US" sz="1800" dirty="0" smtClean="0">
                <a:latin typeface="Cambria" panose="02040503050406030204" pitchFamily="18" charset="0"/>
                <a:ea typeface="Cambria" panose="02040503050406030204" pitchFamily="18" charset="0"/>
              </a:rPr>
              <a:t> HttpServlet {    </a:t>
            </a:r>
          </a:p>
          <a:p>
            <a:pPr>
              <a:spcBef>
                <a:spcPts val="0"/>
              </a:spcBef>
              <a:buNone/>
            </a:pPr>
            <a:r>
              <a:rPr lang="en-US" sz="1800" b="1" dirty="0" smtClean="0">
                <a:latin typeface="Cambria" panose="02040503050406030204" pitchFamily="18" charset="0"/>
                <a:ea typeface="Cambria" panose="02040503050406030204" pitchFamily="18" charset="0"/>
              </a:rPr>
              <a:t>public</a:t>
            </a: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void</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doGet</a:t>
            </a:r>
            <a:r>
              <a:rPr lang="en-US" sz="1800" dirty="0" smtClean="0">
                <a:latin typeface="Cambria" panose="02040503050406030204" pitchFamily="18" charset="0"/>
                <a:ea typeface="Cambria" panose="02040503050406030204" pitchFamily="18" charset="0"/>
              </a:rPr>
              <a:t>(</a:t>
            </a:r>
            <a:r>
              <a:rPr lang="en-US" sz="1800" dirty="0" err="1" smtClean="0">
                <a:latin typeface="Cambria" panose="02040503050406030204" pitchFamily="18" charset="0"/>
                <a:ea typeface="Cambria" panose="02040503050406030204" pitchFamily="18" charset="0"/>
              </a:rPr>
              <a:t>HttpServletRequest</a:t>
            </a:r>
            <a:r>
              <a:rPr lang="en-US" sz="1800" dirty="0" smtClean="0">
                <a:latin typeface="Cambria" panose="02040503050406030204" pitchFamily="18" charset="0"/>
                <a:ea typeface="Cambria" panose="02040503050406030204" pitchFamily="18" charset="0"/>
              </a:rPr>
              <a:t> request, </a:t>
            </a:r>
            <a:r>
              <a:rPr lang="en-US" sz="1800" dirty="0" err="1" smtClean="0">
                <a:latin typeface="Cambria" panose="02040503050406030204" pitchFamily="18" charset="0"/>
                <a:ea typeface="Cambria" panose="02040503050406030204" pitchFamily="18" charset="0"/>
              </a:rPr>
              <a:t>HttpServletResponse</a:t>
            </a:r>
            <a:r>
              <a:rPr lang="en-US" sz="1800" dirty="0" smtClean="0">
                <a:latin typeface="Cambria" panose="02040503050406030204" pitchFamily="18" charset="0"/>
                <a:ea typeface="Cambria" panose="02040503050406030204" pitchFamily="18" charset="0"/>
              </a:rPr>
              <a:t> response)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try</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response.setContentType</a:t>
            </a:r>
            <a:r>
              <a:rPr lang="en-US" sz="1800" dirty="0" smtClean="0">
                <a:latin typeface="Cambria" panose="02040503050406030204" pitchFamily="18" charset="0"/>
                <a:ea typeface="Cambria" panose="02040503050406030204" pitchFamily="18" charset="0"/>
              </a:rPr>
              <a:t>("text/html");  </a:t>
            </a:r>
          </a:p>
          <a:p>
            <a:pPr>
              <a:spcBef>
                <a:spcPts val="0"/>
              </a:spcBef>
              <a:buNone/>
            </a:pPr>
            <a:r>
              <a:rPr lang="en-US" sz="1800" dirty="0" smtClean="0">
                <a:latin typeface="Cambria" panose="02040503050406030204" pitchFamily="18" charset="0"/>
                <a:ea typeface="Cambria" panose="02040503050406030204" pitchFamily="18" charset="0"/>
              </a:rPr>
              <a:t>        PrintWriter out = response.getWriter();            </a:t>
            </a:r>
          </a:p>
          <a:p>
            <a:pPr>
              <a:spcBef>
                <a:spcPts val="0"/>
              </a:spcBef>
              <a:buNone/>
            </a:pPr>
            <a:r>
              <a:rPr lang="en-US" sz="1800" dirty="0" smtClean="0">
                <a:latin typeface="Cambria" panose="02040503050406030204" pitchFamily="18" charset="0"/>
                <a:ea typeface="Cambria" panose="02040503050406030204" pitchFamily="18" charset="0"/>
              </a:rPr>
              <a:t>        //getting value from the query string  </a:t>
            </a:r>
          </a:p>
          <a:p>
            <a:pPr>
              <a:spcBef>
                <a:spcPts val="0"/>
              </a:spcBef>
              <a:buNone/>
            </a:pPr>
            <a:r>
              <a:rPr lang="en-US" sz="1800" dirty="0" smtClean="0">
                <a:latin typeface="Cambria" panose="02040503050406030204" pitchFamily="18" charset="0"/>
                <a:ea typeface="Cambria" panose="02040503050406030204" pitchFamily="18" charset="0"/>
              </a:rPr>
              <a:t>        String n=</a:t>
            </a:r>
            <a:r>
              <a:rPr lang="en-US" sz="1800" dirty="0" err="1" smtClean="0">
                <a:latin typeface="Cambria" panose="02040503050406030204" pitchFamily="18" charset="0"/>
                <a:ea typeface="Cambria" panose="02040503050406030204" pitchFamily="18" charset="0"/>
              </a:rPr>
              <a:t>request.getParameter</a:t>
            </a:r>
            <a:r>
              <a:rPr lang="en-US" sz="1800" dirty="0" smtClean="0">
                <a:latin typeface="Cambria" panose="02040503050406030204" pitchFamily="18" charset="0"/>
                <a:ea typeface="Cambria" panose="02040503050406030204" pitchFamily="18" charset="0"/>
              </a:rPr>
              <a:t>("</a:t>
            </a:r>
            <a:r>
              <a:rPr lang="en-US" sz="1800" dirty="0" err="1" smtClean="0">
                <a:latin typeface="Cambria" panose="02040503050406030204" pitchFamily="18" charset="0"/>
                <a:ea typeface="Cambria" panose="02040503050406030204" pitchFamily="18" charset="0"/>
              </a:rPr>
              <a:t>uname</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out.print("Hello "+n);    </a:t>
            </a:r>
          </a:p>
          <a:p>
            <a:pPr>
              <a:spcBef>
                <a:spcPts val="0"/>
              </a:spcBef>
              <a:buNone/>
            </a:pPr>
            <a:r>
              <a:rPr lang="en-US" sz="1800" dirty="0" smtClean="0">
                <a:latin typeface="Cambria" panose="02040503050406030204" pitchFamily="18" charset="0"/>
                <a:ea typeface="Cambria" panose="02040503050406030204" pitchFamily="18" charset="0"/>
              </a:rPr>
              <a:t>        out.close();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catch</a:t>
            </a:r>
            <a:r>
              <a:rPr lang="en-US" sz="1800" dirty="0" smtClean="0">
                <a:latin typeface="Cambria" panose="02040503050406030204" pitchFamily="18" charset="0"/>
                <a:ea typeface="Cambria" panose="02040503050406030204" pitchFamily="18" charset="0"/>
              </a:rPr>
              <a:t>(Exception e){</a:t>
            </a:r>
            <a:r>
              <a:rPr lang="en-US" sz="1800" dirty="0" err="1" smtClean="0">
                <a:latin typeface="Cambria" panose="02040503050406030204" pitchFamily="18" charset="0"/>
                <a:ea typeface="Cambria" panose="02040503050406030204" pitchFamily="18" charset="0"/>
              </a:rPr>
              <a:t>System.out.println</a:t>
            </a:r>
            <a:r>
              <a:rPr lang="en-US" sz="1800" dirty="0" smtClean="0">
                <a:latin typeface="Cambria" panose="02040503050406030204" pitchFamily="18" charset="0"/>
                <a:ea typeface="Cambria" panose="02040503050406030204" pitchFamily="18" charset="0"/>
              </a:rPr>
              <a:t>(e);}  </a:t>
            </a:r>
          </a:p>
          <a:p>
            <a:pPr>
              <a:spcBef>
                <a:spcPts val="0"/>
              </a:spcBef>
              <a:buNone/>
            </a:pPr>
            <a:r>
              <a:rPr lang="en-US" sz="1800" dirty="0" smtClean="0">
                <a:latin typeface="Cambria" panose="02040503050406030204" pitchFamily="18" charset="0"/>
                <a:ea typeface="Cambria" panose="02040503050406030204" pitchFamily="18" charset="0"/>
              </a:rPr>
              <a:t>    }    </a:t>
            </a:r>
          </a:p>
          <a:p>
            <a:pPr>
              <a:spcBef>
                <a:spcPts val="0"/>
              </a:spcBef>
              <a:buNone/>
            </a:pPr>
            <a:r>
              <a:rPr lang="en-US" sz="1800" dirty="0" smtClean="0">
                <a:latin typeface="Cambria" panose="02040503050406030204" pitchFamily="18" charset="0"/>
                <a:ea typeface="Cambria" panose="02040503050406030204" pitchFamily="18" charset="0"/>
              </a:rPr>
              <a:t>}  </a:t>
            </a:r>
          </a:p>
          <a:p>
            <a:pPr marL="0" indent="0">
              <a:spcBef>
                <a:spcPts val="0"/>
              </a:spcBef>
              <a:buNone/>
            </a:pPr>
            <a:r>
              <a:rPr lang="en-US" sz="1800" dirty="0" smtClean="0">
                <a:latin typeface="Cambria" panose="02040503050406030204" pitchFamily="18" charset="0"/>
                <a:ea typeface="Cambria" panose="02040503050406030204" pitchFamily="18" charset="0"/>
              </a:rPr>
              <a:t> </a:t>
            </a:r>
          </a:p>
          <a:p>
            <a:pPr>
              <a:spcBef>
                <a:spcPts val="0"/>
              </a:spcBef>
              <a:buNone/>
            </a:pPr>
            <a:endParaRPr lang="en-US" sz="1800" dirty="0" smtClean="0">
              <a:latin typeface="Cambria" panose="02040503050406030204" pitchFamily="18" charset="0"/>
              <a:ea typeface="Cambria" panose="02040503050406030204" pitchFamily="18" charset="0"/>
            </a:endParaRPr>
          </a:p>
          <a:p>
            <a:pPr>
              <a:buNone/>
            </a:pPr>
            <a:endParaRPr lang="en-US" sz="24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63</a:t>
            </a:fld>
            <a:endParaRPr lang="en-US" altLang="en-US">
              <a:latin typeface="Cambria" panose="02040503050406030204" pitchFamily="18" charset="0"/>
              <a:ea typeface="Cambria" panose="02040503050406030204" pitchFamily="18" charset="0"/>
            </a:endParaRPr>
          </a:p>
        </p:txBody>
      </p:sp>
      <p:sp>
        <p:nvSpPr>
          <p:cNvPr id="5" name="Rectangle 4"/>
          <p:cNvSpPr/>
          <p:nvPr/>
        </p:nvSpPr>
        <p:spPr>
          <a:xfrm>
            <a:off x="6090320" y="0"/>
            <a:ext cx="5040560" cy="5680080"/>
          </a:xfrm>
          <a:prstGeom prst="rect">
            <a:avLst/>
          </a:prstGeom>
        </p:spPr>
        <p:txBody>
          <a:bodyPr wrap="square">
            <a:spAutoFit/>
          </a:bodyPr>
          <a:lstStyle/>
          <a:p>
            <a:pPr marL="0" indent="0">
              <a:spcBef>
                <a:spcPts val="0"/>
              </a:spcBef>
              <a:buNone/>
            </a:pPr>
            <a:r>
              <a:rPr lang="en-US" dirty="0">
                <a:latin typeface="Cambria" panose="02040503050406030204" pitchFamily="18" charset="0"/>
                <a:ea typeface="Cambria" panose="02040503050406030204" pitchFamily="18" charset="0"/>
              </a:rPr>
              <a:t>web.xml</a:t>
            </a:r>
          </a:p>
          <a:p>
            <a:pPr>
              <a:spcBef>
                <a:spcPts val="0"/>
              </a:spcBef>
              <a:buNone/>
            </a:pPr>
            <a:r>
              <a:rPr lang="en-US" dirty="0">
                <a:latin typeface="Cambria" panose="02040503050406030204" pitchFamily="18" charset="0"/>
                <a:ea typeface="Cambria" panose="02040503050406030204" pitchFamily="18" charset="0"/>
              </a:rPr>
              <a:t>&lt;web-app&gt;  </a:t>
            </a:r>
            <a:r>
              <a:rPr lang="en-US" dirty="0" smtClean="0">
                <a:latin typeface="Cambria" panose="02040503050406030204" pitchFamily="18" charset="0"/>
                <a:ea typeface="Cambria" panose="02040503050406030204" pitchFamily="18" charset="0"/>
              </a:rPr>
              <a:t>&lt;</a:t>
            </a:r>
            <a:r>
              <a:rPr lang="en-US" dirty="0">
                <a:latin typeface="Cambria" panose="02040503050406030204" pitchFamily="18" charset="0"/>
                <a:ea typeface="Cambria" panose="02040503050406030204" pitchFamily="18" charset="0"/>
              </a:rPr>
              <a:t>servlet&gt;  </a:t>
            </a:r>
          </a:p>
          <a:p>
            <a:pPr>
              <a:spcBef>
                <a:spcPts val="0"/>
              </a:spcBef>
              <a:buNone/>
            </a:pPr>
            <a:r>
              <a:rPr lang="en-US" dirty="0">
                <a:latin typeface="Cambria" panose="02040503050406030204" pitchFamily="18" charset="0"/>
                <a:ea typeface="Cambria" panose="02040503050406030204" pitchFamily="18" charset="0"/>
              </a:rPr>
              <a:t>&lt;servlet-name&gt;s1&lt;/servlet-name&gt;  </a:t>
            </a:r>
          </a:p>
          <a:p>
            <a:pPr>
              <a:spcBef>
                <a:spcPts val="0"/>
              </a:spcBef>
              <a:buNone/>
            </a:pPr>
            <a:r>
              <a:rPr lang="en-US" dirty="0">
                <a:latin typeface="Cambria" panose="02040503050406030204" pitchFamily="18" charset="0"/>
                <a:ea typeface="Cambria" panose="02040503050406030204" pitchFamily="18" charset="0"/>
              </a:rPr>
              <a:t>&lt;servlet-</a:t>
            </a:r>
            <a:r>
              <a:rPr lang="en-US" b="1" dirty="0">
                <a:latin typeface="Cambria" panose="02040503050406030204" pitchFamily="18" charset="0"/>
                <a:ea typeface="Cambria" panose="02040503050406030204" pitchFamily="18" charset="0"/>
              </a:rPr>
              <a:t>class</a:t>
            </a:r>
            <a:r>
              <a:rPr lang="en-US" dirty="0">
                <a:latin typeface="Cambria" panose="02040503050406030204" pitchFamily="18" charset="0"/>
                <a:ea typeface="Cambria" panose="02040503050406030204" pitchFamily="18" charset="0"/>
              </a:rPr>
              <a:t>&gt;FirstServlet&lt;/servlet-</a:t>
            </a:r>
            <a:r>
              <a:rPr lang="en-US" b="1" dirty="0">
                <a:latin typeface="Cambria" panose="02040503050406030204" pitchFamily="18" charset="0"/>
                <a:ea typeface="Cambria" panose="02040503050406030204" pitchFamily="18" charset="0"/>
              </a:rPr>
              <a:t>class</a:t>
            </a:r>
            <a:r>
              <a:rPr lang="en-US" dirty="0">
                <a:latin typeface="Cambria" panose="02040503050406030204" pitchFamily="18" charset="0"/>
                <a:ea typeface="Cambria" panose="02040503050406030204" pitchFamily="18" charset="0"/>
              </a:rPr>
              <a:t>&gt;  </a:t>
            </a:r>
          </a:p>
          <a:p>
            <a:pPr>
              <a:spcBef>
                <a:spcPts val="0"/>
              </a:spcBef>
              <a:buNone/>
            </a:pPr>
            <a:r>
              <a:rPr lang="en-US" dirty="0">
                <a:latin typeface="Cambria" panose="02040503050406030204" pitchFamily="18" charset="0"/>
                <a:ea typeface="Cambria" panose="02040503050406030204" pitchFamily="18" charset="0"/>
              </a:rPr>
              <a:t>&lt;/servlet&gt;   </a:t>
            </a:r>
          </a:p>
          <a:p>
            <a:pPr>
              <a:spcBef>
                <a:spcPts val="0"/>
              </a:spcBef>
              <a:buNone/>
            </a:pPr>
            <a:r>
              <a:rPr lang="en-US" dirty="0">
                <a:latin typeface="Cambria" panose="02040503050406030204" pitchFamily="18" charset="0"/>
                <a:ea typeface="Cambria" panose="02040503050406030204" pitchFamily="18" charset="0"/>
              </a:rPr>
              <a:t>&lt;servlet-mapping&gt;  </a:t>
            </a:r>
          </a:p>
          <a:p>
            <a:pPr>
              <a:spcBef>
                <a:spcPts val="0"/>
              </a:spcBef>
              <a:buNone/>
            </a:pPr>
            <a:r>
              <a:rPr lang="en-US" dirty="0">
                <a:latin typeface="Cambria" panose="02040503050406030204" pitchFamily="18" charset="0"/>
                <a:ea typeface="Cambria" panose="02040503050406030204" pitchFamily="18" charset="0"/>
              </a:rPr>
              <a:t>&lt;servlet-name&gt;s1&lt;/servlet-name&gt;  </a:t>
            </a:r>
          </a:p>
          <a:p>
            <a:pPr>
              <a:spcBef>
                <a:spcPts val="0"/>
              </a:spcBef>
              <a:buNone/>
            </a:pPr>
            <a:r>
              <a:rPr lang="en-US" dirty="0">
                <a:latin typeface="Cambria" panose="02040503050406030204" pitchFamily="18" charset="0"/>
                <a:ea typeface="Cambria" panose="02040503050406030204" pitchFamily="18" charset="0"/>
              </a:rPr>
              <a:t>&lt;url-pattern&gt;/servlet1&lt;/url-pattern&gt;  </a:t>
            </a:r>
          </a:p>
          <a:p>
            <a:pPr>
              <a:spcBef>
                <a:spcPts val="0"/>
              </a:spcBef>
              <a:buNone/>
            </a:pPr>
            <a:r>
              <a:rPr lang="en-US" dirty="0">
                <a:latin typeface="Cambria" panose="02040503050406030204" pitchFamily="18" charset="0"/>
                <a:ea typeface="Cambria" panose="02040503050406030204" pitchFamily="18" charset="0"/>
              </a:rPr>
              <a:t>&lt;/servlet-mapping&gt;  </a:t>
            </a:r>
          </a:p>
          <a:p>
            <a:pPr>
              <a:spcBef>
                <a:spcPts val="0"/>
              </a:spcBef>
              <a:buNone/>
            </a:pPr>
            <a:r>
              <a:rPr lang="en-US" dirty="0" smtClean="0">
                <a:latin typeface="Cambria" panose="02040503050406030204" pitchFamily="18" charset="0"/>
                <a:ea typeface="Cambria" panose="02040503050406030204" pitchFamily="18" charset="0"/>
              </a:rPr>
              <a:t>&lt;</a:t>
            </a:r>
            <a:r>
              <a:rPr lang="en-US" dirty="0">
                <a:latin typeface="Cambria" panose="02040503050406030204" pitchFamily="18" charset="0"/>
                <a:ea typeface="Cambria" panose="02040503050406030204" pitchFamily="18" charset="0"/>
              </a:rPr>
              <a:t>servlet&gt;  </a:t>
            </a:r>
          </a:p>
          <a:p>
            <a:pPr>
              <a:spcBef>
                <a:spcPts val="0"/>
              </a:spcBef>
              <a:buNone/>
            </a:pPr>
            <a:r>
              <a:rPr lang="en-US" dirty="0">
                <a:latin typeface="Cambria" panose="02040503050406030204" pitchFamily="18" charset="0"/>
                <a:ea typeface="Cambria" panose="02040503050406030204" pitchFamily="18" charset="0"/>
              </a:rPr>
              <a:t>&lt;servlet-name&gt;s2&lt;/servlet-name&gt;  </a:t>
            </a:r>
          </a:p>
          <a:p>
            <a:pPr>
              <a:spcBef>
                <a:spcPts val="0"/>
              </a:spcBef>
              <a:buNone/>
            </a:pPr>
            <a:r>
              <a:rPr lang="en-US" dirty="0">
                <a:latin typeface="Cambria" panose="02040503050406030204" pitchFamily="18" charset="0"/>
                <a:ea typeface="Cambria" panose="02040503050406030204" pitchFamily="18" charset="0"/>
              </a:rPr>
              <a:t>&lt;servlet-</a:t>
            </a:r>
            <a:r>
              <a:rPr lang="en-US" b="1" dirty="0">
                <a:latin typeface="Cambria" panose="02040503050406030204" pitchFamily="18" charset="0"/>
                <a:ea typeface="Cambria" panose="02040503050406030204" pitchFamily="18" charset="0"/>
              </a:rPr>
              <a:t>class</a:t>
            </a:r>
            <a:r>
              <a:rPr lang="en-US" dirty="0">
                <a:latin typeface="Cambria" panose="02040503050406030204" pitchFamily="18" charset="0"/>
                <a:ea typeface="Cambria" panose="02040503050406030204" pitchFamily="18" charset="0"/>
              </a:rPr>
              <a:t>&gt;SecondServlet&lt;/servlet-</a:t>
            </a:r>
            <a:r>
              <a:rPr lang="en-US" b="1" dirty="0">
                <a:latin typeface="Cambria" panose="02040503050406030204" pitchFamily="18" charset="0"/>
                <a:ea typeface="Cambria" panose="02040503050406030204" pitchFamily="18" charset="0"/>
              </a:rPr>
              <a:t>class</a:t>
            </a:r>
            <a:r>
              <a:rPr lang="en-US" dirty="0">
                <a:latin typeface="Cambria" panose="02040503050406030204" pitchFamily="18" charset="0"/>
                <a:ea typeface="Cambria" panose="02040503050406030204" pitchFamily="18" charset="0"/>
              </a:rPr>
              <a:t>&gt;  </a:t>
            </a:r>
          </a:p>
          <a:p>
            <a:pPr>
              <a:spcBef>
                <a:spcPts val="0"/>
              </a:spcBef>
              <a:buNone/>
            </a:pPr>
            <a:r>
              <a:rPr lang="en-US" dirty="0">
                <a:latin typeface="Cambria" panose="02040503050406030204" pitchFamily="18" charset="0"/>
                <a:ea typeface="Cambria" panose="02040503050406030204" pitchFamily="18" charset="0"/>
              </a:rPr>
              <a:t>&lt;/servlet&gt;  </a:t>
            </a:r>
          </a:p>
          <a:p>
            <a:pPr>
              <a:spcBef>
                <a:spcPts val="0"/>
              </a:spcBef>
              <a:buNone/>
            </a:pPr>
            <a:r>
              <a:rPr lang="en-US" dirty="0">
                <a:latin typeface="Cambria" panose="02040503050406030204" pitchFamily="18" charset="0"/>
                <a:ea typeface="Cambria" panose="02040503050406030204" pitchFamily="18" charset="0"/>
              </a:rPr>
              <a:t>  </a:t>
            </a:r>
          </a:p>
          <a:p>
            <a:pPr>
              <a:spcBef>
                <a:spcPts val="0"/>
              </a:spcBef>
              <a:buNone/>
            </a:pPr>
            <a:r>
              <a:rPr lang="en-US" dirty="0">
                <a:latin typeface="Cambria" panose="02040503050406030204" pitchFamily="18" charset="0"/>
                <a:ea typeface="Cambria" panose="02040503050406030204" pitchFamily="18" charset="0"/>
              </a:rPr>
              <a:t>&lt;servlet-mapping&gt;  </a:t>
            </a:r>
          </a:p>
          <a:p>
            <a:pPr>
              <a:spcBef>
                <a:spcPts val="0"/>
              </a:spcBef>
              <a:buNone/>
            </a:pPr>
            <a:r>
              <a:rPr lang="en-US" dirty="0">
                <a:latin typeface="Cambria" panose="02040503050406030204" pitchFamily="18" charset="0"/>
                <a:ea typeface="Cambria" panose="02040503050406030204" pitchFamily="18" charset="0"/>
              </a:rPr>
              <a:t>&lt;servlet-name&gt;s2&lt;/servlet-name&gt;  </a:t>
            </a:r>
          </a:p>
          <a:p>
            <a:pPr>
              <a:spcBef>
                <a:spcPts val="0"/>
              </a:spcBef>
              <a:buNone/>
            </a:pPr>
            <a:r>
              <a:rPr lang="en-US" dirty="0">
                <a:latin typeface="Cambria" panose="02040503050406030204" pitchFamily="18" charset="0"/>
                <a:ea typeface="Cambria" panose="02040503050406030204" pitchFamily="18" charset="0"/>
              </a:rPr>
              <a:t>&lt;url-pattern&gt;/servlet2&lt;/url-pattern&gt;  </a:t>
            </a:r>
          </a:p>
          <a:p>
            <a:pPr>
              <a:spcBef>
                <a:spcPts val="0"/>
              </a:spcBef>
              <a:buNone/>
            </a:pPr>
            <a:r>
              <a:rPr lang="en-US" dirty="0">
                <a:latin typeface="Cambria" panose="02040503050406030204" pitchFamily="18" charset="0"/>
                <a:ea typeface="Cambria" panose="02040503050406030204" pitchFamily="18" charset="0"/>
              </a:rPr>
              <a:t>&lt;/servlet-mapping&gt;  </a:t>
            </a:r>
          </a:p>
          <a:p>
            <a:pPr>
              <a:spcBef>
                <a:spcPts val="0"/>
              </a:spcBef>
              <a:buNone/>
            </a:pPr>
            <a:r>
              <a:rPr lang="en-US" dirty="0">
                <a:latin typeface="Cambria" panose="02040503050406030204" pitchFamily="18" charset="0"/>
                <a:ea typeface="Cambria" panose="02040503050406030204" pitchFamily="18" charset="0"/>
              </a:rPr>
              <a:t>  </a:t>
            </a:r>
          </a:p>
          <a:p>
            <a:pPr>
              <a:buNone/>
            </a:pPr>
            <a:r>
              <a:rPr lang="en-US" dirty="0">
                <a:latin typeface="Cambria" panose="02040503050406030204" pitchFamily="18" charset="0"/>
                <a:ea typeface="Cambria" panose="02040503050406030204" pitchFamily="18" charset="0"/>
              </a:rPr>
              <a:t>&lt;/web-app&gt; </a:t>
            </a:r>
            <a:endParaRPr lang="en-US" dirty="0"/>
          </a:p>
        </p:txBody>
      </p:sp>
    </p:spTree>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45" y="8348"/>
            <a:ext cx="5689848" cy="524582"/>
          </a:xfrm>
        </p:spPr>
        <p:txBody>
          <a:bodyPr/>
          <a:lstStyle/>
          <a:p>
            <a:r>
              <a:rPr lang="en-US" sz="4000" b="1" dirty="0" err="1" smtClean="0">
                <a:solidFill>
                  <a:srgbClr val="7030A0"/>
                </a:solidFill>
                <a:latin typeface="Cambria" panose="02040503050406030204" pitchFamily="18" charset="0"/>
                <a:ea typeface="Cambria" panose="02040503050406030204" pitchFamily="18" charset="0"/>
              </a:rPr>
              <a:t>HttpSession</a:t>
            </a:r>
            <a:r>
              <a:rPr lang="en-US" sz="4000" b="1" dirty="0" smtClean="0">
                <a:solidFill>
                  <a:srgbClr val="7030A0"/>
                </a:solidFill>
                <a:latin typeface="Cambria" panose="02040503050406030204" pitchFamily="18" charset="0"/>
                <a:ea typeface="Cambria" panose="02040503050406030204" pitchFamily="18" charset="0"/>
              </a:rPr>
              <a:t> interface</a:t>
            </a:r>
            <a:endParaRPr lang="en-US" sz="4000" b="1" dirty="0">
              <a:solidFill>
                <a:srgbClr val="7030A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335360" y="567426"/>
            <a:ext cx="11593288" cy="2573542"/>
          </a:xfrm>
        </p:spPr>
        <p:txBody>
          <a:bodyPr/>
          <a:lstStyle/>
          <a:p>
            <a:pPr algn="just"/>
            <a:r>
              <a:rPr lang="en-GB" sz="2400" dirty="0" smtClean="0">
                <a:latin typeface="Cambria" panose="02040503050406030204" pitchFamily="18" charset="0"/>
                <a:ea typeface="Cambria" panose="02040503050406030204" pitchFamily="18" charset="0"/>
              </a:rPr>
              <a:t>In such case, container creates a session id for each user. The container uses this id to identify the particular user. An object of HttpSession can be used to perform two tasks:</a:t>
            </a:r>
          </a:p>
          <a:p>
            <a:pPr marL="514350" indent="-514350" algn="just">
              <a:lnSpc>
                <a:spcPct val="100000"/>
              </a:lnSpc>
              <a:spcBef>
                <a:spcPts val="0"/>
              </a:spcBef>
              <a:buFont typeface="+mj-lt"/>
              <a:buAutoNum type="arabicPeriod"/>
            </a:pPr>
            <a:r>
              <a:rPr lang="en-GB" sz="2400" dirty="0" smtClean="0">
                <a:latin typeface="Cambria" panose="02040503050406030204" pitchFamily="18" charset="0"/>
                <a:ea typeface="Cambria" panose="02040503050406030204" pitchFamily="18" charset="0"/>
              </a:rPr>
              <a:t>bind objects</a:t>
            </a:r>
          </a:p>
          <a:p>
            <a:pPr marL="514350" indent="-514350" algn="just">
              <a:lnSpc>
                <a:spcPct val="100000"/>
              </a:lnSpc>
              <a:spcBef>
                <a:spcPts val="0"/>
              </a:spcBef>
              <a:buFont typeface="+mj-lt"/>
              <a:buAutoNum type="arabicPeriod"/>
            </a:pPr>
            <a:r>
              <a:rPr lang="en-GB" sz="2400" dirty="0" smtClean="0">
                <a:latin typeface="Cambria" panose="02040503050406030204" pitchFamily="18" charset="0"/>
                <a:ea typeface="Cambria" panose="02040503050406030204" pitchFamily="18" charset="0"/>
              </a:rPr>
              <a:t>view and manipulate information about a session, such as the session identifier, creation time, and last accessed time.</a:t>
            </a:r>
          </a:p>
          <a:p>
            <a:pPr algn="just">
              <a:buNone/>
            </a:pPr>
            <a:r>
              <a:rPr lang="en-GB" sz="2400" dirty="0" smtClean="0">
                <a:latin typeface="Cambria" panose="02040503050406030204" pitchFamily="18" charset="0"/>
                <a:ea typeface="Cambria" panose="02040503050406030204" pitchFamily="18" charset="0"/>
              </a:rPr>
              <a:t/>
            </a:r>
            <a:br>
              <a:rPr lang="en-GB" sz="2400" dirty="0" smtClean="0">
                <a:latin typeface="Cambria" panose="02040503050406030204" pitchFamily="18" charset="0"/>
                <a:ea typeface="Cambria" panose="02040503050406030204" pitchFamily="18" charset="0"/>
              </a:rPr>
            </a:br>
            <a:endParaRPr lang="en-US" sz="24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64</a:t>
            </a:fld>
            <a:endParaRPr lang="en-US" altLang="en-US">
              <a:latin typeface="Cambria" panose="02040503050406030204" pitchFamily="18" charset="0"/>
              <a:ea typeface="Cambria" panose="02040503050406030204" pitchFamily="18" charset="0"/>
            </a:endParaRPr>
          </a:p>
        </p:txBody>
      </p:sp>
      <p:pic>
        <p:nvPicPr>
          <p:cNvPr id="5" name="Picture 4" descr="HttpSession object"/>
          <p:cNvPicPr/>
          <p:nvPr/>
        </p:nvPicPr>
        <p:blipFill>
          <a:blip r:embed="rId2"/>
          <a:srcRect/>
          <a:stretch>
            <a:fillRect/>
          </a:stretch>
        </p:blipFill>
        <p:spPr bwMode="auto">
          <a:xfrm>
            <a:off x="2860549" y="2636912"/>
            <a:ext cx="5904656" cy="2808312"/>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3457600" cy="543595"/>
          </a:xfrm>
        </p:spPr>
        <p:txBody>
          <a:bodyPr/>
          <a:lstStyle/>
          <a:p>
            <a:r>
              <a:rPr lang="en-US" sz="4000" b="1" dirty="0" smtClean="0">
                <a:solidFill>
                  <a:schemeClr val="accent5"/>
                </a:solidFill>
                <a:latin typeface="Cambria" panose="02040503050406030204" pitchFamily="18" charset="0"/>
                <a:ea typeface="Cambria" panose="02040503050406030204" pitchFamily="18" charset="0"/>
              </a:rPr>
              <a:t>HttpSession</a:t>
            </a:r>
            <a:endParaRPr lang="en-US" sz="40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07368" y="543595"/>
            <a:ext cx="11305256" cy="4901629"/>
          </a:xfrm>
        </p:spPr>
        <p:txBody>
          <a:bodyPr/>
          <a:lstStyle/>
          <a:p>
            <a:pPr algn="just"/>
            <a:r>
              <a:rPr lang="en-GB" sz="2000" dirty="0" smtClean="0">
                <a:latin typeface="Cambria" panose="02040503050406030204" pitchFamily="18" charset="0"/>
                <a:ea typeface="Cambria" panose="02040503050406030204" pitchFamily="18" charset="0"/>
              </a:rPr>
              <a:t>How to get the </a:t>
            </a:r>
            <a:r>
              <a:rPr lang="en-GB" sz="2000" dirty="0" err="1" smtClean="0">
                <a:latin typeface="Cambria" panose="02040503050406030204" pitchFamily="18" charset="0"/>
                <a:ea typeface="Cambria" panose="02040503050406030204" pitchFamily="18" charset="0"/>
              </a:rPr>
              <a:t>HttpSession</a:t>
            </a:r>
            <a:r>
              <a:rPr lang="en-GB" sz="2000" dirty="0" smtClean="0">
                <a:latin typeface="Cambria" panose="02040503050406030204" pitchFamily="18" charset="0"/>
                <a:ea typeface="Cambria" panose="02040503050406030204" pitchFamily="18" charset="0"/>
              </a:rPr>
              <a:t> object ?</a:t>
            </a:r>
          </a:p>
          <a:p>
            <a:pPr algn="just"/>
            <a:r>
              <a:rPr lang="en-GB" sz="2000" dirty="0" smtClean="0">
                <a:latin typeface="Cambria" panose="02040503050406030204" pitchFamily="18" charset="0"/>
                <a:ea typeface="Cambria" panose="02040503050406030204" pitchFamily="18" charset="0"/>
              </a:rPr>
              <a:t>The </a:t>
            </a:r>
            <a:r>
              <a:rPr lang="en-GB" sz="2000" dirty="0" err="1" smtClean="0">
                <a:latin typeface="Cambria" panose="02040503050406030204" pitchFamily="18" charset="0"/>
                <a:ea typeface="Cambria" panose="02040503050406030204" pitchFamily="18" charset="0"/>
              </a:rPr>
              <a:t>HttpServletRequest</a:t>
            </a:r>
            <a:r>
              <a:rPr lang="en-GB" sz="2000" dirty="0" smtClean="0">
                <a:latin typeface="Cambria" panose="02040503050406030204" pitchFamily="18" charset="0"/>
                <a:ea typeface="Cambria" panose="02040503050406030204" pitchFamily="18" charset="0"/>
              </a:rPr>
              <a:t> interface provides two methods to get the object of </a:t>
            </a:r>
            <a:r>
              <a:rPr lang="en-GB" sz="2000" dirty="0" err="1" smtClean="0">
                <a:latin typeface="Cambria" panose="02040503050406030204" pitchFamily="18" charset="0"/>
                <a:ea typeface="Cambria" panose="02040503050406030204" pitchFamily="18" charset="0"/>
              </a:rPr>
              <a:t>HttpSession</a:t>
            </a:r>
            <a:r>
              <a:rPr lang="en-GB" sz="2000" dirty="0" smtClean="0">
                <a:latin typeface="Cambria" panose="02040503050406030204" pitchFamily="18" charset="0"/>
                <a:ea typeface="Cambria" panose="02040503050406030204" pitchFamily="18" charset="0"/>
              </a:rPr>
              <a:t>:</a:t>
            </a:r>
          </a:p>
          <a:p>
            <a:pPr algn="just"/>
            <a:r>
              <a:rPr lang="en-GB" sz="2000" b="1" dirty="0" smtClean="0">
                <a:latin typeface="Cambria" panose="02040503050406030204" pitchFamily="18" charset="0"/>
                <a:ea typeface="Cambria" panose="02040503050406030204" pitchFamily="18" charset="0"/>
              </a:rPr>
              <a:t>public </a:t>
            </a:r>
            <a:r>
              <a:rPr lang="en-GB" sz="2000" b="1" dirty="0" err="1" smtClean="0">
                <a:latin typeface="Cambria" panose="02040503050406030204" pitchFamily="18" charset="0"/>
                <a:ea typeface="Cambria" panose="02040503050406030204" pitchFamily="18" charset="0"/>
              </a:rPr>
              <a:t>HttpSession</a:t>
            </a:r>
            <a:r>
              <a:rPr lang="en-GB" sz="2000" b="1" dirty="0" smtClean="0">
                <a:latin typeface="Cambria" panose="02040503050406030204" pitchFamily="18" charset="0"/>
                <a:ea typeface="Cambria" panose="02040503050406030204" pitchFamily="18" charset="0"/>
              </a:rPr>
              <a:t> </a:t>
            </a:r>
            <a:r>
              <a:rPr lang="en-GB" sz="2000" b="1" dirty="0" err="1" smtClean="0">
                <a:latin typeface="Cambria" panose="02040503050406030204" pitchFamily="18" charset="0"/>
                <a:ea typeface="Cambria" panose="02040503050406030204" pitchFamily="18" charset="0"/>
              </a:rPr>
              <a:t>getSession</a:t>
            </a:r>
            <a:r>
              <a:rPr lang="en-GB" sz="2000" b="1" dirty="0" smtClean="0">
                <a:latin typeface="Cambria" panose="02040503050406030204" pitchFamily="18" charset="0"/>
                <a:ea typeface="Cambria" panose="02040503050406030204" pitchFamily="18" charset="0"/>
              </a:rPr>
              <a:t>():</a:t>
            </a:r>
            <a:r>
              <a:rPr lang="en-GB" sz="2000" dirty="0" smtClean="0">
                <a:latin typeface="Cambria" panose="02040503050406030204" pitchFamily="18" charset="0"/>
                <a:ea typeface="Cambria" panose="02040503050406030204" pitchFamily="18" charset="0"/>
              </a:rPr>
              <a:t>Returns the current session associated with this request, or if the request does not have a session, creates one.</a:t>
            </a:r>
          </a:p>
          <a:p>
            <a:pPr algn="just"/>
            <a:r>
              <a:rPr lang="en-GB" sz="2000" b="1" dirty="0" smtClean="0">
                <a:latin typeface="Cambria" panose="02040503050406030204" pitchFamily="18" charset="0"/>
                <a:ea typeface="Cambria" panose="02040503050406030204" pitchFamily="18" charset="0"/>
              </a:rPr>
              <a:t>public </a:t>
            </a:r>
            <a:r>
              <a:rPr lang="en-GB" sz="2000" b="1" dirty="0" err="1" smtClean="0">
                <a:latin typeface="Cambria" panose="02040503050406030204" pitchFamily="18" charset="0"/>
                <a:ea typeface="Cambria" panose="02040503050406030204" pitchFamily="18" charset="0"/>
              </a:rPr>
              <a:t>HttpSession</a:t>
            </a:r>
            <a:r>
              <a:rPr lang="en-GB" sz="2000" b="1" dirty="0" smtClean="0">
                <a:latin typeface="Cambria" panose="02040503050406030204" pitchFamily="18" charset="0"/>
                <a:ea typeface="Cambria" panose="02040503050406030204" pitchFamily="18" charset="0"/>
              </a:rPr>
              <a:t> </a:t>
            </a:r>
            <a:r>
              <a:rPr lang="en-GB" sz="2000" b="1" dirty="0" err="1" smtClean="0">
                <a:latin typeface="Cambria" panose="02040503050406030204" pitchFamily="18" charset="0"/>
                <a:ea typeface="Cambria" panose="02040503050406030204" pitchFamily="18" charset="0"/>
              </a:rPr>
              <a:t>getSession</a:t>
            </a:r>
            <a:r>
              <a:rPr lang="en-GB" sz="2000" b="1" dirty="0" smtClean="0">
                <a:latin typeface="Cambria" panose="02040503050406030204" pitchFamily="18" charset="0"/>
                <a:ea typeface="Cambria" panose="02040503050406030204" pitchFamily="18" charset="0"/>
              </a:rPr>
              <a:t>(</a:t>
            </a:r>
            <a:r>
              <a:rPr lang="en-GB" sz="2000" b="1" dirty="0" err="1" smtClean="0">
                <a:latin typeface="Cambria" panose="02040503050406030204" pitchFamily="18" charset="0"/>
                <a:ea typeface="Cambria" panose="02040503050406030204" pitchFamily="18" charset="0"/>
              </a:rPr>
              <a:t>boolean</a:t>
            </a:r>
            <a:r>
              <a:rPr lang="en-GB" sz="2000" b="1" dirty="0" smtClean="0">
                <a:latin typeface="Cambria" panose="02040503050406030204" pitchFamily="18" charset="0"/>
                <a:ea typeface="Cambria" panose="02040503050406030204" pitchFamily="18" charset="0"/>
              </a:rPr>
              <a:t> create):</a:t>
            </a:r>
            <a:r>
              <a:rPr lang="en-GB" sz="2000" dirty="0" smtClean="0">
                <a:latin typeface="Cambria" panose="02040503050406030204" pitchFamily="18" charset="0"/>
                <a:ea typeface="Cambria" panose="02040503050406030204" pitchFamily="18" charset="0"/>
              </a:rPr>
              <a:t>Returns the current </a:t>
            </a:r>
            <a:r>
              <a:rPr lang="en-GB" sz="2000" dirty="0" err="1" smtClean="0">
                <a:latin typeface="Cambria" panose="02040503050406030204" pitchFamily="18" charset="0"/>
                <a:ea typeface="Cambria" panose="02040503050406030204" pitchFamily="18" charset="0"/>
              </a:rPr>
              <a:t>HttpSession</a:t>
            </a:r>
            <a:r>
              <a:rPr lang="en-GB" sz="2000" dirty="0" smtClean="0">
                <a:latin typeface="Cambria" panose="02040503050406030204" pitchFamily="18" charset="0"/>
                <a:ea typeface="Cambria" panose="02040503050406030204" pitchFamily="18" charset="0"/>
              </a:rPr>
              <a:t> associated with this request or, if there is no current session and create is true, returns a new session.</a:t>
            </a:r>
          </a:p>
          <a:p>
            <a:pPr algn="just"/>
            <a:r>
              <a:rPr lang="en-GB" sz="2000" dirty="0" smtClean="0">
                <a:latin typeface="Cambria" panose="02040503050406030204" pitchFamily="18" charset="0"/>
                <a:ea typeface="Cambria" panose="02040503050406030204" pitchFamily="18" charset="0"/>
              </a:rPr>
              <a:t>Commonly used methods of </a:t>
            </a:r>
            <a:r>
              <a:rPr lang="en-GB" sz="2000" dirty="0" err="1" smtClean="0">
                <a:latin typeface="Cambria" panose="02040503050406030204" pitchFamily="18" charset="0"/>
                <a:ea typeface="Cambria" panose="02040503050406030204" pitchFamily="18" charset="0"/>
              </a:rPr>
              <a:t>HttpSession</a:t>
            </a:r>
            <a:r>
              <a:rPr lang="en-GB" sz="2000" dirty="0" smtClean="0">
                <a:latin typeface="Cambria" panose="02040503050406030204" pitchFamily="18" charset="0"/>
                <a:ea typeface="Cambria" panose="02040503050406030204" pitchFamily="18" charset="0"/>
              </a:rPr>
              <a:t> interface</a:t>
            </a:r>
          </a:p>
          <a:p>
            <a:pPr algn="just"/>
            <a:r>
              <a:rPr lang="en-GB" sz="2000" b="1" dirty="0" smtClean="0">
                <a:latin typeface="Cambria" panose="02040503050406030204" pitchFamily="18" charset="0"/>
                <a:ea typeface="Cambria" panose="02040503050406030204" pitchFamily="18" charset="0"/>
              </a:rPr>
              <a:t>public String </a:t>
            </a:r>
            <a:r>
              <a:rPr lang="en-GB" sz="2000" b="1" dirty="0" err="1" smtClean="0">
                <a:latin typeface="Cambria" panose="02040503050406030204" pitchFamily="18" charset="0"/>
                <a:ea typeface="Cambria" panose="02040503050406030204" pitchFamily="18" charset="0"/>
              </a:rPr>
              <a:t>getId</a:t>
            </a:r>
            <a:r>
              <a:rPr lang="en-GB" sz="2000" b="1" dirty="0" smtClean="0">
                <a:latin typeface="Cambria" panose="02040503050406030204" pitchFamily="18" charset="0"/>
                <a:ea typeface="Cambria" panose="02040503050406030204" pitchFamily="18" charset="0"/>
              </a:rPr>
              <a:t>():</a:t>
            </a:r>
            <a:r>
              <a:rPr lang="en-GB" sz="2000" dirty="0" smtClean="0">
                <a:latin typeface="Cambria" panose="02040503050406030204" pitchFamily="18" charset="0"/>
                <a:ea typeface="Cambria" panose="02040503050406030204" pitchFamily="18" charset="0"/>
              </a:rPr>
              <a:t>Returns a string containing the unique identifier value.</a:t>
            </a:r>
          </a:p>
          <a:p>
            <a:pPr algn="just"/>
            <a:r>
              <a:rPr lang="en-GB" sz="2000" b="1" dirty="0" smtClean="0">
                <a:latin typeface="Cambria" panose="02040503050406030204" pitchFamily="18" charset="0"/>
                <a:ea typeface="Cambria" panose="02040503050406030204" pitchFamily="18" charset="0"/>
              </a:rPr>
              <a:t>public long </a:t>
            </a:r>
            <a:r>
              <a:rPr lang="en-GB" sz="2000" b="1" dirty="0" err="1" smtClean="0">
                <a:latin typeface="Cambria" panose="02040503050406030204" pitchFamily="18" charset="0"/>
                <a:ea typeface="Cambria" panose="02040503050406030204" pitchFamily="18" charset="0"/>
              </a:rPr>
              <a:t>getCreationTime</a:t>
            </a:r>
            <a:r>
              <a:rPr lang="en-GB" sz="2000" b="1" dirty="0" smtClean="0">
                <a:latin typeface="Cambria" panose="02040503050406030204" pitchFamily="18" charset="0"/>
                <a:ea typeface="Cambria" panose="02040503050406030204" pitchFamily="18" charset="0"/>
              </a:rPr>
              <a:t>():</a:t>
            </a:r>
            <a:r>
              <a:rPr lang="en-GB" sz="2000" dirty="0" smtClean="0">
                <a:latin typeface="Cambria" panose="02040503050406030204" pitchFamily="18" charset="0"/>
                <a:ea typeface="Cambria" panose="02040503050406030204" pitchFamily="18" charset="0"/>
              </a:rPr>
              <a:t>Returns the time when this session was created, measured in milliseconds since midnight January 1, 1970 GMT.</a:t>
            </a:r>
          </a:p>
          <a:p>
            <a:pPr algn="just"/>
            <a:r>
              <a:rPr lang="en-GB" sz="2000" b="1" dirty="0" smtClean="0">
                <a:latin typeface="Cambria" panose="02040503050406030204" pitchFamily="18" charset="0"/>
                <a:ea typeface="Cambria" panose="02040503050406030204" pitchFamily="18" charset="0"/>
              </a:rPr>
              <a:t>public long </a:t>
            </a:r>
            <a:r>
              <a:rPr lang="en-GB" sz="2000" b="1" dirty="0" err="1" smtClean="0">
                <a:latin typeface="Cambria" panose="02040503050406030204" pitchFamily="18" charset="0"/>
                <a:ea typeface="Cambria" panose="02040503050406030204" pitchFamily="18" charset="0"/>
              </a:rPr>
              <a:t>getLastAccessedTime</a:t>
            </a:r>
            <a:r>
              <a:rPr lang="en-GB" sz="2000" b="1" dirty="0" smtClean="0">
                <a:latin typeface="Cambria" panose="02040503050406030204" pitchFamily="18" charset="0"/>
                <a:ea typeface="Cambria" panose="02040503050406030204" pitchFamily="18" charset="0"/>
              </a:rPr>
              <a:t>():</a:t>
            </a:r>
            <a:r>
              <a:rPr lang="en-GB" sz="2000" dirty="0" smtClean="0">
                <a:latin typeface="Cambria" panose="02040503050406030204" pitchFamily="18" charset="0"/>
                <a:ea typeface="Cambria" panose="02040503050406030204" pitchFamily="18" charset="0"/>
              </a:rPr>
              <a:t>Returns the last time the client sent a request associated with this session, as the number of milliseconds since midnight January 1, 1970 GMT.</a:t>
            </a:r>
          </a:p>
          <a:p>
            <a:pPr algn="just"/>
            <a:r>
              <a:rPr lang="en-GB" sz="2000" b="1" dirty="0" smtClean="0">
                <a:latin typeface="Cambria" panose="02040503050406030204" pitchFamily="18" charset="0"/>
                <a:ea typeface="Cambria" panose="02040503050406030204" pitchFamily="18" charset="0"/>
              </a:rPr>
              <a:t>public void invalidate():</a:t>
            </a:r>
            <a:r>
              <a:rPr lang="en-GB" sz="2000" dirty="0" smtClean="0">
                <a:latin typeface="Cambria" panose="02040503050406030204" pitchFamily="18" charset="0"/>
                <a:ea typeface="Cambria" panose="02040503050406030204" pitchFamily="18" charset="0"/>
              </a:rPr>
              <a:t>Invalidates this session then unbinds any objects bound to it.</a:t>
            </a:r>
          </a:p>
          <a:p>
            <a:pPr algn="just"/>
            <a:endParaRPr lang="en-US" sz="20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65</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116632"/>
            <a:ext cx="7418040" cy="399579"/>
          </a:xfrm>
        </p:spPr>
        <p:txBody>
          <a:bodyPr/>
          <a:lstStyle/>
          <a:p>
            <a:r>
              <a:rPr lang="en-US" sz="3600" b="1" dirty="0" smtClean="0">
                <a:solidFill>
                  <a:schemeClr val="accent5"/>
                </a:solidFill>
                <a:latin typeface="Cambria" panose="02040503050406030204" pitchFamily="18" charset="0"/>
                <a:ea typeface="Cambria" panose="02040503050406030204" pitchFamily="18" charset="0"/>
              </a:rPr>
              <a:t>Example of using HttpSession</a:t>
            </a:r>
            <a:endParaRPr lang="en-US" sz="36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1343472" y="582141"/>
            <a:ext cx="9073008" cy="5956771"/>
          </a:xfrm>
        </p:spPr>
        <p:txBody>
          <a:bodyPr/>
          <a:lstStyle/>
          <a:p>
            <a:pPr>
              <a:spcBef>
                <a:spcPts val="0"/>
              </a:spcBef>
              <a:buNone/>
            </a:pPr>
            <a:r>
              <a:rPr lang="en-US" sz="1800" dirty="0" smtClean="0">
                <a:latin typeface="Cambria" panose="02040503050406030204" pitchFamily="18" charset="0"/>
                <a:ea typeface="Cambria" panose="02040503050406030204" pitchFamily="18" charset="0"/>
              </a:rPr>
              <a:t>index.html</a:t>
            </a:r>
          </a:p>
          <a:p>
            <a:pPr>
              <a:spcBef>
                <a:spcPts val="0"/>
              </a:spcBef>
              <a:buNone/>
            </a:pPr>
            <a:r>
              <a:rPr lang="en-US" sz="1800" dirty="0" smtClean="0">
                <a:latin typeface="Cambria" panose="02040503050406030204" pitchFamily="18" charset="0"/>
                <a:ea typeface="Cambria" panose="02040503050406030204" pitchFamily="18" charset="0"/>
              </a:rPr>
              <a:t>&lt;form action="servlet1"&gt;  </a:t>
            </a:r>
          </a:p>
          <a:p>
            <a:pPr>
              <a:spcBef>
                <a:spcPts val="0"/>
              </a:spcBef>
              <a:buNone/>
            </a:pPr>
            <a:r>
              <a:rPr lang="en-US" sz="1800" dirty="0" smtClean="0">
                <a:latin typeface="Cambria" panose="02040503050406030204" pitchFamily="18" charset="0"/>
                <a:ea typeface="Cambria" panose="02040503050406030204" pitchFamily="18" charset="0"/>
              </a:rPr>
              <a:t>Name:&lt;input type="text" name="</a:t>
            </a:r>
            <a:r>
              <a:rPr lang="en-US" sz="1800" dirty="0" err="1" smtClean="0">
                <a:latin typeface="Cambria" panose="02040503050406030204" pitchFamily="18" charset="0"/>
                <a:ea typeface="Cambria" panose="02040503050406030204" pitchFamily="18" charset="0"/>
              </a:rPr>
              <a:t>userName</a:t>
            </a:r>
            <a:r>
              <a:rPr lang="en-US" sz="1800" dirty="0" smtClean="0">
                <a:latin typeface="Cambria" panose="02040503050406030204" pitchFamily="18" charset="0"/>
                <a:ea typeface="Cambria" panose="02040503050406030204" pitchFamily="18" charset="0"/>
              </a:rPr>
              <a:t>"/&gt;&lt;</a:t>
            </a:r>
            <a:r>
              <a:rPr lang="en-US" sz="1800" dirty="0" err="1" smtClean="0">
                <a:latin typeface="Cambria" panose="02040503050406030204" pitchFamily="18" charset="0"/>
                <a:ea typeface="Cambria" panose="02040503050406030204" pitchFamily="18" charset="0"/>
              </a:rPr>
              <a:t>br</a:t>
            </a:r>
            <a:r>
              <a:rPr lang="en-US" sz="1800" dirty="0" smtClean="0">
                <a:latin typeface="Cambria" panose="02040503050406030204" pitchFamily="18" charset="0"/>
                <a:ea typeface="Cambria" panose="02040503050406030204" pitchFamily="18" charset="0"/>
              </a:rPr>
              <a:t>/&gt;  </a:t>
            </a:r>
          </a:p>
          <a:p>
            <a:pPr>
              <a:spcBef>
                <a:spcPts val="0"/>
              </a:spcBef>
              <a:buNone/>
            </a:pPr>
            <a:r>
              <a:rPr lang="en-US" sz="1800" dirty="0" smtClean="0">
                <a:latin typeface="Cambria" panose="02040503050406030204" pitchFamily="18" charset="0"/>
                <a:ea typeface="Cambria" panose="02040503050406030204" pitchFamily="18" charset="0"/>
              </a:rPr>
              <a:t>&lt;input type="submit" value="go"/&gt;  </a:t>
            </a:r>
          </a:p>
          <a:p>
            <a:pPr>
              <a:spcBef>
                <a:spcPts val="0"/>
              </a:spcBef>
              <a:buNone/>
            </a:pPr>
            <a:r>
              <a:rPr lang="en-US" sz="1800" dirty="0" smtClean="0">
                <a:latin typeface="Cambria" panose="02040503050406030204" pitchFamily="18" charset="0"/>
                <a:ea typeface="Cambria" panose="02040503050406030204" pitchFamily="18" charset="0"/>
              </a:rPr>
              <a:t>&lt;/form&gt;  </a:t>
            </a:r>
          </a:p>
          <a:p>
            <a:pPr>
              <a:spcBef>
                <a:spcPts val="0"/>
              </a:spcBef>
              <a:buNone/>
            </a:pPr>
            <a:r>
              <a:rPr lang="en-US" sz="1800" dirty="0" smtClean="0">
                <a:latin typeface="Cambria" panose="02040503050406030204" pitchFamily="18" charset="0"/>
                <a:ea typeface="Cambria" panose="02040503050406030204" pitchFamily="18" charset="0"/>
              </a:rPr>
              <a:t>FirstServlet.java</a:t>
            </a:r>
          </a:p>
          <a:p>
            <a:pPr>
              <a:spcBef>
                <a:spcPts val="0"/>
              </a:spcBef>
              <a:buNone/>
            </a:pPr>
            <a:r>
              <a:rPr lang="en-US" sz="1800" b="1" dirty="0" smtClean="0">
                <a:latin typeface="Cambria" panose="02040503050406030204" pitchFamily="18" charset="0"/>
                <a:ea typeface="Cambria" panose="02040503050406030204" pitchFamily="18" charset="0"/>
              </a:rPr>
              <a:t>import</a:t>
            </a:r>
            <a:r>
              <a:rPr lang="en-US" sz="1800" dirty="0" smtClean="0">
                <a:latin typeface="Cambria" panose="02040503050406030204" pitchFamily="18" charset="0"/>
                <a:ea typeface="Cambria" panose="02040503050406030204" pitchFamily="18" charset="0"/>
              </a:rPr>
              <a:t> java.io.*;  </a:t>
            </a:r>
          </a:p>
          <a:p>
            <a:pPr>
              <a:spcBef>
                <a:spcPts val="0"/>
              </a:spcBef>
              <a:buNone/>
            </a:pPr>
            <a:r>
              <a:rPr lang="en-US" sz="1800" b="1" dirty="0" smtClean="0">
                <a:latin typeface="Cambria" panose="02040503050406030204" pitchFamily="18" charset="0"/>
                <a:ea typeface="Cambria" panose="02040503050406030204" pitchFamily="18" charset="0"/>
              </a:rPr>
              <a:t>import</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javax.servlet</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b="1" dirty="0" smtClean="0">
                <a:latin typeface="Cambria" panose="02040503050406030204" pitchFamily="18" charset="0"/>
                <a:ea typeface="Cambria" panose="02040503050406030204" pitchFamily="18" charset="0"/>
              </a:rPr>
              <a:t>import</a:t>
            </a:r>
            <a:r>
              <a:rPr lang="en-US" sz="1800" dirty="0" smtClean="0">
                <a:latin typeface="Cambria" panose="02040503050406030204" pitchFamily="18" charset="0"/>
                <a:ea typeface="Cambria" panose="02040503050406030204" pitchFamily="18" charset="0"/>
              </a:rPr>
              <a:t> javax.servlet.http.*;    </a:t>
            </a:r>
          </a:p>
          <a:p>
            <a:pPr>
              <a:spcBef>
                <a:spcPts val="0"/>
              </a:spcBef>
              <a:buNone/>
            </a:pPr>
            <a:r>
              <a:rPr lang="en-US" sz="1800" b="1" dirty="0" smtClean="0">
                <a:latin typeface="Cambria" panose="02040503050406030204" pitchFamily="18" charset="0"/>
                <a:ea typeface="Cambria" panose="02040503050406030204" pitchFamily="18" charset="0"/>
              </a:rPr>
              <a:t>public</a:t>
            </a: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class</a:t>
            </a:r>
            <a:r>
              <a:rPr lang="en-US" sz="1800" dirty="0" smtClean="0">
                <a:latin typeface="Cambria" panose="02040503050406030204" pitchFamily="18" charset="0"/>
                <a:ea typeface="Cambria" panose="02040503050406030204" pitchFamily="18" charset="0"/>
              </a:rPr>
              <a:t> FirstServlet </a:t>
            </a:r>
            <a:r>
              <a:rPr lang="en-US" sz="1800" b="1" dirty="0" smtClean="0">
                <a:latin typeface="Cambria" panose="02040503050406030204" pitchFamily="18" charset="0"/>
                <a:ea typeface="Cambria" panose="02040503050406030204" pitchFamily="18" charset="0"/>
              </a:rPr>
              <a:t>extends</a:t>
            </a:r>
            <a:r>
              <a:rPr lang="en-US" sz="1800" dirty="0" smtClean="0">
                <a:latin typeface="Cambria" panose="02040503050406030204" pitchFamily="18" charset="0"/>
                <a:ea typeface="Cambria" panose="02040503050406030204" pitchFamily="18" charset="0"/>
              </a:rPr>
              <a:t> HttpServlet {    </a:t>
            </a:r>
          </a:p>
          <a:p>
            <a:pPr>
              <a:spcBef>
                <a:spcPts val="0"/>
              </a:spcBef>
              <a:buNone/>
            </a:pPr>
            <a:r>
              <a:rPr lang="en-US" sz="1800" b="1" dirty="0" smtClean="0">
                <a:latin typeface="Cambria" panose="02040503050406030204" pitchFamily="18" charset="0"/>
                <a:ea typeface="Cambria" panose="02040503050406030204" pitchFamily="18" charset="0"/>
              </a:rPr>
              <a:t>public</a:t>
            </a: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void</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doGet</a:t>
            </a:r>
            <a:r>
              <a:rPr lang="en-US" sz="1800" dirty="0" smtClean="0">
                <a:latin typeface="Cambria" panose="02040503050406030204" pitchFamily="18" charset="0"/>
                <a:ea typeface="Cambria" panose="02040503050406030204" pitchFamily="18" charset="0"/>
              </a:rPr>
              <a:t>(</a:t>
            </a:r>
            <a:r>
              <a:rPr lang="en-US" sz="1800" dirty="0" err="1" smtClean="0">
                <a:latin typeface="Cambria" panose="02040503050406030204" pitchFamily="18" charset="0"/>
                <a:ea typeface="Cambria" panose="02040503050406030204" pitchFamily="18" charset="0"/>
              </a:rPr>
              <a:t>HttpServletRequest</a:t>
            </a:r>
            <a:r>
              <a:rPr lang="en-US" sz="1800" dirty="0" smtClean="0">
                <a:latin typeface="Cambria" panose="02040503050406030204" pitchFamily="18" charset="0"/>
                <a:ea typeface="Cambria" panose="02040503050406030204" pitchFamily="18" charset="0"/>
              </a:rPr>
              <a:t> request, </a:t>
            </a:r>
            <a:r>
              <a:rPr lang="en-US" sz="1800" dirty="0" err="1" smtClean="0">
                <a:latin typeface="Cambria" panose="02040503050406030204" pitchFamily="18" charset="0"/>
                <a:ea typeface="Cambria" panose="02040503050406030204" pitchFamily="18" charset="0"/>
              </a:rPr>
              <a:t>HttpServletResponse</a:t>
            </a:r>
            <a:r>
              <a:rPr lang="en-US" sz="1800" dirty="0" smtClean="0">
                <a:latin typeface="Cambria" panose="02040503050406030204" pitchFamily="18" charset="0"/>
                <a:ea typeface="Cambria" panose="02040503050406030204" pitchFamily="18" charset="0"/>
              </a:rPr>
              <a:t> response){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try</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response.setContentType</a:t>
            </a:r>
            <a:r>
              <a:rPr lang="en-US" sz="1800" dirty="0" smtClean="0">
                <a:latin typeface="Cambria" panose="02040503050406030204" pitchFamily="18" charset="0"/>
                <a:ea typeface="Cambria" panose="02040503050406030204" pitchFamily="18" charset="0"/>
              </a:rPr>
              <a:t>("text/html");  </a:t>
            </a:r>
          </a:p>
          <a:p>
            <a:pPr>
              <a:spcBef>
                <a:spcPts val="0"/>
              </a:spcBef>
              <a:buNone/>
            </a:pPr>
            <a:r>
              <a:rPr lang="en-US" sz="1800" dirty="0" smtClean="0">
                <a:latin typeface="Cambria" panose="02040503050406030204" pitchFamily="18" charset="0"/>
                <a:ea typeface="Cambria" panose="02040503050406030204" pitchFamily="18" charset="0"/>
              </a:rPr>
              <a:t>        PrintWriter out = response.getWriter();            </a:t>
            </a:r>
          </a:p>
          <a:p>
            <a:pPr>
              <a:spcBef>
                <a:spcPts val="0"/>
              </a:spcBef>
              <a:buNone/>
            </a:pPr>
            <a:r>
              <a:rPr lang="en-US" sz="1800" dirty="0" smtClean="0">
                <a:latin typeface="Cambria" panose="02040503050406030204" pitchFamily="18" charset="0"/>
                <a:ea typeface="Cambria" panose="02040503050406030204" pitchFamily="18" charset="0"/>
              </a:rPr>
              <a:t>        String n=</a:t>
            </a:r>
            <a:r>
              <a:rPr lang="en-US" sz="1800" dirty="0" err="1" smtClean="0">
                <a:latin typeface="Cambria" panose="02040503050406030204" pitchFamily="18" charset="0"/>
                <a:ea typeface="Cambria" panose="02040503050406030204" pitchFamily="18" charset="0"/>
              </a:rPr>
              <a:t>request.getParameter</a:t>
            </a:r>
            <a:r>
              <a:rPr lang="en-US" sz="1800" dirty="0" smtClean="0">
                <a:latin typeface="Cambria" panose="02040503050406030204" pitchFamily="18" charset="0"/>
                <a:ea typeface="Cambria" panose="02040503050406030204" pitchFamily="18" charset="0"/>
              </a:rPr>
              <a:t>("</a:t>
            </a:r>
            <a:r>
              <a:rPr lang="en-US" sz="1800" dirty="0" err="1" smtClean="0">
                <a:latin typeface="Cambria" panose="02040503050406030204" pitchFamily="18" charset="0"/>
                <a:ea typeface="Cambria" panose="02040503050406030204" pitchFamily="18" charset="0"/>
              </a:rPr>
              <a:t>userName</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out.print("Welcome "+n);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HttpSession</a:t>
            </a:r>
            <a:r>
              <a:rPr lang="en-US" sz="1800" dirty="0" smtClean="0">
                <a:latin typeface="Cambria" panose="02040503050406030204" pitchFamily="18" charset="0"/>
                <a:ea typeface="Cambria" panose="02040503050406030204" pitchFamily="18" charset="0"/>
              </a:rPr>
              <a:t> session=</a:t>
            </a:r>
            <a:r>
              <a:rPr lang="en-US" sz="1800" dirty="0" err="1" smtClean="0">
                <a:latin typeface="Cambria" panose="02040503050406030204" pitchFamily="18" charset="0"/>
                <a:ea typeface="Cambria" panose="02040503050406030204" pitchFamily="18" charset="0"/>
              </a:rPr>
              <a:t>request.getSession</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session.setAttribute("uname",n);    </a:t>
            </a:r>
          </a:p>
          <a:p>
            <a:pPr>
              <a:spcBef>
                <a:spcPts val="0"/>
              </a:spcBef>
              <a:buNone/>
            </a:pPr>
            <a:r>
              <a:rPr lang="en-US" sz="1800" dirty="0" smtClean="0">
                <a:latin typeface="Cambria" panose="02040503050406030204" pitchFamily="18" charset="0"/>
                <a:ea typeface="Cambria" panose="02040503050406030204" pitchFamily="18" charset="0"/>
              </a:rPr>
              <a:t>        out.print("&lt;a href='servlet2'&gt;visit&lt;/a&gt;");                    </a:t>
            </a:r>
          </a:p>
          <a:p>
            <a:pPr>
              <a:spcBef>
                <a:spcPts val="0"/>
              </a:spcBef>
              <a:buNone/>
            </a:pPr>
            <a:r>
              <a:rPr lang="en-US" sz="1800" dirty="0" smtClean="0">
                <a:latin typeface="Cambria" panose="02040503050406030204" pitchFamily="18" charset="0"/>
                <a:ea typeface="Cambria" panose="02040503050406030204" pitchFamily="18" charset="0"/>
              </a:rPr>
              <a:t>        out.close();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catch</a:t>
            </a:r>
            <a:r>
              <a:rPr lang="en-US" sz="1800" dirty="0" smtClean="0">
                <a:latin typeface="Cambria" panose="02040503050406030204" pitchFamily="18" charset="0"/>
                <a:ea typeface="Cambria" panose="02040503050406030204" pitchFamily="18" charset="0"/>
              </a:rPr>
              <a:t>(Exception e){</a:t>
            </a:r>
            <a:r>
              <a:rPr lang="en-US" sz="1800" dirty="0" err="1" smtClean="0">
                <a:latin typeface="Cambria" panose="02040503050406030204" pitchFamily="18" charset="0"/>
                <a:ea typeface="Cambria" panose="02040503050406030204" pitchFamily="18" charset="0"/>
              </a:rPr>
              <a:t>System.out.println</a:t>
            </a:r>
            <a:r>
              <a:rPr lang="en-US" sz="1800" dirty="0" smtClean="0">
                <a:latin typeface="Cambria" panose="02040503050406030204" pitchFamily="18" charset="0"/>
                <a:ea typeface="Cambria" panose="02040503050406030204" pitchFamily="18" charset="0"/>
              </a:rPr>
              <a:t>(e);}  </a:t>
            </a:r>
          </a:p>
          <a:p>
            <a:pPr>
              <a:spcBef>
                <a:spcPts val="0"/>
              </a:spcBef>
              <a:buNone/>
            </a:pPr>
            <a:r>
              <a:rPr lang="en-US" sz="1800" dirty="0" smtClean="0">
                <a:latin typeface="Cambria" panose="02040503050406030204" pitchFamily="18" charset="0"/>
                <a:ea typeface="Cambria" panose="02040503050406030204" pitchFamily="18" charset="0"/>
              </a:rPr>
              <a:t>    }  </a:t>
            </a:r>
          </a:p>
          <a:p>
            <a:pPr>
              <a:spcBef>
                <a:spcPts val="0"/>
              </a:spcBef>
              <a:buNone/>
            </a:pP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66</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8798" y="116632"/>
            <a:ext cx="8136904" cy="399579"/>
          </a:xfrm>
        </p:spPr>
        <p:txBody>
          <a:bodyPr/>
          <a:lstStyle/>
          <a:p>
            <a:r>
              <a:rPr lang="en-US" sz="3600" b="1" dirty="0" smtClean="0">
                <a:solidFill>
                  <a:schemeClr val="accent5"/>
                </a:solidFill>
                <a:latin typeface="Cambria" panose="02040503050406030204" pitchFamily="18" charset="0"/>
                <a:ea typeface="Cambria" panose="02040503050406030204" pitchFamily="18" charset="0"/>
              </a:rPr>
              <a:t>Example of using HttpSession </a:t>
            </a:r>
            <a:r>
              <a:rPr lang="en-US" sz="2800" b="1" dirty="0" smtClean="0">
                <a:solidFill>
                  <a:schemeClr val="accent5"/>
                </a:solidFill>
                <a:latin typeface="Cambria" panose="02040503050406030204" pitchFamily="18" charset="0"/>
                <a:ea typeface="Cambria" panose="02040503050406030204" pitchFamily="18" charset="0"/>
              </a:rPr>
              <a:t>(contd...)</a:t>
            </a:r>
            <a:endParaRPr lang="en-US" sz="36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119336" y="620688"/>
            <a:ext cx="6624736" cy="4719067"/>
          </a:xfrm>
        </p:spPr>
        <p:txBody>
          <a:bodyPr/>
          <a:lstStyle/>
          <a:p>
            <a:pPr>
              <a:spcBef>
                <a:spcPts val="0"/>
              </a:spcBef>
              <a:buNone/>
            </a:pPr>
            <a:r>
              <a:rPr lang="en-US" sz="1800" dirty="0" smtClean="0">
                <a:latin typeface="Cambria" panose="02040503050406030204" pitchFamily="18" charset="0"/>
                <a:ea typeface="Cambria" panose="02040503050406030204" pitchFamily="18" charset="0"/>
              </a:rPr>
              <a:t>//</a:t>
            </a:r>
            <a:r>
              <a:rPr lang="en-US" sz="1800" b="1" dirty="0" smtClean="0">
                <a:latin typeface="Cambria" panose="02040503050406030204" pitchFamily="18" charset="0"/>
                <a:ea typeface="Cambria" panose="02040503050406030204" pitchFamily="18" charset="0"/>
              </a:rPr>
              <a:t>SecondServlet.java</a:t>
            </a:r>
          </a:p>
          <a:p>
            <a:pPr>
              <a:spcBef>
                <a:spcPts val="0"/>
              </a:spcBef>
              <a:buNone/>
            </a:pPr>
            <a:r>
              <a:rPr lang="en-US" sz="1800" b="1" dirty="0" smtClean="0">
                <a:latin typeface="Cambria" panose="02040503050406030204" pitchFamily="18" charset="0"/>
                <a:ea typeface="Cambria" panose="02040503050406030204" pitchFamily="18" charset="0"/>
              </a:rPr>
              <a:t>import</a:t>
            </a:r>
            <a:r>
              <a:rPr lang="en-US" sz="1800" dirty="0" smtClean="0">
                <a:latin typeface="Cambria" panose="02040503050406030204" pitchFamily="18" charset="0"/>
                <a:ea typeface="Cambria" panose="02040503050406030204" pitchFamily="18" charset="0"/>
              </a:rPr>
              <a:t> java.io.*;  </a:t>
            </a:r>
          </a:p>
          <a:p>
            <a:pPr>
              <a:spcBef>
                <a:spcPts val="0"/>
              </a:spcBef>
              <a:buNone/>
            </a:pPr>
            <a:r>
              <a:rPr lang="en-US" sz="1800" b="1" dirty="0" smtClean="0">
                <a:latin typeface="Cambria" panose="02040503050406030204" pitchFamily="18" charset="0"/>
                <a:ea typeface="Cambria" panose="02040503050406030204" pitchFamily="18" charset="0"/>
              </a:rPr>
              <a:t>import</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javax.servlet</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b="1" dirty="0" smtClean="0">
                <a:latin typeface="Cambria" panose="02040503050406030204" pitchFamily="18" charset="0"/>
                <a:ea typeface="Cambria" panose="02040503050406030204" pitchFamily="18" charset="0"/>
              </a:rPr>
              <a:t>import</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javax.servlet.http</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a:t>
            </a:r>
          </a:p>
          <a:p>
            <a:pPr>
              <a:spcBef>
                <a:spcPts val="0"/>
              </a:spcBef>
              <a:buNone/>
            </a:pPr>
            <a:r>
              <a:rPr lang="en-US" sz="1800" b="1" dirty="0" smtClean="0">
                <a:latin typeface="Cambria" panose="02040503050406030204" pitchFamily="18" charset="0"/>
                <a:ea typeface="Cambria" panose="02040503050406030204" pitchFamily="18" charset="0"/>
              </a:rPr>
              <a:t>public</a:t>
            </a: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class</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SecondServlet</a:t>
            </a: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extends</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HttpServlet</a:t>
            </a:r>
            <a:r>
              <a:rPr lang="en-US" sz="1800" dirty="0" smtClean="0">
                <a:latin typeface="Cambria" panose="02040503050406030204" pitchFamily="18" charset="0"/>
                <a:ea typeface="Cambria" panose="02040503050406030204" pitchFamily="18" charset="0"/>
              </a:rPr>
              <a:t> {  </a:t>
            </a:r>
          </a:p>
          <a:p>
            <a:pPr>
              <a:spcBef>
                <a:spcPts val="0"/>
              </a:spcBef>
              <a:buNone/>
            </a:pPr>
            <a:r>
              <a:rPr lang="en-US" sz="1800" dirty="0" smtClean="0">
                <a:latin typeface="Cambria" panose="02040503050406030204" pitchFamily="18" charset="0"/>
                <a:ea typeface="Cambria" panose="02040503050406030204" pitchFamily="18" charset="0"/>
              </a:rPr>
              <a:t>  </a:t>
            </a:r>
          </a:p>
          <a:p>
            <a:pPr>
              <a:spcBef>
                <a:spcPts val="0"/>
              </a:spcBef>
              <a:buNone/>
            </a:pPr>
            <a:r>
              <a:rPr lang="en-US" sz="1800" b="1" dirty="0" smtClean="0">
                <a:latin typeface="Cambria" panose="02040503050406030204" pitchFamily="18" charset="0"/>
                <a:ea typeface="Cambria" panose="02040503050406030204" pitchFamily="18" charset="0"/>
              </a:rPr>
              <a:t>public</a:t>
            </a: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void</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doGet</a:t>
            </a:r>
            <a:r>
              <a:rPr lang="en-US" sz="1800" dirty="0" smtClean="0">
                <a:latin typeface="Cambria" panose="02040503050406030204" pitchFamily="18" charset="0"/>
                <a:ea typeface="Cambria" panose="02040503050406030204" pitchFamily="18" charset="0"/>
              </a:rPr>
              <a:t>(</a:t>
            </a:r>
            <a:r>
              <a:rPr lang="en-US" sz="1800" dirty="0" err="1" smtClean="0">
                <a:latin typeface="Cambria" panose="02040503050406030204" pitchFamily="18" charset="0"/>
                <a:ea typeface="Cambria" panose="02040503050406030204" pitchFamily="18" charset="0"/>
              </a:rPr>
              <a:t>HttpServletRequest</a:t>
            </a:r>
            <a:r>
              <a:rPr lang="en-US" sz="1800" dirty="0" smtClean="0">
                <a:latin typeface="Cambria" panose="02040503050406030204" pitchFamily="18" charset="0"/>
                <a:ea typeface="Cambria" panose="02040503050406030204" pitchFamily="18" charset="0"/>
              </a:rPr>
              <a:t> request, </a:t>
            </a:r>
            <a:r>
              <a:rPr lang="en-US" sz="1800" dirty="0" err="1" smtClean="0">
                <a:latin typeface="Cambria" panose="02040503050406030204" pitchFamily="18" charset="0"/>
                <a:ea typeface="Cambria" panose="02040503050406030204" pitchFamily="18" charset="0"/>
              </a:rPr>
              <a:t>HttpServletResponse</a:t>
            </a:r>
            <a:r>
              <a:rPr lang="en-US" sz="1800" dirty="0" smtClean="0">
                <a:latin typeface="Cambria" panose="02040503050406030204" pitchFamily="18" charset="0"/>
                <a:ea typeface="Cambria" panose="02040503050406030204" pitchFamily="18" charset="0"/>
              </a:rPr>
              <a:t> response)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try</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response.setContentType</a:t>
            </a:r>
            <a:r>
              <a:rPr lang="en-US" sz="1800" dirty="0" smtClean="0">
                <a:latin typeface="Cambria" panose="02040503050406030204" pitchFamily="18" charset="0"/>
                <a:ea typeface="Cambria" panose="02040503050406030204" pitchFamily="18" charset="0"/>
              </a:rPr>
              <a:t>("text/html");  </a:t>
            </a:r>
          </a:p>
          <a:p>
            <a:pPr>
              <a:spcBef>
                <a:spcPts val="0"/>
              </a:spcBef>
              <a:buNone/>
            </a:pPr>
            <a:r>
              <a:rPr lang="en-US" sz="1800" dirty="0" smtClean="0">
                <a:latin typeface="Cambria" panose="02040503050406030204" pitchFamily="18" charset="0"/>
                <a:ea typeface="Cambria" panose="02040503050406030204" pitchFamily="18" charset="0"/>
              </a:rPr>
              <a:t>        PrintWriter out = response.getWriter();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HttpSession</a:t>
            </a:r>
            <a:r>
              <a:rPr lang="en-US" sz="1800" dirty="0" smtClean="0">
                <a:latin typeface="Cambria" panose="02040503050406030204" pitchFamily="18" charset="0"/>
                <a:ea typeface="Cambria" panose="02040503050406030204" pitchFamily="18" charset="0"/>
              </a:rPr>
              <a:t> session=</a:t>
            </a:r>
            <a:r>
              <a:rPr lang="en-US" sz="1800" dirty="0" err="1" smtClean="0">
                <a:latin typeface="Cambria" panose="02040503050406030204" pitchFamily="18" charset="0"/>
                <a:ea typeface="Cambria" panose="02040503050406030204" pitchFamily="18" charset="0"/>
              </a:rPr>
              <a:t>request.getSession</a:t>
            </a:r>
            <a:r>
              <a:rPr lang="en-US" sz="1800" dirty="0" smtClean="0">
                <a:latin typeface="Cambria" panose="02040503050406030204" pitchFamily="18" charset="0"/>
                <a:ea typeface="Cambria" panose="02040503050406030204" pitchFamily="18" charset="0"/>
              </a:rPr>
              <a:t>(</a:t>
            </a:r>
            <a:r>
              <a:rPr lang="en-US" sz="1800" b="1" dirty="0" smtClean="0">
                <a:latin typeface="Cambria" panose="02040503050406030204" pitchFamily="18" charset="0"/>
                <a:ea typeface="Cambria" panose="02040503050406030204" pitchFamily="18" charset="0"/>
              </a:rPr>
              <a:t>false</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String n=(String)</a:t>
            </a:r>
            <a:r>
              <a:rPr lang="en-US" sz="1800" dirty="0" err="1" smtClean="0">
                <a:latin typeface="Cambria" panose="02040503050406030204" pitchFamily="18" charset="0"/>
                <a:ea typeface="Cambria" panose="02040503050406030204" pitchFamily="18" charset="0"/>
              </a:rPr>
              <a:t>session.getAttribute</a:t>
            </a:r>
            <a:r>
              <a:rPr lang="en-US" sz="1800" dirty="0" smtClean="0">
                <a:latin typeface="Cambria" panose="02040503050406030204" pitchFamily="18" charset="0"/>
                <a:ea typeface="Cambria" panose="02040503050406030204" pitchFamily="18" charset="0"/>
              </a:rPr>
              <a:t>("</a:t>
            </a:r>
            <a:r>
              <a:rPr lang="en-US" sz="1800" dirty="0" err="1" smtClean="0">
                <a:latin typeface="Cambria" panose="02040503050406030204" pitchFamily="18" charset="0"/>
                <a:ea typeface="Cambria" panose="02040503050406030204" pitchFamily="18" charset="0"/>
              </a:rPr>
              <a:t>uname</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out.print("Hello "+n);    </a:t>
            </a:r>
          </a:p>
          <a:p>
            <a:pPr>
              <a:spcBef>
                <a:spcPts val="0"/>
              </a:spcBef>
              <a:buNone/>
            </a:pPr>
            <a:r>
              <a:rPr lang="en-US" sz="1800" dirty="0" smtClean="0">
                <a:latin typeface="Cambria" panose="02040503050406030204" pitchFamily="18" charset="0"/>
                <a:ea typeface="Cambria" panose="02040503050406030204" pitchFamily="18" charset="0"/>
              </a:rPr>
              <a:t>        out.close();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catch</a:t>
            </a:r>
            <a:r>
              <a:rPr lang="en-US" sz="1800" dirty="0" smtClean="0">
                <a:latin typeface="Cambria" panose="02040503050406030204" pitchFamily="18" charset="0"/>
                <a:ea typeface="Cambria" panose="02040503050406030204" pitchFamily="18" charset="0"/>
              </a:rPr>
              <a:t>(Exception e){</a:t>
            </a:r>
            <a:r>
              <a:rPr lang="en-US" sz="1800" dirty="0" err="1" smtClean="0">
                <a:latin typeface="Cambria" panose="02040503050406030204" pitchFamily="18" charset="0"/>
                <a:ea typeface="Cambria" panose="02040503050406030204" pitchFamily="18" charset="0"/>
              </a:rPr>
              <a:t>System.out.println</a:t>
            </a:r>
            <a:r>
              <a:rPr lang="en-US" sz="1800" dirty="0" smtClean="0">
                <a:latin typeface="Cambria" panose="02040503050406030204" pitchFamily="18" charset="0"/>
                <a:ea typeface="Cambria" panose="02040503050406030204" pitchFamily="18" charset="0"/>
              </a:rPr>
              <a:t>(e);}  </a:t>
            </a:r>
          </a:p>
          <a:p>
            <a:pPr>
              <a:spcBef>
                <a:spcPts val="0"/>
              </a:spcBef>
              <a:buNone/>
            </a:pPr>
            <a:r>
              <a:rPr lang="en-US" sz="1800" dirty="0" smtClean="0">
                <a:latin typeface="Cambria" panose="02040503050406030204" pitchFamily="18" charset="0"/>
                <a:ea typeface="Cambria" panose="02040503050406030204" pitchFamily="18" charset="0"/>
              </a:rPr>
              <a:t>    }   </a:t>
            </a:r>
          </a:p>
          <a:p>
            <a:pPr>
              <a:spcBef>
                <a:spcPts val="0"/>
              </a:spcBef>
              <a:buNone/>
            </a:pPr>
            <a:r>
              <a:rPr lang="en-US" sz="1800" dirty="0" smtClean="0">
                <a:latin typeface="Cambria" panose="02040503050406030204" pitchFamily="18" charset="0"/>
                <a:ea typeface="Cambria" panose="02040503050406030204" pitchFamily="18" charset="0"/>
              </a:rPr>
              <a:t>}  </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67</a:t>
            </a:fld>
            <a:endParaRPr lang="en-US" altLang="en-US">
              <a:latin typeface="Cambria" panose="02040503050406030204" pitchFamily="18" charset="0"/>
              <a:ea typeface="Cambria" panose="02040503050406030204" pitchFamily="18" charset="0"/>
            </a:endParaRPr>
          </a:p>
        </p:txBody>
      </p:sp>
      <p:sp>
        <p:nvSpPr>
          <p:cNvPr id="5" name="Rectangle 4"/>
          <p:cNvSpPr/>
          <p:nvPr/>
        </p:nvSpPr>
        <p:spPr>
          <a:xfrm>
            <a:off x="6816080" y="662164"/>
            <a:ext cx="4994448" cy="5355312"/>
          </a:xfrm>
          <a:prstGeom prst="rect">
            <a:avLst/>
          </a:prstGeom>
        </p:spPr>
        <p:txBody>
          <a:bodyPr wrap="square">
            <a:spAutoFit/>
          </a:bodyPr>
          <a:lstStyle/>
          <a:p>
            <a:pPr>
              <a:spcBef>
                <a:spcPts val="0"/>
              </a:spcBef>
              <a:buNone/>
            </a:pPr>
            <a:r>
              <a:rPr lang="en-US" dirty="0">
                <a:latin typeface="Cambria" panose="02040503050406030204" pitchFamily="18" charset="0"/>
                <a:ea typeface="Cambria" panose="02040503050406030204" pitchFamily="18" charset="0"/>
              </a:rPr>
              <a:t>web.xml</a:t>
            </a:r>
          </a:p>
          <a:p>
            <a:pPr>
              <a:spcBef>
                <a:spcPts val="0"/>
              </a:spcBef>
              <a:buNone/>
            </a:pPr>
            <a:r>
              <a:rPr lang="en-US" dirty="0">
                <a:latin typeface="Cambria" panose="02040503050406030204" pitchFamily="18" charset="0"/>
                <a:ea typeface="Cambria" panose="02040503050406030204" pitchFamily="18" charset="0"/>
              </a:rPr>
              <a:t>&lt;web-app&gt;   </a:t>
            </a:r>
          </a:p>
          <a:p>
            <a:pPr>
              <a:spcBef>
                <a:spcPts val="0"/>
              </a:spcBef>
              <a:buNone/>
            </a:pPr>
            <a:r>
              <a:rPr lang="en-US" dirty="0">
                <a:latin typeface="Cambria" panose="02040503050406030204" pitchFamily="18" charset="0"/>
                <a:ea typeface="Cambria" panose="02040503050406030204" pitchFamily="18" charset="0"/>
              </a:rPr>
              <a:t>&lt;servlet&gt;  </a:t>
            </a:r>
          </a:p>
          <a:p>
            <a:pPr>
              <a:spcBef>
                <a:spcPts val="0"/>
              </a:spcBef>
              <a:buNone/>
            </a:pPr>
            <a:r>
              <a:rPr lang="en-US" dirty="0">
                <a:latin typeface="Cambria" panose="02040503050406030204" pitchFamily="18" charset="0"/>
                <a:ea typeface="Cambria" panose="02040503050406030204" pitchFamily="18" charset="0"/>
              </a:rPr>
              <a:t>&lt;servlet-name&gt;s1&lt;/servlet-name&gt;  </a:t>
            </a:r>
          </a:p>
          <a:p>
            <a:pPr>
              <a:spcBef>
                <a:spcPts val="0"/>
              </a:spcBef>
              <a:buNone/>
            </a:pPr>
            <a:r>
              <a:rPr lang="en-US" dirty="0">
                <a:latin typeface="Cambria" panose="02040503050406030204" pitchFamily="18" charset="0"/>
                <a:ea typeface="Cambria" panose="02040503050406030204" pitchFamily="18" charset="0"/>
              </a:rPr>
              <a:t>&lt;servlet-</a:t>
            </a:r>
            <a:r>
              <a:rPr lang="en-US" b="1" dirty="0">
                <a:latin typeface="Cambria" panose="02040503050406030204" pitchFamily="18" charset="0"/>
                <a:ea typeface="Cambria" panose="02040503050406030204" pitchFamily="18" charset="0"/>
              </a:rPr>
              <a:t>class</a:t>
            </a:r>
            <a:r>
              <a:rPr lang="en-US" dirty="0">
                <a:latin typeface="Cambria" panose="02040503050406030204" pitchFamily="18" charset="0"/>
                <a:ea typeface="Cambria" panose="02040503050406030204" pitchFamily="18" charset="0"/>
              </a:rPr>
              <a:t>&gt;FirstServlet&lt;/servlet-</a:t>
            </a:r>
            <a:r>
              <a:rPr lang="en-US" b="1" dirty="0">
                <a:latin typeface="Cambria" panose="02040503050406030204" pitchFamily="18" charset="0"/>
                <a:ea typeface="Cambria" panose="02040503050406030204" pitchFamily="18" charset="0"/>
              </a:rPr>
              <a:t>class</a:t>
            </a:r>
            <a:r>
              <a:rPr lang="en-US" dirty="0">
                <a:latin typeface="Cambria" panose="02040503050406030204" pitchFamily="18" charset="0"/>
                <a:ea typeface="Cambria" panose="02040503050406030204" pitchFamily="18" charset="0"/>
              </a:rPr>
              <a:t>&gt;  </a:t>
            </a:r>
          </a:p>
          <a:p>
            <a:pPr>
              <a:spcBef>
                <a:spcPts val="0"/>
              </a:spcBef>
              <a:buNone/>
            </a:pPr>
            <a:r>
              <a:rPr lang="en-US" dirty="0">
                <a:latin typeface="Cambria" panose="02040503050406030204" pitchFamily="18" charset="0"/>
                <a:ea typeface="Cambria" panose="02040503050406030204" pitchFamily="18" charset="0"/>
              </a:rPr>
              <a:t>&lt;/servlet&gt;    </a:t>
            </a:r>
          </a:p>
          <a:p>
            <a:pPr>
              <a:spcBef>
                <a:spcPts val="0"/>
              </a:spcBef>
              <a:buNone/>
            </a:pPr>
            <a:r>
              <a:rPr lang="en-US" dirty="0">
                <a:latin typeface="Cambria" panose="02040503050406030204" pitchFamily="18" charset="0"/>
                <a:ea typeface="Cambria" panose="02040503050406030204" pitchFamily="18" charset="0"/>
              </a:rPr>
              <a:t>&lt;servlet-mapping&gt;  </a:t>
            </a:r>
          </a:p>
          <a:p>
            <a:pPr>
              <a:spcBef>
                <a:spcPts val="0"/>
              </a:spcBef>
              <a:buNone/>
            </a:pPr>
            <a:r>
              <a:rPr lang="en-US" dirty="0">
                <a:latin typeface="Cambria" panose="02040503050406030204" pitchFamily="18" charset="0"/>
                <a:ea typeface="Cambria" panose="02040503050406030204" pitchFamily="18" charset="0"/>
              </a:rPr>
              <a:t>&lt;servlet-name&gt;s1&lt;/servlet-name&gt;  </a:t>
            </a:r>
          </a:p>
          <a:p>
            <a:pPr>
              <a:spcBef>
                <a:spcPts val="0"/>
              </a:spcBef>
              <a:buNone/>
            </a:pPr>
            <a:r>
              <a:rPr lang="en-US" dirty="0">
                <a:latin typeface="Cambria" panose="02040503050406030204" pitchFamily="18" charset="0"/>
                <a:ea typeface="Cambria" panose="02040503050406030204" pitchFamily="18" charset="0"/>
              </a:rPr>
              <a:t>&lt;url-pattern&gt;/servlet1&lt;/url-pattern&gt;  </a:t>
            </a:r>
          </a:p>
          <a:p>
            <a:pPr>
              <a:spcBef>
                <a:spcPts val="0"/>
              </a:spcBef>
              <a:buNone/>
            </a:pPr>
            <a:r>
              <a:rPr lang="en-US" dirty="0">
                <a:latin typeface="Cambria" panose="02040503050406030204" pitchFamily="18" charset="0"/>
                <a:ea typeface="Cambria" panose="02040503050406030204" pitchFamily="18" charset="0"/>
              </a:rPr>
              <a:t>&lt;/servlet-mapping&gt;    </a:t>
            </a:r>
          </a:p>
          <a:p>
            <a:pPr>
              <a:spcBef>
                <a:spcPts val="0"/>
              </a:spcBef>
              <a:buNone/>
            </a:pPr>
            <a:r>
              <a:rPr lang="en-US" dirty="0">
                <a:latin typeface="Cambria" panose="02040503050406030204" pitchFamily="18" charset="0"/>
                <a:ea typeface="Cambria" panose="02040503050406030204" pitchFamily="18" charset="0"/>
              </a:rPr>
              <a:t>&lt;servlet&gt;  </a:t>
            </a:r>
          </a:p>
          <a:p>
            <a:pPr>
              <a:spcBef>
                <a:spcPts val="0"/>
              </a:spcBef>
              <a:buNone/>
            </a:pPr>
            <a:r>
              <a:rPr lang="en-US" dirty="0">
                <a:latin typeface="Cambria" panose="02040503050406030204" pitchFamily="18" charset="0"/>
                <a:ea typeface="Cambria" panose="02040503050406030204" pitchFamily="18" charset="0"/>
              </a:rPr>
              <a:t>&lt;servlet-name&gt;s2&lt;/servlet-name&gt;  </a:t>
            </a:r>
          </a:p>
          <a:p>
            <a:pPr>
              <a:spcBef>
                <a:spcPts val="0"/>
              </a:spcBef>
              <a:buNone/>
            </a:pPr>
            <a:r>
              <a:rPr lang="en-US" dirty="0">
                <a:latin typeface="Cambria" panose="02040503050406030204" pitchFamily="18" charset="0"/>
                <a:ea typeface="Cambria" panose="02040503050406030204" pitchFamily="18" charset="0"/>
              </a:rPr>
              <a:t>&lt;servlet-</a:t>
            </a:r>
            <a:r>
              <a:rPr lang="en-US" b="1" dirty="0">
                <a:latin typeface="Cambria" panose="02040503050406030204" pitchFamily="18" charset="0"/>
                <a:ea typeface="Cambria" panose="02040503050406030204" pitchFamily="18" charset="0"/>
              </a:rPr>
              <a:t>class</a:t>
            </a:r>
            <a:r>
              <a:rPr lang="en-US" dirty="0">
                <a:latin typeface="Cambria" panose="02040503050406030204" pitchFamily="18" charset="0"/>
                <a:ea typeface="Cambria" panose="02040503050406030204" pitchFamily="18" charset="0"/>
              </a:rPr>
              <a:t>&gt;SecondServlet&lt;/servlet-</a:t>
            </a:r>
            <a:r>
              <a:rPr lang="en-US" b="1" dirty="0">
                <a:latin typeface="Cambria" panose="02040503050406030204" pitchFamily="18" charset="0"/>
                <a:ea typeface="Cambria" panose="02040503050406030204" pitchFamily="18" charset="0"/>
              </a:rPr>
              <a:t>class</a:t>
            </a:r>
            <a:r>
              <a:rPr lang="en-US" dirty="0">
                <a:latin typeface="Cambria" panose="02040503050406030204" pitchFamily="18" charset="0"/>
                <a:ea typeface="Cambria" panose="02040503050406030204" pitchFamily="18" charset="0"/>
              </a:rPr>
              <a:t>&gt;  </a:t>
            </a:r>
          </a:p>
          <a:p>
            <a:pPr>
              <a:spcBef>
                <a:spcPts val="0"/>
              </a:spcBef>
              <a:buNone/>
            </a:pPr>
            <a:r>
              <a:rPr lang="en-US" dirty="0">
                <a:latin typeface="Cambria" panose="02040503050406030204" pitchFamily="18" charset="0"/>
                <a:ea typeface="Cambria" panose="02040503050406030204" pitchFamily="18" charset="0"/>
              </a:rPr>
              <a:t>&lt;/servlet&gt;    </a:t>
            </a:r>
          </a:p>
          <a:p>
            <a:pPr>
              <a:spcBef>
                <a:spcPts val="0"/>
              </a:spcBef>
              <a:buNone/>
            </a:pPr>
            <a:r>
              <a:rPr lang="en-US" dirty="0">
                <a:latin typeface="Cambria" panose="02040503050406030204" pitchFamily="18" charset="0"/>
                <a:ea typeface="Cambria" panose="02040503050406030204" pitchFamily="18" charset="0"/>
              </a:rPr>
              <a:t>&lt;servlet-mapping&gt;  </a:t>
            </a:r>
          </a:p>
          <a:p>
            <a:pPr>
              <a:spcBef>
                <a:spcPts val="0"/>
              </a:spcBef>
              <a:buNone/>
            </a:pPr>
            <a:r>
              <a:rPr lang="en-US" dirty="0">
                <a:latin typeface="Cambria" panose="02040503050406030204" pitchFamily="18" charset="0"/>
                <a:ea typeface="Cambria" panose="02040503050406030204" pitchFamily="18" charset="0"/>
              </a:rPr>
              <a:t>&lt;servlet-name&gt;s2&lt;/servlet-name&gt;  </a:t>
            </a:r>
          </a:p>
          <a:p>
            <a:pPr>
              <a:spcBef>
                <a:spcPts val="0"/>
              </a:spcBef>
              <a:buNone/>
            </a:pPr>
            <a:r>
              <a:rPr lang="en-US" dirty="0">
                <a:latin typeface="Cambria" panose="02040503050406030204" pitchFamily="18" charset="0"/>
                <a:ea typeface="Cambria" panose="02040503050406030204" pitchFamily="18" charset="0"/>
              </a:rPr>
              <a:t>&lt;url-pattern&gt;/servlet2&lt;/url-pattern&gt;  </a:t>
            </a:r>
          </a:p>
          <a:p>
            <a:pPr>
              <a:spcBef>
                <a:spcPts val="0"/>
              </a:spcBef>
              <a:buNone/>
            </a:pPr>
            <a:r>
              <a:rPr lang="en-US" dirty="0">
                <a:latin typeface="Cambria" panose="02040503050406030204" pitchFamily="18" charset="0"/>
                <a:ea typeface="Cambria" panose="02040503050406030204" pitchFamily="18" charset="0"/>
              </a:rPr>
              <a:t>&lt;/servlet-mapping&gt;    </a:t>
            </a:r>
          </a:p>
          <a:p>
            <a:pPr>
              <a:spcBef>
                <a:spcPts val="0"/>
              </a:spcBef>
              <a:buNone/>
            </a:pPr>
            <a:r>
              <a:rPr lang="en-US" dirty="0">
                <a:latin typeface="Cambria" panose="02040503050406030204" pitchFamily="18" charset="0"/>
                <a:ea typeface="Cambria" panose="02040503050406030204" pitchFamily="18" charset="0"/>
              </a:rPr>
              <a:t>&lt;/web-app&gt;  </a:t>
            </a:r>
          </a:p>
        </p:txBody>
      </p:sp>
    </p:spTree>
    <p:extLst>
      <p:ext uri="{BB962C8B-B14F-4D97-AF65-F5344CB8AC3E}">
        <p14:creationId xmlns:p14="http://schemas.microsoft.com/office/powerpoint/2010/main" val="979138930"/>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92415" y="188640"/>
            <a:ext cx="10515600" cy="849297"/>
          </a:xfrm>
        </p:spPr>
        <p:txBody>
          <a:bodyPr/>
          <a:lstStyle/>
          <a:p>
            <a:pPr algn="ctr"/>
            <a:r>
              <a:rPr lang="en-GB" b="1" dirty="0" smtClean="0">
                <a:solidFill>
                  <a:schemeClr val="accent5"/>
                </a:solidFill>
                <a:latin typeface="Cambria" panose="02040503050406030204" pitchFamily="18" charset="0"/>
                <a:ea typeface="Cambria" panose="02040503050406030204" pitchFamily="18" charset="0"/>
              </a:rPr>
              <a:t>JSP</a:t>
            </a:r>
            <a:endParaRPr lang="en-US" b="1" dirty="0">
              <a:solidFill>
                <a:schemeClr val="accent5"/>
              </a:solidFill>
              <a:latin typeface="Cambria" panose="02040503050406030204" pitchFamily="18" charset="0"/>
              <a:ea typeface="Cambria" panose="02040503050406030204" pitchFamily="18" charset="0"/>
            </a:endParaRPr>
          </a:p>
        </p:txBody>
      </p:sp>
      <p:sp>
        <p:nvSpPr>
          <p:cNvPr id="5" name="Content Placeholder 4"/>
          <p:cNvSpPr>
            <a:spLocks noGrp="1"/>
          </p:cNvSpPr>
          <p:nvPr>
            <p:ph idx="1"/>
          </p:nvPr>
        </p:nvSpPr>
        <p:spPr>
          <a:xfrm>
            <a:off x="407368" y="1243748"/>
            <a:ext cx="10154344" cy="3367275"/>
          </a:xfrm>
        </p:spPr>
        <p:txBody>
          <a:bodyPr/>
          <a:lstStyle/>
          <a:p>
            <a:pPr algn="just"/>
            <a:r>
              <a:rPr lang="en-GB" sz="2400" b="1" dirty="0" smtClean="0">
                <a:latin typeface="Cambria" panose="02040503050406030204" pitchFamily="18" charset="0"/>
                <a:ea typeface="Cambria" panose="02040503050406030204" pitchFamily="18" charset="0"/>
              </a:rPr>
              <a:t>JSP</a:t>
            </a:r>
            <a:r>
              <a:rPr lang="en-GB" sz="2400" dirty="0" smtClean="0">
                <a:latin typeface="Cambria" panose="02040503050406030204" pitchFamily="18" charset="0"/>
                <a:ea typeface="Cambria" panose="02040503050406030204" pitchFamily="18" charset="0"/>
              </a:rPr>
              <a:t> technology is used to create web application just like </a:t>
            </a:r>
            <a:r>
              <a:rPr lang="en-GB" sz="2400" dirty="0" err="1" smtClean="0">
                <a:latin typeface="Cambria" panose="02040503050406030204" pitchFamily="18" charset="0"/>
                <a:ea typeface="Cambria" panose="02040503050406030204" pitchFamily="18" charset="0"/>
              </a:rPr>
              <a:t>Servlet</a:t>
            </a:r>
            <a:r>
              <a:rPr lang="en-GB" sz="2400" dirty="0" smtClean="0">
                <a:latin typeface="Cambria" panose="02040503050406030204" pitchFamily="18" charset="0"/>
                <a:ea typeface="Cambria" panose="02040503050406030204" pitchFamily="18" charset="0"/>
              </a:rPr>
              <a:t> technology. It can be thought of as an extension to Servlet, because it provides more functionality than servlet such as expression language, JSTL, etc.</a:t>
            </a:r>
          </a:p>
          <a:p>
            <a:pPr algn="just"/>
            <a:r>
              <a:rPr lang="en-GB" sz="2400" dirty="0" smtClean="0">
                <a:latin typeface="Cambria" panose="02040503050406030204" pitchFamily="18" charset="0"/>
                <a:ea typeface="Cambria" panose="02040503050406030204" pitchFamily="18" charset="0"/>
              </a:rPr>
              <a:t>A JSP page consists of HTML tags and JSP tags. The JSP pages are easier to maintain than Servlet, because we can separate designing and development</a:t>
            </a:r>
            <a:r>
              <a:rPr lang="en-GB" sz="2400" smtClean="0">
                <a:latin typeface="Cambria" panose="02040503050406030204" pitchFamily="18" charset="0"/>
                <a:ea typeface="Cambria" panose="02040503050406030204" pitchFamily="18" charset="0"/>
              </a:rPr>
              <a:t>. </a:t>
            </a:r>
            <a:endParaRPr lang="en-GB" sz="2400" dirty="0" smtClean="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68</a:t>
            </a:fld>
            <a:endParaRPr lang="en-US" altLang="en-US">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625228664"/>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126" y="116632"/>
            <a:ext cx="7490048" cy="543595"/>
          </a:xfrm>
        </p:spPr>
        <p:txBody>
          <a:bodyPr/>
          <a:lstStyle/>
          <a:p>
            <a:r>
              <a:rPr lang="en-GB" sz="4000" b="1" dirty="0" smtClean="0">
                <a:solidFill>
                  <a:schemeClr val="accent5"/>
                </a:solidFill>
                <a:latin typeface="Cambria" panose="02040503050406030204" pitchFamily="18" charset="0"/>
                <a:ea typeface="Cambria" panose="02040503050406030204" pitchFamily="18" charset="0"/>
              </a:rPr>
              <a:t>Advantages of JSP over Servlet</a:t>
            </a:r>
            <a:endParaRPr lang="en-US" sz="40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263352" y="836712"/>
            <a:ext cx="11449272" cy="4680520"/>
          </a:xfrm>
        </p:spPr>
        <p:txBody>
          <a:bodyPr/>
          <a:lstStyle/>
          <a:p>
            <a:pPr algn="just">
              <a:buNone/>
            </a:pPr>
            <a:r>
              <a:rPr lang="en-GB" sz="2000" dirty="0" smtClean="0">
                <a:latin typeface="Cambria" panose="02040503050406030204" pitchFamily="18" charset="0"/>
                <a:ea typeface="Cambria" panose="02040503050406030204" pitchFamily="18" charset="0"/>
              </a:rPr>
              <a:t>1) Extension to </a:t>
            </a:r>
            <a:r>
              <a:rPr lang="en-GB" sz="2000" dirty="0" err="1" smtClean="0">
                <a:latin typeface="Cambria" panose="02040503050406030204" pitchFamily="18" charset="0"/>
                <a:ea typeface="Cambria" panose="02040503050406030204" pitchFamily="18" charset="0"/>
              </a:rPr>
              <a:t>Servlet</a:t>
            </a:r>
            <a:endParaRPr lang="en-GB" sz="2000" dirty="0" smtClean="0">
              <a:latin typeface="Cambria" panose="02040503050406030204" pitchFamily="18" charset="0"/>
              <a:ea typeface="Cambria" panose="02040503050406030204" pitchFamily="18" charset="0"/>
            </a:endParaRPr>
          </a:p>
          <a:p>
            <a:pPr algn="just"/>
            <a:r>
              <a:rPr lang="en-GB" sz="2000" dirty="0" smtClean="0">
                <a:latin typeface="Cambria" panose="02040503050406030204" pitchFamily="18" charset="0"/>
                <a:ea typeface="Cambria" panose="02040503050406030204" pitchFamily="18" charset="0"/>
              </a:rPr>
              <a:t>JSP technology is the extension to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technology. We can use all the features of the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in JSP. In addition to, we can use implicit objects, predefined tags, expression language and Custom tags in JSP, that makes JSP development easy.</a:t>
            </a:r>
          </a:p>
          <a:p>
            <a:pPr marL="0" indent="0" algn="just">
              <a:buNone/>
            </a:pPr>
            <a:r>
              <a:rPr lang="en-GB" sz="2000" dirty="0" smtClean="0">
                <a:latin typeface="Cambria" panose="02040503050406030204" pitchFamily="18" charset="0"/>
                <a:ea typeface="Cambria" panose="02040503050406030204" pitchFamily="18" charset="0"/>
              </a:rPr>
              <a:t>2) Easy to maintain</a:t>
            </a:r>
          </a:p>
          <a:p>
            <a:pPr algn="just"/>
            <a:r>
              <a:rPr lang="en-GB" sz="2000" dirty="0" smtClean="0">
                <a:latin typeface="Cambria" panose="02040503050406030204" pitchFamily="18" charset="0"/>
                <a:ea typeface="Cambria" panose="02040503050406030204" pitchFamily="18" charset="0"/>
              </a:rPr>
              <a:t>JSP can be easily managed because we can easily separate our business logic with presentation logic. In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technology, we mix our business logic with the presentation logic.</a:t>
            </a:r>
          </a:p>
          <a:p>
            <a:pPr marL="0" indent="0" algn="just">
              <a:buNone/>
            </a:pPr>
            <a:r>
              <a:rPr lang="en-GB" sz="2000" dirty="0" smtClean="0">
                <a:latin typeface="Cambria" panose="02040503050406030204" pitchFamily="18" charset="0"/>
                <a:ea typeface="Cambria" panose="02040503050406030204" pitchFamily="18" charset="0"/>
              </a:rPr>
              <a:t>3) Fast Development: No need to recompile and redeploy</a:t>
            </a:r>
          </a:p>
          <a:p>
            <a:pPr algn="just"/>
            <a:r>
              <a:rPr lang="en-GB" sz="2000" dirty="0" smtClean="0">
                <a:latin typeface="Cambria" panose="02040503050406030204" pitchFamily="18" charset="0"/>
                <a:ea typeface="Cambria" panose="02040503050406030204" pitchFamily="18" charset="0"/>
              </a:rPr>
              <a:t>If JSP page is modified, we don't need to recompile and redeploy the project. The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code needs to be updated and recompiled if we have to change the look and feel of the application.</a:t>
            </a:r>
          </a:p>
          <a:p>
            <a:pPr marL="0" indent="0" algn="just">
              <a:buNone/>
            </a:pPr>
            <a:r>
              <a:rPr lang="en-GB" sz="2000" dirty="0" smtClean="0">
                <a:latin typeface="Cambria" panose="02040503050406030204" pitchFamily="18" charset="0"/>
                <a:ea typeface="Cambria" panose="02040503050406030204" pitchFamily="18" charset="0"/>
              </a:rPr>
              <a:t>4) Less code than </a:t>
            </a:r>
            <a:r>
              <a:rPr lang="en-GB" sz="2000" dirty="0" err="1" smtClean="0">
                <a:latin typeface="Cambria" panose="02040503050406030204" pitchFamily="18" charset="0"/>
                <a:ea typeface="Cambria" panose="02040503050406030204" pitchFamily="18" charset="0"/>
              </a:rPr>
              <a:t>Servlet</a:t>
            </a:r>
            <a:endParaRPr lang="en-GB" sz="2000" dirty="0" smtClean="0">
              <a:latin typeface="Cambria" panose="02040503050406030204" pitchFamily="18" charset="0"/>
              <a:ea typeface="Cambria" panose="02040503050406030204" pitchFamily="18" charset="0"/>
            </a:endParaRPr>
          </a:p>
          <a:p>
            <a:pPr algn="just"/>
            <a:r>
              <a:rPr lang="en-GB" sz="2000" dirty="0" smtClean="0">
                <a:latin typeface="Cambria" panose="02040503050406030204" pitchFamily="18" charset="0"/>
                <a:ea typeface="Cambria" panose="02040503050406030204" pitchFamily="18" charset="0"/>
              </a:rPr>
              <a:t>In JSP, we can use many tags such as action tags, JSTL, custom tags, etc. that reduces the code. Moreover, we can use EL, implicit objects, etc.</a:t>
            </a:r>
          </a:p>
          <a:p>
            <a:pPr algn="just"/>
            <a:endParaRPr lang="en-US" sz="20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69</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095" y="1"/>
            <a:ext cx="5430833" cy="764704"/>
          </a:xfrm>
        </p:spPr>
        <p:txBody>
          <a:bodyPr/>
          <a:lstStyle/>
          <a:p>
            <a:pPr algn="just"/>
            <a:r>
              <a:rPr lang="en-GB" sz="4000" b="1" dirty="0" smtClean="0">
                <a:solidFill>
                  <a:schemeClr val="accent5"/>
                </a:solidFill>
                <a:latin typeface="Cambria" panose="02040503050406030204" pitchFamily="18" charset="0"/>
                <a:ea typeface="Cambria" panose="02040503050406030204" pitchFamily="18" charset="0"/>
              </a:rPr>
              <a:t>Lifecycle of a JSP Page</a:t>
            </a:r>
            <a:endParaRPr lang="en-GB" sz="40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190128" y="734417"/>
            <a:ext cx="11738520" cy="5070847"/>
          </a:xfrm>
        </p:spPr>
        <p:txBody>
          <a:bodyPr/>
          <a:lstStyle/>
          <a:p>
            <a:pPr marL="0" indent="0" algn="just">
              <a:buNone/>
            </a:pPr>
            <a:r>
              <a:rPr lang="en-GB" sz="2000" dirty="0" smtClean="0">
                <a:latin typeface="Cambria" panose="02040503050406030204" pitchFamily="18" charset="0"/>
                <a:ea typeface="Cambria" panose="02040503050406030204" pitchFamily="18" charset="0"/>
              </a:rPr>
              <a:t>The JSP pages follow these phases:</a:t>
            </a:r>
          </a:p>
          <a:p>
            <a:pPr algn="just"/>
            <a:r>
              <a:rPr lang="en-GB" sz="2000" dirty="0" smtClean="0">
                <a:latin typeface="Cambria" panose="02040503050406030204" pitchFamily="18" charset="0"/>
                <a:ea typeface="Cambria" panose="02040503050406030204" pitchFamily="18" charset="0"/>
              </a:rPr>
              <a:t>Translation of JSP Page</a:t>
            </a:r>
          </a:p>
          <a:p>
            <a:pPr algn="just"/>
            <a:r>
              <a:rPr lang="en-GB" sz="2000" dirty="0" smtClean="0">
                <a:latin typeface="Cambria" panose="02040503050406030204" pitchFamily="18" charset="0"/>
                <a:ea typeface="Cambria" panose="02040503050406030204" pitchFamily="18" charset="0"/>
              </a:rPr>
              <a:t>Compilation of JSP Page</a:t>
            </a:r>
          </a:p>
          <a:p>
            <a:pPr algn="just"/>
            <a:r>
              <a:rPr lang="en-GB" sz="2000" dirty="0" err="1" smtClean="0">
                <a:latin typeface="Cambria" panose="02040503050406030204" pitchFamily="18" charset="0"/>
                <a:ea typeface="Cambria" panose="02040503050406030204" pitchFamily="18" charset="0"/>
              </a:rPr>
              <a:t>Classloading</a:t>
            </a:r>
            <a:r>
              <a:rPr lang="en-GB" sz="2000" dirty="0" smtClean="0">
                <a:latin typeface="Cambria" panose="02040503050406030204" pitchFamily="18" charset="0"/>
                <a:ea typeface="Cambria" panose="02040503050406030204" pitchFamily="18" charset="0"/>
              </a:rPr>
              <a:t> (the </a:t>
            </a:r>
            <a:r>
              <a:rPr lang="en-GB" sz="2000" dirty="0" err="1" smtClean="0">
                <a:latin typeface="Cambria" panose="02040503050406030204" pitchFamily="18" charset="0"/>
                <a:ea typeface="Cambria" panose="02040503050406030204" pitchFamily="18" charset="0"/>
              </a:rPr>
              <a:t>classloader</a:t>
            </a:r>
            <a:r>
              <a:rPr lang="en-GB" sz="2000" dirty="0" smtClean="0">
                <a:latin typeface="Cambria" panose="02040503050406030204" pitchFamily="18" charset="0"/>
                <a:ea typeface="Cambria" panose="02040503050406030204" pitchFamily="18" charset="0"/>
              </a:rPr>
              <a:t> loads class file)</a:t>
            </a:r>
          </a:p>
          <a:p>
            <a:pPr algn="just"/>
            <a:r>
              <a:rPr lang="en-GB" sz="2000" dirty="0" smtClean="0">
                <a:latin typeface="Cambria" panose="02040503050406030204" pitchFamily="18" charset="0"/>
                <a:ea typeface="Cambria" panose="02040503050406030204" pitchFamily="18" charset="0"/>
              </a:rPr>
              <a:t>Instantiation (Object of the Generated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is created).</a:t>
            </a:r>
          </a:p>
          <a:p>
            <a:pPr algn="just"/>
            <a:r>
              <a:rPr lang="en-GB" sz="2000" dirty="0" smtClean="0">
                <a:latin typeface="Cambria" panose="02040503050406030204" pitchFamily="18" charset="0"/>
                <a:ea typeface="Cambria" panose="02040503050406030204" pitchFamily="18" charset="0"/>
              </a:rPr>
              <a:t>Initialization ( the container invokes </a:t>
            </a:r>
            <a:r>
              <a:rPr lang="en-GB" sz="2000" dirty="0" err="1" smtClean="0">
                <a:latin typeface="Cambria" panose="02040503050406030204" pitchFamily="18" charset="0"/>
                <a:ea typeface="Cambria" panose="02040503050406030204" pitchFamily="18" charset="0"/>
              </a:rPr>
              <a:t>jspInit</a:t>
            </a:r>
            <a:r>
              <a:rPr lang="en-GB" sz="2000" dirty="0" smtClean="0">
                <a:latin typeface="Cambria" panose="02040503050406030204" pitchFamily="18" charset="0"/>
                <a:ea typeface="Cambria" panose="02040503050406030204" pitchFamily="18" charset="0"/>
              </a:rPr>
              <a:t>() method).</a:t>
            </a:r>
          </a:p>
          <a:p>
            <a:pPr algn="just"/>
            <a:r>
              <a:rPr lang="en-GB" sz="2000" dirty="0" smtClean="0">
                <a:latin typeface="Cambria" panose="02040503050406030204" pitchFamily="18" charset="0"/>
                <a:ea typeface="Cambria" panose="02040503050406030204" pitchFamily="18" charset="0"/>
              </a:rPr>
              <a:t>Request processing ( the container invokes _jspService() method).</a:t>
            </a:r>
          </a:p>
          <a:p>
            <a:pPr algn="just"/>
            <a:r>
              <a:rPr lang="en-GB" sz="2000" dirty="0" smtClean="0">
                <a:latin typeface="Cambria" panose="02040503050406030204" pitchFamily="18" charset="0"/>
                <a:ea typeface="Cambria" panose="02040503050406030204" pitchFamily="18" charset="0"/>
              </a:rPr>
              <a:t>Destroy ( the container invokes </a:t>
            </a:r>
            <a:r>
              <a:rPr lang="en-GB" sz="2000" dirty="0" err="1" smtClean="0">
                <a:latin typeface="Cambria" panose="02040503050406030204" pitchFamily="18" charset="0"/>
                <a:ea typeface="Cambria" panose="02040503050406030204" pitchFamily="18" charset="0"/>
              </a:rPr>
              <a:t>jspDestroy</a:t>
            </a:r>
            <a:r>
              <a:rPr lang="en-GB" sz="2000" dirty="0" smtClean="0">
                <a:latin typeface="Cambria" panose="02040503050406030204" pitchFamily="18" charset="0"/>
                <a:ea typeface="Cambria" panose="02040503050406030204" pitchFamily="18" charset="0"/>
              </a:rPr>
              <a:t>() method).</a:t>
            </a:r>
          </a:p>
          <a:p>
            <a:pPr algn="just"/>
            <a:r>
              <a:rPr lang="en-GB" sz="2000" dirty="0" smtClean="0">
                <a:latin typeface="Cambria" panose="02040503050406030204" pitchFamily="18" charset="0"/>
                <a:ea typeface="Cambria" panose="02040503050406030204" pitchFamily="18" charset="0"/>
              </a:rPr>
              <a:t>Note: </a:t>
            </a:r>
            <a:r>
              <a:rPr lang="en-GB" sz="2000" dirty="0" err="1" smtClean="0">
                <a:latin typeface="Cambria" panose="02040503050406030204" pitchFamily="18" charset="0"/>
                <a:ea typeface="Cambria" panose="02040503050406030204" pitchFamily="18" charset="0"/>
              </a:rPr>
              <a:t>jspInit</a:t>
            </a:r>
            <a:r>
              <a:rPr lang="en-GB" sz="2000" dirty="0" smtClean="0">
                <a:latin typeface="Cambria" panose="02040503050406030204" pitchFamily="18" charset="0"/>
                <a:ea typeface="Cambria" panose="02040503050406030204" pitchFamily="18" charset="0"/>
              </a:rPr>
              <a:t>(), _</a:t>
            </a:r>
            <a:r>
              <a:rPr lang="en-GB" sz="2000" dirty="0" err="1" smtClean="0">
                <a:latin typeface="Cambria" panose="02040503050406030204" pitchFamily="18" charset="0"/>
                <a:ea typeface="Cambria" panose="02040503050406030204" pitchFamily="18" charset="0"/>
              </a:rPr>
              <a:t>jspService</a:t>
            </a:r>
            <a:r>
              <a:rPr lang="en-GB" sz="2000" dirty="0" smtClean="0">
                <a:latin typeface="Cambria" panose="02040503050406030204" pitchFamily="18" charset="0"/>
                <a:ea typeface="Cambria" panose="02040503050406030204" pitchFamily="18" charset="0"/>
              </a:rPr>
              <a:t>() and </a:t>
            </a:r>
            <a:r>
              <a:rPr lang="en-GB" sz="2000" dirty="0" err="1" smtClean="0">
                <a:latin typeface="Cambria" panose="02040503050406030204" pitchFamily="18" charset="0"/>
                <a:ea typeface="Cambria" panose="02040503050406030204" pitchFamily="18" charset="0"/>
              </a:rPr>
              <a:t>jspDestroy</a:t>
            </a:r>
            <a:r>
              <a:rPr lang="en-GB" sz="2000" dirty="0" smtClean="0">
                <a:latin typeface="Cambria" panose="02040503050406030204" pitchFamily="18" charset="0"/>
                <a:ea typeface="Cambria" panose="02040503050406030204" pitchFamily="18" charset="0"/>
              </a:rPr>
              <a:t>() are the life cycle methods of JSP.</a:t>
            </a:r>
          </a:p>
          <a:p>
            <a:pPr algn="just"/>
            <a:r>
              <a:rPr lang="en-GB" sz="2000" dirty="0" smtClean="0">
                <a:latin typeface="Cambria" panose="02040503050406030204" pitchFamily="18" charset="0"/>
                <a:ea typeface="Cambria" panose="02040503050406030204" pitchFamily="18" charset="0"/>
              </a:rPr>
              <a:t>JSP page is translated into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by the help of JSP translator. The JSP translator is a part of the web server which is responsible for translating the JSP page into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After that,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page is compiled by the compiler and gets converted into the class file. Moreover, all the processes that happen in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are performed on JSP later like initialization, committing response to the browser and destroy.</a:t>
            </a:r>
          </a:p>
          <a:p>
            <a:pPr algn="just"/>
            <a:endParaRPr lang="en-US" sz="20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70</a:t>
            </a:fld>
            <a:endParaRPr lang="en-US" altLang="en-US">
              <a:latin typeface="Cambria" panose="02040503050406030204" pitchFamily="18" charset="0"/>
              <a:ea typeface="Cambria" panose="02040503050406030204" pitchFamily="18" charset="0"/>
            </a:endParaRPr>
          </a:p>
        </p:txBody>
      </p:sp>
      <p:pic>
        <p:nvPicPr>
          <p:cNvPr id="6" name="Picture 5" descr="How JSP is converted into Servlet"/>
          <p:cNvPicPr/>
          <p:nvPr/>
        </p:nvPicPr>
        <p:blipFill>
          <a:blip r:embed="rId2"/>
          <a:srcRect/>
          <a:stretch>
            <a:fillRect/>
          </a:stretch>
        </p:blipFill>
        <p:spPr bwMode="auto">
          <a:xfrm>
            <a:off x="7125781" y="14889"/>
            <a:ext cx="4975900" cy="3126080"/>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9835"/>
            <a:ext cx="6384032" cy="672861"/>
          </a:xfrm>
        </p:spPr>
        <p:txBody>
          <a:bodyPr/>
          <a:lstStyle/>
          <a:p>
            <a:r>
              <a:rPr lang="en-GB" sz="4000" b="1" dirty="0" smtClean="0">
                <a:solidFill>
                  <a:schemeClr val="accent5"/>
                </a:solidFill>
                <a:latin typeface="Cambria" panose="02040503050406030204" pitchFamily="18" charset="0"/>
                <a:ea typeface="Cambria" panose="02040503050406030204" pitchFamily="18" charset="0"/>
              </a:rPr>
              <a:t>Creating a simple JSP Page</a:t>
            </a:r>
            <a:endParaRPr lang="en-GB" sz="40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335360" y="662590"/>
            <a:ext cx="11665296" cy="4782634"/>
          </a:xfrm>
        </p:spPr>
        <p:txBody>
          <a:bodyPr/>
          <a:lstStyle/>
          <a:p>
            <a:pPr algn="just"/>
            <a:r>
              <a:rPr lang="en-GB" sz="1800" dirty="0" smtClean="0">
                <a:latin typeface="Cambria" panose="02040503050406030204" pitchFamily="18" charset="0"/>
                <a:ea typeface="Cambria" panose="02040503050406030204" pitchFamily="18" charset="0"/>
              </a:rPr>
              <a:t>To create the first JSP page, write some HTML code as given below, and save it by .</a:t>
            </a:r>
            <a:r>
              <a:rPr lang="en-GB" sz="1800" dirty="0" err="1" smtClean="0">
                <a:latin typeface="Cambria" panose="02040503050406030204" pitchFamily="18" charset="0"/>
                <a:ea typeface="Cambria" panose="02040503050406030204" pitchFamily="18" charset="0"/>
              </a:rPr>
              <a:t>jsp</a:t>
            </a:r>
            <a:r>
              <a:rPr lang="en-GB" sz="1800" dirty="0" smtClean="0">
                <a:latin typeface="Cambria" panose="02040503050406030204" pitchFamily="18" charset="0"/>
                <a:ea typeface="Cambria" panose="02040503050406030204" pitchFamily="18" charset="0"/>
              </a:rPr>
              <a:t> extension. We have saved this file as index.jsp. Put it in a folder and paste the folder in the web-apps directory in apache tomcat to run the JSP page.</a:t>
            </a:r>
          </a:p>
          <a:p>
            <a:pPr algn="just"/>
            <a:r>
              <a:rPr lang="en-GB" sz="1800" b="1" dirty="0" smtClean="0">
                <a:latin typeface="Cambria" panose="02040503050406030204" pitchFamily="18" charset="0"/>
                <a:ea typeface="Cambria" panose="02040503050406030204" pitchFamily="18" charset="0"/>
              </a:rPr>
              <a:t>index.jsp </a:t>
            </a:r>
            <a:r>
              <a:rPr lang="en-GB" sz="1800" dirty="0" smtClean="0">
                <a:latin typeface="Cambria" panose="02040503050406030204" pitchFamily="18" charset="0"/>
                <a:ea typeface="Cambria" panose="02040503050406030204" pitchFamily="18" charset="0"/>
              </a:rPr>
              <a:t>Let's see the simple example of JSP where we are using the scriptlet tag to put Java code in the JSP page.</a:t>
            </a:r>
          </a:p>
          <a:p>
            <a:pPr marL="457200" lvl="1" indent="0" algn="just">
              <a:buNone/>
            </a:pPr>
            <a:r>
              <a:rPr lang="en-GB" sz="1600" dirty="0" smtClean="0">
                <a:latin typeface="Cambria" panose="02040503050406030204" pitchFamily="18" charset="0"/>
                <a:ea typeface="Cambria" panose="02040503050406030204" pitchFamily="18" charset="0"/>
              </a:rPr>
              <a:t>&lt;html&gt;  </a:t>
            </a:r>
          </a:p>
          <a:p>
            <a:pPr marL="457200" lvl="1" indent="0" algn="just">
              <a:buNone/>
            </a:pPr>
            <a:r>
              <a:rPr lang="en-GB" sz="1600" dirty="0" smtClean="0">
                <a:latin typeface="Cambria" panose="02040503050406030204" pitchFamily="18" charset="0"/>
                <a:ea typeface="Cambria" panose="02040503050406030204" pitchFamily="18" charset="0"/>
              </a:rPr>
              <a:t>&lt;body&gt;  </a:t>
            </a:r>
          </a:p>
          <a:p>
            <a:pPr marL="457200" lvl="1" indent="0" algn="just">
              <a:buNone/>
            </a:pPr>
            <a:r>
              <a:rPr lang="en-GB" sz="1600" dirty="0" smtClean="0">
                <a:latin typeface="Cambria" panose="02040503050406030204" pitchFamily="18" charset="0"/>
                <a:ea typeface="Cambria" panose="02040503050406030204" pitchFamily="18" charset="0"/>
              </a:rPr>
              <a:t>&lt;% </a:t>
            </a:r>
            <a:r>
              <a:rPr lang="en-GB" sz="1600" dirty="0" err="1" smtClean="0">
                <a:latin typeface="Cambria" panose="02040503050406030204" pitchFamily="18" charset="0"/>
                <a:ea typeface="Cambria" panose="02040503050406030204" pitchFamily="18" charset="0"/>
              </a:rPr>
              <a:t>out.print</a:t>
            </a:r>
            <a:r>
              <a:rPr lang="en-GB" sz="1600" dirty="0" smtClean="0">
                <a:latin typeface="Cambria" panose="02040503050406030204" pitchFamily="18" charset="0"/>
                <a:ea typeface="Cambria" panose="02040503050406030204" pitchFamily="18" charset="0"/>
              </a:rPr>
              <a:t>(2*5); %&gt;  </a:t>
            </a:r>
          </a:p>
          <a:p>
            <a:pPr marL="457200" lvl="1" indent="0" algn="just">
              <a:buNone/>
            </a:pPr>
            <a:r>
              <a:rPr lang="en-GB" sz="1600" dirty="0" smtClean="0">
                <a:latin typeface="Cambria" panose="02040503050406030204" pitchFamily="18" charset="0"/>
                <a:ea typeface="Cambria" panose="02040503050406030204" pitchFamily="18" charset="0"/>
              </a:rPr>
              <a:t>&lt;/body&gt;  </a:t>
            </a:r>
          </a:p>
          <a:p>
            <a:pPr marL="457200" lvl="1" indent="0" algn="just">
              <a:buNone/>
            </a:pPr>
            <a:r>
              <a:rPr lang="en-GB" sz="1600" dirty="0" smtClean="0">
                <a:latin typeface="Cambria" panose="02040503050406030204" pitchFamily="18" charset="0"/>
                <a:ea typeface="Cambria" panose="02040503050406030204" pitchFamily="18" charset="0"/>
              </a:rPr>
              <a:t>&lt;/html&gt;  </a:t>
            </a:r>
          </a:p>
          <a:p>
            <a:pPr algn="just"/>
            <a:r>
              <a:rPr lang="en-GB" sz="1800" dirty="0" smtClean="0">
                <a:latin typeface="Cambria" panose="02040503050406030204" pitchFamily="18" charset="0"/>
                <a:ea typeface="Cambria" panose="02040503050406030204" pitchFamily="18" charset="0"/>
              </a:rPr>
              <a:t>How to run a simple JSP Page?</a:t>
            </a:r>
          </a:p>
          <a:p>
            <a:pPr algn="just"/>
            <a:r>
              <a:rPr lang="en-GB" sz="1800" dirty="0" smtClean="0">
                <a:latin typeface="Cambria" panose="02040503050406030204" pitchFamily="18" charset="0"/>
                <a:ea typeface="Cambria" panose="02040503050406030204" pitchFamily="18" charset="0"/>
              </a:rPr>
              <a:t>Follow the following steps to execute this JSP page:</a:t>
            </a:r>
          </a:p>
          <a:p>
            <a:pPr algn="just"/>
            <a:r>
              <a:rPr lang="en-GB" sz="1800" dirty="0" smtClean="0">
                <a:latin typeface="Cambria" panose="02040503050406030204" pitchFamily="18" charset="0"/>
                <a:ea typeface="Cambria" panose="02040503050406030204" pitchFamily="18" charset="0"/>
              </a:rPr>
              <a:t>Start the server</a:t>
            </a:r>
          </a:p>
          <a:p>
            <a:pPr algn="just"/>
            <a:r>
              <a:rPr lang="en-GB" sz="1800" dirty="0" smtClean="0">
                <a:latin typeface="Cambria" panose="02040503050406030204" pitchFamily="18" charset="0"/>
                <a:ea typeface="Cambria" panose="02040503050406030204" pitchFamily="18" charset="0"/>
              </a:rPr>
              <a:t>Put the JSP file in a folder and deploy on the server</a:t>
            </a:r>
          </a:p>
          <a:p>
            <a:pPr algn="just"/>
            <a:r>
              <a:rPr lang="en-GB" sz="1800" dirty="0" smtClean="0">
                <a:latin typeface="Cambria" panose="02040503050406030204" pitchFamily="18" charset="0"/>
                <a:ea typeface="Cambria" panose="02040503050406030204" pitchFamily="18" charset="0"/>
              </a:rPr>
              <a:t>Visit the browser by the URL http://localhost:portno/contextRoot/jspfile, for example, http://localhost:8888/myapplication/index.jsp</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71</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344" y="188640"/>
            <a:ext cx="10515600" cy="777859"/>
          </a:xfrm>
        </p:spPr>
        <p:txBody>
          <a:bodyPr/>
          <a:lstStyle/>
          <a:p>
            <a:r>
              <a:rPr lang="en-GB" dirty="0" smtClean="0"/>
              <a:t>The Directory structure of JSP</a:t>
            </a:r>
            <a:endParaRPr lang="en-GB" dirty="0"/>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pPr>
                <a:defRPr/>
              </a:pPr>
              <a:t>72</a:t>
            </a:fld>
            <a:endParaRPr lang="en-US" altLang="en-US"/>
          </a:p>
        </p:txBody>
      </p:sp>
      <p:pic>
        <p:nvPicPr>
          <p:cNvPr id="6" name="Content Placeholder 5" descr="The directory structure of JSP"/>
          <p:cNvPicPr>
            <a:picLocks noGrp="1"/>
          </p:cNvPicPr>
          <p:nvPr>
            <p:ph idx="1"/>
          </p:nvPr>
        </p:nvPicPr>
        <p:blipFill>
          <a:blip r:embed="rId2"/>
          <a:srcRect/>
          <a:stretch>
            <a:fillRect/>
          </a:stretch>
        </p:blipFill>
        <p:spPr bwMode="auto">
          <a:xfrm>
            <a:off x="2207568" y="1052736"/>
            <a:ext cx="5695977" cy="336232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09" y="35618"/>
            <a:ext cx="3313584" cy="527034"/>
          </a:xfrm>
        </p:spPr>
        <p:txBody>
          <a:bodyPr/>
          <a:lstStyle/>
          <a:p>
            <a:r>
              <a:rPr lang="en-GB" sz="4000" b="1" dirty="0" smtClean="0">
                <a:solidFill>
                  <a:schemeClr val="accent5"/>
                </a:solidFill>
                <a:latin typeface="Cambria" panose="02040503050406030204" pitchFamily="18" charset="0"/>
                <a:ea typeface="Cambria" panose="02040503050406030204" pitchFamily="18" charset="0"/>
              </a:rPr>
              <a:t> </a:t>
            </a:r>
            <a:r>
              <a:rPr lang="en-IN" sz="4000" b="1" dirty="0" smtClean="0">
                <a:solidFill>
                  <a:schemeClr val="accent5"/>
                </a:solidFill>
                <a:latin typeface="Cambria" panose="02040503050406030204" pitchFamily="18" charset="0"/>
                <a:ea typeface="Cambria" panose="02040503050406030204" pitchFamily="18" charset="0"/>
              </a:rPr>
              <a:t/>
            </a:r>
            <a:br>
              <a:rPr lang="en-IN" sz="4000" b="1" dirty="0" smtClean="0">
                <a:solidFill>
                  <a:schemeClr val="accent5"/>
                </a:solidFill>
                <a:latin typeface="Cambria" panose="02040503050406030204" pitchFamily="18" charset="0"/>
                <a:ea typeface="Cambria" panose="02040503050406030204" pitchFamily="18" charset="0"/>
              </a:rPr>
            </a:br>
            <a:r>
              <a:rPr lang="en-IN" sz="4000" b="1" dirty="0" smtClean="0">
                <a:solidFill>
                  <a:schemeClr val="accent5"/>
                </a:solidFill>
                <a:latin typeface="Cambria" panose="02040503050406030204" pitchFamily="18" charset="0"/>
                <a:ea typeface="Cambria" panose="02040503050406030204" pitchFamily="18" charset="0"/>
              </a:rPr>
              <a:t/>
            </a:r>
            <a:br>
              <a:rPr lang="en-IN" sz="4000" b="1" dirty="0" smtClean="0">
                <a:solidFill>
                  <a:schemeClr val="accent5"/>
                </a:solidFill>
                <a:latin typeface="Cambria" panose="02040503050406030204" pitchFamily="18" charset="0"/>
                <a:ea typeface="Cambria" panose="02040503050406030204" pitchFamily="18" charset="0"/>
              </a:rPr>
            </a:br>
            <a:r>
              <a:rPr lang="en-US" sz="4000" b="1" dirty="0" smtClean="0">
                <a:solidFill>
                  <a:schemeClr val="accent5"/>
                </a:solidFill>
                <a:latin typeface="Cambria" panose="02040503050406030204" pitchFamily="18" charset="0"/>
                <a:ea typeface="Cambria" panose="02040503050406030204" pitchFamily="18" charset="0"/>
              </a:rPr>
              <a:t>The JSP API</a:t>
            </a:r>
            <a:br>
              <a:rPr lang="en-US" sz="4000" b="1" dirty="0" smtClean="0">
                <a:solidFill>
                  <a:schemeClr val="accent5"/>
                </a:solidFill>
                <a:latin typeface="Cambria" panose="02040503050406030204" pitchFamily="18" charset="0"/>
                <a:ea typeface="Cambria" panose="02040503050406030204" pitchFamily="18" charset="0"/>
              </a:rPr>
            </a:br>
            <a:r>
              <a:rPr lang="en-US" sz="4000" b="1" dirty="0" smtClean="0">
                <a:solidFill>
                  <a:schemeClr val="accent5"/>
                </a:solidFill>
                <a:latin typeface="Cambria" panose="02040503050406030204" pitchFamily="18" charset="0"/>
                <a:ea typeface="Cambria" panose="02040503050406030204" pitchFamily="18" charset="0"/>
              </a:rPr>
              <a:t/>
            </a:r>
            <a:br>
              <a:rPr lang="en-US" sz="4000" b="1" dirty="0" smtClean="0">
                <a:solidFill>
                  <a:schemeClr val="accent5"/>
                </a:solidFill>
                <a:latin typeface="Cambria" panose="02040503050406030204" pitchFamily="18" charset="0"/>
                <a:ea typeface="Cambria" panose="02040503050406030204" pitchFamily="18" charset="0"/>
              </a:rPr>
            </a:br>
            <a:endParaRPr lang="en-US" sz="40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07368" y="562652"/>
            <a:ext cx="10946432" cy="4450524"/>
          </a:xfrm>
        </p:spPr>
        <p:txBody>
          <a:bodyPr/>
          <a:lstStyle/>
          <a:p>
            <a:pPr>
              <a:lnSpc>
                <a:spcPct val="100000"/>
              </a:lnSpc>
              <a:spcBef>
                <a:spcPts val="0"/>
              </a:spcBef>
            </a:pPr>
            <a:r>
              <a:rPr lang="en-US" sz="2000" dirty="0" smtClean="0">
                <a:latin typeface="Cambria" panose="02040503050406030204" pitchFamily="18" charset="0"/>
                <a:ea typeface="Cambria" panose="02040503050406030204" pitchFamily="18" charset="0"/>
              </a:rPr>
              <a:t>The JSP API consists of two packages:</a:t>
            </a:r>
          </a:p>
          <a:p>
            <a:pPr marL="514350" indent="-514350">
              <a:lnSpc>
                <a:spcPct val="100000"/>
              </a:lnSpc>
              <a:spcBef>
                <a:spcPts val="0"/>
              </a:spcBef>
              <a:buFont typeface="+mj-lt"/>
              <a:buAutoNum type="arabicPeriod"/>
            </a:pPr>
            <a:r>
              <a:rPr lang="en-US" sz="2000" dirty="0" err="1" smtClean="0">
                <a:latin typeface="Cambria" panose="02040503050406030204" pitchFamily="18" charset="0"/>
                <a:ea typeface="Cambria" panose="02040503050406030204" pitchFamily="18" charset="0"/>
              </a:rPr>
              <a:t>javax.servlet.jsp</a:t>
            </a:r>
            <a:endParaRPr lang="en-US" sz="2000" dirty="0" smtClean="0">
              <a:latin typeface="Cambria" panose="02040503050406030204" pitchFamily="18" charset="0"/>
              <a:ea typeface="Cambria" panose="02040503050406030204" pitchFamily="18" charset="0"/>
            </a:endParaRPr>
          </a:p>
          <a:p>
            <a:pPr marL="514350" indent="-514350">
              <a:lnSpc>
                <a:spcPct val="100000"/>
              </a:lnSpc>
              <a:spcBef>
                <a:spcPts val="0"/>
              </a:spcBef>
              <a:buFont typeface="+mj-lt"/>
              <a:buAutoNum type="arabicPeriod"/>
            </a:pPr>
            <a:r>
              <a:rPr lang="en-US" sz="2000" dirty="0" smtClean="0">
                <a:latin typeface="Cambria" panose="02040503050406030204" pitchFamily="18" charset="0"/>
                <a:ea typeface="Cambria" panose="02040503050406030204" pitchFamily="18" charset="0"/>
              </a:rPr>
              <a:t>javax.servlet.jsp.tagext</a:t>
            </a:r>
          </a:p>
          <a:p>
            <a:pPr marL="0" indent="0">
              <a:lnSpc>
                <a:spcPct val="100000"/>
              </a:lnSpc>
              <a:spcBef>
                <a:spcPts val="0"/>
              </a:spcBef>
              <a:buNone/>
            </a:pPr>
            <a:endParaRPr lang="en-US" sz="2000" dirty="0" smtClean="0">
              <a:latin typeface="Cambria" panose="02040503050406030204" pitchFamily="18" charset="0"/>
              <a:ea typeface="Cambria" panose="02040503050406030204" pitchFamily="18" charset="0"/>
            </a:endParaRPr>
          </a:p>
          <a:p>
            <a:pPr marL="0" indent="0">
              <a:lnSpc>
                <a:spcPct val="100000"/>
              </a:lnSpc>
              <a:spcBef>
                <a:spcPts val="0"/>
              </a:spcBef>
              <a:buNone/>
            </a:pPr>
            <a:r>
              <a:rPr lang="en-US" sz="2000" b="1" dirty="0" err="1" smtClean="0">
                <a:latin typeface="Cambria" panose="02040503050406030204" pitchFamily="18" charset="0"/>
                <a:ea typeface="Cambria" panose="02040503050406030204" pitchFamily="18" charset="0"/>
              </a:rPr>
              <a:t>javax.servlet.jsp</a:t>
            </a:r>
            <a:r>
              <a:rPr lang="en-US" sz="2000" b="1" dirty="0" smtClean="0">
                <a:latin typeface="Cambria" panose="02040503050406030204" pitchFamily="18" charset="0"/>
                <a:ea typeface="Cambria" panose="02040503050406030204" pitchFamily="18" charset="0"/>
              </a:rPr>
              <a:t> package</a:t>
            </a:r>
          </a:p>
          <a:p>
            <a:pPr>
              <a:lnSpc>
                <a:spcPct val="100000"/>
              </a:lnSpc>
              <a:spcBef>
                <a:spcPts val="0"/>
              </a:spcBef>
            </a:pPr>
            <a:r>
              <a:rPr lang="en-US" sz="2000" dirty="0" smtClean="0">
                <a:latin typeface="Cambria" panose="02040503050406030204" pitchFamily="18" charset="0"/>
                <a:ea typeface="Cambria" panose="02040503050406030204" pitchFamily="18" charset="0"/>
              </a:rPr>
              <a:t>The javax.servlet.jsp package has two interfaces and classes. The two interfaces are as follows:</a:t>
            </a:r>
          </a:p>
          <a:p>
            <a:pPr marL="514350" indent="-514350">
              <a:lnSpc>
                <a:spcPct val="100000"/>
              </a:lnSpc>
              <a:spcBef>
                <a:spcPts val="0"/>
              </a:spcBef>
              <a:buFont typeface="+mj-lt"/>
              <a:buAutoNum type="arabicPeriod"/>
            </a:pPr>
            <a:r>
              <a:rPr lang="en-US" sz="2000" dirty="0" err="1" smtClean="0">
                <a:latin typeface="Cambria" panose="02040503050406030204" pitchFamily="18" charset="0"/>
                <a:ea typeface="Cambria" panose="02040503050406030204" pitchFamily="18" charset="0"/>
              </a:rPr>
              <a:t>JspPage</a:t>
            </a:r>
            <a:endParaRPr lang="en-US" sz="2000" dirty="0" smtClean="0">
              <a:latin typeface="Cambria" panose="02040503050406030204" pitchFamily="18" charset="0"/>
              <a:ea typeface="Cambria" panose="02040503050406030204" pitchFamily="18" charset="0"/>
            </a:endParaRPr>
          </a:p>
          <a:p>
            <a:pPr marL="514350" indent="-514350">
              <a:lnSpc>
                <a:spcPct val="100000"/>
              </a:lnSpc>
              <a:spcBef>
                <a:spcPts val="0"/>
              </a:spcBef>
              <a:buFont typeface="+mj-lt"/>
              <a:buAutoNum type="arabicPeriod"/>
            </a:pPr>
            <a:r>
              <a:rPr lang="en-US" sz="2000" dirty="0" err="1" smtClean="0">
                <a:latin typeface="Cambria" panose="02040503050406030204" pitchFamily="18" charset="0"/>
                <a:ea typeface="Cambria" panose="02040503050406030204" pitchFamily="18" charset="0"/>
              </a:rPr>
              <a:t>HttpJspPage</a:t>
            </a:r>
            <a:endParaRPr lang="en-US" sz="2000" dirty="0" smtClean="0">
              <a:latin typeface="Cambria" panose="02040503050406030204" pitchFamily="18" charset="0"/>
              <a:ea typeface="Cambria" panose="02040503050406030204" pitchFamily="18" charset="0"/>
            </a:endParaRPr>
          </a:p>
          <a:p>
            <a:pPr>
              <a:lnSpc>
                <a:spcPct val="100000"/>
              </a:lnSpc>
              <a:spcBef>
                <a:spcPts val="0"/>
              </a:spcBef>
            </a:pPr>
            <a:r>
              <a:rPr lang="en-US" sz="2000" dirty="0" smtClean="0">
                <a:latin typeface="Cambria" panose="02040503050406030204" pitchFamily="18" charset="0"/>
                <a:ea typeface="Cambria" panose="02040503050406030204" pitchFamily="18" charset="0"/>
              </a:rPr>
              <a:t>The classes are as follows:</a:t>
            </a:r>
          </a:p>
          <a:p>
            <a:pPr>
              <a:lnSpc>
                <a:spcPct val="100000"/>
              </a:lnSpc>
              <a:spcBef>
                <a:spcPts val="0"/>
              </a:spcBef>
              <a:buFont typeface="Wingdings" pitchFamily="2" charset="2"/>
              <a:buChar char="Ø"/>
            </a:pPr>
            <a:r>
              <a:rPr lang="en-US" sz="2000" dirty="0" err="1" smtClean="0">
                <a:latin typeface="Cambria" panose="02040503050406030204" pitchFamily="18" charset="0"/>
                <a:ea typeface="Cambria" panose="02040503050406030204" pitchFamily="18" charset="0"/>
              </a:rPr>
              <a:t>JspWriter</a:t>
            </a:r>
            <a:endParaRPr lang="en-US" sz="2000" dirty="0" smtClean="0">
              <a:latin typeface="Cambria" panose="02040503050406030204" pitchFamily="18" charset="0"/>
              <a:ea typeface="Cambria" panose="02040503050406030204" pitchFamily="18" charset="0"/>
            </a:endParaRPr>
          </a:p>
          <a:p>
            <a:pPr>
              <a:lnSpc>
                <a:spcPct val="100000"/>
              </a:lnSpc>
              <a:spcBef>
                <a:spcPts val="0"/>
              </a:spcBef>
              <a:buFont typeface="Wingdings" pitchFamily="2" charset="2"/>
              <a:buChar char="Ø"/>
            </a:pPr>
            <a:r>
              <a:rPr lang="en-US" sz="2000" dirty="0" err="1" smtClean="0">
                <a:latin typeface="Cambria" panose="02040503050406030204" pitchFamily="18" charset="0"/>
                <a:ea typeface="Cambria" panose="02040503050406030204" pitchFamily="18" charset="0"/>
              </a:rPr>
              <a:t>PageContext</a:t>
            </a:r>
            <a:endParaRPr lang="en-US" sz="2000" dirty="0" smtClean="0">
              <a:latin typeface="Cambria" panose="02040503050406030204" pitchFamily="18" charset="0"/>
              <a:ea typeface="Cambria" panose="02040503050406030204" pitchFamily="18" charset="0"/>
            </a:endParaRPr>
          </a:p>
          <a:p>
            <a:pPr>
              <a:lnSpc>
                <a:spcPct val="100000"/>
              </a:lnSpc>
              <a:spcBef>
                <a:spcPts val="0"/>
              </a:spcBef>
              <a:buFont typeface="Wingdings" pitchFamily="2" charset="2"/>
              <a:buChar char="Ø"/>
            </a:pPr>
            <a:r>
              <a:rPr lang="en-US" sz="2000" dirty="0" err="1" smtClean="0">
                <a:latin typeface="Cambria" panose="02040503050406030204" pitchFamily="18" charset="0"/>
                <a:ea typeface="Cambria" panose="02040503050406030204" pitchFamily="18" charset="0"/>
              </a:rPr>
              <a:t>JspFactory</a:t>
            </a:r>
            <a:endParaRPr lang="en-US" sz="2000" dirty="0" smtClean="0">
              <a:latin typeface="Cambria" panose="02040503050406030204" pitchFamily="18" charset="0"/>
              <a:ea typeface="Cambria" panose="02040503050406030204" pitchFamily="18" charset="0"/>
            </a:endParaRPr>
          </a:p>
          <a:p>
            <a:pPr>
              <a:lnSpc>
                <a:spcPct val="100000"/>
              </a:lnSpc>
              <a:spcBef>
                <a:spcPts val="0"/>
              </a:spcBef>
              <a:buFont typeface="Wingdings" pitchFamily="2" charset="2"/>
              <a:buChar char="Ø"/>
            </a:pPr>
            <a:r>
              <a:rPr lang="en-US" sz="2000" dirty="0" err="1" smtClean="0">
                <a:latin typeface="Cambria" panose="02040503050406030204" pitchFamily="18" charset="0"/>
                <a:ea typeface="Cambria" panose="02040503050406030204" pitchFamily="18" charset="0"/>
              </a:rPr>
              <a:t>JspEngineInfo</a:t>
            </a:r>
            <a:endParaRPr lang="en-US" sz="2000" dirty="0" smtClean="0">
              <a:latin typeface="Cambria" panose="02040503050406030204" pitchFamily="18" charset="0"/>
              <a:ea typeface="Cambria" panose="02040503050406030204" pitchFamily="18" charset="0"/>
            </a:endParaRPr>
          </a:p>
          <a:p>
            <a:pPr>
              <a:lnSpc>
                <a:spcPct val="100000"/>
              </a:lnSpc>
              <a:spcBef>
                <a:spcPts val="0"/>
              </a:spcBef>
              <a:buFont typeface="Wingdings" pitchFamily="2" charset="2"/>
              <a:buChar char="Ø"/>
            </a:pPr>
            <a:r>
              <a:rPr lang="en-US" sz="2000" dirty="0" err="1" smtClean="0">
                <a:latin typeface="Cambria" panose="02040503050406030204" pitchFamily="18" charset="0"/>
                <a:ea typeface="Cambria" panose="02040503050406030204" pitchFamily="18" charset="0"/>
              </a:rPr>
              <a:t>JspException</a:t>
            </a:r>
            <a:endParaRPr lang="en-US" sz="2000" dirty="0" smtClean="0">
              <a:latin typeface="Cambria" panose="02040503050406030204" pitchFamily="18" charset="0"/>
              <a:ea typeface="Cambria" panose="02040503050406030204" pitchFamily="18" charset="0"/>
            </a:endParaRPr>
          </a:p>
          <a:p>
            <a:pPr>
              <a:lnSpc>
                <a:spcPct val="100000"/>
              </a:lnSpc>
              <a:spcBef>
                <a:spcPts val="0"/>
              </a:spcBef>
              <a:buFont typeface="Wingdings" pitchFamily="2" charset="2"/>
              <a:buChar char="Ø"/>
            </a:pPr>
            <a:r>
              <a:rPr lang="en-US" sz="2000" dirty="0" err="1" smtClean="0">
                <a:latin typeface="Cambria" panose="02040503050406030204" pitchFamily="18" charset="0"/>
                <a:ea typeface="Cambria" panose="02040503050406030204" pitchFamily="18" charset="0"/>
              </a:rPr>
              <a:t>JspError</a:t>
            </a:r>
            <a:endParaRPr lang="en-US" sz="2000" dirty="0" smtClean="0">
              <a:latin typeface="Cambria" panose="02040503050406030204" pitchFamily="18" charset="0"/>
              <a:ea typeface="Cambria" panose="02040503050406030204" pitchFamily="18" charset="0"/>
            </a:endParaRPr>
          </a:p>
          <a:p>
            <a:pPr>
              <a:lnSpc>
                <a:spcPct val="100000"/>
              </a:lnSpc>
              <a:spcBef>
                <a:spcPts val="0"/>
              </a:spcBef>
              <a:buNone/>
            </a:pPr>
            <a:r>
              <a:rPr lang="en-US" sz="2000" dirty="0" smtClean="0">
                <a:latin typeface="Cambria" panose="02040503050406030204" pitchFamily="18" charset="0"/>
                <a:ea typeface="Cambria" panose="02040503050406030204" pitchFamily="18" charset="0"/>
              </a:rPr>
              <a:t/>
            </a:r>
            <a:br>
              <a:rPr lang="en-US" sz="2000" dirty="0" smtClean="0">
                <a:latin typeface="Cambria" panose="02040503050406030204" pitchFamily="18" charset="0"/>
                <a:ea typeface="Cambria" panose="02040503050406030204" pitchFamily="18" charset="0"/>
              </a:rPr>
            </a:br>
            <a:endParaRPr lang="en-US" sz="2000" dirty="0" smtClean="0">
              <a:latin typeface="Cambria" panose="02040503050406030204" pitchFamily="18" charset="0"/>
              <a:ea typeface="Cambria" panose="02040503050406030204" pitchFamily="18" charset="0"/>
            </a:endParaRPr>
          </a:p>
          <a:p>
            <a:pPr>
              <a:lnSpc>
                <a:spcPct val="100000"/>
              </a:lnSpc>
              <a:spcBef>
                <a:spcPts val="0"/>
              </a:spcBef>
              <a:buNone/>
            </a:pPr>
            <a:endParaRPr lang="en-GB" sz="2000" dirty="0" smtClean="0">
              <a:latin typeface="Cambria" panose="02040503050406030204" pitchFamily="18" charset="0"/>
              <a:ea typeface="Cambria" panose="02040503050406030204" pitchFamily="18" charset="0"/>
            </a:endParaRPr>
          </a:p>
          <a:p>
            <a:pPr>
              <a:lnSpc>
                <a:spcPct val="100000"/>
              </a:lnSpc>
              <a:spcBef>
                <a:spcPts val="0"/>
              </a:spcBef>
            </a:pPr>
            <a:endParaRPr lang="en-US" sz="20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73</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19836"/>
            <a:ext cx="4680520" cy="513526"/>
          </a:xfrm>
        </p:spPr>
        <p:txBody>
          <a:bodyPr/>
          <a:lstStyle/>
          <a:p>
            <a:pPr algn="just"/>
            <a:r>
              <a:rPr lang="en-US" sz="4000" b="1" dirty="0" smtClean="0">
                <a:solidFill>
                  <a:schemeClr val="accent5"/>
                </a:solidFill>
                <a:latin typeface="Cambria" panose="02040503050406030204" pitchFamily="18" charset="0"/>
                <a:ea typeface="Cambria" panose="02040503050406030204" pitchFamily="18" charset="0"/>
              </a:rPr>
              <a:t>JSP Page Interface</a:t>
            </a:r>
            <a:endParaRPr lang="en-US" sz="40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263352" y="692696"/>
            <a:ext cx="9433048" cy="4896544"/>
          </a:xfrm>
        </p:spPr>
        <p:txBody>
          <a:bodyPr/>
          <a:lstStyle/>
          <a:p>
            <a:pPr algn="just"/>
            <a:r>
              <a:rPr lang="en-GB" sz="2400" dirty="0" smtClean="0">
                <a:latin typeface="Cambria" panose="02040503050406030204" pitchFamily="18" charset="0"/>
                <a:ea typeface="Cambria" panose="02040503050406030204" pitchFamily="18" charset="0"/>
              </a:rPr>
              <a:t>According to the JSP specification, all the generated </a:t>
            </a:r>
            <a:r>
              <a:rPr lang="en-GB" sz="2400" dirty="0" err="1" smtClean="0">
                <a:latin typeface="Cambria" panose="02040503050406030204" pitchFamily="18" charset="0"/>
                <a:ea typeface="Cambria" panose="02040503050406030204" pitchFamily="18" charset="0"/>
              </a:rPr>
              <a:t>servlet</a:t>
            </a:r>
            <a:r>
              <a:rPr lang="en-GB" sz="2400" dirty="0" smtClean="0">
                <a:latin typeface="Cambria" panose="02040503050406030204" pitchFamily="18" charset="0"/>
                <a:ea typeface="Cambria" panose="02040503050406030204" pitchFamily="18" charset="0"/>
              </a:rPr>
              <a:t> classes must implement the </a:t>
            </a:r>
            <a:r>
              <a:rPr lang="en-GB" sz="2400" dirty="0" err="1" smtClean="0">
                <a:latin typeface="Cambria" panose="02040503050406030204" pitchFamily="18" charset="0"/>
                <a:ea typeface="Cambria" panose="02040503050406030204" pitchFamily="18" charset="0"/>
              </a:rPr>
              <a:t>JspPage</a:t>
            </a:r>
            <a:r>
              <a:rPr lang="en-GB" sz="2400" dirty="0" smtClean="0">
                <a:latin typeface="Cambria" panose="02040503050406030204" pitchFamily="18" charset="0"/>
                <a:ea typeface="Cambria" panose="02040503050406030204" pitchFamily="18" charset="0"/>
              </a:rPr>
              <a:t> interface. It extends the </a:t>
            </a:r>
            <a:r>
              <a:rPr lang="en-GB" sz="2400" dirty="0" err="1" smtClean="0">
                <a:latin typeface="Cambria" panose="02040503050406030204" pitchFamily="18" charset="0"/>
                <a:ea typeface="Cambria" panose="02040503050406030204" pitchFamily="18" charset="0"/>
              </a:rPr>
              <a:t>Servlet</a:t>
            </a:r>
            <a:r>
              <a:rPr lang="en-GB" sz="2400" dirty="0" smtClean="0">
                <a:latin typeface="Cambria" panose="02040503050406030204" pitchFamily="18" charset="0"/>
                <a:ea typeface="Cambria" panose="02040503050406030204" pitchFamily="18" charset="0"/>
              </a:rPr>
              <a:t> interface. It </a:t>
            </a:r>
            <a:r>
              <a:rPr lang="en-GB" sz="2400" smtClean="0">
                <a:latin typeface="Cambria" panose="02040503050406030204" pitchFamily="18" charset="0"/>
                <a:ea typeface="Cambria" panose="02040503050406030204" pitchFamily="18" charset="0"/>
              </a:rPr>
              <a:t>provides three </a:t>
            </a:r>
            <a:r>
              <a:rPr lang="en-GB" sz="2400" dirty="0" smtClean="0">
                <a:latin typeface="Cambria" panose="02040503050406030204" pitchFamily="18" charset="0"/>
                <a:ea typeface="Cambria" panose="02040503050406030204" pitchFamily="18" charset="0"/>
              </a:rPr>
              <a:t>life cycle methods.</a:t>
            </a:r>
          </a:p>
          <a:p>
            <a:pPr marL="514350" indent="-514350" algn="just">
              <a:buFont typeface="+mj-lt"/>
              <a:buAutoNum type="arabicPeriod"/>
            </a:pPr>
            <a:r>
              <a:rPr lang="en-GB" sz="2400" b="1" dirty="0" smtClean="0">
                <a:latin typeface="Cambria" panose="02040503050406030204" pitchFamily="18" charset="0"/>
                <a:ea typeface="Cambria" panose="02040503050406030204" pitchFamily="18" charset="0"/>
              </a:rPr>
              <a:t>public void </a:t>
            </a:r>
            <a:r>
              <a:rPr lang="en-GB" sz="2400" b="1" dirty="0" err="1" smtClean="0">
                <a:latin typeface="Cambria" panose="02040503050406030204" pitchFamily="18" charset="0"/>
                <a:ea typeface="Cambria" panose="02040503050406030204" pitchFamily="18" charset="0"/>
              </a:rPr>
              <a:t>jspInit</a:t>
            </a:r>
            <a:r>
              <a:rPr lang="en-GB" sz="2400" b="1" dirty="0" smtClean="0">
                <a:latin typeface="Cambria" panose="02040503050406030204" pitchFamily="18" charset="0"/>
                <a:ea typeface="Cambria" panose="02040503050406030204" pitchFamily="18" charset="0"/>
              </a:rPr>
              <a:t>():</a:t>
            </a:r>
            <a:r>
              <a:rPr lang="en-GB" sz="2400" dirty="0" smtClean="0">
                <a:latin typeface="Cambria" panose="02040503050406030204" pitchFamily="18" charset="0"/>
                <a:ea typeface="Cambria" panose="02040503050406030204" pitchFamily="18" charset="0"/>
              </a:rPr>
              <a:t> It is invoked only once during the life cycle of the JSP when JSP page is requested firstly. It is used to perform initialization. It is same as the init() method of </a:t>
            </a:r>
            <a:r>
              <a:rPr lang="en-GB" sz="2400" dirty="0" err="1" smtClean="0">
                <a:latin typeface="Cambria" panose="02040503050406030204" pitchFamily="18" charset="0"/>
                <a:ea typeface="Cambria" panose="02040503050406030204" pitchFamily="18" charset="0"/>
              </a:rPr>
              <a:t>Servlet</a:t>
            </a:r>
            <a:r>
              <a:rPr lang="en-GB" sz="2400" dirty="0" smtClean="0">
                <a:latin typeface="Cambria" panose="02040503050406030204" pitchFamily="18" charset="0"/>
                <a:ea typeface="Cambria" panose="02040503050406030204" pitchFamily="18" charset="0"/>
              </a:rPr>
              <a:t> interface.</a:t>
            </a:r>
          </a:p>
          <a:p>
            <a:pPr marL="514350" indent="-514350" algn="just">
              <a:buFont typeface="+mj-lt"/>
              <a:buAutoNum type="arabicPeriod"/>
            </a:pPr>
            <a:r>
              <a:rPr lang="en-GB" sz="2400" b="1" dirty="0" smtClean="0">
                <a:latin typeface="Cambria" panose="02040503050406030204" pitchFamily="18" charset="0"/>
                <a:ea typeface="Cambria" panose="02040503050406030204" pitchFamily="18" charset="0"/>
              </a:rPr>
              <a:t>public void </a:t>
            </a:r>
            <a:r>
              <a:rPr lang="en-GB" sz="2400" b="1" dirty="0" err="1" smtClean="0">
                <a:latin typeface="Cambria" panose="02040503050406030204" pitchFamily="18" charset="0"/>
                <a:ea typeface="Cambria" panose="02040503050406030204" pitchFamily="18" charset="0"/>
              </a:rPr>
              <a:t>jspDestroy</a:t>
            </a:r>
            <a:r>
              <a:rPr lang="en-GB" sz="2400" b="1" dirty="0" smtClean="0">
                <a:latin typeface="Cambria" panose="02040503050406030204" pitchFamily="18" charset="0"/>
                <a:ea typeface="Cambria" panose="02040503050406030204" pitchFamily="18" charset="0"/>
              </a:rPr>
              <a:t>():</a:t>
            </a:r>
            <a:r>
              <a:rPr lang="en-GB" sz="2400" dirty="0" smtClean="0">
                <a:latin typeface="Cambria" panose="02040503050406030204" pitchFamily="18" charset="0"/>
                <a:ea typeface="Cambria" panose="02040503050406030204" pitchFamily="18" charset="0"/>
              </a:rPr>
              <a:t> It is invoked only once during the life cycle of the JSP before the JSP page is destroyed. It can be used to perform some clean up operation.</a:t>
            </a:r>
          </a:p>
          <a:p>
            <a:pPr marL="514350" indent="-514350" algn="just">
              <a:buFont typeface="+mj-lt"/>
              <a:buAutoNum type="arabicPeriod"/>
            </a:pPr>
            <a:r>
              <a:rPr lang="en-GB" sz="2400" b="1" dirty="0" smtClean="0">
                <a:latin typeface="Cambria" panose="02040503050406030204" pitchFamily="18" charset="0"/>
                <a:ea typeface="Cambria" panose="02040503050406030204" pitchFamily="18" charset="0"/>
              </a:rPr>
              <a:t>public </a:t>
            </a:r>
            <a:r>
              <a:rPr lang="en-GB" sz="2400" b="1" dirty="0">
                <a:latin typeface="Cambria" panose="02040503050406030204" pitchFamily="18" charset="0"/>
                <a:ea typeface="Cambria" panose="02040503050406030204" pitchFamily="18" charset="0"/>
              </a:rPr>
              <a:t>void _jspService():</a:t>
            </a:r>
            <a:r>
              <a:rPr lang="en-GB" sz="2400" dirty="0">
                <a:latin typeface="Cambria" panose="02040503050406030204" pitchFamily="18" charset="0"/>
                <a:ea typeface="Cambria" panose="02040503050406030204" pitchFamily="18" charset="0"/>
              </a:rPr>
              <a:t> It is invoked each time when request for the JSP page comes to the container. It is used to process the request. The underscore _ signifies that you cannot override this method.</a:t>
            </a:r>
          </a:p>
          <a:p>
            <a:pPr marL="514350" indent="-514350" algn="just">
              <a:buFont typeface="+mj-lt"/>
              <a:buAutoNum type="arabicPeriod"/>
            </a:pPr>
            <a:endParaRPr lang="en-GB" sz="2400" dirty="0" smtClean="0">
              <a:latin typeface="Cambria" panose="02040503050406030204" pitchFamily="18" charset="0"/>
              <a:ea typeface="Cambria" panose="02040503050406030204" pitchFamily="18" charset="0"/>
            </a:endParaRPr>
          </a:p>
          <a:p>
            <a:pPr algn="just">
              <a:buNone/>
            </a:pPr>
            <a:r>
              <a:rPr lang="en-GB" sz="2400" dirty="0" smtClean="0">
                <a:latin typeface="Cambria" panose="02040503050406030204" pitchFamily="18" charset="0"/>
                <a:ea typeface="Cambria" panose="02040503050406030204" pitchFamily="18" charset="0"/>
              </a:rPr>
              <a:t/>
            </a:r>
            <a:br>
              <a:rPr lang="en-GB" sz="2400" dirty="0" smtClean="0">
                <a:latin typeface="Cambria" panose="02040503050406030204" pitchFamily="18" charset="0"/>
                <a:ea typeface="Cambria" panose="02040503050406030204" pitchFamily="18" charset="0"/>
              </a:rPr>
            </a:br>
            <a:endParaRPr lang="en-GB" sz="2400" dirty="0" smtClean="0">
              <a:latin typeface="Cambria" panose="02040503050406030204" pitchFamily="18" charset="0"/>
              <a:ea typeface="Cambria" panose="02040503050406030204" pitchFamily="18" charset="0"/>
            </a:endParaRPr>
          </a:p>
          <a:p>
            <a:pPr algn="just"/>
            <a:endParaRPr lang="en-US" sz="24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lgn="just">
              <a:defRPr/>
            </a:pPr>
            <a:fld id="{A01CA5F2-CD08-4EF5-BAD9-872B7BB27165}" type="slidenum">
              <a:rPr lang="en-US" altLang="en-US" smtClean="0">
                <a:latin typeface="Cambria" panose="02040503050406030204" pitchFamily="18" charset="0"/>
                <a:ea typeface="Cambria" panose="02040503050406030204" pitchFamily="18" charset="0"/>
              </a:rPr>
              <a:pPr algn="just">
                <a:defRPr/>
              </a:pPr>
              <a:t>74</a:t>
            </a:fld>
            <a:endParaRPr lang="en-US" altLang="en-US">
              <a:latin typeface="Cambria" panose="02040503050406030204" pitchFamily="18" charset="0"/>
              <a:ea typeface="Cambria" panose="02040503050406030204" pitchFamily="18" charset="0"/>
            </a:endParaRPr>
          </a:p>
        </p:txBody>
      </p:sp>
      <p:pic>
        <p:nvPicPr>
          <p:cNvPr id="5" name="Picture 4" descr="JSP API"/>
          <p:cNvPicPr/>
          <p:nvPr/>
        </p:nvPicPr>
        <p:blipFill>
          <a:blip r:embed="rId2"/>
          <a:srcRect/>
          <a:stretch>
            <a:fillRect/>
          </a:stretch>
        </p:blipFill>
        <p:spPr bwMode="auto">
          <a:xfrm>
            <a:off x="9696400" y="535902"/>
            <a:ext cx="2232248" cy="296510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ctrTitle"/>
          </p:nvPr>
        </p:nvSpPr>
        <p:spPr/>
        <p:txBody>
          <a:bodyPr/>
          <a:lstStyle/>
          <a:p>
            <a:r>
              <a:rPr lang="en-GB" dirty="0" smtClean="0">
                <a:latin typeface="Cambria" panose="02040503050406030204" pitchFamily="18" charset="0"/>
                <a:ea typeface="Cambria" panose="02040503050406030204" pitchFamily="18" charset="0"/>
              </a:rPr>
              <a:t>JSP </a:t>
            </a:r>
            <a:r>
              <a:rPr lang="en-GB" dirty="0" err="1" smtClean="0">
                <a:latin typeface="Cambria" panose="02040503050406030204" pitchFamily="18" charset="0"/>
                <a:ea typeface="Cambria" panose="02040503050406030204" pitchFamily="18" charset="0"/>
              </a:rPr>
              <a:t>Scriptlet</a:t>
            </a:r>
            <a:r>
              <a:rPr lang="en-GB" dirty="0" smtClean="0">
                <a:latin typeface="Cambria" panose="02040503050406030204" pitchFamily="18" charset="0"/>
                <a:ea typeface="Cambria" panose="02040503050406030204" pitchFamily="18" charset="0"/>
              </a:rPr>
              <a:t> tag (Scripting elements)</a:t>
            </a:r>
            <a:br>
              <a:rPr lang="en-GB" dirty="0" smtClean="0">
                <a:latin typeface="Cambria" panose="02040503050406030204" pitchFamily="18" charset="0"/>
                <a:ea typeface="Cambria" panose="02040503050406030204" pitchFamily="18" charset="0"/>
              </a:rPr>
            </a:br>
            <a:endParaRPr lang="en-US" dirty="0">
              <a:latin typeface="Cambria" panose="02040503050406030204" pitchFamily="18" charset="0"/>
              <a:ea typeface="Cambria" panose="02040503050406030204" pitchFamily="18" charset="0"/>
            </a:endParaRPr>
          </a:p>
        </p:txBody>
      </p:sp>
      <p:sp>
        <p:nvSpPr>
          <p:cNvPr id="6" name="Subtitle 5"/>
          <p:cNvSpPr>
            <a:spLocks noGrp="1"/>
          </p:cNvSpPr>
          <p:nvPr>
            <p:ph type="subTitle" idx="1"/>
          </p:nvPr>
        </p:nvSpPr>
        <p:spPr>
          <a:xfrm>
            <a:off x="1271464" y="3140968"/>
            <a:ext cx="9829800" cy="576064"/>
          </a:xfrm>
        </p:spPr>
        <p:txBody>
          <a:bodyPr/>
          <a:lstStyle/>
          <a:p>
            <a:r>
              <a:rPr lang="en-GB" dirty="0" smtClean="0">
                <a:latin typeface="Cambria" panose="02040503050406030204" pitchFamily="18" charset="0"/>
                <a:ea typeface="Cambria" panose="02040503050406030204" pitchFamily="18" charset="0"/>
              </a:rPr>
              <a:t>In JSP, java code can be written inside the </a:t>
            </a:r>
            <a:r>
              <a:rPr lang="en-GB" dirty="0" err="1" smtClean="0">
                <a:latin typeface="Cambria" panose="02040503050406030204" pitchFamily="18" charset="0"/>
                <a:ea typeface="Cambria" panose="02040503050406030204" pitchFamily="18" charset="0"/>
              </a:rPr>
              <a:t>jsp</a:t>
            </a:r>
            <a:r>
              <a:rPr lang="en-GB" dirty="0" smtClean="0">
                <a:latin typeface="Cambria" panose="02040503050406030204" pitchFamily="18" charset="0"/>
                <a:ea typeface="Cambria" panose="02040503050406030204" pitchFamily="18" charset="0"/>
              </a:rPr>
              <a:t> page using the </a:t>
            </a:r>
            <a:r>
              <a:rPr lang="en-GB" dirty="0" err="1" smtClean="0">
                <a:latin typeface="Cambria" panose="02040503050406030204" pitchFamily="18" charset="0"/>
                <a:ea typeface="Cambria" panose="02040503050406030204" pitchFamily="18" charset="0"/>
              </a:rPr>
              <a:t>scriptlet</a:t>
            </a:r>
            <a:r>
              <a:rPr lang="en-GB" dirty="0" smtClean="0">
                <a:latin typeface="Cambria" panose="02040503050406030204" pitchFamily="18" charset="0"/>
                <a:ea typeface="Cambria" panose="02040503050406030204" pitchFamily="18" charset="0"/>
              </a:rPr>
              <a:t> tag</a:t>
            </a:r>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75</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7859"/>
          </a:xfrm>
        </p:spPr>
        <p:txBody>
          <a:bodyPr/>
          <a:lstStyle/>
          <a:p>
            <a:r>
              <a:rPr lang="en-GB" dirty="0" smtClean="0">
                <a:latin typeface="Cambria" panose="02040503050406030204" pitchFamily="18" charset="0"/>
                <a:ea typeface="Cambria" panose="02040503050406030204" pitchFamily="18" charset="0"/>
              </a:rPr>
              <a:t> </a:t>
            </a:r>
            <a:br>
              <a:rPr lang="en-GB" dirty="0" smtClean="0">
                <a:latin typeface="Cambria" panose="02040503050406030204" pitchFamily="18" charset="0"/>
                <a:ea typeface="Cambria" panose="02040503050406030204" pitchFamily="18" charset="0"/>
              </a:rPr>
            </a:br>
            <a:r>
              <a:rPr lang="en-US" dirty="0" smtClean="0">
                <a:latin typeface="Cambria" panose="02040503050406030204" pitchFamily="18" charset="0"/>
                <a:ea typeface="Cambria" panose="02040503050406030204" pitchFamily="18" charset="0"/>
              </a:rPr>
              <a:t>JSP Scripting elements</a:t>
            </a:r>
            <a:br>
              <a:rPr lang="en-US" dirty="0" smtClean="0">
                <a:latin typeface="Cambria" panose="02040503050406030204" pitchFamily="18" charset="0"/>
                <a:ea typeface="Cambria" panose="02040503050406030204" pitchFamily="18" charset="0"/>
              </a:rPr>
            </a:b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838200" y="1285861"/>
            <a:ext cx="10442376" cy="2719204"/>
          </a:xfrm>
        </p:spPr>
        <p:txBody>
          <a:bodyPr/>
          <a:lstStyle/>
          <a:p>
            <a:pPr algn="just"/>
            <a:r>
              <a:rPr lang="en-GB" dirty="0" smtClean="0">
                <a:latin typeface="Cambria" panose="02040503050406030204" pitchFamily="18" charset="0"/>
                <a:ea typeface="Cambria" panose="02040503050406030204" pitchFamily="18" charset="0"/>
              </a:rPr>
              <a:t>The scripting elements provides the ability to insert java code inside the </a:t>
            </a:r>
            <a:r>
              <a:rPr lang="en-GB" dirty="0" err="1" smtClean="0">
                <a:latin typeface="Cambria" panose="02040503050406030204" pitchFamily="18" charset="0"/>
                <a:ea typeface="Cambria" panose="02040503050406030204" pitchFamily="18" charset="0"/>
              </a:rPr>
              <a:t>jsp</a:t>
            </a:r>
            <a:r>
              <a:rPr lang="en-GB" dirty="0" smtClean="0">
                <a:latin typeface="Cambria" panose="02040503050406030204" pitchFamily="18" charset="0"/>
                <a:ea typeface="Cambria" panose="02040503050406030204" pitchFamily="18" charset="0"/>
              </a:rPr>
              <a:t>. There are three types of scripting elements:</a:t>
            </a:r>
          </a:p>
          <a:p>
            <a:pPr algn="just">
              <a:buFont typeface="Wingdings" pitchFamily="2" charset="2"/>
              <a:buChar char="Ø"/>
            </a:pPr>
            <a:r>
              <a:rPr lang="en-GB" dirty="0" err="1" smtClean="0">
                <a:latin typeface="Cambria" panose="02040503050406030204" pitchFamily="18" charset="0"/>
                <a:ea typeface="Cambria" panose="02040503050406030204" pitchFamily="18" charset="0"/>
              </a:rPr>
              <a:t>scriptlet</a:t>
            </a:r>
            <a:r>
              <a:rPr lang="en-GB" dirty="0" smtClean="0">
                <a:latin typeface="Cambria" panose="02040503050406030204" pitchFamily="18" charset="0"/>
                <a:ea typeface="Cambria" panose="02040503050406030204" pitchFamily="18" charset="0"/>
              </a:rPr>
              <a:t> tag</a:t>
            </a:r>
          </a:p>
          <a:p>
            <a:pPr algn="just">
              <a:buFont typeface="Wingdings" pitchFamily="2" charset="2"/>
              <a:buChar char="Ø"/>
            </a:pPr>
            <a:r>
              <a:rPr lang="en-GB" dirty="0" smtClean="0">
                <a:latin typeface="Cambria" panose="02040503050406030204" pitchFamily="18" charset="0"/>
                <a:ea typeface="Cambria" panose="02040503050406030204" pitchFamily="18" charset="0"/>
              </a:rPr>
              <a:t>expression tag</a:t>
            </a:r>
          </a:p>
          <a:p>
            <a:pPr algn="just">
              <a:buFont typeface="Wingdings" pitchFamily="2" charset="2"/>
              <a:buChar char="Ø"/>
            </a:pPr>
            <a:r>
              <a:rPr lang="en-GB" dirty="0" smtClean="0">
                <a:latin typeface="Cambria" panose="02040503050406030204" pitchFamily="18" charset="0"/>
                <a:ea typeface="Cambria" panose="02040503050406030204" pitchFamily="18" charset="0"/>
              </a:rPr>
              <a:t>declaration tag</a:t>
            </a:r>
          </a:p>
          <a:p>
            <a:pPr algn="just">
              <a:buNone/>
            </a:pPr>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76</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16986"/>
            <a:ext cx="4392488" cy="548680"/>
          </a:xfrm>
        </p:spPr>
        <p:txBody>
          <a:bodyPr/>
          <a:lstStyle/>
          <a:p>
            <a:r>
              <a:rPr lang="en-US" sz="4000" b="1" dirty="0" smtClean="0">
                <a:solidFill>
                  <a:schemeClr val="accent5"/>
                </a:solidFill>
                <a:latin typeface="Cambria" panose="02040503050406030204" pitchFamily="18" charset="0"/>
                <a:ea typeface="Cambria" panose="02040503050406030204" pitchFamily="18" charset="0"/>
              </a:rPr>
              <a:t>JSP </a:t>
            </a:r>
            <a:r>
              <a:rPr lang="en-US" sz="4000" b="1" dirty="0" err="1" smtClean="0">
                <a:solidFill>
                  <a:schemeClr val="accent5"/>
                </a:solidFill>
                <a:latin typeface="Cambria" panose="02040503050406030204" pitchFamily="18" charset="0"/>
                <a:ea typeface="Cambria" panose="02040503050406030204" pitchFamily="18" charset="0"/>
              </a:rPr>
              <a:t>scriptlet</a:t>
            </a:r>
            <a:r>
              <a:rPr lang="en-US" sz="4000" b="1" dirty="0" smtClean="0">
                <a:solidFill>
                  <a:schemeClr val="accent5"/>
                </a:solidFill>
                <a:latin typeface="Cambria" panose="02040503050406030204" pitchFamily="18" charset="0"/>
                <a:ea typeface="Cambria" panose="02040503050406030204" pitchFamily="18" charset="0"/>
              </a:rPr>
              <a:t> tag</a:t>
            </a:r>
            <a:endParaRPr lang="en-US" sz="40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07368" y="620688"/>
            <a:ext cx="6408712" cy="4608512"/>
          </a:xfrm>
        </p:spPr>
        <p:txBody>
          <a:bodyPr/>
          <a:lstStyle/>
          <a:p>
            <a:r>
              <a:rPr lang="en-GB" sz="2000" dirty="0" smtClean="0">
                <a:latin typeface="Cambria" panose="02040503050406030204" pitchFamily="18" charset="0"/>
                <a:ea typeface="Cambria" panose="02040503050406030204" pitchFamily="18" charset="0"/>
              </a:rPr>
              <a:t>A </a:t>
            </a:r>
            <a:r>
              <a:rPr lang="en-GB" sz="2000" dirty="0" err="1" smtClean="0">
                <a:latin typeface="Cambria" panose="02040503050406030204" pitchFamily="18" charset="0"/>
                <a:ea typeface="Cambria" panose="02040503050406030204" pitchFamily="18" charset="0"/>
              </a:rPr>
              <a:t>scriptlet</a:t>
            </a:r>
            <a:r>
              <a:rPr lang="en-GB" sz="2000" dirty="0" smtClean="0">
                <a:latin typeface="Cambria" panose="02040503050406030204" pitchFamily="18" charset="0"/>
                <a:ea typeface="Cambria" panose="02040503050406030204" pitchFamily="18" charset="0"/>
              </a:rPr>
              <a:t> tag is used to execute java source code in JSP. Syntax is as follows:</a:t>
            </a:r>
          </a:p>
          <a:p>
            <a:pPr>
              <a:spcBef>
                <a:spcPts val="0"/>
              </a:spcBef>
              <a:buNone/>
            </a:pPr>
            <a:r>
              <a:rPr lang="en-GB" sz="1600" dirty="0" smtClean="0">
                <a:latin typeface="Cambria" panose="02040503050406030204" pitchFamily="18" charset="0"/>
                <a:ea typeface="Cambria" panose="02040503050406030204" pitchFamily="18" charset="0"/>
              </a:rPr>
              <a:t>		&lt;%  java source code %&gt;  </a:t>
            </a:r>
          </a:p>
          <a:p>
            <a:pPr>
              <a:spcBef>
                <a:spcPts val="0"/>
              </a:spcBef>
              <a:buNone/>
            </a:pPr>
            <a:endParaRPr lang="en-GB" sz="1600" dirty="0">
              <a:latin typeface="Cambria" panose="02040503050406030204" pitchFamily="18" charset="0"/>
              <a:ea typeface="Cambria" panose="02040503050406030204" pitchFamily="18" charset="0"/>
            </a:endParaRPr>
          </a:p>
          <a:p>
            <a:pPr>
              <a:spcBef>
                <a:spcPts val="0"/>
              </a:spcBef>
              <a:buNone/>
            </a:pPr>
            <a:endParaRPr lang="en-GB" sz="1600" dirty="0" smtClean="0">
              <a:latin typeface="Cambria" panose="02040503050406030204" pitchFamily="18" charset="0"/>
              <a:ea typeface="Cambria" panose="02040503050406030204" pitchFamily="18" charset="0"/>
            </a:endParaRPr>
          </a:p>
          <a:p>
            <a:pPr>
              <a:spcBef>
                <a:spcPts val="0"/>
              </a:spcBef>
              <a:buNone/>
            </a:pPr>
            <a:r>
              <a:rPr lang="en-US" sz="1600" dirty="0" smtClean="0">
                <a:latin typeface="Cambria" panose="02040503050406030204" pitchFamily="18" charset="0"/>
                <a:ea typeface="Cambria" panose="02040503050406030204" pitchFamily="18" charset="0"/>
              </a:rPr>
              <a:t>Example</a:t>
            </a:r>
          </a:p>
          <a:p>
            <a:pPr>
              <a:spcBef>
                <a:spcPts val="0"/>
              </a:spcBef>
              <a:buNone/>
            </a:pPr>
            <a:r>
              <a:rPr lang="en-GB" sz="1600" b="1" dirty="0" smtClean="0">
                <a:latin typeface="Cambria" panose="02040503050406030204" pitchFamily="18" charset="0"/>
                <a:ea typeface="Cambria" panose="02040503050406030204" pitchFamily="18" charset="0"/>
              </a:rPr>
              <a:t>&lt;html&gt;</a:t>
            </a:r>
            <a:r>
              <a:rPr lang="en-GB" sz="1600" dirty="0" smtClean="0">
                <a:latin typeface="Cambria" panose="02040503050406030204" pitchFamily="18" charset="0"/>
                <a:ea typeface="Cambria" panose="02040503050406030204" pitchFamily="18" charset="0"/>
              </a:rPr>
              <a:t>  </a:t>
            </a:r>
          </a:p>
          <a:p>
            <a:pPr>
              <a:spcBef>
                <a:spcPts val="0"/>
              </a:spcBef>
              <a:buNone/>
            </a:pPr>
            <a:r>
              <a:rPr lang="en-GB" sz="1600" b="1" dirty="0" smtClean="0">
                <a:latin typeface="Cambria" panose="02040503050406030204" pitchFamily="18" charset="0"/>
                <a:ea typeface="Cambria" panose="02040503050406030204" pitchFamily="18" charset="0"/>
              </a:rPr>
              <a:t>&lt;body&gt;</a:t>
            </a:r>
            <a:r>
              <a:rPr lang="en-GB" sz="1600" dirty="0" smtClean="0">
                <a:latin typeface="Cambria" panose="02040503050406030204" pitchFamily="18" charset="0"/>
                <a:ea typeface="Cambria" panose="02040503050406030204" pitchFamily="18" charset="0"/>
              </a:rPr>
              <a:t>  </a:t>
            </a:r>
          </a:p>
          <a:p>
            <a:pPr>
              <a:spcBef>
                <a:spcPts val="0"/>
              </a:spcBef>
              <a:buNone/>
            </a:pPr>
            <a:r>
              <a:rPr lang="en-GB" sz="1600" b="1" dirty="0" smtClean="0">
                <a:latin typeface="Cambria" panose="02040503050406030204" pitchFamily="18" charset="0"/>
                <a:ea typeface="Cambria" panose="02040503050406030204" pitchFamily="18" charset="0"/>
              </a:rPr>
              <a:t>&lt;</a:t>
            </a:r>
            <a:r>
              <a:rPr lang="en-GB" sz="1600" dirty="0" smtClean="0">
                <a:latin typeface="Cambria" panose="02040503050406030204" pitchFamily="18" charset="0"/>
                <a:ea typeface="Cambria" panose="02040503050406030204" pitchFamily="18" charset="0"/>
              </a:rPr>
              <a:t>% </a:t>
            </a:r>
            <a:r>
              <a:rPr lang="en-GB" sz="1600" dirty="0" err="1" smtClean="0">
                <a:latin typeface="Cambria" panose="02040503050406030204" pitchFamily="18" charset="0"/>
                <a:ea typeface="Cambria" panose="02040503050406030204" pitchFamily="18" charset="0"/>
              </a:rPr>
              <a:t>out.print</a:t>
            </a:r>
            <a:r>
              <a:rPr lang="en-GB" sz="1600" dirty="0" smtClean="0">
                <a:latin typeface="Cambria" panose="02040503050406030204" pitchFamily="18" charset="0"/>
                <a:ea typeface="Cambria" panose="02040503050406030204" pitchFamily="18" charset="0"/>
              </a:rPr>
              <a:t>("welcome to </a:t>
            </a:r>
            <a:r>
              <a:rPr lang="en-GB" sz="1600" dirty="0" err="1" smtClean="0">
                <a:latin typeface="Cambria" panose="02040503050406030204" pitchFamily="18" charset="0"/>
                <a:ea typeface="Cambria" panose="02040503050406030204" pitchFamily="18" charset="0"/>
              </a:rPr>
              <a:t>jsp</a:t>
            </a:r>
            <a:r>
              <a:rPr lang="en-GB" sz="1600" dirty="0" smtClean="0">
                <a:latin typeface="Cambria" panose="02040503050406030204" pitchFamily="18" charset="0"/>
                <a:ea typeface="Cambria" panose="02040503050406030204" pitchFamily="18" charset="0"/>
              </a:rPr>
              <a:t>"); %</a:t>
            </a:r>
            <a:r>
              <a:rPr lang="en-GB" sz="1600" b="1" dirty="0" smtClean="0">
                <a:latin typeface="Cambria" panose="02040503050406030204" pitchFamily="18" charset="0"/>
                <a:ea typeface="Cambria" panose="02040503050406030204" pitchFamily="18" charset="0"/>
              </a:rPr>
              <a:t>&gt;</a:t>
            </a:r>
            <a:r>
              <a:rPr lang="en-GB" sz="1600" dirty="0" smtClean="0">
                <a:latin typeface="Cambria" panose="02040503050406030204" pitchFamily="18" charset="0"/>
                <a:ea typeface="Cambria" panose="02040503050406030204" pitchFamily="18" charset="0"/>
              </a:rPr>
              <a:t>  </a:t>
            </a:r>
          </a:p>
          <a:p>
            <a:pPr>
              <a:spcBef>
                <a:spcPts val="0"/>
              </a:spcBef>
              <a:buNone/>
            </a:pPr>
            <a:r>
              <a:rPr lang="en-GB" sz="1600" b="1" dirty="0" smtClean="0">
                <a:latin typeface="Cambria" panose="02040503050406030204" pitchFamily="18" charset="0"/>
                <a:ea typeface="Cambria" panose="02040503050406030204" pitchFamily="18" charset="0"/>
              </a:rPr>
              <a:t>&lt;/body&gt;</a:t>
            </a:r>
            <a:r>
              <a:rPr lang="en-GB" sz="1600" dirty="0" smtClean="0">
                <a:latin typeface="Cambria" panose="02040503050406030204" pitchFamily="18" charset="0"/>
                <a:ea typeface="Cambria" panose="02040503050406030204" pitchFamily="18" charset="0"/>
              </a:rPr>
              <a:t>  </a:t>
            </a:r>
          </a:p>
          <a:p>
            <a:pPr>
              <a:spcBef>
                <a:spcPts val="0"/>
              </a:spcBef>
              <a:buNone/>
            </a:pPr>
            <a:r>
              <a:rPr lang="en-GB" sz="1600" b="1" dirty="0" smtClean="0">
                <a:latin typeface="Cambria" panose="02040503050406030204" pitchFamily="18" charset="0"/>
                <a:ea typeface="Cambria" panose="02040503050406030204" pitchFamily="18" charset="0"/>
              </a:rPr>
              <a:t>&lt;/html&gt;</a:t>
            </a:r>
            <a:r>
              <a:rPr lang="en-GB" sz="2000" dirty="0" smtClean="0">
                <a:latin typeface="Cambria" panose="02040503050406030204" pitchFamily="18" charset="0"/>
                <a:ea typeface="Cambria" panose="02040503050406030204" pitchFamily="18" charset="0"/>
              </a:rPr>
              <a:t>  </a:t>
            </a:r>
          </a:p>
          <a:p>
            <a:pPr>
              <a:spcBef>
                <a:spcPts val="0"/>
              </a:spcBef>
              <a:buNone/>
            </a:pPr>
            <a:r>
              <a:rPr lang="en-US" sz="1600" i="1" dirty="0" smtClean="0">
                <a:latin typeface="Cambria" panose="02040503050406030204" pitchFamily="18" charset="0"/>
                <a:ea typeface="Cambria" panose="02040503050406030204" pitchFamily="18" charset="0"/>
              </a:rPr>
              <a:t>File: index.html</a:t>
            </a:r>
          </a:p>
          <a:p>
            <a:pPr>
              <a:spcBef>
                <a:spcPts val="0"/>
              </a:spcBef>
              <a:buNone/>
            </a:pPr>
            <a:r>
              <a:rPr lang="en-US" sz="1600" b="1" dirty="0" smtClean="0">
                <a:latin typeface="Cambria" panose="02040503050406030204" pitchFamily="18" charset="0"/>
                <a:ea typeface="Cambria" panose="02040503050406030204" pitchFamily="18" charset="0"/>
              </a:rPr>
              <a:t>&lt;html&gt;</a:t>
            </a:r>
            <a:r>
              <a:rPr lang="en-US" sz="1600" dirty="0" smtClean="0">
                <a:latin typeface="Cambria" panose="02040503050406030204" pitchFamily="18" charset="0"/>
                <a:ea typeface="Cambria" panose="02040503050406030204" pitchFamily="18" charset="0"/>
              </a:rPr>
              <a:t>  </a:t>
            </a:r>
          </a:p>
          <a:p>
            <a:pPr>
              <a:spcBef>
                <a:spcPts val="0"/>
              </a:spcBef>
              <a:buNone/>
            </a:pPr>
            <a:r>
              <a:rPr lang="en-US" sz="1600" b="1" dirty="0" smtClean="0">
                <a:latin typeface="Cambria" panose="02040503050406030204" pitchFamily="18" charset="0"/>
                <a:ea typeface="Cambria" panose="02040503050406030204" pitchFamily="18" charset="0"/>
              </a:rPr>
              <a:t>&lt;body&gt;</a:t>
            </a:r>
            <a:r>
              <a:rPr lang="en-US" sz="1600" dirty="0" smtClean="0">
                <a:latin typeface="Cambria" panose="02040503050406030204" pitchFamily="18" charset="0"/>
                <a:ea typeface="Cambria" panose="02040503050406030204" pitchFamily="18" charset="0"/>
              </a:rPr>
              <a:t>  </a:t>
            </a:r>
          </a:p>
          <a:p>
            <a:pPr>
              <a:spcBef>
                <a:spcPts val="0"/>
              </a:spcBef>
              <a:buNone/>
            </a:pPr>
            <a:r>
              <a:rPr lang="en-US" sz="1600" b="1" dirty="0" smtClean="0">
                <a:latin typeface="Cambria" panose="02040503050406030204" pitchFamily="18" charset="0"/>
                <a:ea typeface="Cambria" panose="02040503050406030204" pitchFamily="18" charset="0"/>
              </a:rPr>
              <a:t>&lt;form</a:t>
            </a:r>
            <a:r>
              <a:rPr lang="en-US" sz="1600" dirty="0" smtClean="0">
                <a:latin typeface="Cambria" panose="02040503050406030204" pitchFamily="18" charset="0"/>
                <a:ea typeface="Cambria" panose="02040503050406030204" pitchFamily="18" charset="0"/>
              </a:rPr>
              <a:t> action="welcome.jsp"</a:t>
            </a:r>
            <a:r>
              <a:rPr lang="en-US" sz="1600" b="1" dirty="0" smtClean="0">
                <a:latin typeface="Cambria" panose="02040503050406030204" pitchFamily="18" charset="0"/>
                <a:ea typeface="Cambria" panose="02040503050406030204" pitchFamily="18" charset="0"/>
              </a:rPr>
              <a:t>&gt;</a:t>
            </a:r>
            <a:r>
              <a:rPr lang="en-US" sz="1600" dirty="0" smtClean="0">
                <a:latin typeface="Cambria" panose="02040503050406030204" pitchFamily="18" charset="0"/>
                <a:ea typeface="Cambria" panose="02040503050406030204" pitchFamily="18" charset="0"/>
              </a:rPr>
              <a:t>  </a:t>
            </a:r>
          </a:p>
          <a:p>
            <a:pPr>
              <a:spcBef>
                <a:spcPts val="0"/>
              </a:spcBef>
              <a:buNone/>
            </a:pPr>
            <a:r>
              <a:rPr lang="en-US" sz="1600" b="1" dirty="0" smtClean="0">
                <a:latin typeface="Cambria" panose="02040503050406030204" pitchFamily="18" charset="0"/>
                <a:ea typeface="Cambria" panose="02040503050406030204" pitchFamily="18" charset="0"/>
              </a:rPr>
              <a:t>&lt;input</a:t>
            </a:r>
            <a:r>
              <a:rPr lang="en-US" sz="1600" dirty="0" smtClean="0">
                <a:latin typeface="Cambria" panose="02040503050406030204" pitchFamily="18" charset="0"/>
                <a:ea typeface="Cambria" panose="02040503050406030204" pitchFamily="18" charset="0"/>
              </a:rPr>
              <a:t> type="text" name="</a:t>
            </a:r>
            <a:r>
              <a:rPr lang="en-US" sz="1600" dirty="0" err="1" smtClean="0">
                <a:latin typeface="Cambria" panose="02040503050406030204" pitchFamily="18" charset="0"/>
                <a:ea typeface="Cambria" panose="02040503050406030204" pitchFamily="18" charset="0"/>
              </a:rPr>
              <a:t>uname</a:t>
            </a:r>
            <a:r>
              <a:rPr lang="en-US" sz="1600" dirty="0" smtClean="0">
                <a:latin typeface="Cambria" panose="02040503050406030204" pitchFamily="18" charset="0"/>
                <a:ea typeface="Cambria" panose="02040503050406030204" pitchFamily="18" charset="0"/>
              </a:rPr>
              <a:t>"</a:t>
            </a:r>
            <a:r>
              <a:rPr lang="en-US" sz="1600" b="1" dirty="0" smtClean="0">
                <a:latin typeface="Cambria" panose="02040503050406030204" pitchFamily="18" charset="0"/>
                <a:ea typeface="Cambria" panose="02040503050406030204" pitchFamily="18" charset="0"/>
              </a:rPr>
              <a:t>&gt;</a:t>
            </a:r>
            <a:r>
              <a:rPr lang="en-US" sz="1600" dirty="0" smtClean="0">
                <a:latin typeface="Cambria" panose="02040503050406030204" pitchFamily="18" charset="0"/>
                <a:ea typeface="Cambria" panose="02040503050406030204" pitchFamily="18" charset="0"/>
              </a:rPr>
              <a:t>  </a:t>
            </a:r>
          </a:p>
          <a:p>
            <a:pPr>
              <a:spcBef>
                <a:spcPts val="0"/>
              </a:spcBef>
              <a:buNone/>
            </a:pPr>
            <a:r>
              <a:rPr lang="en-US" sz="1600" b="1" dirty="0" smtClean="0">
                <a:latin typeface="Cambria" panose="02040503050406030204" pitchFamily="18" charset="0"/>
                <a:ea typeface="Cambria" panose="02040503050406030204" pitchFamily="18" charset="0"/>
              </a:rPr>
              <a:t>&lt;input</a:t>
            </a:r>
            <a:r>
              <a:rPr lang="en-US" sz="1600" dirty="0" smtClean="0">
                <a:latin typeface="Cambria" panose="02040503050406030204" pitchFamily="18" charset="0"/>
                <a:ea typeface="Cambria" panose="02040503050406030204" pitchFamily="18" charset="0"/>
              </a:rPr>
              <a:t> type="submit" value="go"</a:t>
            </a:r>
            <a:r>
              <a:rPr lang="en-US" sz="1600" b="1" dirty="0" smtClean="0">
                <a:latin typeface="Cambria" panose="02040503050406030204" pitchFamily="18" charset="0"/>
                <a:ea typeface="Cambria" panose="02040503050406030204" pitchFamily="18" charset="0"/>
              </a:rPr>
              <a:t>&gt;&lt;</a:t>
            </a:r>
            <a:r>
              <a:rPr lang="en-US" sz="1600" b="1" dirty="0" err="1" smtClean="0">
                <a:latin typeface="Cambria" panose="02040503050406030204" pitchFamily="18" charset="0"/>
                <a:ea typeface="Cambria" panose="02040503050406030204" pitchFamily="18" charset="0"/>
              </a:rPr>
              <a:t>br</a:t>
            </a:r>
            <a:r>
              <a:rPr lang="en-US" sz="1600" b="1" dirty="0" smtClean="0">
                <a:latin typeface="Cambria" panose="02040503050406030204" pitchFamily="18" charset="0"/>
                <a:ea typeface="Cambria" panose="02040503050406030204" pitchFamily="18" charset="0"/>
              </a:rPr>
              <a:t>/&gt;</a:t>
            </a:r>
            <a:r>
              <a:rPr lang="en-US" sz="1600" dirty="0" smtClean="0">
                <a:latin typeface="Cambria" panose="02040503050406030204" pitchFamily="18" charset="0"/>
                <a:ea typeface="Cambria" panose="02040503050406030204" pitchFamily="18" charset="0"/>
              </a:rPr>
              <a:t>  </a:t>
            </a:r>
          </a:p>
          <a:p>
            <a:pPr>
              <a:spcBef>
                <a:spcPts val="0"/>
              </a:spcBef>
              <a:buNone/>
            </a:pPr>
            <a:r>
              <a:rPr lang="en-US" sz="1600" b="1" dirty="0" smtClean="0">
                <a:latin typeface="Cambria" panose="02040503050406030204" pitchFamily="18" charset="0"/>
                <a:ea typeface="Cambria" panose="02040503050406030204" pitchFamily="18" charset="0"/>
              </a:rPr>
              <a:t>&lt;/form&gt;</a:t>
            </a:r>
            <a:r>
              <a:rPr lang="en-US" sz="1600" dirty="0" smtClean="0">
                <a:latin typeface="Cambria" panose="02040503050406030204" pitchFamily="18" charset="0"/>
                <a:ea typeface="Cambria" panose="02040503050406030204" pitchFamily="18" charset="0"/>
              </a:rPr>
              <a:t>  </a:t>
            </a:r>
          </a:p>
          <a:p>
            <a:pPr>
              <a:spcBef>
                <a:spcPts val="0"/>
              </a:spcBef>
              <a:buNone/>
            </a:pPr>
            <a:r>
              <a:rPr lang="en-US" sz="1600" b="1" dirty="0" smtClean="0">
                <a:latin typeface="Cambria" panose="02040503050406030204" pitchFamily="18" charset="0"/>
                <a:ea typeface="Cambria" panose="02040503050406030204" pitchFamily="18" charset="0"/>
              </a:rPr>
              <a:t>&lt;/body&gt;</a:t>
            </a:r>
            <a:r>
              <a:rPr lang="en-US" sz="1600" dirty="0" smtClean="0">
                <a:latin typeface="Cambria" panose="02040503050406030204" pitchFamily="18" charset="0"/>
                <a:ea typeface="Cambria" panose="02040503050406030204" pitchFamily="18" charset="0"/>
              </a:rPr>
              <a:t>  </a:t>
            </a:r>
          </a:p>
          <a:p>
            <a:pPr>
              <a:spcBef>
                <a:spcPts val="0"/>
              </a:spcBef>
              <a:buNone/>
            </a:pPr>
            <a:r>
              <a:rPr lang="en-US" sz="1600" b="1" dirty="0" smtClean="0">
                <a:latin typeface="Cambria" panose="02040503050406030204" pitchFamily="18" charset="0"/>
                <a:ea typeface="Cambria" panose="02040503050406030204" pitchFamily="18" charset="0"/>
              </a:rPr>
              <a:t>&lt;/html&gt;</a:t>
            </a:r>
            <a:r>
              <a:rPr lang="en-US" sz="1600" dirty="0" smtClean="0">
                <a:latin typeface="Cambria" panose="02040503050406030204" pitchFamily="18" charset="0"/>
                <a:ea typeface="Cambria" panose="02040503050406030204" pitchFamily="18" charset="0"/>
              </a:rPr>
              <a:t>  </a:t>
            </a:r>
          </a:p>
          <a:p>
            <a:endParaRPr lang="en-US" sz="2000" dirty="0" smtClean="0">
              <a:latin typeface="Cambria" panose="02040503050406030204" pitchFamily="18" charset="0"/>
              <a:ea typeface="Cambria" panose="02040503050406030204" pitchFamily="18" charset="0"/>
            </a:endParaRPr>
          </a:p>
          <a:p>
            <a:endParaRPr lang="en-US" sz="2000" dirty="0" smtClean="0">
              <a:latin typeface="Cambria" panose="02040503050406030204" pitchFamily="18" charset="0"/>
              <a:ea typeface="Cambria" panose="02040503050406030204" pitchFamily="18" charset="0"/>
            </a:endParaRPr>
          </a:p>
          <a:p>
            <a:pPr>
              <a:buNone/>
            </a:pPr>
            <a:endParaRPr lang="en-US" sz="20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z="1100" smtClean="0">
                <a:latin typeface="Cambria" panose="02040503050406030204" pitchFamily="18" charset="0"/>
                <a:ea typeface="Cambria" panose="02040503050406030204" pitchFamily="18" charset="0"/>
              </a:rPr>
              <a:pPr>
                <a:defRPr/>
              </a:pPr>
              <a:t>77</a:t>
            </a:fld>
            <a:endParaRPr lang="en-US" altLang="en-US" sz="1100">
              <a:latin typeface="Cambria" panose="02040503050406030204" pitchFamily="18" charset="0"/>
              <a:ea typeface="Cambria" panose="02040503050406030204" pitchFamily="18" charset="0"/>
            </a:endParaRPr>
          </a:p>
        </p:txBody>
      </p:sp>
      <p:sp>
        <p:nvSpPr>
          <p:cNvPr id="5" name="Rectangle 4"/>
          <p:cNvSpPr/>
          <p:nvPr/>
        </p:nvSpPr>
        <p:spPr>
          <a:xfrm>
            <a:off x="7176120" y="1196752"/>
            <a:ext cx="4824536" cy="2862322"/>
          </a:xfrm>
          <a:prstGeom prst="rect">
            <a:avLst/>
          </a:prstGeom>
        </p:spPr>
        <p:txBody>
          <a:bodyPr wrap="square">
            <a:spAutoFit/>
          </a:bodyPr>
          <a:lstStyle/>
          <a:p>
            <a:pPr>
              <a:spcBef>
                <a:spcPts val="0"/>
              </a:spcBef>
              <a:buNone/>
            </a:pPr>
            <a:r>
              <a:rPr lang="en-US" i="1" dirty="0">
                <a:latin typeface="Cambria" panose="02040503050406030204" pitchFamily="18" charset="0"/>
                <a:ea typeface="Cambria" panose="02040503050406030204" pitchFamily="18" charset="0"/>
              </a:rPr>
              <a:t>File: welcome.jsp</a:t>
            </a:r>
          </a:p>
          <a:p>
            <a:pPr>
              <a:spcBef>
                <a:spcPts val="0"/>
              </a:spcBef>
              <a:buNone/>
            </a:pPr>
            <a:r>
              <a:rPr lang="en-US" dirty="0">
                <a:latin typeface="Cambria" panose="02040503050406030204" pitchFamily="18" charset="0"/>
                <a:ea typeface="Cambria" panose="02040503050406030204" pitchFamily="18" charset="0"/>
              </a:rPr>
              <a:t>&lt;html&gt;  </a:t>
            </a:r>
          </a:p>
          <a:p>
            <a:pPr>
              <a:spcBef>
                <a:spcPts val="0"/>
              </a:spcBef>
              <a:buNone/>
            </a:pPr>
            <a:r>
              <a:rPr lang="en-US" dirty="0">
                <a:latin typeface="Cambria" panose="02040503050406030204" pitchFamily="18" charset="0"/>
                <a:ea typeface="Cambria" panose="02040503050406030204" pitchFamily="18" charset="0"/>
              </a:rPr>
              <a:t>&lt;body&gt;  </a:t>
            </a:r>
          </a:p>
          <a:p>
            <a:pPr>
              <a:spcBef>
                <a:spcPts val="0"/>
              </a:spcBef>
              <a:buNone/>
            </a:pPr>
            <a:r>
              <a:rPr lang="en-US" dirty="0">
                <a:latin typeface="Cambria" panose="02040503050406030204" pitchFamily="18" charset="0"/>
                <a:ea typeface="Cambria" panose="02040503050406030204" pitchFamily="18" charset="0"/>
              </a:rPr>
              <a:t>&lt;%  </a:t>
            </a:r>
          </a:p>
          <a:p>
            <a:pPr>
              <a:spcBef>
                <a:spcPts val="0"/>
              </a:spcBef>
              <a:buNone/>
            </a:pPr>
            <a:r>
              <a:rPr lang="en-US" dirty="0">
                <a:latin typeface="Cambria" panose="02040503050406030204" pitchFamily="18" charset="0"/>
                <a:ea typeface="Cambria" panose="02040503050406030204" pitchFamily="18" charset="0"/>
              </a:rPr>
              <a:t>String name=request.getParameter("uname");  </a:t>
            </a:r>
          </a:p>
          <a:p>
            <a:pPr>
              <a:spcBef>
                <a:spcPts val="0"/>
              </a:spcBef>
              <a:buNone/>
            </a:pPr>
            <a:r>
              <a:rPr lang="en-US" dirty="0">
                <a:latin typeface="Cambria" panose="02040503050406030204" pitchFamily="18" charset="0"/>
                <a:ea typeface="Cambria" panose="02040503050406030204" pitchFamily="18" charset="0"/>
              </a:rPr>
              <a:t>out.print("welcome "+name);  </a:t>
            </a:r>
          </a:p>
          <a:p>
            <a:pPr>
              <a:spcBef>
                <a:spcPts val="0"/>
              </a:spcBef>
              <a:buNone/>
            </a:pPr>
            <a:r>
              <a:rPr lang="en-US" dirty="0">
                <a:latin typeface="Cambria" panose="02040503050406030204" pitchFamily="18" charset="0"/>
                <a:ea typeface="Cambria" panose="02040503050406030204" pitchFamily="18" charset="0"/>
              </a:rPr>
              <a:t>%&gt;  </a:t>
            </a:r>
          </a:p>
          <a:p>
            <a:pPr>
              <a:spcBef>
                <a:spcPts val="0"/>
              </a:spcBef>
              <a:buNone/>
            </a:pPr>
            <a:r>
              <a:rPr lang="en-US" dirty="0">
                <a:latin typeface="Cambria" panose="02040503050406030204" pitchFamily="18" charset="0"/>
                <a:ea typeface="Cambria" panose="02040503050406030204" pitchFamily="18" charset="0"/>
              </a:rPr>
              <a:t>&lt;/form&gt;  </a:t>
            </a:r>
          </a:p>
          <a:p>
            <a:pPr>
              <a:spcBef>
                <a:spcPts val="0"/>
              </a:spcBef>
              <a:buNone/>
            </a:pPr>
            <a:r>
              <a:rPr lang="en-US" dirty="0">
                <a:latin typeface="Cambria" panose="02040503050406030204" pitchFamily="18" charset="0"/>
                <a:ea typeface="Cambria" panose="02040503050406030204" pitchFamily="18" charset="0"/>
              </a:rPr>
              <a:t>&lt;/body&gt;  </a:t>
            </a:r>
          </a:p>
          <a:p>
            <a:pPr>
              <a:spcBef>
                <a:spcPts val="0"/>
              </a:spcBef>
              <a:buNone/>
            </a:pPr>
            <a:r>
              <a:rPr lang="en-US" dirty="0">
                <a:latin typeface="Cambria" panose="02040503050406030204" pitchFamily="18" charset="0"/>
                <a:ea typeface="Cambria" panose="02040503050406030204" pitchFamily="18" charset="0"/>
              </a:rPr>
              <a:t>&lt;/html&gt;  </a:t>
            </a:r>
          </a:p>
        </p:txBody>
      </p:sp>
    </p:spTree>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7631"/>
            <a:ext cx="4493640" cy="391740"/>
          </a:xfrm>
        </p:spPr>
        <p:txBody>
          <a:bodyPr/>
          <a:lstStyle/>
          <a:p>
            <a:r>
              <a:rPr lang="en-US" sz="3600" b="1" dirty="0" smtClean="0">
                <a:solidFill>
                  <a:schemeClr val="accent5"/>
                </a:solidFill>
                <a:latin typeface="Cambria" panose="02040503050406030204" pitchFamily="18" charset="0"/>
                <a:ea typeface="Cambria" panose="02040503050406030204" pitchFamily="18" charset="0"/>
              </a:rPr>
              <a:t>JSP expression tag</a:t>
            </a:r>
            <a:endParaRPr lang="en-US" sz="36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551384" y="620688"/>
            <a:ext cx="5976664" cy="5184575"/>
          </a:xfrm>
        </p:spPr>
        <p:txBody>
          <a:bodyPr/>
          <a:lstStyle/>
          <a:p>
            <a:pPr algn="just">
              <a:lnSpc>
                <a:spcPct val="100000"/>
              </a:lnSpc>
            </a:pPr>
            <a:r>
              <a:rPr lang="en-IN" sz="1400" dirty="0" smtClean="0">
                <a:latin typeface="Cambria" panose="02040503050406030204" pitchFamily="18" charset="0"/>
                <a:ea typeface="Cambria" panose="02040503050406030204" pitchFamily="18" charset="0"/>
              </a:rPr>
              <a:t> </a:t>
            </a:r>
            <a:r>
              <a:rPr lang="en-GB" sz="1600" dirty="0" smtClean="0">
                <a:latin typeface="Cambria" panose="02040503050406030204" pitchFamily="18" charset="0"/>
                <a:ea typeface="Cambria" panose="02040503050406030204" pitchFamily="18" charset="0"/>
              </a:rPr>
              <a:t>The code placed within </a:t>
            </a:r>
            <a:r>
              <a:rPr lang="en-GB" sz="1600" b="1" dirty="0" smtClean="0">
                <a:latin typeface="Cambria" panose="02040503050406030204" pitchFamily="18" charset="0"/>
                <a:ea typeface="Cambria" panose="02040503050406030204" pitchFamily="18" charset="0"/>
              </a:rPr>
              <a:t>JSP expression tag</a:t>
            </a:r>
            <a:r>
              <a:rPr lang="en-GB" sz="1600" dirty="0" smtClean="0">
                <a:latin typeface="Cambria" panose="02040503050406030204" pitchFamily="18" charset="0"/>
                <a:ea typeface="Cambria" panose="02040503050406030204" pitchFamily="18" charset="0"/>
              </a:rPr>
              <a:t> is </a:t>
            </a:r>
            <a:r>
              <a:rPr lang="en-GB" sz="1600" i="1" dirty="0" smtClean="0">
                <a:latin typeface="Cambria" panose="02040503050406030204" pitchFamily="18" charset="0"/>
                <a:ea typeface="Cambria" panose="02040503050406030204" pitchFamily="18" charset="0"/>
              </a:rPr>
              <a:t>written to the output stream of the response</a:t>
            </a:r>
            <a:r>
              <a:rPr lang="en-GB" sz="1600" dirty="0" smtClean="0">
                <a:latin typeface="Cambria" panose="02040503050406030204" pitchFamily="18" charset="0"/>
                <a:ea typeface="Cambria" panose="02040503050406030204" pitchFamily="18" charset="0"/>
              </a:rPr>
              <a:t>. So you need not write </a:t>
            </a:r>
            <a:r>
              <a:rPr lang="en-GB" sz="1600" dirty="0" err="1" smtClean="0">
                <a:latin typeface="Cambria" panose="02040503050406030204" pitchFamily="18" charset="0"/>
                <a:ea typeface="Cambria" panose="02040503050406030204" pitchFamily="18" charset="0"/>
              </a:rPr>
              <a:t>out.print</a:t>
            </a:r>
            <a:r>
              <a:rPr lang="en-GB" sz="1600" dirty="0" smtClean="0">
                <a:latin typeface="Cambria" panose="02040503050406030204" pitchFamily="18" charset="0"/>
                <a:ea typeface="Cambria" panose="02040503050406030204" pitchFamily="18" charset="0"/>
              </a:rPr>
              <a:t>() to write data. It is mainly used to print the values of variable or method.</a:t>
            </a:r>
          </a:p>
          <a:p>
            <a:pPr algn="just">
              <a:lnSpc>
                <a:spcPct val="100000"/>
              </a:lnSpc>
            </a:pPr>
            <a:r>
              <a:rPr lang="en-GB" sz="1600" dirty="0" smtClean="0">
                <a:latin typeface="Cambria" panose="02040503050406030204" pitchFamily="18" charset="0"/>
                <a:ea typeface="Cambria" panose="02040503050406030204" pitchFamily="18" charset="0"/>
              </a:rPr>
              <a:t>Syntax of JSP expression tag</a:t>
            </a:r>
          </a:p>
          <a:p>
            <a:pPr algn="just">
              <a:lnSpc>
                <a:spcPct val="100000"/>
              </a:lnSpc>
            </a:pPr>
            <a:r>
              <a:rPr lang="en-GB" sz="1600" b="1" dirty="0" smtClean="0">
                <a:latin typeface="Cambria" panose="02040503050406030204" pitchFamily="18" charset="0"/>
                <a:ea typeface="Cambria" panose="02040503050406030204" pitchFamily="18" charset="0"/>
              </a:rPr>
              <a:t>&lt;</a:t>
            </a:r>
            <a:r>
              <a:rPr lang="en-GB" sz="1600" dirty="0" smtClean="0">
                <a:latin typeface="Cambria" panose="02040503050406030204" pitchFamily="18" charset="0"/>
                <a:ea typeface="Cambria" panose="02040503050406030204" pitchFamily="18" charset="0"/>
              </a:rPr>
              <a:t>%=  statement %</a:t>
            </a:r>
            <a:r>
              <a:rPr lang="en-GB" sz="1600" b="1" dirty="0" smtClean="0">
                <a:latin typeface="Cambria" panose="02040503050406030204" pitchFamily="18" charset="0"/>
                <a:ea typeface="Cambria" panose="02040503050406030204" pitchFamily="18" charset="0"/>
              </a:rPr>
              <a:t>&gt;</a:t>
            </a:r>
            <a:r>
              <a:rPr lang="en-GB" sz="1600" dirty="0" smtClean="0">
                <a:latin typeface="Cambria" panose="02040503050406030204" pitchFamily="18" charset="0"/>
                <a:ea typeface="Cambria" panose="02040503050406030204" pitchFamily="18" charset="0"/>
              </a:rPr>
              <a:t>  </a:t>
            </a:r>
          </a:p>
          <a:p>
            <a:pPr algn="just">
              <a:lnSpc>
                <a:spcPct val="100000"/>
              </a:lnSpc>
            </a:pPr>
            <a:r>
              <a:rPr lang="en-US" sz="1600" dirty="0" smtClean="0">
                <a:latin typeface="Cambria" panose="02040503050406030204" pitchFamily="18" charset="0"/>
                <a:ea typeface="Cambria" panose="02040503050406030204" pitchFamily="18" charset="0"/>
              </a:rPr>
              <a:t>Example - </a:t>
            </a:r>
            <a:r>
              <a:rPr lang="en-GB" sz="1600" dirty="0" smtClean="0">
                <a:latin typeface="Cambria" panose="02040503050406030204" pitchFamily="18" charset="0"/>
                <a:ea typeface="Cambria" panose="02040503050406030204" pitchFamily="18" charset="0"/>
              </a:rPr>
              <a:t>simply displaying a welcome message.</a:t>
            </a:r>
          </a:p>
          <a:p>
            <a:pPr algn="just">
              <a:lnSpc>
                <a:spcPct val="100000"/>
              </a:lnSpc>
              <a:buNone/>
            </a:pPr>
            <a:r>
              <a:rPr lang="en-GB" sz="1600" b="1" dirty="0" smtClean="0">
                <a:latin typeface="Cambria" panose="02040503050406030204" pitchFamily="18" charset="0"/>
                <a:ea typeface="Cambria" panose="02040503050406030204" pitchFamily="18" charset="0"/>
              </a:rPr>
              <a:t>&lt;html&gt;</a:t>
            </a:r>
            <a:r>
              <a:rPr lang="en-GB" sz="1600" dirty="0" smtClean="0">
                <a:latin typeface="Cambria" panose="02040503050406030204" pitchFamily="18" charset="0"/>
                <a:ea typeface="Cambria" panose="02040503050406030204" pitchFamily="18" charset="0"/>
              </a:rPr>
              <a:t>  </a:t>
            </a:r>
          </a:p>
          <a:p>
            <a:pPr algn="just">
              <a:lnSpc>
                <a:spcPct val="100000"/>
              </a:lnSpc>
              <a:buNone/>
            </a:pPr>
            <a:r>
              <a:rPr lang="en-GB" sz="1600" b="1" dirty="0" smtClean="0">
                <a:latin typeface="Cambria" panose="02040503050406030204" pitchFamily="18" charset="0"/>
                <a:ea typeface="Cambria" panose="02040503050406030204" pitchFamily="18" charset="0"/>
              </a:rPr>
              <a:t>&lt;body&gt;</a:t>
            </a:r>
            <a:r>
              <a:rPr lang="en-GB" sz="1600" dirty="0" smtClean="0">
                <a:latin typeface="Cambria" panose="02040503050406030204" pitchFamily="18" charset="0"/>
                <a:ea typeface="Cambria" panose="02040503050406030204" pitchFamily="18" charset="0"/>
              </a:rPr>
              <a:t>  </a:t>
            </a:r>
          </a:p>
          <a:p>
            <a:pPr algn="just">
              <a:lnSpc>
                <a:spcPct val="100000"/>
              </a:lnSpc>
              <a:buNone/>
            </a:pPr>
            <a:r>
              <a:rPr lang="en-GB" sz="1600" b="1" dirty="0" smtClean="0">
                <a:latin typeface="Cambria" panose="02040503050406030204" pitchFamily="18" charset="0"/>
                <a:ea typeface="Cambria" panose="02040503050406030204" pitchFamily="18" charset="0"/>
              </a:rPr>
              <a:t>&lt;</a:t>
            </a:r>
            <a:r>
              <a:rPr lang="en-GB" sz="1600" dirty="0" smtClean="0">
                <a:latin typeface="Cambria" panose="02040503050406030204" pitchFamily="18" charset="0"/>
                <a:ea typeface="Cambria" panose="02040503050406030204" pitchFamily="18" charset="0"/>
              </a:rPr>
              <a:t>%= "welcome to </a:t>
            </a:r>
            <a:r>
              <a:rPr lang="en-GB" sz="1600" dirty="0" err="1" smtClean="0">
                <a:latin typeface="Cambria" panose="02040503050406030204" pitchFamily="18" charset="0"/>
                <a:ea typeface="Cambria" panose="02040503050406030204" pitchFamily="18" charset="0"/>
              </a:rPr>
              <a:t>jsp</a:t>
            </a:r>
            <a:r>
              <a:rPr lang="en-GB" sz="1600" dirty="0" smtClean="0">
                <a:latin typeface="Cambria" panose="02040503050406030204" pitchFamily="18" charset="0"/>
                <a:ea typeface="Cambria" panose="02040503050406030204" pitchFamily="18" charset="0"/>
              </a:rPr>
              <a:t>" %</a:t>
            </a:r>
            <a:r>
              <a:rPr lang="en-GB" sz="1600" b="1" dirty="0" smtClean="0">
                <a:latin typeface="Cambria" panose="02040503050406030204" pitchFamily="18" charset="0"/>
                <a:ea typeface="Cambria" panose="02040503050406030204" pitchFamily="18" charset="0"/>
              </a:rPr>
              <a:t>&gt;</a:t>
            </a:r>
            <a:r>
              <a:rPr lang="en-GB" sz="1600" dirty="0" smtClean="0">
                <a:latin typeface="Cambria" panose="02040503050406030204" pitchFamily="18" charset="0"/>
                <a:ea typeface="Cambria" panose="02040503050406030204" pitchFamily="18" charset="0"/>
              </a:rPr>
              <a:t>  </a:t>
            </a:r>
          </a:p>
          <a:p>
            <a:pPr algn="just">
              <a:lnSpc>
                <a:spcPct val="100000"/>
              </a:lnSpc>
              <a:buNone/>
            </a:pPr>
            <a:r>
              <a:rPr lang="en-GB" sz="1600" b="1" dirty="0" smtClean="0">
                <a:latin typeface="Cambria" panose="02040503050406030204" pitchFamily="18" charset="0"/>
                <a:ea typeface="Cambria" panose="02040503050406030204" pitchFamily="18" charset="0"/>
              </a:rPr>
              <a:t>&lt;/body&gt;</a:t>
            </a:r>
            <a:r>
              <a:rPr lang="en-GB" sz="1600" dirty="0" smtClean="0">
                <a:latin typeface="Cambria" panose="02040503050406030204" pitchFamily="18" charset="0"/>
                <a:ea typeface="Cambria" panose="02040503050406030204" pitchFamily="18" charset="0"/>
              </a:rPr>
              <a:t>  </a:t>
            </a:r>
          </a:p>
          <a:p>
            <a:pPr algn="just">
              <a:lnSpc>
                <a:spcPct val="100000"/>
              </a:lnSpc>
              <a:buNone/>
            </a:pPr>
            <a:r>
              <a:rPr lang="en-GB" sz="1600" b="1" dirty="0" smtClean="0">
                <a:latin typeface="Cambria" panose="02040503050406030204" pitchFamily="18" charset="0"/>
                <a:ea typeface="Cambria" panose="02040503050406030204" pitchFamily="18" charset="0"/>
              </a:rPr>
              <a:t>&lt;/html&gt;</a:t>
            </a:r>
          </a:p>
          <a:p>
            <a:pPr algn="just">
              <a:lnSpc>
                <a:spcPct val="100000"/>
              </a:lnSpc>
            </a:pPr>
            <a:r>
              <a:rPr lang="en-US" sz="1600" dirty="0" smtClean="0">
                <a:latin typeface="Cambria" panose="02040503050406030204" pitchFamily="18" charset="0"/>
                <a:ea typeface="Cambria" panose="02040503050406030204" pitchFamily="18" charset="0"/>
              </a:rPr>
              <a:t>Example – </a:t>
            </a:r>
            <a:r>
              <a:rPr lang="en-GB" sz="1600" dirty="0" smtClean="0">
                <a:latin typeface="Cambria" panose="02040503050406030204" pitchFamily="18" charset="0"/>
                <a:ea typeface="Cambria" panose="02040503050406030204" pitchFamily="18" charset="0"/>
              </a:rPr>
              <a:t>display current time</a:t>
            </a:r>
          </a:p>
          <a:p>
            <a:pPr algn="just">
              <a:lnSpc>
                <a:spcPct val="100000"/>
              </a:lnSpc>
              <a:buNone/>
            </a:pPr>
            <a:r>
              <a:rPr lang="en-GB" sz="1600" b="1" dirty="0" smtClean="0">
                <a:latin typeface="Cambria" panose="02040503050406030204" pitchFamily="18" charset="0"/>
                <a:ea typeface="Cambria" panose="02040503050406030204" pitchFamily="18" charset="0"/>
              </a:rPr>
              <a:t>&lt;html&gt;</a:t>
            </a:r>
            <a:r>
              <a:rPr lang="en-GB" sz="1600" dirty="0" smtClean="0">
                <a:latin typeface="Cambria" panose="02040503050406030204" pitchFamily="18" charset="0"/>
                <a:ea typeface="Cambria" panose="02040503050406030204" pitchFamily="18" charset="0"/>
              </a:rPr>
              <a:t>  </a:t>
            </a:r>
          </a:p>
          <a:p>
            <a:pPr algn="just">
              <a:lnSpc>
                <a:spcPct val="100000"/>
              </a:lnSpc>
              <a:buNone/>
            </a:pPr>
            <a:r>
              <a:rPr lang="en-GB" sz="1600" b="1" dirty="0" smtClean="0">
                <a:latin typeface="Cambria" panose="02040503050406030204" pitchFamily="18" charset="0"/>
                <a:ea typeface="Cambria" panose="02040503050406030204" pitchFamily="18" charset="0"/>
              </a:rPr>
              <a:t>&lt;body&gt;</a:t>
            </a:r>
            <a:r>
              <a:rPr lang="en-GB" sz="1600" dirty="0" smtClean="0">
                <a:latin typeface="Cambria" panose="02040503050406030204" pitchFamily="18" charset="0"/>
                <a:ea typeface="Cambria" panose="02040503050406030204" pitchFamily="18" charset="0"/>
              </a:rPr>
              <a:t>  </a:t>
            </a:r>
          </a:p>
          <a:p>
            <a:pPr algn="just">
              <a:lnSpc>
                <a:spcPct val="100000"/>
              </a:lnSpc>
              <a:buNone/>
            </a:pPr>
            <a:endParaRPr lang="en-GB" sz="1600" dirty="0" smtClean="0">
              <a:latin typeface="Cambria" panose="02040503050406030204" pitchFamily="18" charset="0"/>
              <a:ea typeface="Cambria" panose="02040503050406030204" pitchFamily="18" charset="0"/>
            </a:endParaRPr>
          </a:p>
          <a:p>
            <a:pPr algn="just">
              <a:lnSpc>
                <a:spcPct val="100000"/>
              </a:lnSpc>
              <a:buNone/>
            </a:pPr>
            <a:endParaRPr lang="en-GB" sz="1600" dirty="0" smtClean="0">
              <a:latin typeface="Cambria" panose="02040503050406030204" pitchFamily="18" charset="0"/>
              <a:ea typeface="Cambria" panose="02040503050406030204" pitchFamily="18" charset="0"/>
            </a:endParaRPr>
          </a:p>
          <a:p>
            <a:pPr algn="just">
              <a:lnSpc>
                <a:spcPct val="100000"/>
              </a:lnSpc>
              <a:buNone/>
            </a:pPr>
            <a:endParaRPr lang="en-GB" sz="1600" dirty="0" smtClean="0">
              <a:latin typeface="Cambria" panose="02040503050406030204" pitchFamily="18" charset="0"/>
              <a:ea typeface="Cambria" panose="02040503050406030204" pitchFamily="18" charset="0"/>
            </a:endParaRPr>
          </a:p>
          <a:p>
            <a:pPr algn="just">
              <a:lnSpc>
                <a:spcPct val="100000"/>
              </a:lnSpc>
            </a:pPr>
            <a:endParaRPr lang="en-US" sz="1600" dirty="0" smtClean="0">
              <a:latin typeface="Cambria" panose="02040503050406030204" pitchFamily="18" charset="0"/>
              <a:ea typeface="Cambria" panose="02040503050406030204" pitchFamily="18" charset="0"/>
            </a:endParaRPr>
          </a:p>
          <a:p>
            <a:pPr algn="just">
              <a:lnSpc>
                <a:spcPct val="100000"/>
              </a:lnSpc>
            </a:pPr>
            <a:endParaRPr lang="en-GB" sz="1600" dirty="0" smtClean="0">
              <a:latin typeface="Cambria" panose="02040503050406030204" pitchFamily="18" charset="0"/>
              <a:ea typeface="Cambria" panose="02040503050406030204" pitchFamily="18" charset="0"/>
            </a:endParaRPr>
          </a:p>
          <a:p>
            <a:pPr algn="just">
              <a:lnSpc>
                <a:spcPct val="100000"/>
              </a:lnSpc>
            </a:pPr>
            <a:endParaRPr lang="en-GB" sz="1600" dirty="0" smtClean="0">
              <a:latin typeface="Cambria" panose="02040503050406030204" pitchFamily="18" charset="0"/>
              <a:ea typeface="Cambria" panose="02040503050406030204" pitchFamily="18" charset="0"/>
            </a:endParaRPr>
          </a:p>
          <a:p>
            <a:pPr algn="just">
              <a:lnSpc>
                <a:spcPct val="100000"/>
              </a:lnSpc>
            </a:pPr>
            <a:endParaRPr lang="en-US" sz="1600" dirty="0" smtClean="0">
              <a:latin typeface="Cambria" panose="02040503050406030204" pitchFamily="18" charset="0"/>
              <a:ea typeface="Cambria" panose="02040503050406030204" pitchFamily="18" charset="0"/>
            </a:endParaRPr>
          </a:p>
          <a:p>
            <a:pPr algn="just">
              <a:lnSpc>
                <a:spcPct val="100000"/>
              </a:lnSpc>
            </a:pPr>
            <a:endParaRPr lang="en-GB" sz="1600" dirty="0" smtClean="0">
              <a:latin typeface="Cambria" panose="02040503050406030204" pitchFamily="18" charset="0"/>
              <a:ea typeface="Cambria" panose="02040503050406030204" pitchFamily="18" charset="0"/>
            </a:endParaRPr>
          </a:p>
          <a:p>
            <a:pPr algn="just">
              <a:lnSpc>
                <a:spcPct val="100000"/>
              </a:lnSpc>
            </a:pPr>
            <a:endParaRPr lang="en-US" sz="2400" dirty="0" smtClean="0">
              <a:latin typeface="Cambria" panose="02040503050406030204" pitchFamily="18" charset="0"/>
              <a:ea typeface="Cambria" panose="02040503050406030204" pitchFamily="18" charset="0"/>
            </a:endParaRPr>
          </a:p>
          <a:p>
            <a:pPr algn="just">
              <a:lnSpc>
                <a:spcPct val="100000"/>
              </a:lnSpc>
            </a:pPr>
            <a:endParaRPr lang="en-US" sz="24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78</a:t>
            </a:fld>
            <a:endParaRPr lang="en-US" altLang="en-US" dirty="0">
              <a:latin typeface="Cambria" panose="02040503050406030204" pitchFamily="18" charset="0"/>
              <a:ea typeface="Cambria" panose="02040503050406030204" pitchFamily="18" charset="0"/>
            </a:endParaRPr>
          </a:p>
        </p:txBody>
      </p:sp>
      <p:sp>
        <p:nvSpPr>
          <p:cNvPr id="5" name="Rectangle 4"/>
          <p:cNvSpPr/>
          <p:nvPr/>
        </p:nvSpPr>
        <p:spPr>
          <a:xfrm>
            <a:off x="6744072" y="119820"/>
            <a:ext cx="5256584" cy="6186309"/>
          </a:xfrm>
          <a:prstGeom prst="rect">
            <a:avLst/>
          </a:prstGeom>
        </p:spPr>
        <p:txBody>
          <a:bodyPr wrap="square">
            <a:spAutoFit/>
          </a:bodyPr>
          <a:lstStyle/>
          <a:p>
            <a:pPr>
              <a:lnSpc>
                <a:spcPct val="100000"/>
              </a:lnSpc>
              <a:buNone/>
            </a:pPr>
            <a:r>
              <a:rPr lang="en-GB" dirty="0">
                <a:latin typeface="Cambria" panose="02040503050406030204" pitchFamily="18" charset="0"/>
                <a:ea typeface="Cambria" panose="02040503050406030204" pitchFamily="18" charset="0"/>
              </a:rPr>
              <a:t>Current Time: </a:t>
            </a:r>
            <a:r>
              <a:rPr lang="en-GB" b="1" dirty="0">
                <a:latin typeface="Cambria" panose="02040503050406030204" pitchFamily="18" charset="0"/>
                <a:ea typeface="Cambria" panose="02040503050406030204" pitchFamily="18" charset="0"/>
              </a:rPr>
              <a:t>&lt;</a:t>
            </a:r>
            <a:r>
              <a:rPr lang="en-GB" dirty="0">
                <a:latin typeface="Cambria" panose="02040503050406030204" pitchFamily="18" charset="0"/>
                <a:ea typeface="Cambria" panose="02040503050406030204" pitchFamily="18" charset="0"/>
              </a:rPr>
              <a:t>%= java.util.Calendar.getInstance().getTime() %</a:t>
            </a:r>
            <a:r>
              <a:rPr lang="en-GB" b="1" dirty="0">
                <a:latin typeface="Cambria" panose="02040503050406030204" pitchFamily="18" charset="0"/>
                <a:ea typeface="Cambria" panose="02040503050406030204" pitchFamily="18" charset="0"/>
              </a:rPr>
              <a:t>&gt;</a:t>
            </a:r>
            <a:r>
              <a:rPr lang="en-GB" dirty="0">
                <a:latin typeface="Cambria" panose="02040503050406030204" pitchFamily="18" charset="0"/>
                <a:ea typeface="Cambria" panose="02040503050406030204" pitchFamily="18" charset="0"/>
              </a:rPr>
              <a:t>  </a:t>
            </a:r>
          </a:p>
          <a:p>
            <a:pPr>
              <a:lnSpc>
                <a:spcPct val="100000"/>
              </a:lnSpc>
              <a:buNone/>
            </a:pPr>
            <a:r>
              <a:rPr lang="en-GB" b="1" dirty="0">
                <a:latin typeface="Cambria" panose="02040503050406030204" pitchFamily="18" charset="0"/>
                <a:ea typeface="Cambria" panose="02040503050406030204" pitchFamily="18" charset="0"/>
              </a:rPr>
              <a:t>&lt;/body&gt;</a:t>
            </a:r>
            <a:r>
              <a:rPr lang="en-GB" dirty="0">
                <a:latin typeface="Cambria" panose="02040503050406030204" pitchFamily="18" charset="0"/>
                <a:ea typeface="Cambria" panose="02040503050406030204" pitchFamily="18" charset="0"/>
              </a:rPr>
              <a:t>  </a:t>
            </a:r>
          </a:p>
          <a:p>
            <a:pPr>
              <a:lnSpc>
                <a:spcPct val="100000"/>
              </a:lnSpc>
              <a:buNone/>
            </a:pPr>
            <a:r>
              <a:rPr lang="en-GB" b="1" dirty="0">
                <a:latin typeface="Cambria" panose="02040503050406030204" pitchFamily="18" charset="0"/>
                <a:ea typeface="Cambria" panose="02040503050406030204" pitchFamily="18" charset="0"/>
              </a:rPr>
              <a:t>&lt;/html&gt;</a:t>
            </a:r>
            <a:r>
              <a:rPr lang="en-GB" dirty="0">
                <a:latin typeface="Cambria" panose="02040503050406030204" pitchFamily="18" charset="0"/>
                <a:ea typeface="Cambria" panose="02040503050406030204" pitchFamily="18" charset="0"/>
              </a:rPr>
              <a:t>  </a:t>
            </a:r>
          </a:p>
          <a:p>
            <a:pPr>
              <a:lnSpc>
                <a:spcPct val="100000"/>
              </a:lnSpc>
              <a:buNone/>
            </a:pPr>
            <a:r>
              <a:rPr lang="en-GB" dirty="0">
                <a:latin typeface="Cambria" panose="02040503050406030204" pitchFamily="18" charset="0"/>
                <a:ea typeface="Cambria" panose="02040503050406030204" pitchFamily="18" charset="0"/>
              </a:rPr>
              <a:t>example, we are printing the username using the expression tag</a:t>
            </a:r>
          </a:p>
          <a:p>
            <a:pPr>
              <a:lnSpc>
                <a:spcPct val="100000"/>
              </a:lnSpc>
            </a:pPr>
            <a:r>
              <a:rPr lang="en-US" i="1" dirty="0">
                <a:latin typeface="Cambria" panose="02040503050406030204" pitchFamily="18" charset="0"/>
                <a:ea typeface="Cambria" panose="02040503050406030204" pitchFamily="18" charset="0"/>
              </a:rPr>
              <a:t>File: index.jsp</a:t>
            </a:r>
          </a:p>
          <a:p>
            <a:pPr>
              <a:lnSpc>
                <a:spcPct val="100000"/>
              </a:lnSpc>
              <a:buNone/>
            </a:pPr>
            <a:r>
              <a:rPr lang="en-US" b="1" dirty="0">
                <a:latin typeface="Cambria" panose="02040503050406030204" pitchFamily="18" charset="0"/>
                <a:ea typeface="Cambria" panose="02040503050406030204" pitchFamily="18" charset="0"/>
              </a:rPr>
              <a:t>&lt;html&gt;</a:t>
            </a:r>
            <a:r>
              <a:rPr lang="en-US" dirty="0">
                <a:latin typeface="Cambria" panose="02040503050406030204" pitchFamily="18" charset="0"/>
                <a:ea typeface="Cambria" panose="02040503050406030204" pitchFamily="18" charset="0"/>
              </a:rPr>
              <a:t>  </a:t>
            </a:r>
          </a:p>
          <a:p>
            <a:pPr>
              <a:lnSpc>
                <a:spcPct val="100000"/>
              </a:lnSpc>
              <a:buNone/>
            </a:pPr>
            <a:r>
              <a:rPr lang="en-US" b="1" dirty="0">
                <a:latin typeface="Cambria" panose="02040503050406030204" pitchFamily="18" charset="0"/>
                <a:ea typeface="Cambria" panose="02040503050406030204" pitchFamily="18" charset="0"/>
              </a:rPr>
              <a:t>&lt;body&gt;</a:t>
            </a:r>
            <a:r>
              <a:rPr lang="en-US" dirty="0">
                <a:latin typeface="Cambria" panose="02040503050406030204" pitchFamily="18" charset="0"/>
                <a:ea typeface="Cambria" panose="02040503050406030204" pitchFamily="18" charset="0"/>
              </a:rPr>
              <a:t>  </a:t>
            </a:r>
          </a:p>
          <a:p>
            <a:pPr>
              <a:lnSpc>
                <a:spcPct val="100000"/>
              </a:lnSpc>
              <a:buNone/>
            </a:pPr>
            <a:r>
              <a:rPr lang="en-US" b="1" dirty="0">
                <a:latin typeface="Cambria" panose="02040503050406030204" pitchFamily="18" charset="0"/>
                <a:ea typeface="Cambria" panose="02040503050406030204" pitchFamily="18" charset="0"/>
              </a:rPr>
              <a:t>&lt;form</a:t>
            </a:r>
            <a:r>
              <a:rPr lang="en-US" dirty="0">
                <a:latin typeface="Cambria" panose="02040503050406030204" pitchFamily="18" charset="0"/>
                <a:ea typeface="Cambria" panose="02040503050406030204" pitchFamily="18" charset="0"/>
              </a:rPr>
              <a:t> action="welcome.jsp"</a:t>
            </a:r>
            <a:r>
              <a:rPr lang="en-US" b="1" dirty="0">
                <a:latin typeface="Cambria" panose="02040503050406030204" pitchFamily="18" charset="0"/>
                <a:ea typeface="Cambria" panose="02040503050406030204" pitchFamily="18" charset="0"/>
              </a:rPr>
              <a:t>&gt;</a:t>
            </a:r>
            <a:r>
              <a:rPr lang="en-US" dirty="0">
                <a:latin typeface="Cambria" panose="02040503050406030204" pitchFamily="18" charset="0"/>
                <a:ea typeface="Cambria" panose="02040503050406030204" pitchFamily="18" charset="0"/>
              </a:rPr>
              <a:t>  </a:t>
            </a:r>
          </a:p>
          <a:p>
            <a:pPr>
              <a:lnSpc>
                <a:spcPct val="100000"/>
              </a:lnSpc>
              <a:buNone/>
            </a:pPr>
            <a:r>
              <a:rPr lang="en-US" b="1" dirty="0">
                <a:latin typeface="Cambria" panose="02040503050406030204" pitchFamily="18" charset="0"/>
                <a:ea typeface="Cambria" panose="02040503050406030204" pitchFamily="18" charset="0"/>
              </a:rPr>
              <a:t>&lt;input</a:t>
            </a:r>
            <a:r>
              <a:rPr lang="en-US" dirty="0">
                <a:latin typeface="Cambria" panose="02040503050406030204" pitchFamily="18" charset="0"/>
                <a:ea typeface="Cambria" panose="02040503050406030204" pitchFamily="18" charset="0"/>
              </a:rPr>
              <a:t> type="text" name="uname"</a:t>
            </a:r>
            <a:r>
              <a:rPr lang="en-US" b="1" dirty="0">
                <a:latin typeface="Cambria" panose="02040503050406030204" pitchFamily="18" charset="0"/>
                <a:ea typeface="Cambria" panose="02040503050406030204" pitchFamily="18" charset="0"/>
              </a:rPr>
              <a:t>&gt;&lt;br/&gt;</a:t>
            </a:r>
            <a:r>
              <a:rPr lang="en-US" dirty="0">
                <a:latin typeface="Cambria" panose="02040503050406030204" pitchFamily="18" charset="0"/>
                <a:ea typeface="Cambria" panose="02040503050406030204" pitchFamily="18" charset="0"/>
              </a:rPr>
              <a:t>  </a:t>
            </a:r>
          </a:p>
          <a:p>
            <a:pPr>
              <a:lnSpc>
                <a:spcPct val="100000"/>
              </a:lnSpc>
              <a:buNone/>
            </a:pPr>
            <a:r>
              <a:rPr lang="en-US" b="1" dirty="0">
                <a:latin typeface="Cambria" panose="02040503050406030204" pitchFamily="18" charset="0"/>
                <a:ea typeface="Cambria" panose="02040503050406030204" pitchFamily="18" charset="0"/>
              </a:rPr>
              <a:t>&lt;input</a:t>
            </a:r>
            <a:r>
              <a:rPr lang="en-US" dirty="0">
                <a:latin typeface="Cambria" panose="02040503050406030204" pitchFamily="18" charset="0"/>
                <a:ea typeface="Cambria" panose="02040503050406030204" pitchFamily="18" charset="0"/>
              </a:rPr>
              <a:t> type="submit" value="go"</a:t>
            </a:r>
            <a:r>
              <a:rPr lang="en-US" b="1" dirty="0">
                <a:latin typeface="Cambria" panose="02040503050406030204" pitchFamily="18" charset="0"/>
                <a:ea typeface="Cambria" panose="02040503050406030204" pitchFamily="18" charset="0"/>
              </a:rPr>
              <a:t>&gt;</a:t>
            </a:r>
            <a:r>
              <a:rPr lang="en-US" dirty="0">
                <a:latin typeface="Cambria" panose="02040503050406030204" pitchFamily="18" charset="0"/>
                <a:ea typeface="Cambria" panose="02040503050406030204" pitchFamily="18" charset="0"/>
              </a:rPr>
              <a:t>  </a:t>
            </a:r>
          </a:p>
          <a:p>
            <a:pPr>
              <a:lnSpc>
                <a:spcPct val="100000"/>
              </a:lnSpc>
              <a:buNone/>
            </a:pPr>
            <a:r>
              <a:rPr lang="en-US" b="1" dirty="0">
                <a:latin typeface="Cambria" panose="02040503050406030204" pitchFamily="18" charset="0"/>
                <a:ea typeface="Cambria" panose="02040503050406030204" pitchFamily="18" charset="0"/>
              </a:rPr>
              <a:t>&lt;/form&gt;</a:t>
            </a:r>
            <a:r>
              <a:rPr lang="en-US" dirty="0">
                <a:latin typeface="Cambria" panose="02040503050406030204" pitchFamily="18" charset="0"/>
                <a:ea typeface="Cambria" panose="02040503050406030204" pitchFamily="18" charset="0"/>
              </a:rPr>
              <a:t>  </a:t>
            </a:r>
          </a:p>
          <a:p>
            <a:pPr>
              <a:lnSpc>
                <a:spcPct val="100000"/>
              </a:lnSpc>
              <a:buNone/>
            </a:pPr>
            <a:r>
              <a:rPr lang="en-US" b="1" dirty="0">
                <a:latin typeface="Cambria" panose="02040503050406030204" pitchFamily="18" charset="0"/>
                <a:ea typeface="Cambria" panose="02040503050406030204" pitchFamily="18" charset="0"/>
              </a:rPr>
              <a:t>&lt;/body&gt;</a:t>
            </a:r>
            <a:r>
              <a:rPr lang="en-US" dirty="0">
                <a:latin typeface="Cambria" panose="02040503050406030204" pitchFamily="18" charset="0"/>
                <a:ea typeface="Cambria" panose="02040503050406030204" pitchFamily="18" charset="0"/>
              </a:rPr>
              <a:t>  </a:t>
            </a:r>
          </a:p>
          <a:p>
            <a:pPr>
              <a:lnSpc>
                <a:spcPct val="100000"/>
              </a:lnSpc>
              <a:buNone/>
            </a:pPr>
            <a:r>
              <a:rPr lang="en-US" b="1" dirty="0">
                <a:latin typeface="Cambria" panose="02040503050406030204" pitchFamily="18" charset="0"/>
                <a:ea typeface="Cambria" panose="02040503050406030204" pitchFamily="18" charset="0"/>
              </a:rPr>
              <a:t>&lt;/html&gt;</a:t>
            </a:r>
            <a:r>
              <a:rPr lang="en-US" dirty="0">
                <a:latin typeface="Cambria" panose="02040503050406030204" pitchFamily="18" charset="0"/>
                <a:ea typeface="Cambria" panose="02040503050406030204" pitchFamily="18" charset="0"/>
              </a:rPr>
              <a:t>  </a:t>
            </a:r>
          </a:p>
          <a:p>
            <a:pPr>
              <a:lnSpc>
                <a:spcPct val="100000"/>
              </a:lnSpc>
            </a:pPr>
            <a:r>
              <a:rPr lang="en-US" i="1" dirty="0">
                <a:latin typeface="Cambria" panose="02040503050406030204" pitchFamily="18" charset="0"/>
                <a:ea typeface="Cambria" panose="02040503050406030204" pitchFamily="18" charset="0"/>
              </a:rPr>
              <a:t>File: welcome.jsp</a:t>
            </a:r>
          </a:p>
          <a:p>
            <a:pPr>
              <a:lnSpc>
                <a:spcPct val="100000"/>
              </a:lnSpc>
              <a:buNone/>
            </a:pPr>
            <a:r>
              <a:rPr lang="en-US" b="1" dirty="0">
                <a:latin typeface="Cambria" panose="02040503050406030204" pitchFamily="18" charset="0"/>
                <a:ea typeface="Cambria" panose="02040503050406030204" pitchFamily="18" charset="0"/>
              </a:rPr>
              <a:t>&lt;html&gt;</a:t>
            </a:r>
            <a:r>
              <a:rPr lang="en-US" dirty="0">
                <a:latin typeface="Cambria" panose="02040503050406030204" pitchFamily="18" charset="0"/>
                <a:ea typeface="Cambria" panose="02040503050406030204" pitchFamily="18" charset="0"/>
              </a:rPr>
              <a:t>  </a:t>
            </a:r>
          </a:p>
          <a:p>
            <a:pPr>
              <a:lnSpc>
                <a:spcPct val="100000"/>
              </a:lnSpc>
              <a:buNone/>
            </a:pPr>
            <a:r>
              <a:rPr lang="en-US" b="1" dirty="0">
                <a:latin typeface="Cambria" panose="02040503050406030204" pitchFamily="18" charset="0"/>
                <a:ea typeface="Cambria" panose="02040503050406030204" pitchFamily="18" charset="0"/>
              </a:rPr>
              <a:t>&lt;body&gt;</a:t>
            </a:r>
            <a:r>
              <a:rPr lang="en-US" dirty="0">
                <a:latin typeface="Cambria" panose="02040503050406030204" pitchFamily="18" charset="0"/>
                <a:ea typeface="Cambria" panose="02040503050406030204" pitchFamily="18" charset="0"/>
              </a:rPr>
              <a:t>  </a:t>
            </a:r>
          </a:p>
          <a:p>
            <a:pPr>
              <a:lnSpc>
                <a:spcPct val="100000"/>
              </a:lnSpc>
              <a:buNone/>
            </a:pPr>
            <a:r>
              <a:rPr lang="en-US" b="1" dirty="0">
                <a:latin typeface="Cambria" panose="02040503050406030204" pitchFamily="18" charset="0"/>
                <a:ea typeface="Cambria" panose="02040503050406030204" pitchFamily="18" charset="0"/>
              </a:rPr>
              <a:t>&lt;</a:t>
            </a:r>
            <a:r>
              <a:rPr lang="en-US" dirty="0">
                <a:latin typeface="Cambria" panose="02040503050406030204" pitchFamily="18" charset="0"/>
                <a:ea typeface="Cambria" panose="02040503050406030204" pitchFamily="18" charset="0"/>
              </a:rPr>
              <a:t>%= "Welcome "+request.getParameter("uname") %</a:t>
            </a:r>
            <a:r>
              <a:rPr lang="en-US" b="1" dirty="0">
                <a:latin typeface="Cambria" panose="02040503050406030204" pitchFamily="18" charset="0"/>
                <a:ea typeface="Cambria" panose="02040503050406030204" pitchFamily="18" charset="0"/>
              </a:rPr>
              <a:t>&gt;</a:t>
            </a:r>
            <a:r>
              <a:rPr lang="en-US" dirty="0">
                <a:latin typeface="Cambria" panose="02040503050406030204" pitchFamily="18" charset="0"/>
                <a:ea typeface="Cambria" panose="02040503050406030204" pitchFamily="18" charset="0"/>
              </a:rPr>
              <a:t>  </a:t>
            </a:r>
          </a:p>
          <a:p>
            <a:pPr>
              <a:lnSpc>
                <a:spcPct val="100000"/>
              </a:lnSpc>
              <a:buNone/>
            </a:pPr>
            <a:r>
              <a:rPr lang="en-US" b="1" dirty="0">
                <a:latin typeface="Cambria" panose="02040503050406030204" pitchFamily="18" charset="0"/>
                <a:ea typeface="Cambria" panose="02040503050406030204" pitchFamily="18" charset="0"/>
              </a:rPr>
              <a:t>&lt;/body&gt;</a:t>
            </a:r>
            <a:r>
              <a:rPr lang="en-US" dirty="0">
                <a:latin typeface="Cambria" panose="02040503050406030204" pitchFamily="18" charset="0"/>
                <a:ea typeface="Cambria" panose="02040503050406030204" pitchFamily="18" charset="0"/>
              </a:rPr>
              <a:t>  </a:t>
            </a:r>
          </a:p>
          <a:p>
            <a:pPr>
              <a:lnSpc>
                <a:spcPct val="100000"/>
              </a:lnSpc>
              <a:buNone/>
            </a:pPr>
            <a:r>
              <a:rPr lang="en-US" b="1" dirty="0">
                <a:latin typeface="Cambria" panose="02040503050406030204" pitchFamily="18" charset="0"/>
                <a:ea typeface="Cambria" panose="02040503050406030204" pitchFamily="18" charset="0"/>
              </a:rPr>
              <a:t>&lt;/html&gt;</a:t>
            </a:r>
            <a:r>
              <a:rPr lang="en-US" dirty="0">
                <a:latin typeface="Cambria" panose="02040503050406030204" pitchFamily="18" charset="0"/>
                <a:ea typeface="Cambria" panose="02040503050406030204" pitchFamily="18" charset="0"/>
              </a:rPr>
              <a:t>  </a:t>
            </a:r>
          </a:p>
        </p:txBody>
      </p:sp>
    </p:spTree>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185739"/>
            <a:ext cx="4896544" cy="506958"/>
          </a:xfrm>
        </p:spPr>
        <p:txBody>
          <a:bodyPr/>
          <a:lstStyle/>
          <a:p>
            <a:r>
              <a:rPr lang="en-GB" sz="4000" b="1" dirty="0" err="1" smtClean="0">
                <a:solidFill>
                  <a:srgbClr val="002060"/>
                </a:solidFill>
                <a:latin typeface="Cambria" panose="02040503050406030204" pitchFamily="18" charset="0"/>
                <a:ea typeface="Cambria" panose="02040503050406030204" pitchFamily="18" charset="0"/>
              </a:rPr>
              <a:t>Jsp</a:t>
            </a:r>
            <a:r>
              <a:rPr lang="en-GB" sz="4000" b="1" dirty="0" smtClean="0">
                <a:solidFill>
                  <a:srgbClr val="002060"/>
                </a:solidFill>
                <a:latin typeface="Cambria" panose="02040503050406030204" pitchFamily="18" charset="0"/>
                <a:ea typeface="Cambria" panose="02040503050406030204" pitchFamily="18" charset="0"/>
              </a:rPr>
              <a:t> declaration tag</a:t>
            </a:r>
            <a:endParaRPr lang="en-GB" sz="4000" b="1" dirty="0">
              <a:solidFill>
                <a:srgbClr val="00206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79376" y="908721"/>
            <a:ext cx="11089232" cy="4392488"/>
          </a:xfrm>
        </p:spPr>
        <p:txBody>
          <a:bodyPr/>
          <a:lstStyle/>
          <a:p>
            <a:pPr algn="just"/>
            <a:r>
              <a:rPr lang="en-GB" sz="2000" dirty="0" smtClean="0">
                <a:latin typeface="Cambria" panose="02040503050406030204" pitchFamily="18" charset="0"/>
                <a:ea typeface="Cambria" panose="02040503050406030204" pitchFamily="18" charset="0"/>
              </a:rPr>
              <a:t>The </a:t>
            </a:r>
            <a:r>
              <a:rPr lang="en-GB" sz="2000" b="1" dirty="0" smtClean="0">
                <a:latin typeface="Cambria" panose="02040503050406030204" pitchFamily="18" charset="0"/>
                <a:ea typeface="Cambria" panose="02040503050406030204" pitchFamily="18" charset="0"/>
              </a:rPr>
              <a:t>JSP declaration tag</a:t>
            </a:r>
            <a:r>
              <a:rPr lang="en-GB" sz="2000" dirty="0" smtClean="0">
                <a:latin typeface="Cambria" panose="02040503050406030204" pitchFamily="18" charset="0"/>
                <a:ea typeface="Cambria" panose="02040503050406030204" pitchFamily="18" charset="0"/>
              </a:rPr>
              <a:t> is used </a:t>
            </a:r>
            <a:r>
              <a:rPr lang="en-GB" sz="2000" i="1" dirty="0" smtClean="0">
                <a:latin typeface="Cambria" panose="02040503050406030204" pitchFamily="18" charset="0"/>
                <a:ea typeface="Cambria" panose="02040503050406030204" pitchFamily="18" charset="0"/>
              </a:rPr>
              <a:t>to declare fields and methods</a:t>
            </a:r>
            <a:r>
              <a:rPr lang="en-GB" sz="2000" dirty="0" smtClean="0">
                <a:latin typeface="Cambria" panose="02040503050406030204" pitchFamily="18" charset="0"/>
                <a:ea typeface="Cambria" panose="02040503050406030204" pitchFamily="18" charset="0"/>
              </a:rPr>
              <a:t>.</a:t>
            </a:r>
          </a:p>
          <a:p>
            <a:pPr algn="just"/>
            <a:r>
              <a:rPr lang="en-GB" sz="2000" dirty="0" smtClean="0">
                <a:latin typeface="Cambria" panose="02040503050406030204" pitchFamily="18" charset="0"/>
                <a:ea typeface="Cambria" panose="02040503050406030204" pitchFamily="18" charset="0"/>
              </a:rPr>
              <a:t>The code written inside the </a:t>
            </a:r>
            <a:r>
              <a:rPr lang="en-GB" sz="2000" dirty="0" err="1" smtClean="0">
                <a:latin typeface="Cambria" panose="02040503050406030204" pitchFamily="18" charset="0"/>
                <a:ea typeface="Cambria" panose="02040503050406030204" pitchFamily="18" charset="0"/>
              </a:rPr>
              <a:t>jsp</a:t>
            </a:r>
            <a:r>
              <a:rPr lang="en-GB" sz="2000" dirty="0" smtClean="0">
                <a:latin typeface="Cambria" panose="02040503050406030204" pitchFamily="18" charset="0"/>
                <a:ea typeface="Cambria" panose="02040503050406030204" pitchFamily="18" charset="0"/>
              </a:rPr>
              <a:t> declaration tag is placed outside the service() method of auto generated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So it doesn't get memory at each request.</a:t>
            </a:r>
          </a:p>
          <a:p>
            <a:pPr algn="just"/>
            <a:r>
              <a:rPr lang="en-GB" sz="2000" dirty="0" smtClean="0">
                <a:latin typeface="Cambria" panose="02040503050406030204" pitchFamily="18" charset="0"/>
                <a:ea typeface="Cambria" panose="02040503050406030204" pitchFamily="18" charset="0"/>
              </a:rPr>
              <a:t>Syntax</a:t>
            </a:r>
          </a:p>
          <a:p>
            <a:pPr algn="just">
              <a:buNone/>
            </a:pPr>
            <a:r>
              <a:rPr lang="en-US" sz="2000" b="1" dirty="0" smtClean="0">
                <a:latin typeface="Cambria" panose="02040503050406030204" pitchFamily="18" charset="0"/>
                <a:ea typeface="Cambria" panose="02040503050406030204" pitchFamily="18" charset="0"/>
              </a:rPr>
              <a:t>&lt;</a:t>
            </a:r>
            <a:r>
              <a:rPr lang="en-US" sz="2000" dirty="0" smtClean="0">
                <a:latin typeface="Cambria" panose="02040503050406030204" pitchFamily="18" charset="0"/>
                <a:ea typeface="Cambria" panose="02040503050406030204" pitchFamily="18" charset="0"/>
              </a:rPr>
              <a:t>%!  field or method declaration %</a:t>
            </a:r>
            <a:r>
              <a:rPr lang="en-US" sz="2000" b="1" dirty="0" smtClean="0">
                <a:latin typeface="Cambria" panose="02040503050406030204" pitchFamily="18" charset="0"/>
                <a:ea typeface="Cambria" panose="02040503050406030204" pitchFamily="18" charset="0"/>
              </a:rPr>
              <a:t>&gt;</a:t>
            </a:r>
            <a:r>
              <a:rPr lang="en-US" sz="2000" dirty="0" smtClean="0">
                <a:latin typeface="Cambria" panose="02040503050406030204" pitchFamily="18" charset="0"/>
                <a:ea typeface="Cambria" panose="02040503050406030204" pitchFamily="18" charset="0"/>
              </a:rPr>
              <a:t>  </a:t>
            </a:r>
          </a:p>
          <a:p>
            <a:pPr algn="just">
              <a:buNone/>
            </a:pPr>
            <a:r>
              <a:rPr lang="en-GB" sz="2000" u="sng" dirty="0" smtClean="0">
                <a:latin typeface="Cambria" panose="02040503050406030204" pitchFamily="18" charset="0"/>
                <a:ea typeface="Cambria" panose="02040503050406030204" pitchFamily="18" charset="0"/>
              </a:rPr>
              <a:t>Example of JSP declaration tag that declares field</a:t>
            </a:r>
          </a:p>
          <a:p>
            <a:pPr algn="just"/>
            <a:r>
              <a:rPr lang="en-GB" sz="2000" dirty="0" smtClean="0">
                <a:latin typeface="Cambria" panose="02040503050406030204" pitchFamily="18" charset="0"/>
                <a:ea typeface="Cambria" panose="02040503050406030204" pitchFamily="18" charset="0"/>
              </a:rPr>
              <a:t>declaring the field and printing the value of the declared field using the </a:t>
            </a:r>
            <a:r>
              <a:rPr lang="en-GB" sz="2000" dirty="0" err="1" smtClean="0">
                <a:latin typeface="Cambria" panose="02040503050406030204" pitchFamily="18" charset="0"/>
                <a:ea typeface="Cambria" panose="02040503050406030204" pitchFamily="18" charset="0"/>
              </a:rPr>
              <a:t>jsp</a:t>
            </a:r>
            <a:r>
              <a:rPr lang="en-GB" sz="2000" dirty="0" smtClean="0">
                <a:latin typeface="Cambria" panose="02040503050406030204" pitchFamily="18" charset="0"/>
                <a:ea typeface="Cambria" panose="02040503050406030204" pitchFamily="18" charset="0"/>
              </a:rPr>
              <a:t> expression tag.</a:t>
            </a:r>
          </a:p>
          <a:p>
            <a:pPr algn="just"/>
            <a:r>
              <a:rPr lang="en-GB" sz="2000" dirty="0" smtClean="0">
                <a:latin typeface="Cambria" panose="02040503050406030204" pitchFamily="18" charset="0"/>
                <a:ea typeface="Cambria" panose="02040503050406030204" pitchFamily="18" charset="0"/>
              </a:rPr>
              <a:t>index.jsp</a:t>
            </a:r>
          </a:p>
          <a:p>
            <a:pPr algn="just">
              <a:spcBef>
                <a:spcPts val="0"/>
              </a:spcBef>
              <a:buNone/>
            </a:pPr>
            <a:r>
              <a:rPr lang="en-GB" sz="1600" b="1" dirty="0" smtClean="0">
                <a:latin typeface="Cambria" panose="02040503050406030204" pitchFamily="18" charset="0"/>
                <a:ea typeface="Cambria" panose="02040503050406030204" pitchFamily="18" charset="0"/>
              </a:rPr>
              <a:t>&lt;html&gt;</a:t>
            </a:r>
            <a:r>
              <a:rPr lang="en-GB" sz="1600" dirty="0" smtClean="0">
                <a:latin typeface="Cambria" panose="02040503050406030204" pitchFamily="18" charset="0"/>
                <a:ea typeface="Cambria" panose="02040503050406030204" pitchFamily="18" charset="0"/>
              </a:rPr>
              <a:t>  </a:t>
            </a:r>
          </a:p>
          <a:p>
            <a:pPr algn="just">
              <a:spcBef>
                <a:spcPts val="0"/>
              </a:spcBef>
              <a:buNone/>
            </a:pPr>
            <a:r>
              <a:rPr lang="en-GB" sz="1600" b="1" dirty="0" smtClean="0">
                <a:latin typeface="Cambria" panose="02040503050406030204" pitchFamily="18" charset="0"/>
                <a:ea typeface="Cambria" panose="02040503050406030204" pitchFamily="18" charset="0"/>
              </a:rPr>
              <a:t>&lt;body&gt;</a:t>
            </a:r>
            <a:r>
              <a:rPr lang="en-GB" sz="1600" dirty="0" smtClean="0">
                <a:latin typeface="Cambria" panose="02040503050406030204" pitchFamily="18" charset="0"/>
                <a:ea typeface="Cambria" panose="02040503050406030204" pitchFamily="18" charset="0"/>
              </a:rPr>
              <a:t>  </a:t>
            </a:r>
          </a:p>
          <a:p>
            <a:pPr algn="just">
              <a:spcBef>
                <a:spcPts val="0"/>
              </a:spcBef>
              <a:buNone/>
            </a:pPr>
            <a:r>
              <a:rPr lang="en-GB" sz="1600" b="1" dirty="0" smtClean="0">
                <a:latin typeface="Cambria" panose="02040503050406030204" pitchFamily="18" charset="0"/>
                <a:ea typeface="Cambria" panose="02040503050406030204" pitchFamily="18" charset="0"/>
              </a:rPr>
              <a:t>&lt;</a:t>
            </a:r>
            <a:r>
              <a:rPr lang="en-GB" sz="1600" dirty="0" smtClean="0">
                <a:latin typeface="Cambria" panose="02040503050406030204" pitchFamily="18" charset="0"/>
                <a:ea typeface="Cambria" panose="02040503050406030204" pitchFamily="18" charset="0"/>
              </a:rPr>
              <a:t>%! </a:t>
            </a:r>
            <a:r>
              <a:rPr lang="en-GB" sz="1600" dirty="0" err="1" smtClean="0">
                <a:latin typeface="Cambria" panose="02040503050406030204" pitchFamily="18" charset="0"/>
                <a:ea typeface="Cambria" panose="02040503050406030204" pitchFamily="18" charset="0"/>
              </a:rPr>
              <a:t>int</a:t>
            </a:r>
            <a:r>
              <a:rPr lang="en-GB" sz="1600" dirty="0" smtClean="0">
                <a:latin typeface="Cambria" panose="02040503050406030204" pitchFamily="18" charset="0"/>
                <a:ea typeface="Cambria" panose="02040503050406030204" pitchFamily="18" charset="0"/>
              </a:rPr>
              <a:t> data=50; %</a:t>
            </a:r>
            <a:r>
              <a:rPr lang="en-GB" sz="1600" b="1" dirty="0" smtClean="0">
                <a:latin typeface="Cambria" panose="02040503050406030204" pitchFamily="18" charset="0"/>
                <a:ea typeface="Cambria" panose="02040503050406030204" pitchFamily="18" charset="0"/>
              </a:rPr>
              <a:t>&gt;</a:t>
            </a:r>
            <a:r>
              <a:rPr lang="en-GB" sz="1600" dirty="0" smtClean="0">
                <a:latin typeface="Cambria" panose="02040503050406030204" pitchFamily="18" charset="0"/>
                <a:ea typeface="Cambria" panose="02040503050406030204" pitchFamily="18" charset="0"/>
              </a:rPr>
              <a:t>  </a:t>
            </a:r>
          </a:p>
          <a:p>
            <a:pPr algn="just">
              <a:spcBef>
                <a:spcPts val="0"/>
              </a:spcBef>
              <a:buNone/>
            </a:pPr>
            <a:r>
              <a:rPr lang="en-GB" sz="1600" b="1" dirty="0" smtClean="0">
                <a:latin typeface="Cambria" panose="02040503050406030204" pitchFamily="18" charset="0"/>
                <a:ea typeface="Cambria" panose="02040503050406030204" pitchFamily="18" charset="0"/>
              </a:rPr>
              <a:t>&lt;</a:t>
            </a:r>
            <a:r>
              <a:rPr lang="en-GB" sz="1600" dirty="0" smtClean="0">
                <a:latin typeface="Cambria" panose="02040503050406030204" pitchFamily="18" charset="0"/>
                <a:ea typeface="Cambria" panose="02040503050406030204" pitchFamily="18" charset="0"/>
              </a:rPr>
              <a:t>%= "Value of the variable is:"+data %</a:t>
            </a:r>
            <a:r>
              <a:rPr lang="en-GB" sz="1600" b="1" dirty="0" smtClean="0">
                <a:latin typeface="Cambria" panose="02040503050406030204" pitchFamily="18" charset="0"/>
                <a:ea typeface="Cambria" panose="02040503050406030204" pitchFamily="18" charset="0"/>
              </a:rPr>
              <a:t>&gt;</a:t>
            </a:r>
            <a:r>
              <a:rPr lang="en-GB" sz="1600" dirty="0" smtClean="0">
                <a:latin typeface="Cambria" panose="02040503050406030204" pitchFamily="18" charset="0"/>
                <a:ea typeface="Cambria" panose="02040503050406030204" pitchFamily="18" charset="0"/>
              </a:rPr>
              <a:t>  </a:t>
            </a:r>
          </a:p>
          <a:p>
            <a:pPr algn="just">
              <a:spcBef>
                <a:spcPts val="0"/>
              </a:spcBef>
              <a:buNone/>
            </a:pPr>
            <a:r>
              <a:rPr lang="en-GB" sz="1600" b="1" dirty="0" smtClean="0">
                <a:latin typeface="Cambria" panose="02040503050406030204" pitchFamily="18" charset="0"/>
                <a:ea typeface="Cambria" panose="02040503050406030204" pitchFamily="18" charset="0"/>
              </a:rPr>
              <a:t>&lt;/body&gt;</a:t>
            </a:r>
            <a:r>
              <a:rPr lang="en-GB" sz="1600" dirty="0" smtClean="0">
                <a:latin typeface="Cambria" panose="02040503050406030204" pitchFamily="18" charset="0"/>
                <a:ea typeface="Cambria" panose="02040503050406030204" pitchFamily="18" charset="0"/>
              </a:rPr>
              <a:t>  </a:t>
            </a:r>
          </a:p>
          <a:p>
            <a:pPr algn="just">
              <a:spcBef>
                <a:spcPts val="0"/>
              </a:spcBef>
              <a:buNone/>
            </a:pPr>
            <a:r>
              <a:rPr lang="en-GB" sz="1600" b="1" dirty="0" smtClean="0">
                <a:latin typeface="Cambria" panose="02040503050406030204" pitchFamily="18" charset="0"/>
                <a:ea typeface="Cambria" panose="02040503050406030204" pitchFamily="18" charset="0"/>
              </a:rPr>
              <a:t>&lt;/html&gt;</a:t>
            </a:r>
            <a:r>
              <a:rPr lang="en-GB" sz="1600" dirty="0" smtClean="0">
                <a:latin typeface="Cambria" panose="02040503050406030204" pitchFamily="18" charset="0"/>
                <a:ea typeface="Cambria" panose="02040503050406030204" pitchFamily="18" charset="0"/>
              </a:rPr>
              <a:t>  </a:t>
            </a:r>
          </a:p>
          <a:p>
            <a:pPr algn="just">
              <a:buNone/>
            </a:pPr>
            <a:endParaRPr lang="en-US" sz="2000" dirty="0" smtClean="0">
              <a:latin typeface="Cambria" panose="02040503050406030204" pitchFamily="18" charset="0"/>
              <a:ea typeface="Cambria" panose="02040503050406030204" pitchFamily="18" charset="0"/>
            </a:endParaRPr>
          </a:p>
          <a:p>
            <a:pPr algn="just"/>
            <a:endParaRPr lang="en-GB" sz="2000" dirty="0" smtClean="0">
              <a:latin typeface="Cambria" panose="02040503050406030204" pitchFamily="18" charset="0"/>
              <a:ea typeface="Cambria" panose="02040503050406030204" pitchFamily="18" charset="0"/>
            </a:endParaRPr>
          </a:p>
          <a:p>
            <a:pPr marL="514350" indent="-514350" algn="just">
              <a:buNone/>
            </a:pPr>
            <a:endParaRPr lang="en-GB" sz="2000" dirty="0" smtClean="0">
              <a:latin typeface="Cambria" panose="02040503050406030204" pitchFamily="18" charset="0"/>
              <a:ea typeface="Cambria" panose="02040503050406030204" pitchFamily="18" charset="0"/>
            </a:endParaRPr>
          </a:p>
          <a:p>
            <a:pPr marL="514350" indent="-514350" algn="just">
              <a:buFont typeface="+mj-lt"/>
              <a:buAutoNum type="arabicPeriod"/>
            </a:pPr>
            <a:endParaRPr lang="en-US" sz="20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79</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185739"/>
            <a:ext cx="4896544" cy="506958"/>
          </a:xfrm>
        </p:spPr>
        <p:txBody>
          <a:bodyPr/>
          <a:lstStyle/>
          <a:p>
            <a:r>
              <a:rPr lang="en-GB" sz="4000" b="1" dirty="0" err="1" smtClean="0">
                <a:solidFill>
                  <a:srgbClr val="002060"/>
                </a:solidFill>
                <a:latin typeface="Cambria" panose="02040503050406030204" pitchFamily="18" charset="0"/>
                <a:ea typeface="Cambria" panose="02040503050406030204" pitchFamily="18" charset="0"/>
              </a:rPr>
              <a:t>Jsp</a:t>
            </a:r>
            <a:r>
              <a:rPr lang="en-GB" sz="4000" b="1" dirty="0" smtClean="0">
                <a:solidFill>
                  <a:srgbClr val="002060"/>
                </a:solidFill>
                <a:latin typeface="Cambria" panose="02040503050406030204" pitchFamily="18" charset="0"/>
                <a:ea typeface="Cambria" panose="02040503050406030204" pitchFamily="18" charset="0"/>
              </a:rPr>
              <a:t> declaration tag</a:t>
            </a:r>
            <a:endParaRPr lang="en-GB" sz="4000" b="1" dirty="0">
              <a:solidFill>
                <a:srgbClr val="00206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79376" y="908720"/>
            <a:ext cx="10729192" cy="4032447"/>
          </a:xfrm>
        </p:spPr>
        <p:txBody>
          <a:bodyPr/>
          <a:lstStyle/>
          <a:p>
            <a:pPr algn="just"/>
            <a:r>
              <a:rPr lang="en-GB" sz="2000" u="sng" dirty="0" smtClean="0">
                <a:latin typeface="Cambria" panose="02040503050406030204" pitchFamily="18" charset="0"/>
                <a:ea typeface="Cambria" panose="02040503050406030204" pitchFamily="18" charset="0"/>
              </a:rPr>
              <a:t>Example of JSP declaration tag that declares method</a:t>
            </a:r>
          </a:p>
          <a:p>
            <a:pPr algn="just"/>
            <a:r>
              <a:rPr lang="en-GB" sz="2000" dirty="0" smtClean="0">
                <a:latin typeface="Cambria" panose="02040503050406030204" pitchFamily="18" charset="0"/>
                <a:ea typeface="Cambria" panose="02040503050406030204" pitchFamily="18" charset="0"/>
              </a:rPr>
              <a:t>In this example of JSP declaration tag, we are defining the method which returns the cube of given number and calling this method from the </a:t>
            </a:r>
            <a:r>
              <a:rPr lang="en-GB" sz="2000" dirty="0" err="1" smtClean="0">
                <a:latin typeface="Cambria" panose="02040503050406030204" pitchFamily="18" charset="0"/>
                <a:ea typeface="Cambria" panose="02040503050406030204" pitchFamily="18" charset="0"/>
              </a:rPr>
              <a:t>jsp</a:t>
            </a:r>
            <a:r>
              <a:rPr lang="en-GB" sz="2000" dirty="0" smtClean="0">
                <a:latin typeface="Cambria" panose="02040503050406030204" pitchFamily="18" charset="0"/>
                <a:ea typeface="Cambria" panose="02040503050406030204" pitchFamily="18" charset="0"/>
              </a:rPr>
              <a:t> expression tag.</a:t>
            </a:r>
          </a:p>
          <a:p>
            <a:pPr algn="just">
              <a:spcBef>
                <a:spcPts val="0"/>
              </a:spcBef>
              <a:buNone/>
            </a:pPr>
            <a:r>
              <a:rPr lang="en-GB" sz="2000" b="1" dirty="0" smtClean="0">
                <a:latin typeface="Cambria" panose="02040503050406030204" pitchFamily="18" charset="0"/>
                <a:ea typeface="Cambria" panose="02040503050406030204" pitchFamily="18" charset="0"/>
              </a:rPr>
              <a:t>&lt;html&gt;</a:t>
            </a:r>
            <a:r>
              <a:rPr lang="en-GB" sz="2000" dirty="0" smtClean="0">
                <a:latin typeface="Cambria" panose="02040503050406030204" pitchFamily="18" charset="0"/>
                <a:ea typeface="Cambria" panose="02040503050406030204" pitchFamily="18" charset="0"/>
              </a:rPr>
              <a:t>  </a:t>
            </a:r>
          </a:p>
          <a:p>
            <a:pPr algn="just">
              <a:spcBef>
                <a:spcPts val="0"/>
              </a:spcBef>
              <a:buNone/>
            </a:pPr>
            <a:r>
              <a:rPr lang="en-GB" sz="2000" b="1" dirty="0" smtClean="0">
                <a:latin typeface="Cambria" panose="02040503050406030204" pitchFamily="18" charset="0"/>
                <a:ea typeface="Cambria" panose="02040503050406030204" pitchFamily="18" charset="0"/>
              </a:rPr>
              <a:t>&lt;body&gt;</a:t>
            </a:r>
            <a:r>
              <a:rPr lang="en-GB" sz="2000" dirty="0" smtClean="0">
                <a:latin typeface="Cambria" panose="02040503050406030204" pitchFamily="18" charset="0"/>
                <a:ea typeface="Cambria" panose="02040503050406030204" pitchFamily="18" charset="0"/>
              </a:rPr>
              <a:t>  </a:t>
            </a:r>
          </a:p>
          <a:p>
            <a:pPr algn="just">
              <a:spcBef>
                <a:spcPts val="0"/>
              </a:spcBef>
              <a:buNone/>
            </a:pPr>
            <a:r>
              <a:rPr lang="en-GB" sz="2000" b="1" dirty="0" smtClean="0">
                <a:latin typeface="Cambria" panose="02040503050406030204" pitchFamily="18" charset="0"/>
                <a:ea typeface="Cambria" panose="02040503050406030204" pitchFamily="18" charset="0"/>
              </a:rPr>
              <a:t>&lt;</a:t>
            </a:r>
            <a:r>
              <a:rPr lang="en-GB" sz="2000" dirty="0" smtClean="0">
                <a:latin typeface="Cambria" panose="02040503050406030204" pitchFamily="18" charset="0"/>
                <a:ea typeface="Cambria" panose="02040503050406030204" pitchFamily="18" charset="0"/>
              </a:rPr>
              <a:t>%!   </a:t>
            </a:r>
          </a:p>
          <a:p>
            <a:pPr algn="just">
              <a:spcBef>
                <a:spcPts val="0"/>
              </a:spcBef>
              <a:buNone/>
            </a:pPr>
            <a:r>
              <a:rPr lang="en-GB" sz="2000" dirty="0" err="1" smtClean="0">
                <a:latin typeface="Cambria" panose="02040503050406030204" pitchFamily="18" charset="0"/>
                <a:ea typeface="Cambria" panose="02040503050406030204" pitchFamily="18" charset="0"/>
              </a:rPr>
              <a:t>int</a:t>
            </a:r>
            <a:r>
              <a:rPr lang="en-GB" sz="2000" dirty="0" smtClean="0">
                <a:latin typeface="Cambria" panose="02040503050406030204" pitchFamily="18" charset="0"/>
                <a:ea typeface="Cambria" panose="02040503050406030204" pitchFamily="18" charset="0"/>
              </a:rPr>
              <a:t> cube(</a:t>
            </a:r>
            <a:r>
              <a:rPr lang="en-GB" sz="2000" dirty="0" err="1" smtClean="0">
                <a:latin typeface="Cambria" panose="02040503050406030204" pitchFamily="18" charset="0"/>
                <a:ea typeface="Cambria" panose="02040503050406030204" pitchFamily="18" charset="0"/>
              </a:rPr>
              <a:t>int</a:t>
            </a:r>
            <a:r>
              <a:rPr lang="en-GB" sz="2000" dirty="0" smtClean="0">
                <a:latin typeface="Cambria" panose="02040503050406030204" pitchFamily="18" charset="0"/>
                <a:ea typeface="Cambria" panose="02040503050406030204" pitchFamily="18" charset="0"/>
              </a:rPr>
              <a:t> n){  </a:t>
            </a:r>
          </a:p>
          <a:p>
            <a:pPr algn="just">
              <a:spcBef>
                <a:spcPts val="0"/>
              </a:spcBef>
              <a:buNone/>
            </a:pPr>
            <a:r>
              <a:rPr lang="en-GB" sz="2000" dirty="0" smtClean="0">
                <a:latin typeface="Cambria" panose="02040503050406030204" pitchFamily="18" charset="0"/>
                <a:ea typeface="Cambria" panose="02040503050406030204" pitchFamily="18" charset="0"/>
              </a:rPr>
              <a:t>return n*n*n*;  </a:t>
            </a:r>
          </a:p>
          <a:p>
            <a:pPr algn="just">
              <a:spcBef>
                <a:spcPts val="0"/>
              </a:spcBef>
              <a:buNone/>
            </a:pPr>
            <a:r>
              <a:rPr lang="en-GB" sz="2000" dirty="0" smtClean="0">
                <a:latin typeface="Cambria" panose="02040503050406030204" pitchFamily="18" charset="0"/>
                <a:ea typeface="Cambria" panose="02040503050406030204" pitchFamily="18" charset="0"/>
              </a:rPr>
              <a:t>}  </a:t>
            </a:r>
          </a:p>
          <a:p>
            <a:pPr algn="just">
              <a:spcBef>
                <a:spcPts val="0"/>
              </a:spcBef>
              <a:buNone/>
            </a:pPr>
            <a:r>
              <a:rPr lang="en-GB" sz="2000" dirty="0" smtClean="0">
                <a:latin typeface="Cambria" panose="02040503050406030204" pitchFamily="18" charset="0"/>
                <a:ea typeface="Cambria" panose="02040503050406030204" pitchFamily="18" charset="0"/>
              </a:rPr>
              <a:t>%</a:t>
            </a:r>
            <a:r>
              <a:rPr lang="en-GB" sz="2000" b="1" dirty="0" smtClean="0">
                <a:latin typeface="Cambria" panose="02040503050406030204" pitchFamily="18" charset="0"/>
                <a:ea typeface="Cambria" panose="02040503050406030204" pitchFamily="18" charset="0"/>
              </a:rPr>
              <a:t>&gt;</a:t>
            </a:r>
            <a:r>
              <a:rPr lang="en-GB" sz="2000" dirty="0" smtClean="0">
                <a:latin typeface="Cambria" panose="02040503050406030204" pitchFamily="18" charset="0"/>
                <a:ea typeface="Cambria" panose="02040503050406030204" pitchFamily="18" charset="0"/>
              </a:rPr>
              <a:t>  </a:t>
            </a:r>
          </a:p>
          <a:p>
            <a:pPr algn="just">
              <a:spcBef>
                <a:spcPts val="0"/>
              </a:spcBef>
              <a:buNone/>
            </a:pPr>
            <a:r>
              <a:rPr lang="en-GB" sz="2000" b="1" dirty="0" smtClean="0">
                <a:latin typeface="Cambria" panose="02040503050406030204" pitchFamily="18" charset="0"/>
                <a:ea typeface="Cambria" panose="02040503050406030204" pitchFamily="18" charset="0"/>
              </a:rPr>
              <a:t>&lt;</a:t>
            </a:r>
            <a:r>
              <a:rPr lang="en-GB" sz="2000" dirty="0" smtClean="0">
                <a:latin typeface="Cambria" panose="02040503050406030204" pitchFamily="18" charset="0"/>
                <a:ea typeface="Cambria" panose="02040503050406030204" pitchFamily="18" charset="0"/>
              </a:rPr>
              <a:t>%= "Cube of 3 is:"+cube(3) %</a:t>
            </a:r>
            <a:r>
              <a:rPr lang="en-GB" sz="2000" b="1" dirty="0" smtClean="0">
                <a:latin typeface="Cambria" panose="02040503050406030204" pitchFamily="18" charset="0"/>
                <a:ea typeface="Cambria" panose="02040503050406030204" pitchFamily="18" charset="0"/>
              </a:rPr>
              <a:t>&gt;</a:t>
            </a:r>
            <a:r>
              <a:rPr lang="en-GB" sz="2000" dirty="0" smtClean="0">
                <a:latin typeface="Cambria" panose="02040503050406030204" pitchFamily="18" charset="0"/>
                <a:ea typeface="Cambria" panose="02040503050406030204" pitchFamily="18" charset="0"/>
              </a:rPr>
              <a:t>  </a:t>
            </a:r>
          </a:p>
          <a:p>
            <a:pPr algn="just">
              <a:spcBef>
                <a:spcPts val="0"/>
              </a:spcBef>
              <a:buNone/>
            </a:pPr>
            <a:r>
              <a:rPr lang="en-GB" sz="2000" b="1" dirty="0" smtClean="0">
                <a:latin typeface="Cambria" panose="02040503050406030204" pitchFamily="18" charset="0"/>
                <a:ea typeface="Cambria" panose="02040503050406030204" pitchFamily="18" charset="0"/>
              </a:rPr>
              <a:t>&lt;/body&gt;</a:t>
            </a:r>
            <a:r>
              <a:rPr lang="en-GB" sz="2000" dirty="0" smtClean="0">
                <a:latin typeface="Cambria" panose="02040503050406030204" pitchFamily="18" charset="0"/>
                <a:ea typeface="Cambria" panose="02040503050406030204" pitchFamily="18" charset="0"/>
              </a:rPr>
              <a:t>  </a:t>
            </a:r>
          </a:p>
          <a:p>
            <a:pPr algn="just">
              <a:spcBef>
                <a:spcPts val="0"/>
              </a:spcBef>
              <a:buNone/>
            </a:pPr>
            <a:r>
              <a:rPr lang="en-GB" sz="2000" b="1" dirty="0" smtClean="0">
                <a:latin typeface="Cambria" panose="02040503050406030204" pitchFamily="18" charset="0"/>
                <a:ea typeface="Cambria" panose="02040503050406030204" pitchFamily="18" charset="0"/>
              </a:rPr>
              <a:t>&lt;/html&gt;</a:t>
            </a:r>
            <a:r>
              <a:rPr lang="en-GB" sz="2000" dirty="0" smtClean="0">
                <a:latin typeface="Cambria" panose="02040503050406030204" pitchFamily="18" charset="0"/>
                <a:ea typeface="Cambria" panose="02040503050406030204" pitchFamily="18" charset="0"/>
              </a:rPr>
              <a:t>  </a:t>
            </a:r>
          </a:p>
          <a:p>
            <a:pPr algn="just">
              <a:spcBef>
                <a:spcPts val="0"/>
              </a:spcBef>
              <a:buNone/>
            </a:pPr>
            <a:endParaRPr lang="en-GB" sz="2000" dirty="0" smtClean="0">
              <a:latin typeface="Cambria" panose="02040503050406030204" pitchFamily="18" charset="0"/>
              <a:ea typeface="Cambria" panose="02040503050406030204" pitchFamily="18" charset="0"/>
            </a:endParaRPr>
          </a:p>
          <a:p>
            <a:pPr algn="just">
              <a:spcBef>
                <a:spcPts val="0"/>
              </a:spcBef>
              <a:buNone/>
            </a:pPr>
            <a:endParaRPr lang="en-GB" sz="2000" dirty="0" smtClean="0">
              <a:latin typeface="Cambria" panose="02040503050406030204" pitchFamily="18" charset="0"/>
              <a:ea typeface="Cambria" panose="02040503050406030204" pitchFamily="18" charset="0"/>
            </a:endParaRPr>
          </a:p>
          <a:p>
            <a:pPr algn="just">
              <a:spcBef>
                <a:spcPts val="0"/>
              </a:spcBef>
              <a:buNone/>
            </a:pPr>
            <a:endParaRPr lang="en-GB" sz="2000" dirty="0" smtClean="0">
              <a:latin typeface="Cambria" panose="02040503050406030204" pitchFamily="18" charset="0"/>
              <a:ea typeface="Cambria" panose="02040503050406030204" pitchFamily="18" charset="0"/>
            </a:endParaRPr>
          </a:p>
          <a:p>
            <a:pPr algn="just">
              <a:buNone/>
            </a:pPr>
            <a:endParaRPr lang="en-US" dirty="0" smtClean="0">
              <a:latin typeface="Cambria" panose="02040503050406030204" pitchFamily="18" charset="0"/>
              <a:ea typeface="Cambria" panose="02040503050406030204" pitchFamily="18" charset="0"/>
            </a:endParaRPr>
          </a:p>
          <a:p>
            <a:pPr algn="just"/>
            <a:endParaRPr lang="en-GB" dirty="0" smtClean="0">
              <a:latin typeface="Cambria" panose="02040503050406030204" pitchFamily="18" charset="0"/>
              <a:ea typeface="Cambria" panose="02040503050406030204" pitchFamily="18" charset="0"/>
            </a:endParaRPr>
          </a:p>
          <a:p>
            <a:pPr marL="514350" indent="-514350" algn="just">
              <a:buNone/>
            </a:pPr>
            <a:endParaRPr lang="en-GB" dirty="0" smtClean="0">
              <a:latin typeface="Cambria" panose="02040503050406030204" pitchFamily="18" charset="0"/>
              <a:ea typeface="Cambria" panose="02040503050406030204" pitchFamily="18" charset="0"/>
            </a:endParaRPr>
          </a:p>
          <a:p>
            <a:pPr marL="514350" indent="-514350" algn="just">
              <a:buFont typeface="+mj-lt"/>
              <a:buAutoNum type="arabicPeriod"/>
            </a:pPr>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80</a:t>
            </a:fld>
            <a:endParaRPr lang="en-US" altLang="en-US">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571760571"/>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344" y="139625"/>
            <a:ext cx="4680520" cy="553071"/>
          </a:xfrm>
        </p:spPr>
        <p:txBody>
          <a:bodyPr/>
          <a:lstStyle/>
          <a:p>
            <a:r>
              <a:rPr lang="en-US" sz="4000" b="1" dirty="0" smtClean="0">
                <a:solidFill>
                  <a:srgbClr val="002060"/>
                </a:solidFill>
                <a:latin typeface="Cambria" panose="02040503050406030204" pitchFamily="18" charset="0"/>
                <a:ea typeface="Cambria" panose="02040503050406030204" pitchFamily="18" charset="0"/>
              </a:rPr>
              <a:t/>
            </a:r>
            <a:br>
              <a:rPr lang="en-US" sz="4000" b="1" dirty="0" smtClean="0">
                <a:solidFill>
                  <a:srgbClr val="002060"/>
                </a:solidFill>
                <a:latin typeface="Cambria" panose="02040503050406030204" pitchFamily="18" charset="0"/>
                <a:ea typeface="Cambria" panose="02040503050406030204" pitchFamily="18" charset="0"/>
              </a:rPr>
            </a:br>
            <a:r>
              <a:rPr lang="en-US" sz="4000" b="1" dirty="0" smtClean="0">
                <a:solidFill>
                  <a:srgbClr val="002060"/>
                </a:solidFill>
                <a:latin typeface="Cambria" panose="02040503050406030204" pitchFamily="18" charset="0"/>
                <a:ea typeface="Cambria" panose="02040503050406030204" pitchFamily="18" charset="0"/>
              </a:rPr>
              <a:t/>
            </a:r>
            <a:br>
              <a:rPr lang="en-US" sz="4000" b="1" dirty="0" smtClean="0">
                <a:solidFill>
                  <a:srgbClr val="002060"/>
                </a:solidFill>
                <a:latin typeface="Cambria" panose="02040503050406030204" pitchFamily="18" charset="0"/>
                <a:ea typeface="Cambria" panose="02040503050406030204" pitchFamily="18" charset="0"/>
              </a:rPr>
            </a:br>
            <a:r>
              <a:rPr lang="en-US" sz="4000" b="1" dirty="0" smtClean="0">
                <a:solidFill>
                  <a:srgbClr val="002060"/>
                </a:solidFill>
                <a:latin typeface="Cambria" panose="02040503050406030204" pitchFamily="18" charset="0"/>
                <a:ea typeface="Cambria" panose="02040503050406030204" pitchFamily="18" charset="0"/>
              </a:rPr>
              <a:t>JSP implicit objects</a:t>
            </a:r>
            <a:br>
              <a:rPr lang="en-US" sz="4000" b="1" dirty="0" smtClean="0">
                <a:solidFill>
                  <a:srgbClr val="002060"/>
                </a:solidFill>
                <a:latin typeface="Cambria" panose="02040503050406030204" pitchFamily="18" charset="0"/>
                <a:ea typeface="Cambria" panose="02040503050406030204" pitchFamily="18" charset="0"/>
              </a:rPr>
            </a:br>
            <a:r>
              <a:rPr lang="en-GB" sz="4000" b="1" dirty="0" smtClean="0">
                <a:solidFill>
                  <a:srgbClr val="002060"/>
                </a:solidFill>
                <a:latin typeface="Cambria" panose="02040503050406030204" pitchFamily="18" charset="0"/>
                <a:ea typeface="Cambria" panose="02040503050406030204" pitchFamily="18" charset="0"/>
              </a:rPr>
              <a:t/>
            </a:r>
            <a:br>
              <a:rPr lang="en-GB" sz="4000" b="1" dirty="0" smtClean="0">
                <a:solidFill>
                  <a:srgbClr val="002060"/>
                </a:solidFill>
                <a:latin typeface="Cambria" panose="02040503050406030204" pitchFamily="18" charset="0"/>
                <a:ea typeface="Cambria" panose="02040503050406030204" pitchFamily="18" charset="0"/>
              </a:rPr>
            </a:br>
            <a:endParaRPr lang="en-US" sz="4000" b="1" dirty="0">
              <a:solidFill>
                <a:srgbClr val="00206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07368" y="908720"/>
            <a:ext cx="4033664" cy="4445686"/>
          </a:xfrm>
        </p:spPr>
        <p:txBody>
          <a:bodyPr/>
          <a:lstStyle/>
          <a:p>
            <a:pPr algn="just"/>
            <a:r>
              <a:rPr lang="en-GB" dirty="0" smtClean="0">
                <a:latin typeface="Cambria" panose="02040503050406030204" pitchFamily="18" charset="0"/>
                <a:ea typeface="Cambria" panose="02040503050406030204" pitchFamily="18" charset="0"/>
              </a:rPr>
              <a:t>There are </a:t>
            </a:r>
            <a:r>
              <a:rPr lang="en-GB" b="1" dirty="0" smtClean="0">
                <a:latin typeface="Cambria" panose="02040503050406030204" pitchFamily="18" charset="0"/>
                <a:ea typeface="Cambria" panose="02040503050406030204" pitchFamily="18" charset="0"/>
              </a:rPr>
              <a:t>9 </a:t>
            </a:r>
            <a:r>
              <a:rPr lang="en-GB" b="1" dirty="0" err="1" smtClean="0">
                <a:latin typeface="Cambria" panose="02040503050406030204" pitchFamily="18" charset="0"/>
                <a:ea typeface="Cambria" panose="02040503050406030204" pitchFamily="18" charset="0"/>
              </a:rPr>
              <a:t>jsp</a:t>
            </a:r>
            <a:r>
              <a:rPr lang="en-GB" b="1" dirty="0" smtClean="0">
                <a:latin typeface="Cambria" panose="02040503050406030204" pitchFamily="18" charset="0"/>
                <a:ea typeface="Cambria" panose="02040503050406030204" pitchFamily="18" charset="0"/>
              </a:rPr>
              <a:t> implicit objects</a:t>
            </a:r>
            <a:r>
              <a:rPr lang="en-GB" dirty="0" smtClean="0">
                <a:latin typeface="Cambria" panose="02040503050406030204" pitchFamily="18" charset="0"/>
                <a:ea typeface="Cambria" panose="02040503050406030204" pitchFamily="18" charset="0"/>
              </a:rPr>
              <a:t>. These objects are </a:t>
            </a:r>
            <a:r>
              <a:rPr lang="en-GB" i="1" dirty="0" smtClean="0">
                <a:latin typeface="Cambria" panose="02040503050406030204" pitchFamily="18" charset="0"/>
                <a:ea typeface="Cambria" panose="02040503050406030204" pitchFamily="18" charset="0"/>
              </a:rPr>
              <a:t>created by the web container</a:t>
            </a:r>
            <a:r>
              <a:rPr lang="en-GB" dirty="0" smtClean="0">
                <a:latin typeface="Cambria" panose="02040503050406030204" pitchFamily="18" charset="0"/>
                <a:ea typeface="Cambria" panose="02040503050406030204" pitchFamily="18" charset="0"/>
              </a:rPr>
              <a:t> that are available to all the </a:t>
            </a:r>
            <a:r>
              <a:rPr lang="en-GB" dirty="0" err="1" smtClean="0">
                <a:latin typeface="Cambria" panose="02040503050406030204" pitchFamily="18" charset="0"/>
                <a:ea typeface="Cambria" panose="02040503050406030204" pitchFamily="18" charset="0"/>
              </a:rPr>
              <a:t>jsp</a:t>
            </a:r>
            <a:r>
              <a:rPr lang="en-GB" dirty="0" smtClean="0">
                <a:latin typeface="Cambria" panose="02040503050406030204" pitchFamily="18" charset="0"/>
                <a:ea typeface="Cambria" panose="02040503050406030204" pitchFamily="18" charset="0"/>
              </a:rPr>
              <a:t> pages.</a:t>
            </a:r>
          </a:p>
          <a:p>
            <a:pPr algn="just"/>
            <a:r>
              <a:rPr lang="en-GB" dirty="0" smtClean="0">
                <a:latin typeface="Cambria" panose="02040503050406030204" pitchFamily="18" charset="0"/>
                <a:ea typeface="Cambria" panose="02040503050406030204" pitchFamily="18" charset="0"/>
              </a:rPr>
              <a:t>The available implicit objects are out, request, config, session, application, etc</a:t>
            </a:r>
          </a:p>
          <a:p>
            <a:pPr marL="514350" indent="-514350" algn="just">
              <a:buNone/>
            </a:pPr>
            <a:endParaRPr lang="en-GB" dirty="0" smtClean="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81</a:t>
            </a:fld>
            <a:endParaRPr lang="en-US" altLang="en-US">
              <a:latin typeface="Cambria" panose="02040503050406030204" pitchFamily="18" charset="0"/>
              <a:ea typeface="Cambria" panose="02040503050406030204" pitchFamily="18" charset="0"/>
            </a:endParaRPr>
          </a:p>
        </p:txBody>
      </p:sp>
      <p:graphicFrame>
        <p:nvGraphicFramePr>
          <p:cNvPr id="6" name="Table 5"/>
          <p:cNvGraphicFramePr>
            <a:graphicFrameLocks noGrp="1"/>
          </p:cNvGraphicFramePr>
          <p:nvPr>
            <p:extLst>
              <p:ext uri="{D42A27DB-BD31-4B8C-83A1-F6EECF244321}">
                <p14:modId xmlns:p14="http://schemas.microsoft.com/office/powerpoint/2010/main" val="1795005272"/>
              </p:ext>
            </p:extLst>
          </p:nvPr>
        </p:nvGraphicFramePr>
        <p:xfrm>
          <a:off x="5951984" y="620688"/>
          <a:ext cx="4429156" cy="4657004"/>
        </p:xfrm>
        <a:graphic>
          <a:graphicData uri="http://schemas.openxmlformats.org/drawingml/2006/table">
            <a:tbl>
              <a:tblPr firstRow="1" bandRow="1">
                <a:tableStyleId>{5C22544A-7EE6-4342-B048-85BDC9FD1C3A}</a:tableStyleId>
              </a:tblPr>
              <a:tblGrid>
                <a:gridCol w="1928826"/>
                <a:gridCol w="2500330"/>
              </a:tblGrid>
              <a:tr h="418613">
                <a:tc>
                  <a:txBody>
                    <a:bodyPr/>
                    <a:lstStyle/>
                    <a:p>
                      <a:pPr algn="l" fontAlgn="t"/>
                      <a:r>
                        <a:rPr lang="en-US" dirty="0">
                          <a:solidFill>
                            <a:srgbClr val="000000"/>
                          </a:solidFill>
                          <a:latin typeface="Cambria" panose="02040503050406030204" pitchFamily="18" charset="0"/>
                          <a:ea typeface="Cambria" panose="02040503050406030204" pitchFamily="18" charset="0"/>
                        </a:rPr>
                        <a:t>Object</a:t>
                      </a:r>
                    </a:p>
                  </a:txBody>
                  <a:tcPr marL="114300" marR="114300" marT="114300" marB="114300"/>
                </a:tc>
                <a:tc>
                  <a:txBody>
                    <a:bodyPr/>
                    <a:lstStyle/>
                    <a:p>
                      <a:pPr algn="l" fontAlgn="t"/>
                      <a:r>
                        <a:rPr lang="en-US">
                          <a:solidFill>
                            <a:srgbClr val="000000"/>
                          </a:solidFill>
                          <a:latin typeface="Cambria" panose="02040503050406030204" pitchFamily="18" charset="0"/>
                          <a:ea typeface="Cambria" panose="02040503050406030204" pitchFamily="18" charset="0"/>
                        </a:rPr>
                        <a:t>Type</a:t>
                      </a:r>
                    </a:p>
                  </a:txBody>
                  <a:tcPr marL="114300" marR="114300" marT="114300" marB="114300"/>
                </a:tc>
              </a:tr>
              <a:tr h="355187">
                <a:tc>
                  <a:txBody>
                    <a:bodyPr/>
                    <a:lstStyle/>
                    <a:p>
                      <a:pPr algn="just" fontAlgn="t"/>
                      <a:r>
                        <a:rPr lang="en-US" dirty="0">
                          <a:solidFill>
                            <a:srgbClr val="333333"/>
                          </a:solidFill>
                          <a:latin typeface="Cambria" panose="02040503050406030204" pitchFamily="18" charset="0"/>
                          <a:ea typeface="Cambria" panose="02040503050406030204" pitchFamily="18" charset="0"/>
                        </a:rPr>
                        <a:t>out</a:t>
                      </a:r>
                    </a:p>
                  </a:txBody>
                  <a:tcPr marL="76200" marR="76200" marT="76200" marB="76200"/>
                </a:tc>
                <a:tc>
                  <a:txBody>
                    <a:bodyPr/>
                    <a:lstStyle/>
                    <a:p>
                      <a:pPr algn="just" fontAlgn="t"/>
                      <a:r>
                        <a:rPr lang="en-US">
                          <a:solidFill>
                            <a:srgbClr val="333333"/>
                          </a:solidFill>
                          <a:latin typeface="Cambria" panose="02040503050406030204" pitchFamily="18" charset="0"/>
                          <a:ea typeface="Cambria" panose="02040503050406030204" pitchFamily="18" charset="0"/>
                        </a:rPr>
                        <a:t>JspWriter</a:t>
                      </a:r>
                    </a:p>
                  </a:txBody>
                  <a:tcPr marL="76200" marR="76200" marT="76200" marB="76200"/>
                </a:tc>
              </a:tr>
              <a:tr h="355187">
                <a:tc>
                  <a:txBody>
                    <a:bodyPr/>
                    <a:lstStyle/>
                    <a:p>
                      <a:pPr algn="just" fontAlgn="t"/>
                      <a:r>
                        <a:rPr lang="en-US" dirty="0">
                          <a:solidFill>
                            <a:srgbClr val="333333"/>
                          </a:solidFill>
                          <a:latin typeface="Cambria" panose="02040503050406030204" pitchFamily="18" charset="0"/>
                          <a:ea typeface="Cambria" panose="02040503050406030204" pitchFamily="18" charset="0"/>
                        </a:rPr>
                        <a:t>request</a:t>
                      </a:r>
                    </a:p>
                  </a:txBody>
                  <a:tcPr marL="76200" marR="76200" marT="76200" marB="76200"/>
                </a:tc>
                <a:tc>
                  <a:txBody>
                    <a:bodyPr/>
                    <a:lstStyle/>
                    <a:p>
                      <a:pPr algn="just" fontAlgn="t"/>
                      <a:r>
                        <a:rPr lang="en-US">
                          <a:solidFill>
                            <a:srgbClr val="333333"/>
                          </a:solidFill>
                          <a:latin typeface="Cambria" panose="02040503050406030204" pitchFamily="18" charset="0"/>
                          <a:ea typeface="Cambria" panose="02040503050406030204" pitchFamily="18" charset="0"/>
                        </a:rPr>
                        <a:t>HttpServletRequest</a:t>
                      </a:r>
                    </a:p>
                  </a:txBody>
                  <a:tcPr marL="76200" marR="76200" marT="76200" marB="76200"/>
                </a:tc>
              </a:tr>
              <a:tr h="355187">
                <a:tc>
                  <a:txBody>
                    <a:bodyPr/>
                    <a:lstStyle/>
                    <a:p>
                      <a:pPr algn="just" fontAlgn="t"/>
                      <a:r>
                        <a:rPr lang="en-US">
                          <a:solidFill>
                            <a:srgbClr val="333333"/>
                          </a:solidFill>
                          <a:latin typeface="Cambria" panose="02040503050406030204" pitchFamily="18" charset="0"/>
                          <a:ea typeface="Cambria" panose="02040503050406030204" pitchFamily="18" charset="0"/>
                        </a:rPr>
                        <a:t>response</a:t>
                      </a:r>
                    </a:p>
                  </a:txBody>
                  <a:tcPr marL="76200" marR="76200" marT="76200" marB="76200"/>
                </a:tc>
                <a:tc>
                  <a:txBody>
                    <a:bodyPr/>
                    <a:lstStyle/>
                    <a:p>
                      <a:pPr algn="just" fontAlgn="t"/>
                      <a:r>
                        <a:rPr lang="en-US">
                          <a:solidFill>
                            <a:srgbClr val="333333"/>
                          </a:solidFill>
                          <a:latin typeface="Cambria" panose="02040503050406030204" pitchFamily="18" charset="0"/>
                          <a:ea typeface="Cambria" panose="02040503050406030204" pitchFamily="18" charset="0"/>
                        </a:rPr>
                        <a:t>HttpServletResponse</a:t>
                      </a:r>
                    </a:p>
                  </a:txBody>
                  <a:tcPr marL="76200" marR="76200" marT="76200" marB="76200"/>
                </a:tc>
              </a:tr>
              <a:tr h="355187">
                <a:tc>
                  <a:txBody>
                    <a:bodyPr/>
                    <a:lstStyle/>
                    <a:p>
                      <a:pPr algn="just" fontAlgn="t"/>
                      <a:r>
                        <a:rPr lang="en-US">
                          <a:solidFill>
                            <a:srgbClr val="333333"/>
                          </a:solidFill>
                          <a:latin typeface="Cambria" panose="02040503050406030204" pitchFamily="18" charset="0"/>
                          <a:ea typeface="Cambria" panose="02040503050406030204" pitchFamily="18" charset="0"/>
                        </a:rPr>
                        <a:t>config</a:t>
                      </a:r>
                    </a:p>
                  </a:txBody>
                  <a:tcPr marL="76200" marR="76200" marT="76200" marB="76200"/>
                </a:tc>
                <a:tc>
                  <a:txBody>
                    <a:bodyPr/>
                    <a:lstStyle/>
                    <a:p>
                      <a:pPr algn="just" fontAlgn="t"/>
                      <a:r>
                        <a:rPr lang="en-US">
                          <a:solidFill>
                            <a:srgbClr val="333333"/>
                          </a:solidFill>
                          <a:latin typeface="Cambria" panose="02040503050406030204" pitchFamily="18" charset="0"/>
                          <a:ea typeface="Cambria" panose="02040503050406030204" pitchFamily="18" charset="0"/>
                        </a:rPr>
                        <a:t>ServletConfig</a:t>
                      </a:r>
                    </a:p>
                  </a:txBody>
                  <a:tcPr marL="76200" marR="76200" marT="76200" marB="76200"/>
                </a:tc>
              </a:tr>
              <a:tr h="583522">
                <a:tc>
                  <a:txBody>
                    <a:bodyPr/>
                    <a:lstStyle/>
                    <a:p>
                      <a:pPr algn="just" fontAlgn="t"/>
                      <a:r>
                        <a:rPr lang="en-US" dirty="0">
                          <a:solidFill>
                            <a:srgbClr val="333333"/>
                          </a:solidFill>
                          <a:latin typeface="Cambria" panose="02040503050406030204" pitchFamily="18" charset="0"/>
                          <a:ea typeface="Cambria" panose="02040503050406030204" pitchFamily="18" charset="0"/>
                        </a:rPr>
                        <a:t>application</a:t>
                      </a:r>
                    </a:p>
                  </a:txBody>
                  <a:tcPr marL="76200" marR="76200" marT="76200" marB="76200"/>
                </a:tc>
                <a:tc>
                  <a:txBody>
                    <a:bodyPr/>
                    <a:lstStyle/>
                    <a:p>
                      <a:pPr algn="just" fontAlgn="t"/>
                      <a:r>
                        <a:rPr lang="en-US">
                          <a:solidFill>
                            <a:srgbClr val="333333"/>
                          </a:solidFill>
                          <a:latin typeface="Cambria" panose="02040503050406030204" pitchFamily="18" charset="0"/>
                          <a:ea typeface="Cambria" panose="02040503050406030204" pitchFamily="18" charset="0"/>
                        </a:rPr>
                        <a:t>ServletContext</a:t>
                      </a:r>
                    </a:p>
                  </a:txBody>
                  <a:tcPr marL="76200" marR="76200" marT="76200" marB="76200"/>
                </a:tc>
              </a:tr>
              <a:tr h="355187">
                <a:tc>
                  <a:txBody>
                    <a:bodyPr/>
                    <a:lstStyle/>
                    <a:p>
                      <a:pPr algn="just" fontAlgn="t"/>
                      <a:r>
                        <a:rPr lang="en-US">
                          <a:solidFill>
                            <a:srgbClr val="333333"/>
                          </a:solidFill>
                          <a:latin typeface="Cambria" panose="02040503050406030204" pitchFamily="18" charset="0"/>
                          <a:ea typeface="Cambria" panose="02040503050406030204" pitchFamily="18" charset="0"/>
                        </a:rPr>
                        <a:t>session</a:t>
                      </a:r>
                    </a:p>
                  </a:txBody>
                  <a:tcPr marL="76200" marR="76200" marT="76200" marB="76200"/>
                </a:tc>
                <a:tc>
                  <a:txBody>
                    <a:bodyPr/>
                    <a:lstStyle/>
                    <a:p>
                      <a:pPr algn="just" fontAlgn="t"/>
                      <a:r>
                        <a:rPr lang="en-US">
                          <a:solidFill>
                            <a:srgbClr val="333333"/>
                          </a:solidFill>
                          <a:latin typeface="Cambria" panose="02040503050406030204" pitchFamily="18" charset="0"/>
                          <a:ea typeface="Cambria" panose="02040503050406030204" pitchFamily="18" charset="0"/>
                        </a:rPr>
                        <a:t>HttpSession</a:t>
                      </a:r>
                    </a:p>
                  </a:txBody>
                  <a:tcPr marL="76200" marR="76200" marT="76200" marB="76200"/>
                </a:tc>
              </a:tr>
              <a:tr h="583522">
                <a:tc>
                  <a:txBody>
                    <a:bodyPr/>
                    <a:lstStyle/>
                    <a:p>
                      <a:pPr algn="just" fontAlgn="t"/>
                      <a:r>
                        <a:rPr lang="en-US" dirty="0">
                          <a:solidFill>
                            <a:srgbClr val="333333"/>
                          </a:solidFill>
                          <a:latin typeface="Cambria" panose="02040503050406030204" pitchFamily="18" charset="0"/>
                          <a:ea typeface="Cambria" panose="02040503050406030204" pitchFamily="18" charset="0"/>
                        </a:rPr>
                        <a:t>pageContext</a:t>
                      </a:r>
                    </a:p>
                  </a:txBody>
                  <a:tcPr marL="76200" marR="76200" marT="76200" marB="76200"/>
                </a:tc>
                <a:tc>
                  <a:txBody>
                    <a:bodyPr/>
                    <a:lstStyle/>
                    <a:p>
                      <a:pPr algn="just" fontAlgn="t"/>
                      <a:r>
                        <a:rPr lang="en-US">
                          <a:solidFill>
                            <a:srgbClr val="333333"/>
                          </a:solidFill>
                          <a:latin typeface="Cambria" panose="02040503050406030204" pitchFamily="18" charset="0"/>
                          <a:ea typeface="Cambria" panose="02040503050406030204" pitchFamily="18" charset="0"/>
                        </a:rPr>
                        <a:t>PageContext</a:t>
                      </a:r>
                    </a:p>
                  </a:txBody>
                  <a:tcPr marL="76200" marR="76200" marT="76200" marB="76200"/>
                </a:tc>
              </a:tr>
              <a:tr h="355187">
                <a:tc>
                  <a:txBody>
                    <a:bodyPr/>
                    <a:lstStyle/>
                    <a:p>
                      <a:pPr algn="just" fontAlgn="t"/>
                      <a:r>
                        <a:rPr lang="en-US" dirty="0">
                          <a:solidFill>
                            <a:srgbClr val="333333"/>
                          </a:solidFill>
                          <a:latin typeface="Cambria" panose="02040503050406030204" pitchFamily="18" charset="0"/>
                          <a:ea typeface="Cambria" panose="02040503050406030204" pitchFamily="18" charset="0"/>
                        </a:rPr>
                        <a:t>page</a:t>
                      </a:r>
                    </a:p>
                  </a:txBody>
                  <a:tcPr marL="76200" marR="76200" marT="76200" marB="76200"/>
                </a:tc>
                <a:tc>
                  <a:txBody>
                    <a:bodyPr/>
                    <a:lstStyle/>
                    <a:p>
                      <a:pPr algn="just" fontAlgn="t"/>
                      <a:r>
                        <a:rPr lang="en-US">
                          <a:solidFill>
                            <a:srgbClr val="333333"/>
                          </a:solidFill>
                          <a:latin typeface="Cambria" panose="02040503050406030204" pitchFamily="18" charset="0"/>
                          <a:ea typeface="Cambria" panose="02040503050406030204" pitchFamily="18" charset="0"/>
                        </a:rPr>
                        <a:t>Object</a:t>
                      </a:r>
                    </a:p>
                  </a:txBody>
                  <a:tcPr marL="76200" marR="76200" marT="76200" marB="76200"/>
                </a:tc>
              </a:tr>
              <a:tr h="355187">
                <a:tc>
                  <a:txBody>
                    <a:bodyPr/>
                    <a:lstStyle/>
                    <a:p>
                      <a:pPr algn="just" fontAlgn="t"/>
                      <a:r>
                        <a:rPr lang="en-US" dirty="0">
                          <a:solidFill>
                            <a:srgbClr val="333333"/>
                          </a:solidFill>
                          <a:latin typeface="Cambria" panose="02040503050406030204" pitchFamily="18" charset="0"/>
                          <a:ea typeface="Cambria" panose="02040503050406030204" pitchFamily="18" charset="0"/>
                        </a:rPr>
                        <a:t>exception</a:t>
                      </a:r>
                    </a:p>
                  </a:txBody>
                  <a:tcPr marL="76200" marR="76200" marT="76200" marB="76200"/>
                </a:tc>
                <a:tc>
                  <a:txBody>
                    <a:bodyPr/>
                    <a:lstStyle/>
                    <a:p>
                      <a:pPr algn="just" fontAlgn="t"/>
                      <a:r>
                        <a:rPr lang="en-US" dirty="0" err="1">
                          <a:solidFill>
                            <a:srgbClr val="333333"/>
                          </a:solidFill>
                          <a:latin typeface="Cambria" panose="02040503050406030204" pitchFamily="18" charset="0"/>
                          <a:ea typeface="Cambria" panose="02040503050406030204" pitchFamily="18" charset="0"/>
                        </a:rPr>
                        <a:t>Throwable</a:t>
                      </a:r>
                      <a:endParaRPr lang="en-US" dirty="0">
                        <a:solidFill>
                          <a:srgbClr val="333333"/>
                        </a:solidFill>
                        <a:latin typeface="Cambria" panose="02040503050406030204" pitchFamily="18" charset="0"/>
                        <a:ea typeface="Cambria" panose="02040503050406030204" pitchFamily="18" charset="0"/>
                      </a:endParaRPr>
                    </a:p>
                  </a:txBody>
                  <a:tcPr marL="76200" marR="76200" marT="76200" marB="76200"/>
                </a:tc>
              </a:tr>
            </a:tbl>
          </a:graphicData>
        </a:graphic>
      </p:graphicFrame>
    </p:spTree>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344" y="188641"/>
            <a:ext cx="5400600" cy="504056"/>
          </a:xfrm>
        </p:spPr>
        <p:txBody>
          <a:bodyPr/>
          <a:lstStyle/>
          <a:p>
            <a:r>
              <a:rPr lang="en-GB" sz="4000" b="1" dirty="0" smtClean="0">
                <a:solidFill>
                  <a:srgbClr val="002060"/>
                </a:solidFill>
                <a:latin typeface="Cambria" panose="02040503050406030204" pitchFamily="18" charset="0"/>
                <a:ea typeface="Cambria" panose="02040503050406030204" pitchFamily="18" charset="0"/>
              </a:rPr>
              <a:t/>
            </a:r>
            <a:br>
              <a:rPr lang="en-GB" sz="4000" b="1" dirty="0" smtClean="0">
                <a:solidFill>
                  <a:srgbClr val="002060"/>
                </a:solidFill>
                <a:latin typeface="Cambria" panose="02040503050406030204" pitchFamily="18" charset="0"/>
                <a:ea typeface="Cambria" panose="02040503050406030204" pitchFamily="18" charset="0"/>
              </a:rPr>
            </a:br>
            <a:r>
              <a:rPr lang="en-US" sz="4000" b="1" dirty="0" smtClean="0">
                <a:solidFill>
                  <a:srgbClr val="002060"/>
                </a:solidFill>
                <a:latin typeface="Cambria" panose="02040503050406030204" pitchFamily="18" charset="0"/>
                <a:ea typeface="Cambria" panose="02040503050406030204" pitchFamily="18" charset="0"/>
              </a:rPr>
              <a:t>JSP out implicit object</a:t>
            </a:r>
            <a:r>
              <a:rPr lang="en-GB" sz="4000" b="1" dirty="0" smtClean="0">
                <a:solidFill>
                  <a:srgbClr val="002060"/>
                </a:solidFill>
                <a:latin typeface="Cambria" panose="02040503050406030204" pitchFamily="18" charset="0"/>
                <a:ea typeface="Cambria" panose="02040503050406030204" pitchFamily="18" charset="0"/>
              </a:rPr>
              <a:t/>
            </a:r>
            <a:br>
              <a:rPr lang="en-GB" sz="4000" b="1" dirty="0" smtClean="0">
                <a:solidFill>
                  <a:srgbClr val="002060"/>
                </a:solidFill>
                <a:latin typeface="Cambria" panose="02040503050406030204" pitchFamily="18" charset="0"/>
                <a:ea typeface="Cambria" panose="02040503050406030204" pitchFamily="18" charset="0"/>
              </a:rPr>
            </a:br>
            <a:endParaRPr lang="en-US" sz="4000" b="1" dirty="0">
              <a:solidFill>
                <a:srgbClr val="00206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551384" y="908720"/>
            <a:ext cx="10369152" cy="4104455"/>
          </a:xfrm>
        </p:spPr>
        <p:txBody>
          <a:bodyPr/>
          <a:lstStyle/>
          <a:p>
            <a:r>
              <a:rPr lang="en-GB" sz="2000" dirty="0" smtClean="0">
                <a:latin typeface="Cambria" panose="02040503050406030204" pitchFamily="18" charset="0"/>
                <a:ea typeface="Cambria" panose="02040503050406030204" pitchFamily="18" charset="0"/>
              </a:rPr>
              <a:t>For writing any data to the buffer, JSP provides an implicit object named out. It is the object of </a:t>
            </a:r>
            <a:r>
              <a:rPr lang="en-GB" sz="2000" dirty="0" err="1" smtClean="0">
                <a:latin typeface="Cambria" panose="02040503050406030204" pitchFamily="18" charset="0"/>
                <a:ea typeface="Cambria" panose="02040503050406030204" pitchFamily="18" charset="0"/>
              </a:rPr>
              <a:t>JspWriter</a:t>
            </a:r>
            <a:r>
              <a:rPr lang="en-GB" sz="2000" dirty="0" smtClean="0">
                <a:latin typeface="Cambria" panose="02040503050406030204" pitchFamily="18" charset="0"/>
                <a:ea typeface="Cambria" panose="02040503050406030204" pitchFamily="18" charset="0"/>
              </a:rPr>
              <a:t>. In case of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you need to write: </a:t>
            </a:r>
          </a:p>
          <a:p>
            <a:r>
              <a:rPr lang="en-US" sz="2000" dirty="0" err="1" smtClean="0">
                <a:latin typeface="Cambria" panose="02040503050406030204" pitchFamily="18" charset="0"/>
                <a:ea typeface="Cambria" panose="02040503050406030204" pitchFamily="18" charset="0"/>
              </a:rPr>
              <a:t>PrintWriter</a:t>
            </a:r>
            <a:r>
              <a:rPr lang="en-US" sz="2000" dirty="0" smtClean="0">
                <a:latin typeface="Cambria" panose="02040503050406030204" pitchFamily="18" charset="0"/>
                <a:ea typeface="Cambria" panose="02040503050406030204" pitchFamily="18" charset="0"/>
              </a:rPr>
              <a:t> out=</a:t>
            </a:r>
            <a:r>
              <a:rPr lang="en-US" sz="2000" dirty="0" err="1" smtClean="0">
                <a:latin typeface="Cambria" panose="02040503050406030204" pitchFamily="18" charset="0"/>
                <a:ea typeface="Cambria" panose="02040503050406030204" pitchFamily="18" charset="0"/>
              </a:rPr>
              <a:t>response.getWriter</a:t>
            </a:r>
            <a:r>
              <a:rPr lang="en-US" sz="2000" dirty="0" smtClean="0">
                <a:latin typeface="Cambria" panose="02040503050406030204" pitchFamily="18" charset="0"/>
                <a:ea typeface="Cambria" panose="02040503050406030204" pitchFamily="18" charset="0"/>
              </a:rPr>
              <a:t>();  </a:t>
            </a:r>
            <a:r>
              <a:rPr lang="en-GB" sz="2000" dirty="0" smtClean="0">
                <a:latin typeface="Cambria" panose="02040503050406030204" pitchFamily="18" charset="0"/>
                <a:ea typeface="Cambria" panose="02040503050406030204" pitchFamily="18" charset="0"/>
              </a:rPr>
              <a:t>Example of out implicit object</a:t>
            </a:r>
          </a:p>
          <a:p>
            <a:r>
              <a:rPr lang="en-GB" sz="2000" dirty="0" smtClean="0">
                <a:latin typeface="Cambria" panose="02040503050406030204" pitchFamily="18" charset="0"/>
                <a:ea typeface="Cambria" panose="02040503050406030204" pitchFamily="18" charset="0"/>
              </a:rPr>
              <a:t>In this example we are simply displaying date and time.</a:t>
            </a:r>
          </a:p>
          <a:p>
            <a:pPr>
              <a:buNone/>
            </a:pPr>
            <a:r>
              <a:rPr lang="en-GB" sz="2000" dirty="0" smtClean="0">
                <a:latin typeface="Cambria" panose="02040503050406030204" pitchFamily="18" charset="0"/>
                <a:ea typeface="Cambria" panose="02040503050406030204" pitchFamily="18" charset="0"/>
              </a:rPr>
              <a:t>index.jsp</a:t>
            </a:r>
          </a:p>
          <a:p>
            <a:pPr>
              <a:buNone/>
            </a:pPr>
            <a:r>
              <a:rPr lang="en-GB" sz="2000" dirty="0" smtClean="0">
                <a:latin typeface="Cambria" panose="02040503050406030204" pitchFamily="18" charset="0"/>
                <a:ea typeface="Cambria" panose="02040503050406030204" pitchFamily="18" charset="0"/>
              </a:rPr>
              <a:t>&lt;html&gt;  </a:t>
            </a:r>
          </a:p>
          <a:p>
            <a:pPr>
              <a:buNone/>
            </a:pPr>
            <a:r>
              <a:rPr lang="en-GB" sz="2000" dirty="0" smtClean="0">
                <a:latin typeface="Cambria" panose="02040503050406030204" pitchFamily="18" charset="0"/>
                <a:ea typeface="Cambria" panose="02040503050406030204" pitchFamily="18" charset="0"/>
              </a:rPr>
              <a:t>&lt;body&gt;  </a:t>
            </a:r>
          </a:p>
          <a:p>
            <a:pPr>
              <a:buNone/>
            </a:pPr>
            <a:r>
              <a:rPr lang="en-GB" sz="2000" dirty="0" smtClean="0">
                <a:latin typeface="Cambria" panose="02040503050406030204" pitchFamily="18" charset="0"/>
                <a:ea typeface="Cambria" panose="02040503050406030204" pitchFamily="18" charset="0"/>
              </a:rPr>
              <a:t>&lt;% </a:t>
            </a:r>
            <a:r>
              <a:rPr lang="en-GB" sz="2000" dirty="0" err="1" smtClean="0">
                <a:latin typeface="Cambria" panose="02040503050406030204" pitchFamily="18" charset="0"/>
                <a:ea typeface="Cambria" panose="02040503050406030204" pitchFamily="18" charset="0"/>
              </a:rPr>
              <a:t>out.print</a:t>
            </a:r>
            <a:r>
              <a:rPr lang="en-GB" sz="2000" dirty="0" smtClean="0">
                <a:latin typeface="Cambria" panose="02040503050406030204" pitchFamily="18" charset="0"/>
                <a:ea typeface="Cambria" panose="02040503050406030204" pitchFamily="18" charset="0"/>
              </a:rPr>
              <a:t>("Today is:"+</a:t>
            </a:r>
            <a:r>
              <a:rPr lang="en-GB" sz="2000" dirty="0" err="1" smtClean="0">
                <a:latin typeface="Cambria" panose="02040503050406030204" pitchFamily="18" charset="0"/>
                <a:ea typeface="Cambria" panose="02040503050406030204" pitchFamily="18" charset="0"/>
              </a:rPr>
              <a:t>java.util.Calendar.getInstance</a:t>
            </a:r>
            <a:r>
              <a:rPr lang="en-GB" sz="2000" dirty="0" smtClean="0">
                <a:latin typeface="Cambria" panose="02040503050406030204" pitchFamily="18" charset="0"/>
                <a:ea typeface="Cambria" panose="02040503050406030204" pitchFamily="18" charset="0"/>
              </a:rPr>
              <a:t>().</a:t>
            </a:r>
            <a:r>
              <a:rPr lang="en-GB" sz="2000" dirty="0" err="1" smtClean="0">
                <a:latin typeface="Cambria" panose="02040503050406030204" pitchFamily="18" charset="0"/>
                <a:ea typeface="Cambria" panose="02040503050406030204" pitchFamily="18" charset="0"/>
              </a:rPr>
              <a:t>getTime</a:t>
            </a:r>
            <a:r>
              <a:rPr lang="en-GB" sz="2000" dirty="0" smtClean="0">
                <a:latin typeface="Cambria" panose="02040503050406030204" pitchFamily="18" charset="0"/>
                <a:ea typeface="Cambria" panose="02040503050406030204" pitchFamily="18" charset="0"/>
              </a:rPr>
              <a:t>()); %&gt;  </a:t>
            </a:r>
          </a:p>
          <a:p>
            <a:pPr>
              <a:buNone/>
            </a:pPr>
            <a:r>
              <a:rPr lang="en-GB" sz="2000" dirty="0" smtClean="0">
                <a:latin typeface="Cambria" panose="02040503050406030204" pitchFamily="18" charset="0"/>
                <a:ea typeface="Cambria" panose="02040503050406030204" pitchFamily="18" charset="0"/>
              </a:rPr>
              <a:t>&lt;/body&gt;  </a:t>
            </a:r>
          </a:p>
          <a:p>
            <a:pPr>
              <a:buNone/>
            </a:pPr>
            <a:r>
              <a:rPr lang="en-GB" sz="2000" dirty="0" smtClean="0">
                <a:latin typeface="Cambria" panose="02040503050406030204" pitchFamily="18" charset="0"/>
                <a:ea typeface="Cambria" panose="02040503050406030204" pitchFamily="18" charset="0"/>
              </a:rPr>
              <a:t>&lt;/html&gt;  </a:t>
            </a:r>
          </a:p>
          <a:p>
            <a:endParaRPr lang="en-US" sz="2000" dirty="0" smtClean="0">
              <a:latin typeface="Cambria" panose="02040503050406030204" pitchFamily="18" charset="0"/>
              <a:ea typeface="Cambria" panose="02040503050406030204" pitchFamily="18" charset="0"/>
            </a:endParaRPr>
          </a:p>
          <a:p>
            <a:endParaRPr lang="en-US" sz="20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82</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034" y="-3865"/>
            <a:ext cx="6769968" cy="563545"/>
          </a:xfrm>
        </p:spPr>
        <p:txBody>
          <a:bodyPr/>
          <a:lstStyle/>
          <a:p>
            <a:r>
              <a:rPr lang="en-GB" sz="4000" b="1" dirty="0" smtClean="0">
                <a:solidFill>
                  <a:srgbClr val="002060"/>
                </a:solidFill>
                <a:latin typeface="Cambria" panose="02040503050406030204" pitchFamily="18" charset="0"/>
                <a:ea typeface="Cambria" panose="02040503050406030204" pitchFamily="18" charset="0"/>
              </a:rPr>
              <a:t/>
            </a:r>
            <a:br>
              <a:rPr lang="en-GB" sz="4000" b="1" dirty="0" smtClean="0">
                <a:solidFill>
                  <a:srgbClr val="002060"/>
                </a:solidFill>
                <a:latin typeface="Cambria" panose="02040503050406030204" pitchFamily="18" charset="0"/>
                <a:ea typeface="Cambria" panose="02040503050406030204" pitchFamily="18" charset="0"/>
              </a:rPr>
            </a:br>
            <a:r>
              <a:rPr lang="en-US" sz="4000" b="1" dirty="0" smtClean="0">
                <a:solidFill>
                  <a:srgbClr val="002060"/>
                </a:solidFill>
                <a:latin typeface="Cambria" panose="02040503050406030204" pitchFamily="18" charset="0"/>
                <a:ea typeface="Cambria" panose="02040503050406030204" pitchFamily="18" charset="0"/>
              </a:rPr>
              <a:t>JSP request implicit object</a:t>
            </a:r>
            <a:br>
              <a:rPr lang="en-US" sz="4000" b="1" dirty="0" smtClean="0">
                <a:solidFill>
                  <a:srgbClr val="002060"/>
                </a:solidFill>
                <a:latin typeface="Cambria" panose="02040503050406030204" pitchFamily="18" charset="0"/>
                <a:ea typeface="Cambria" panose="02040503050406030204" pitchFamily="18" charset="0"/>
              </a:rPr>
            </a:br>
            <a:endParaRPr lang="en-US" sz="4000" b="1" dirty="0">
              <a:solidFill>
                <a:srgbClr val="00206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79376" y="541969"/>
            <a:ext cx="10874424" cy="4903256"/>
          </a:xfrm>
        </p:spPr>
        <p:txBody>
          <a:bodyPr/>
          <a:lstStyle/>
          <a:p>
            <a:pPr algn="just">
              <a:lnSpc>
                <a:spcPct val="100000"/>
              </a:lnSpc>
              <a:spcBef>
                <a:spcPts val="0"/>
              </a:spcBef>
            </a:pPr>
            <a:r>
              <a:rPr lang="en-GB" sz="2000" dirty="0" smtClean="0">
                <a:latin typeface="Cambria" panose="02040503050406030204" pitchFamily="18" charset="0"/>
                <a:ea typeface="Cambria" panose="02040503050406030204" pitchFamily="18" charset="0"/>
              </a:rPr>
              <a:t>The </a:t>
            </a:r>
            <a:r>
              <a:rPr lang="en-GB" sz="2000" b="1" dirty="0" smtClean="0">
                <a:latin typeface="Cambria" panose="02040503050406030204" pitchFamily="18" charset="0"/>
                <a:ea typeface="Cambria" panose="02040503050406030204" pitchFamily="18" charset="0"/>
              </a:rPr>
              <a:t>JSP request</a:t>
            </a:r>
            <a:r>
              <a:rPr lang="en-GB" sz="2000" dirty="0" smtClean="0">
                <a:latin typeface="Cambria" panose="02040503050406030204" pitchFamily="18" charset="0"/>
                <a:ea typeface="Cambria" panose="02040503050406030204" pitchFamily="18" charset="0"/>
              </a:rPr>
              <a:t> is an implicit object of type </a:t>
            </a:r>
            <a:r>
              <a:rPr lang="en-GB" sz="2000" dirty="0" err="1" smtClean="0">
                <a:latin typeface="Cambria" panose="02040503050406030204" pitchFamily="18" charset="0"/>
                <a:ea typeface="Cambria" panose="02040503050406030204" pitchFamily="18" charset="0"/>
              </a:rPr>
              <a:t>HttpServletRequest</a:t>
            </a:r>
            <a:r>
              <a:rPr lang="en-GB" sz="2000" dirty="0" smtClean="0">
                <a:latin typeface="Cambria" panose="02040503050406030204" pitchFamily="18" charset="0"/>
                <a:ea typeface="Cambria" panose="02040503050406030204" pitchFamily="18" charset="0"/>
              </a:rPr>
              <a:t> i.e. created for each </a:t>
            </a:r>
            <a:r>
              <a:rPr lang="en-GB" sz="2000" dirty="0" err="1" smtClean="0">
                <a:latin typeface="Cambria" panose="02040503050406030204" pitchFamily="18" charset="0"/>
                <a:ea typeface="Cambria" panose="02040503050406030204" pitchFamily="18" charset="0"/>
              </a:rPr>
              <a:t>jsp</a:t>
            </a:r>
            <a:r>
              <a:rPr lang="en-GB" sz="2000" dirty="0" smtClean="0">
                <a:latin typeface="Cambria" panose="02040503050406030204" pitchFamily="18" charset="0"/>
                <a:ea typeface="Cambria" panose="02040503050406030204" pitchFamily="18" charset="0"/>
              </a:rPr>
              <a:t> request by the web container. It can be used to get request information such as parameter, header information, remote address, server name, server port, content type, character encoding etc.</a:t>
            </a:r>
          </a:p>
          <a:p>
            <a:pPr algn="just">
              <a:lnSpc>
                <a:spcPct val="100000"/>
              </a:lnSpc>
              <a:spcBef>
                <a:spcPts val="0"/>
              </a:spcBef>
            </a:pPr>
            <a:r>
              <a:rPr lang="en-GB" sz="2000" dirty="0" smtClean="0">
                <a:latin typeface="Cambria" panose="02040503050406030204" pitchFamily="18" charset="0"/>
                <a:ea typeface="Cambria" panose="02040503050406030204" pitchFamily="18" charset="0"/>
              </a:rPr>
              <a:t>It can also be used to set, get and remove attributes from the </a:t>
            </a:r>
            <a:r>
              <a:rPr lang="en-GB" sz="2000" dirty="0" err="1" smtClean="0">
                <a:latin typeface="Cambria" panose="02040503050406030204" pitchFamily="18" charset="0"/>
                <a:ea typeface="Cambria" panose="02040503050406030204" pitchFamily="18" charset="0"/>
              </a:rPr>
              <a:t>jsp</a:t>
            </a:r>
            <a:r>
              <a:rPr lang="en-GB" sz="2000" dirty="0" smtClean="0">
                <a:latin typeface="Cambria" panose="02040503050406030204" pitchFamily="18" charset="0"/>
                <a:ea typeface="Cambria" panose="02040503050406030204" pitchFamily="18" charset="0"/>
              </a:rPr>
              <a:t> request scope.</a:t>
            </a:r>
          </a:p>
          <a:p>
            <a:pPr algn="just">
              <a:lnSpc>
                <a:spcPct val="100000"/>
              </a:lnSpc>
              <a:spcBef>
                <a:spcPts val="0"/>
              </a:spcBef>
            </a:pPr>
            <a:r>
              <a:rPr lang="en-GB" sz="2000" dirty="0" smtClean="0">
                <a:latin typeface="Cambria" panose="02040503050406030204" pitchFamily="18" charset="0"/>
                <a:ea typeface="Cambria" panose="02040503050406030204" pitchFamily="18" charset="0"/>
              </a:rPr>
              <a:t>Example of JSP request implicit object</a:t>
            </a:r>
          </a:p>
          <a:p>
            <a:pPr algn="just">
              <a:lnSpc>
                <a:spcPct val="100000"/>
              </a:lnSpc>
              <a:spcBef>
                <a:spcPts val="0"/>
              </a:spcBef>
            </a:pPr>
            <a:r>
              <a:rPr lang="en-US" sz="2000" b="1" dirty="0" smtClean="0">
                <a:latin typeface="Cambria" panose="02040503050406030204" pitchFamily="18" charset="0"/>
                <a:ea typeface="Cambria" panose="02040503050406030204" pitchFamily="18" charset="0"/>
              </a:rPr>
              <a:t>index.html</a:t>
            </a:r>
          </a:p>
          <a:p>
            <a:pPr algn="just">
              <a:lnSpc>
                <a:spcPct val="100000"/>
              </a:lnSpc>
              <a:spcBef>
                <a:spcPts val="0"/>
              </a:spcBef>
              <a:buNone/>
            </a:pPr>
            <a:r>
              <a:rPr lang="en-US" sz="2000" b="1" dirty="0" smtClean="0">
                <a:latin typeface="Cambria" panose="02040503050406030204" pitchFamily="18" charset="0"/>
                <a:ea typeface="Cambria" panose="02040503050406030204" pitchFamily="18" charset="0"/>
              </a:rPr>
              <a:t>&lt;form</a:t>
            </a:r>
            <a:r>
              <a:rPr lang="en-US" sz="2000" dirty="0" smtClean="0">
                <a:latin typeface="Cambria" panose="02040503050406030204" pitchFamily="18" charset="0"/>
                <a:ea typeface="Cambria" panose="02040503050406030204" pitchFamily="18" charset="0"/>
              </a:rPr>
              <a:t> action="welcome.jsp"</a:t>
            </a:r>
            <a:r>
              <a:rPr lang="en-US" sz="2000" b="1" dirty="0" smtClean="0">
                <a:latin typeface="Cambria" panose="02040503050406030204" pitchFamily="18" charset="0"/>
                <a:ea typeface="Cambria" panose="02040503050406030204" pitchFamily="18" charset="0"/>
              </a:rPr>
              <a:t>&gt;</a:t>
            </a:r>
            <a:r>
              <a:rPr lang="en-US" sz="2000" dirty="0" smtClean="0">
                <a:latin typeface="Cambria" panose="02040503050406030204" pitchFamily="18" charset="0"/>
                <a:ea typeface="Cambria" panose="02040503050406030204" pitchFamily="18" charset="0"/>
              </a:rPr>
              <a:t>  </a:t>
            </a:r>
          </a:p>
          <a:p>
            <a:pPr algn="just">
              <a:lnSpc>
                <a:spcPct val="100000"/>
              </a:lnSpc>
              <a:spcBef>
                <a:spcPts val="0"/>
              </a:spcBef>
              <a:buNone/>
            </a:pPr>
            <a:r>
              <a:rPr lang="en-US" sz="2000" b="1" dirty="0" smtClean="0">
                <a:latin typeface="Cambria" panose="02040503050406030204" pitchFamily="18" charset="0"/>
                <a:ea typeface="Cambria" panose="02040503050406030204" pitchFamily="18" charset="0"/>
              </a:rPr>
              <a:t>&lt;input</a:t>
            </a:r>
            <a:r>
              <a:rPr lang="en-US" sz="2000" dirty="0" smtClean="0">
                <a:latin typeface="Cambria" panose="02040503050406030204" pitchFamily="18" charset="0"/>
                <a:ea typeface="Cambria" panose="02040503050406030204" pitchFamily="18" charset="0"/>
              </a:rPr>
              <a:t> type="text" name="</a:t>
            </a:r>
            <a:r>
              <a:rPr lang="en-US" sz="2000" dirty="0" err="1" smtClean="0">
                <a:latin typeface="Cambria" panose="02040503050406030204" pitchFamily="18" charset="0"/>
                <a:ea typeface="Cambria" panose="02040503050406030204" pitchFamily="18" charset="0"/>
              </a:rPr>
              <a:t>uname</a:t>
            </a:r>
            <a:r>
              <a:rPr lang="en-US" sz="2000" dirty="0" smtClean="0">
                <a:latin typeface="Cambria" panose="02040503050406030204" pitchFamily="18" charset="0"/>
                <a:ea typeface="Cambria" panose="02040503050406030204" pitchFamily="18" charset="0"/>
              </a:rPr>
              <a:t>"</a:t>
            </a:r>
            <a:r>
              <a:rPr lang="en-US" sz="2000" b="1" dirty="0" smtClean="0">
                <a:latin typeface="Cambria" panose="02040503050406030204" pitchFamily="18" charset="0"/>
                <a:ea typeface="Cambria" panose="02040503050406030204" pitchFamily="18" charset="0"/>
              </a:rPr>
              <a:t>&gt;</a:t>
            </a:r>
            <a:r>
              <a:rPr lang="en-US" sz="2000" dirty="0" smtClean="0">
                <a:latin typeface="Cambria" panose="02040503050406030204" pitchFamily="18" charset="0"/>
                <a:ea typeface="Cambria" panose="02040503050406030204" pitchFamily="18" charset="0"/>
              </a:rPr>
              <a:t>  </a:t>
            </a:r>
          </a:p>
          <a:p>
            <a:pPr algn="just">
              <a:lnSpc>
                <a:spcPct val="100000"/>
              </a:lnSpc>
              <a:spcBef>
                <a:spcPts val="0"/>
              </a:spcBef>
              <a:buNone/>
            </a:pPr>
            <a:r>
              <a:rPr lang="en-US" sz="2000" b="1" dirty="0" smtClean="0">
                <a:latin typeface="Cambria" panose="02040503050406030204" pitchFamily="18" charset="0"/>
                <a:ea typeface="Cambria" panose="02040503050406030204" pitchFamily="18" charset="0"/>
              </a:rPr>
              <a:t>&lt;input</a:t>
            </a:r>
            <a:r>
              <a:rPr lang="en-US" sz="2000" dirty="0" smtClean="0">
                <a:latin typeface="Cambria" panose="02040503050406030204" pitchFamily="18" charset="0"/>
                <a:ea typeface="Cambria" panose="02040503050406030204" pitchFamily="18" charset="0"/>
              </a:rPr>
              <a:t> type="submit" value="go"</a:t>
            </a:r>
            <a:r>
              <a:rPr lang="en-US" sz="2000" b="1" dirty="0" smtClean="0">
                <a:latin typeface="Cambria" panose="02040503050406030204" pitchFamily="18" charset="0"/>
                <a:ea typeface="Cambria" panose="02040503050406030204" pitchFamily="18" charset="0"/>
              </a:rPr>
              <a:t>&gt;</a:t>
            </a:r>
            <a:r>
              <a:rPr lang="en-US" sz="2000" dirty="0" smtClean="0">
                <a:latin typeface="Cambria" panose="02040503050406030204" pitchFamily="18" charset="0"/>
                <a:ea typeface="Cambria" panose="02040503050406030204" pitchFamily="18" charset="0"/>
              </a:rPr>
              <a:t>  </a:t>
            </a:r>
          </a:p>
          <a:p>
            <a:pPr algn="just">
              <a:lnSpc>
                <a:spcPct val="100000"/>
              </a:lnSpc>
              <a:spcBef>
                <a:spcPts val="0"/>
              </a:spcBef>
              <a:buNone/>
            </a:pPr>
            <a:r>
              <a:rPr lang="en-US" sz="2000" b="1" dirty="0" smtClean="0">
                <a:latin typeface="Cambria" panose="02040503050406030204" pitchFamily="18" charset="0"/>
                <a:ea typeface="Cambria" panose="02040503050406030204" pitchFamily="18" charset="0"/>
              </a:rPr>
              <a:t>&lt;/form&gt;</a:t>
            </a:r>
            <a:r>
              <a:rPr lang="en-US" sz="2000" dirty="0" smtClean="0">
                <a:latin typeface="Cambria" panose="02040503050406030204" pitchFamily="18" charset="0"/>
                <a:ea typeface="Cambria" panose="02040503050406030204" pitchFamily="18" charset="0"/>
              </a:rPr>
              <a:t>  </a:t>
            </a:r>
          </a:p>
          <a:p>
            <a:pPr algn="just">
              <a:lnSpc>
                <a:spcPct val="100000"/>
              </a:lnSpc>
              <a:spcBef>
                <a:spcPts val="0"/>
              </a:spcBef>
            </a:pPr>
            <a:r>
              <a:rPr lang="en-US" sz="2000" b="1" dirty="0" smtClean="0">
                <a:latin typeface="Cambria" panose="02040503050406030204" pitchFamily="18" charset="0"/>
                <a:ea typeface="Cambria" panose="02040503050406030204" pitchFamily="18" charset="0"/>
              </a:rPr>
              <a:t>welcome.jsp</a:t>
            </a:r>
          </a:p>
          <a:p>
            <a:pPr algn="just">
              <a:lnSpc>
                <a:spcPct val="100000"/>
              </a:lnSpc>
              <a:spcBef>
                <a:spcPts val="0"/>
              </a:spcBef>
              <a:buNone/>
            </a:pPr>
            <a:r>
              <a:rPr lang="en-US" sz="2000" dirty="0" smtClean="0">
                <a:latin typeface="Cambria" panose="02040503050406030204" pitchFamily="18" charset="0"/>
                <a:ea typeface="Cambria" panose="02040503050406030204" pitchFamily="18" charset="0"/>
              </a:rPr>
              <a:t>&lt;%   </a:t>
            </a:r>
          </a:p>
          <a:p>
            <a:pPr algn="just">
              <a:lnSpc>
                <a:spcPct val="100000"/>
              </a:lnSpc>
              <a:spcBef>
                <a:spcPts val="0"/>
              </a:spcBef>
              <a:buNone/>
            </a:pPr>
            <a:r>
              <a:rPr lang="en-US" sz="2000" dirty="0" smtClean="0">
                <a:latin typeface="Cambria" panose="02040503050406030204" pitchFamily="18" charset="0"/>
                <a:ea typeface="Cambria" panose="02040503050406030204" pitchFamily="18" charset="0"/>
              </a:rPr>
              <a:t>String name=</a:t>
            </a:r>
            <a:r>
              <a:rPr lang="en-US" sz="2000" dirty="0" err="1" smtClean="0">
                <a:latin typeface="Cambria" panose="02040503050406030204" pitchFamily="18" charset="0"/>
                <a:ea typeface="Cambria" panose="02040503050406030204" pitchFamily="18" charset="0"/>
              </a:rPr>
              <a:t>request.getParameter</a:t>
            </a:r>
            <a:r>
              <a:rPr lang="en-US" sz="2000" dirty="0" smtClean="0">
                <a:latin typeface="Cambria" panose="02040503050406030204" pitchFamily="18" charset="0"/>
                <a:ea typeface="Cambria" panose="02040503050406030204" pitchFamily="18" charset="0"/>
              </a:rPr>
              <a:t>("</a:t>
            </a:r>
            <a:r>
              <a:rPr lang="en-US" sz="2000" dirty="0" err="1" smtClean="0">
                <a:latin typeface="Cambria" panose="02040503050406030204" pitchFamily="18" charset="0"/>
                <a:ea typeface="Cambria" panose="02040503050406030204" pitchFamily="18" charset="0"/>
              </a:rPr>
              <a:t>uname</a:t>
            </a:r>
            <a:r>
              <a:rPr lang="en-US" sz="2000" dirty="0" smtClean="0">
                <a:latin typeface="Cambria" panose="02040503050406030204" pitchFamily="18" charset="0"/>
                <a:ea typeface="Cambria" panose="02040503050406030204" pitchFamily="18" charset="0"/>
              </a:rPr>
              <a:t>");  </a:t>
            </a:r>
          </a:p>
          <a:p>
            <a:pPr algn="just">
              <a:lnSpc>
                <a:spcPct val="100000"/>
              </a:lnSpc>
              <a:spcBef>
                <a:spcPts val="0"/>
              </a:spcBef>
              <a:buNone/>
            </a:pPr>
            <a:r>
              <a:rPr lang="en-US" sz="2000" dirty="0" smtClean="0">
                <a:latin typeface="Cambria" panose="02040503050406030204" pitchFamily="18" charset="0"/>
                <a:ea typeface="Cambria" panose="02040503050406030204" pitchFamily="18" charset="0"/>
              </a:rPr>
              <a:t>out.print(“Welcome "+name);  </a:t>
            </a:r>
          </a:p>
          <a:p>
            <a:pPr algn="just">
              <a:lnSpc>
                <a:spcPct val="100000"/>
              </a:lnSpc>
              <a:spcBef>
                <a:spcPts val="0"/>
              </a:spcBef>
              <a:buNone/>
            </a:pPr>
            <a:r>
              <a:rPr lang="en-US" sz="2000" dirty="0" smtClean="0">
                <a:latin typeface="Cambria" panose="02040503050406030204" pitchFamily="18" charset="0"/>
                <a:ea typeface="Cambria" panose="02040503050406030204" pitchFamily="18" charset="0"/>
              </a:rPr>
              <a:t>%&gt;  </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83</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8" y="0"/>
            <a:ext cx="6913984" cy="598472"/>
          </a:xfrm>
        </p:spPr>
        <p:txBody>
          <a:bodyPr/>
          <a:lstStyle/>
          <a:p>
            <a:pPr algn="just"/>
            <a:r>
              <a:rPr lang="en-US" sz="4000" b="1" dirty="0" smtClean="0">
                <a:solidFill>
                  <a:srgbClr val="002060"/>
                </a:solidFill>
                <a:latin typeface="Cambria" panose="02040503050406030204" pitchFamily="18" charset="0"/>
                <a:ea typeface="Cambria" panose="02040503050406030204" pitchFamily="18" charset="0"/>
              </a:rPr>
              <a:t>JSP response implicit object</a:t>
            </a:r>
            <a:endParaRPr lang="en-US" sz="4000" b="1" dirty="0">
              <a:solidFill>
                <a:srgbClr val="00206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07368" y="581305"/>
            <a:ext cx="11305256" cy="4802128"/>
          </a:xfrm>
        </p:spPr>
        <p:txBody>
          <a:bodyPr/>
          <a:lstStyle/>
          <a:p>
            <a:pPr algn="just">
              <a:lnSpc>
                <a:spcPct val="100000"/>
              </a:lnSpc>
              <a:spcBef>
                <a:spcPts val="0"/>
              </a:spcBef>
            </a:pPr>
            <a:r>
              <a:rPr lang="en-GB" sz="2200" dirty="0" smtClean="0">
                <a:latin typeface="Cambria" panose="02040503050406030204" pitchFamily="18" charset="0"/>
                <a:ea typeface="Cambria" panose="02040503050406030204" pitchFamily="18" charset="0"/>
              </a:rPr>
              <a:t>In JSP, response is an implicit object of type </a:t>
            </a:r>
            <a:r>
              <a:rPr lang="en-GB" sz="2200" dirty="0" err="1" smtClean="0">
                <a:latin typeface="Cambria" panose="02040503050406030204" pitchFamily="18" charset="0"/>
                <a:ea typeface="Cambria" panose="02040503050406030204" pitchFamily="18" charset="0"/>
              </a:rPr>
              <a:t>HttpServletResponse</a:t>
            </a:r>
            <a:r>
              <a:rPr lang="en-GB" sz="2200" dirty="0" smtClean="0">
                <a:latin typeface="Cambria" panose="02040503050406030204" pitchFamily="18" charset="0"/>
                <a:ea typeface="Cambria" panose="02040503050406030204" pitchFamily="18" charset="0"/>
              </a:rPr>
              <a:t>. The instance of </a:t>
            </a:r>
            <a:r>
              <a:rPr lang="en-GB" sz="2200" dirty="0" err="1" smtClean="0">
                <a:latin typeface="Cambria" panose="02040503050406030204" pitchFamily="18" charset="0"/>
                <a:ea typeface="Cambria" panose="02040503050406030204" pitchFamily="18" charset="0"/>
              </a:rPr>
              <a:t>HttpServletResponse</a:t>
            </a:r>
            <a:r>
              <a:rPr lang="en-GB" sz="2200" dirty="0" smtClean="0">
                <a:latin typeface="Cambria" panose="02040503050406030204" pitchFamily="18" charset="0"/>
                <a:ea typeface="Cambria" panose="02040503050406030204" pitchFamily="18" charset="0"/>
              </a:rPr>
              <a:t> is created by the web container for each </a:t>
            </a:r>
            <a:r>
              <a:rPr lang="en-GB" sz="2200" dirty="0" err="1" smtClean="0">
                <a:latin typeface="Cambria" panose="02040503050406030204" pitchFamily="18" charset="0"/>
                <a:ea typeface="Cambria" panose="02040503050406030204" pitchFamily="18" charset="0"/>
              </a:rPr>
              <a:t>jsp</a:t>
            </a:r>
            <a:r>
              <a:rPr lang="en-GB" sz="2200" dirty="0" smtClean="0">
                <a:latin typeface="Cambria" panose="02040503050406030204" pitchFamily="18" charset="0"/>
                <a:ea typeface="Cambria" panose="02040503050406030204" pitchFamily="18" charset="0"/>
              </a:rPr>
              <a:t> request.</a:t>
            </a:r>
          </a:p>
          <a:p>
            <a:pPr algn="just">
              <a:lnSpc>
                <a:spcPct val="100000"/>
              </a:lnSpc>
              <a:spcBef>
                <a:spcPts val="0"/>
              </a:spcBef>
            </a:pPr>
            <a:r>
              <a:rPr lang="en-GB" sz="2200" dirty="0" smtClean="0">
                <a:latin typeface="Cambria" panose="02040503050406030204" pitchFamily="18" charset="0"/>
                <a:ea typeface="Cambria" panose="02040503050406030204" pitchFamily="18" charset="0"/>
              </a:rPr>
              <a:t>It can be used to add or manipulate response such as redirect response to another resource, send error etc.</a:t>
            </a:r>
          </a:p>
          <a:p>
            <a:pPr algn="just">
              <a:lnSpc>
                <a:spcPct val="100000"/>
              </a:lnSpc>
              <a:spcBef>
                <a:spcPts val="0"/>
              </a:spcBef>
            </a:pPr>
            <a:r>
              <a:rPr lang="en-GB" sz="2200" dirty="0" smtClean="0">
                <a:latin typeface="Cambria" panose="02040503050406030204" pitchFamily="18" charset="0"/>
                <a:ea typeface="Cambria" panose="02040503050406030204" pitchFamily="18" charset="0"/>
              </a:rPr>
              <a:t>Example of response implicit object</a:t>
            </a:r>
          </a:p>
          <a:p>
            <a:pPr algn="just">
              <a:lnSpc>
                <a:spcPct val="100000"/>
              </a:lnSpc>
              <a:spcBef>
                <a:spcPts val="0"/>
              </a:spcBef>
            </a:pPr>
            <a:r>
              <a:rPr lang="en-GB" sz="2200" b="1" dirty="0" smtClean="0">
                <a:latin typeface="Cambria" panose="02040503050406030204" pitchFamily="18" charset="0"/>
                <a:ea typeface="Cambria" panose="02040503050406030204" pitchFamily="18" charset="0"/>
              </a:rPr>
              <a:t>index.html</a:t>
            </a:r>
            <a:endParaRPr lang="en-GB" sz="2200" dirty="0" smtClean="0">
              <a:latin typeface="Cambria" panose="02040503050406030204" pitchFamily="18" charset="0"/>
              <a:ea typeface="Cambria" panose="02040503050406030204" pitchFamily="18" charset="0"/>
            </a:endParaRPr>
          </a:p>
          <a:p>
            <a:pPr algn="just">
              <a:lnSpc>
                <a:spcPct val="100000"/>
              </a:lnSpc>
              <a:spcBef>
                <a:spcPts val="0"/>
              </a:spcBef>
              <a:buNone/>
            </a:pPr>
            <a:r>
              <a:rPr lang="en-GB" sz="2200" dirty="0" smtClean="0">
                <a:latin typeface="Cambria" panose="02040503050406030204" pitchFamily="18" charset="0"/>
                <a:ea typeface="Cambria" panose="02040503050406030204" pitchFamily="18" charset="0"/>
              </a:rPr>
              <a:t>&lt;form action="welcome.jsp"&gt;  </a:t>
            </a:r>
          </a:p>
          <a:p>
            <a:pPr algn="just">
              <a:lnSpc>
                <a:spcPct val="100000"/>
              </a:lnSpc>
              <a:spcBef>
                <a:spcPts val="0"/>
              </a:spcBef>
              <a:buNone/>
            </a:pPr>
            <a:r>
              <a:rPr lang="en-GB" sz="2200" dirty="0" smtClean="0">
                <a:latin typeface="Cambria" panose="02040503050406030204" pitchFamily="18" charset="0"/>
                <a:ea typeface="Cambria" panose="02040503050406030204" pitchFamily="18" charset="0"/>
              </a:rPr>
              <a:t>&lt;input type="text" name="</a:t>
            </a:r>
            <a:r>
              <a:rPr lang="en-GB" sz="2200" dirty="0" err="1" smtClean="0">
                <a:latin typeface="Cambria" panose="02040503050406030204" pitchFamily="18" charset="0"/>
                <a:ea typeface="Cambria" panose="02040503050406030204" pitchFamily="18" charset="0"/>
              </a:rPr>
              <a:t>uname</a:t>
            </a:r>
            <a:r>
              <a:rPr lang="en-GB" sz="2200" dirty="0" smtClean="0">
                <a:latin typeface="Cambria" panose="02040503050406030204" pitchFamily="18" charset="0"/>
                <a:ea typeface="Cambria" panose="02040503050406030204" pitchFamily="18" charset="0"/>
              </a:rPr>
              <a:t>"&gt;  </a:t>
            </a:r>
          </a:p>
          <a:p>
            <a:pPr algn="just">
              <a:lnSpc>
                <a:spcPct val="100000"/>
              </a:lnSpc>
              <a:spcBef>
                <a:spcPts val="0"/>
              </a:spcBef>
              <a:buNone/>
            </a:pPr>
            <a:r>
              <a:rPr lang="en-GB" sz="2200" dirty="0" smtClean="0">
                <a:latin typeface="Cambria" panose="02040503050406030204" pitchFamily="18" charset="0"/>
                <a:ea typeface="Cambria" panose="02040503050406030204" pitchFamily="18" charset="0"/>
              </a:rPr>
              <a:t>&lt;input type="submit" value="go"&gt;&lt;</a:t>
            </a:r>
            <a:r>
              <a:rPr lang="en-GB" sz="2200" dirty="0" err="1" smtClean="0">
                <a:latin typeface="Cambria" panose="02040503050406030204" pitchFamily="18" charset="0"/>
                <a:ea typeface="Cambria" panose="02040503050406030204" pitchFamily="18" charset="0"/>
              </a:rPr>
              <a:t>br</a:t>
            </a:r>
            <a:r>
              <a:rPr lang="en-GB" sz="2200" dirty="0" smtClean="0">
                <a:latin typeface="Cambria" panose="02040503050406030204" pitchFamily="18" charset="0"/>
                <a:ea typeface="Cambria" panose="02040503050406030204" pitchFamily="18" charset="0"/>
              </a:rPr>
              <a:t>/&gt;  </a:t>
            </a:r>
          </a:p>
          <a:p>
            <a:pPr algn="just">
              <a:lnSpc>
                <a:spcPct val="100000"/>
              </a:lnSpc>
              <a:spcBef>
                <a:spcPts val="0"/>
              </a:spcBef>
              <a:buNone/>
            </a:pPr>
            <a:r>
              <a:rPr lang="en-GB" sz="2200" dirty="0" smtClean="0">
                <a:latin typeface="Cambria" panose="02040503050406030204" pitchFamily="18" charset="0"/>
                <a:ea typeface="Cambria" panose="02040503050406030204" pitchFamily="18" charset="0"/>
              </a:rPr>
              <a:t>&lt;/form&gt;  </a:t>
            </a:r>
          </a:p>
          <a:p>
            <a:pPr algn="just">
              <a:lnSpc>
                <a:spcPct val="100000"/>
              </a:lnSpc>
              <a:spcBef>
                <a:spcPts val="0"/>
              </a:spcBef>
            </a:pPr>
            <a:r>
              <a:rPr lang="en-GB" sz="2200" b="1" dirty="0" smtClean="0">
                <a:latin typeface="Cambria" panose="02040503050406030204" pitchFamily="18" charset="0"/>
                <a:ea typeface="Cambria" panose="02040503050406030204" pitchFamily="18" charset="0"/>
              </a:rPr>
              <a:t>welcome.jsp</a:t>
            </a:r>
            <a:endParaRPr lang="en-GB" sz="2200" dirty="0" smtClean="0">
              <a:latin typeface="Cambria" panose="02040503050406030204" pitchFamily="18" charset="0"/>
              <a:ea typeface="Cambria" panose="02040503050406030204" pitchFamily="18" charset="0"/>
            </a:endParaRPr>
          </a:p>
          <a:p>
            <a:pPr algn="just">
              <a:lnSpc>
                <a:spcPct val="100000"/>
              </a:lnSpc>
              <a:spcBef>
                <a:spcPts val="0"/>
              </a:spcBef>
              <a:buNone/>
            </a:pPr>
            <a:r>
              <a:rPr lang="en-GB" sz="2200" b="1" dirty="0" smtClean="0">
                <a:latin typeface="Cambria" panose="02040503050406030204" pitchFamily="18" charset="0"/>
                <a:ea typeface="Cambria" panose="02040503050406030204" pitchFamily="18" charset="0"/>
              </a:rPr>
              <a:t>&lt;</a:t>
            </a:r>
            <a:r>
              <a:rPr lang="en-GB" sz="2200" dirty="0" smtClean="0">
                <a:latin typeface="Cambria" panose="02040503050406030204" pitchFamily="18" charset="0"/>
                <a:ea typeface="Cambria" panose="02040503050406030204" pitchFamily="18" charset="0"/>
              </a:rPr>
              <a:t>%   </a:t>
            </a:r>
          </a:p>
          <a:p>
            <a:pPr algn="just">
              <a:lnSpc>
                <a:spcPct val="100000"/>
              </a:lnSpc>
              <a:spcBef>
                <a:spcPts val="0"/>
              </a:spcBef>
              <a:buNone/>
            </a:pPr>
            <a:r>
              <a:rPr lang="en-GB" sz="2200" dirty="0" err="1" smtClean="0">
                <a:latin typeface="Cambria" panose="02040503050406030204" pitchFamily="18" charset="0"/>
                <a:ea typeface="Cambria" panose="02040503050406030204" pitchFamily="18" charset="0"/>
              </a:rPr>
              <a:t>response.sendRedirect</a:t>
            </a:r>
            <a:r>
              <a:rPr lang="en-GB" sz="2200" dirty="0" smtClean="0">
                <a:latin typeface="Cambria" panose="02040503050406030204" pitchFamily="18" charset="0"/>
                <a:ea typeface="Cambria" panose="02040503050406030204" pitchFamily="18" charset="0"/>
              </a:rPr>
              <a:t>("http://www.google.com");  </a:t>
            </a:r>
          </a:p>
          <a:p>
            <a:pPr algn="just">
              <a:lnSpc>
                <a:spcPct val="100000"/>
              </a:lnSpc>
              <a:spcBef>
                <a:spcPts val="0"/>
              </a:spcBef>
              <a:buNone/>
            </a:pPr>
            <a:r>
              <a:rPr lang="en-GB" sz="2200" dirty="0" smtClean="0">
                <a:latin typeface="Cambria" panose="02040503050406030204" pitchFamily="18" charset="0"/>
                <a:ea typeface="Cambria" panose="02040503050406030204" pitchFamily="18" charset="0"/>
              </a:rPr>
              <a:t>%</a:t>
            </a:r>
            <a:r>
              <a:rPr lang="en-GB" sz="2200" b="1" dirty="0" smtClean="0">
                <a:latin typeface="Cambria" panose="02040503050406030204" pitchFamily="18" charset="0"/>
                <a:ea typeface="Cambria" panose="02040503050406030204" pitchFamily="18" charset="0"/>
              </a:rPr>
              <a:t>&gt;</a:t>
            </a:r>
            <a:r>
              <a:rPr lang="en-GB" sz="2200" dirty="0" smtClean="0">
                <a:latin typeface="Cambria" panose="02040503050406030204" pitchFamily="18" charset="0"/>
                <a:ea typeface="Cambria" panose="02040503050406030204" pitchFamily="18" charset="0"/>
              </a:rPr>
              <a:t>  </a:t>
            </a:r>
          </a:p>
          <a:p>
            <a:pPr algn="just">
              <a:lnSpc>
                <a:spcPct val="100000"/>
              </a:lnSpc>
              <a:spcBef>
                <a:spcPts val="0"/>
              </a:spcBef>
            </a:pPr>
            <a:endParaRPr lang="en-GB" sz="22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lgn="just">
              <a:defRPr/>
            </a:pPr>
            <a:fld id="{A01CA5F2-CD08-4EF5-BAD9-872B7BB27165}" type="slidenum">
              <a:rPr lang="en-US" altLang="en-US" smtClean="0">
                <a:latin typeface="Cambria" panose="02040503050406030204" pitchFamily="18" charset="0"/>
                <a:ea typeface="Cambria" panose="02040503050406030204" pitchFamily="18" charset="0"/>
              </a:rPr>
              <a:pPr algn="just">
                <a:defRPr/>
              </a:pPr>
              <a:t>84</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803"/>
            <a:ext cx="6240016" cy="612885"/>
          </a:xfrm>
        </p:spPr>
        <p:txBody>
          <a:bodyPr/>
          <a:lstStyle/>
          <a:p>
            <a:r>
              <a:rPr lang="en-US" sz="4000" b="1" dirty="0" smtClean="0">
                <a:solidFill>
                  <a:srgbClr val="002060"/>
                </a:solidFill>
                <a:latin typeface="Cambria" panose="02040503050406030204" pitchFamily="18" charset="0"/>
                <a:ea typeface="Cambria" panose="02040503050406030204" pitchFamily="18" charset="0"/>
              </a:rPr>
              <a:t/>
            </a:r>
            <a:br>
              <a:rPr lang="en-US" sz="4000" b="1" dirty="0" smtClean="0">
                <a:solidFill>
                  <a:srgbClr val="002060"/>
                </a:solidFill>
                <a:latin typeface="Cambria" panose="02040503050406030204" pitchFamily="18" charset="0"/>
                <a:ea typeface="Cambria" panose="02040503050406030204" pitchFamily="18" charset="0"/>
              </a:rPr>
            </a:br>
            <a:r>
              <a:rPr lang="en-US" sz="4000" b="1" dirty="0" smtClean="0">
                <a:solidFill>
                  <a:srgbClr val="002060"/>
                </a:solidFill>
                <a:latin typeface="Cambria" panose="02040503050406030204" pitchFamily="18" charset="0"/>
                <a:ea typeface="Cambria" panose="02040503050406030204" pitchFamily="18" charset="0"/>
              </a:rPr>
              <a:t/>
            </a:r>
            <a:br>
              <a:rPr lang="en-US" sz="4000" b="1" dirty="0" smtClean="0">
                <a:solidFill>
                  <a:srgbClr val="002060"/>
                </a:solidFill>
                <a:latin typeface="Cambria" panose="02040503050406030204" pitchFamily="18" charset="0"/>
                <a:ea typeface="Cambria" panose="02040503050406030204" pitchFamily="18" charset="0"/>
              </a:rPr>
            </a:br>
            <a:r>
              <a:rPr lang="en-US" sz="4000" b="1" dirty="0" smtClean="0">
                <a:solidFill>
                  <a:srgbClr val="002060"/>
                </a:solidFill>
                <a:latin typeface="Cambria" panose="02040503050406030204" pitchFamily="18" charset="0"/>
                <a:ea typeface="Cambria" panose="02040503050406030204" pitchFamily="18" charset="0"/>
              </a:rPr>
              <a:t>JSP </a:t>
            </a:r>
            <a:r>
              <a:rPr lang="en-US" sz="4000" b="1" dirty="0" err="1" smtClean="0">
                <a:solidFill>
                  <a:srgbClr val="002060"/>
                </a:solidFill>
                <a:latin typeface="Cambria" panose="02040503050406030204" pitchFamily="18" charset="0"/>
                <a:ea typeface="Cambria" panose="02040503050406030204" pitchFamily="18" charset="0"/>
              </a:rPr>
              <a:t>config</a:t>
            </a:r>
            <a:r>
              <a:rPr lang="en-US" sz="4000" b="1" dirty="0" smtClean="0">
                <a:solidFill>
                  <a:srgbClr val="002060"/>
                </a:solidFill>
                <a:latin typeface="Cambria" panose="02040503050406030204" pitchFamily="18" charset="0"/>
                <a:ea typeface="Cambria" panose="02040503050406030204" pitchFamily="18" charset="0"/>
              </a:rPr>
              <a:t> implicit object</a:t>
            </a:r>
            <a:br>
              <a:rPr lang="en-US" sz="4000" b="1" dirty="0" smtClean="0">
                <a:solidFill>
                  <a:srgbClr val="002060"/>
                </a:solidFill>
                <a:latin typeface="Cambria" panose="02040503050406030204" pitchFamily="18" charset="0"/>
                <a:ea typeface="Cambria" panose="02040503050406030204" pitchFamily="18" charset="0"/>
              </a:rPr>
            </a:br>
            <a:r>
              <a:rPr lang="en-US" sz="4000" b="1" dirty="0" smtClean="0">
                <a:solidFill>
                  <a:srgbClr val="002060"/>
                </a:solidFill>
                <a:latin typeface="Cambria" panose="02040503050406030204" pitchFamily="18" charset="0"/>
                <a:ea typeface="Cambria" panose="02040503050406030204" pitchFamily="18" charset="0"/>
              </a:rPr>
              <a:t/>
            </a:r>
            <a:br>
              <a:rPr lang="en-US" sz="4000" b="1" dirty="0" smtClean="0">
                <a:solidFill>
                  <a:srgbClr val="002060"/>
                </a:solidFill>
                <a:latin typeface="Cambria" panose="02040503050406030204" pitchFamily="18" charset="0"/>
                <a:ea typeface="Cambria" panose="02040503050406030204" pitchFamily="18" charset="0"/>
              </a:rPr>
            </a:br>
            <a:endParaRPr lang="en-US" sz="4000" b="1" dirty="0">
              <a:solidFill>
                <a:srgbClr val="00206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07368" y="692696"/>
            <a:ext cx="4464496" cy="4680519"/>
          </a:xfrm>
        </p:spPr>
        <p:txBody>
          <a:bodyPr/>
          <a:lstStyle/>
          <a:p>
            <a:pPr algn="just"/>
            <a:r>
              <a:rPr lang="en-US" sz="2000" dirty="0" smtClean="0">
                <a:latin typeface="Cambria" panose="02040503050406030204" pitchFamily="18" charset="0"/>
                <a:ea typeface="Cambria" panose="02040503050406030204" pitchFamily="18" charset="0"/>
              </a:rPr>
              <a:t>In JSP, </a:t>
            </a:r>
            <a:r>
              <a:rPr lang="en-US" sz="2000" dirty="0" err="1" smtClean="0">
                <a:latin typeface="Cambria" panose="02040503050406030204" pitchFamily="18" charset="0"/>
                <a:ea typeface="Cambria" panose="02040503050406030204" pitchFamily="18" charset="0"/>
              </a:rPr>
              <a:t>config</a:t>
            </a:r>
            <a:r>
              <a:rPr lang="en-US" sz="2000" dirty="0" smtClean="0">
                <a:latin typeface="Cambria" panose="02040503050406030204" pitchFamily="18" charset="0"/>
                <a:ea typeface="Cambria" panose="02040503050406030204" pitchFamily="18" charset="0"/>
              </a:rPr>
              <a:t> is an implicit object of type </a:t>
            </a:r>
            <a:r>
              <a:rPr lang="en-US" sz="2000" i="1" dirty="0" err="1" smtClean="0">
                <a:latin typeface="Cambria" panose="02040503050406030204" pitchFamily="18" charset="0"/>
                <a:ea typeface="Cambria" panose="02040503050406030204" pitchFamily="18" charset="0"/>
              </a:rPr>
              <a:t>ServletConfig</a:t>
            </a:r>
            <a:r>
              <a:rPr lang="en-US" sz="2000" dirty="0" smtClean="0">
                <a:latin typeface="Cambria" panose="02040503050406030204" pitchFamily="18" charset="0"/>
                <a:ea typeface="Cambria" panose="02040503050406030204" pitchFamily="18" charset="0"/>
              </a:rPr>
              <a:t>. This object can be used to get initialization parameter for a particular JSP page. The </a:t>
            </a:r>
            <a:r>
              <a:rPr lang="en-US" sz="2000" dirty="0" err="1" smtClean="0">
                <a:latin typeface="Cambria" panose="02040503050406030204" pitchFamily="18" charset="0"/>
                <a:ea typeface="Cambria" panose="02040503050406030204" pitchFamily="18" charset="0"/>
              </a:rPr>
              <a:t>config</a:t>
            </a:r>
            <a:r>
              <a:rPr lang="en-US" sz="2000" dirty="0" smtClean="0">
                <a:latin typeface="Cambria" panose="02040503050406030204" pitchFamily="18" charset="0"/>
                <a:ea typeface="Cambria" panose="02040503050406030204" pitchFamily="18" charset="0"/>
              </a:rPr>
              <a:t> object is created by the web container for each </a:t>
            </a:r>
            <a:r>
              <a:rPr lang="en-US" sz="2000" dirty="0" err="1" smtClean="0">
                <a:latin typeface="Cambria" panose="02040503050406030204" pitchFamily="18" charset="0"/>
                <a:ea typeface="Cambria" panose="02040503050406030204" pitchFamily="18" charset="0"/>
              </a:rPr>
              <a:t>jsp</a:t>
            </a:r>
            <a:r>
              <a:rPr lang="en-US" sz="2000" dirty="0" smtClean="0">
                <a:latin typeface="Cambria" panose="02040503050406030204" pitchFamily="18" charset="0"/>
                <a:ea typeface="Cambria" panose="02040503050406030204" pitchFamily="18" charset="0"/>
              </a:rPr>
              <a:t> page.</a:t>
            </a:r>
          </a:p>
          <a:p>
            <a:pPr algn="just"/>
            <a:r>
              <a:rPr lang="en-US" sz="2000" dirty="0" smtClean="0">
                <a:latin typeface="Cambria" panose="02040503050406030204" pitchFamily="18" charset="0"/>
                <a:ea typeface="Cambria" panose="02040503050406030204" pitchFamily="18" charset="0"/>
              </a:rPr>
              <a:t>Generally, it is used to get initialization parameter from the web.xml file.</a:t>
            </a:r>
          </a:p>
          <a:p>
            <a:pPr algn="just"/>
            <a:r>
              <a:rPr lang="en-US" sz="2000" dirty="0" smtClean="0">
                <a:latin typeface="Cambria" panose="02040503050406030204" pitchFamily="18" charset="0"/>
                <a:ea typeface="Cambria" panose="02040503050406030204" pitchFamily="18" charset="0"/>
              </a:rPr>
              <a:t>Example of </a:t>
            </a:r>
            <a:r>
              <a:rPr lang="en-US" sz="2000" dirty="0" err="1" smtClean="0">
                <a:latin typeface="Cambria" panose="02040503050406030204" pitchFamily="18" charset="0"/>
                <a:ea typeface="Cambria" panose="02040503050406030204" pitchFamily="18" charset="0"/>
              </a:rPr>
              <a:t>config</a:t>
            </a:r>
            <a:r>
              <a:rPr lang="en-US" sz="2000" dirty="0" smtClean="0">
                <a:latin typeface="Cambria" panose="02040503050406030204" pitchFamily="18" charset="0"/>
                <a:ea typeface="Cambria" panose="02040503050406030204" pitchFamily="18" charset="0"/>
              </a:rPr>
              <a:t> implicit object:</a:t>
            </a:r>
          </a:p>
          <a:p>
            <a:pPr algn="just"/>
            <a:r>
              <a:rPr lang="en-US" sz="2000" b="1" dirty="0" smtClean="0">
                <a:latin typeface="Cambria" panose="02040503050406030204" pitchFamily="18" charset="0"/>
                <a:ea typeface="Cambria" panose="02040503050406030204" pitchFamily="18" charset="0"/>
              </a:rPr>
              <a:t>index.html</a:t>
            </a:r>
            <a:endParaRPr lang="en-US" sz="2000" dirty="0" smtClean="0">
              <a:latin typeface="Cambria" panose="02040503050406030204" pitchFamily="18" charset="0"/>
              <a:ea typeface="Cambria" panose="02040503050406030204" pitchFamily="18" charset="0"/>
            </a:endParaRPr>
          </a:p>
          <a:p>
            <a:pPr algn="just">
              <a:spcBef>
                <a:spcPts val="0"/>
              </a:spcBef>
              <a:buNone/>
            </a:pPr>
            <a:r>
              <a:rPr lang="en-US" sz="1800" dirty="0" smtClean="0">
                <a:latin typeface="Cambria" panose="02040503050406030204" pitchFamily="18" charset="0"/>
                <a:ea typeface="Cambria" panose="02040503050406030204" pitchFamily="18" charset="0"/>
              </a:rPr>
              <a:t>&lt;form action="welcome"&gt;  </a:t>
            </a:r>
          </a:p>
          <a:p>
            <a:pPr algn="just">
              <a:spcBef>
                <a:spcPts val="0"/>
              </a:spcBef>
              <a:buNone/>
            </a:pPr>
            <a:r>
              <a:rPr lang="en-US" sz="1800" dirty="0" smtClean="0">
                <a:latin typeface="Cambria" panose="02040503050406030204" pitchFamily="18" charset="0"/>
                <a:ea typeface="Cambria" panose="02040503050406030204" pitchFamily="18" charset="0"/>
              </a:rPr>
              <a:t>&lt;input type="text" name="</a:t>
            </a:r>
            <a:r>
              <a:rPr lang="en-US" sz="1800" dirty="0" err="1" smtClean="0">
                <a:latin typeface="Cambria" panose="02040503050406030204" pitchFamily="18" charset="0"/>
                <a:ea typeface="Cambria" panose="02040503050406030204" pitchFamily="18" charset="0"/>
              </a:rPr>
              <a:t>uname</a:t>
            </a:r>
            <a:r>
              <a:rPr lang="en-US" sz="1800" dirty="0" smtClean="0">
                <a:latin typeface="Cambria" panose="02040503050406030204" pitchFamily="18" charset="0"/>
                <a:ea typeface="Cambria" panose="02040503050406030204" pitchFamily="18" charset="0"/>
              </a:rPr>
              <a:t>"&gt;  </a:t>
            </a:r>
          </a:p>
          <a:p>
            <a:pPr algn="just">
              <a:spcBef>
                <a:spcPts val="0"/>
              </a:spcBef>
              <a:buNone/>
            </a:pPr>
            <a:r>
              <a:rPr lang="en-US" sz="1800" dirty="0" smtClean="0">
                <a:latin typeface="Cambria" panose="02040503050406030204" pitchFamily="18" charset="0"/>
                <a:ea typeface="Cambria" panose="02040503050406030204" pitchFamily="18" charset="0"/>
              </a:rPr>
              <a:t>&lt;input type="submit" value="go"&gt;&lt;</a:t>
            </a:r>
            <a:r>
              <a:rPr lang="en-US" sz="1800" dirty="0" err="1" smtClean="0">
                <a:latin typeface="Cambria" panose="02040503050406030204" pitchFamily="18" charset="0"/>
                <a:ea typeface="Cambria" panose="02040503050406030204" pitchFamily="18" charset="0"/>
              </a:rPr>
              <a:t>br</a:t>
            </a:r>
            <a:r>
              <a:rPr lang="en-US" sz="1800" dirty="0" smtClean="0">
                <a:latin typeface="Cambria" panose="02040503050406030204" pitchFamily="18" charset="0"/>
                <a:ea typeface="Cambria" panose="02040503050406030204" pitchFamily="18" charset="0"/>
              </a:rPr>
              <a:t>/&gt;  </a:t>
            </a:r>
          </a:p>
          <a:p>
            <a:pPr algn="just">
              <a:spcBef>
                <a:spcPts val="0"/>
              </a:spcBef>
              <a:buNone/>
            </a:pPr>
            <a:r>
              <a:rPr lang="en-US" sz="1800" dirty="0" smtClean="0">
                <a:latin typeface="Cambria" panose="02040503050406030204" pitchFamily="18" charset="0"/>
                <a:ea typeface="Cambria" panose="02040503050406030204" pitchFamily="18" charset="0"/>
              </a:rPr>
              <a:t>&lt;/form&gt; </a:t>
            </a:r>
            <a:r>
              <a:rPr lang="en-US" sz="1600" dirty="0" smtClean="0">
                <a:latin typeface="Cambria" panose="02040503050406030204" pitchFamily="18" charset="0"/>
                <a:ea typeface="Cambria" panose="02040503050406030204" pitchFamily="18" charset="0"/>
              </a:rPr>
              <a:t> </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85</a:t>
            </a:fld>
            <a:endParaRPr lang="en-US" altLang="en-US">
              <a:latin typeface="Cambria" panose="02040503050406030204" pitchFamily="18" charset="0"/>
              <a:ea typeface="Cambria" panose="02040503050406030204" pitchFamily="18" charset="0"/>
            </a:endParaRPr>
          </a:p>
        </p:txBody>
      </p:sp>
      <p:sp>
        <p:nvSpPr>
          <p:cNvPr id="5" name="Rectangle 4"/>
          <p:cNvSpPr/>
          <p:nvPr/>
        </p:nvSpPr>
        <p:spPr>
          <a:xfrm>
            <a:off x="5879976" y="-26477"/>
            <a:ext cx="6312024" cy="6093976"/>
          </a:xfrm>
          <a:prstGeom prst="rect">
            <a:avLst/>
          </a:prstGeom>
        </p:spPr>
        <p:txBody>
          <a:bodyPr wrap="square">
            <a:spAutoFit/>
          </a:bodyPr>
          <a:lstStyle/>
          <a:p>
            <a:pPr algn="just">
              <a:spcBef>
                <a:spcPts val="0"/>
              </a:spcBef>
            </a:pPr>
            <a:r>
              <a:rPr lang="en-US" sz="2400" b="1" dirty="0">
                <a:solidFill>
                  <a:schemeClr val="accent5"/>
                </a:solidFill>
                <a:latin typeface="Cambria" panose="02040503050406030204" pitchFamily="18" charset="0"/>
                <a:ea typeface="Cambria" panose="02040503050406030204" pitchFamily="18" charset="0"/>
              </a:rPr>
              <a:t>web.xml file</a:t>
            </a:r>
          </a:p>
          <a:p>
            <a:pPr algn="just">
              <a:spcBef>
                <a:spcPts val="0"/>
              </a:spcBef>
              <a:buNone/>
            </a:pPr>
            <a:r>
              <a:rPr lang="en-US" dirty="0">
                <a:latin typeface="Cambria" panose="02040503050406030204" pitchFamily="18" charset="0"/>
                <a:ea typeface="Cambria" panose="02040503050406030204" pitchFamily="18" charset="0"/>
              </a:rPr>
              <a:t>&lt;web-app&gt;  </a:t>
            </a:r>
          </a:p>
          <a:p>
            <a:pPr algn="just">
              <a:spcBef>
                <a:spcPts val="0"/>
              </a:spcBef>
              <a:buNone/>
            </a:pPr>
            <a:r>
              <a:rPr lang="en-US" dirty="0">
                <a:latin typeface="Cambria" panose="02040503050406030204" pitchFamily="18" charset="0"/>
                <a:ea typeface="Cambria" panose="02040503050406030204" pitchFamily="18" charset="0"/>
              </a:rPr>
              <a:t>&lt;servlet&gt;  </a:t>
            </a:r>
          </a:p>
          <a:p>
            <a:pPr algn="just">
              <a:spcBef>
                <a:spcPts val="0"/>
              </a:spcBef>
              <a:buNone/>
            </a:pPr>
            <a:r>
              <a:rPr lang="en-US" dirty="0">
                <a:latin typeface="Cambria" panose="02040503050406030204" pitchFamily="18" charset="0"/>
                <a:ea typeface="Cambria" panose="02040503050406030204" pitchFamily="18" charset="0"/>
              </a:rPr>
              <a:t>&lt;</a:t>
            </a:r>
            <a:r>
              <a:rPr lang="en-US" dirty="0" smtClean="0">
                <a:latin typeface="Cambria" panose="02040503050406030204" pitchFamily="18" charset="0"/>
                <a:ea typeface="Cambria" panose="02040503050406030204" pitchFamily="18" charset="0"/>
              </a:rPr>
              <a:t>servlet-name&gt;xyz&lt;/</a:t>
            </a:r>
            <a:r>
              <a:rPr lang="en-US" dirty="0">
                <a:latin typeface="Cambria" panose="02040503050406030204" pitchFamily="18" charset="0"/>
                <a:ea typeface="Cambria" panose="02040503050406030204" pitchFamily="18" charset="0"/>
              </a:rPr>
              <a:t>servlet-name&gt;  </a:t>
            </a:r>
          </a:p>
          <a:p>
            <a:pPr algn="just">
              <a:spcBef>
                <a:spcPts val="0"/>
              </a:spcBef>
              <a:buNone/>
            </a:pPr>
            <a:r>
              <a:rPr lang="en-US" dirty="0">
                <a:latin typeface="Cambria" panose="02040503050406030204" pitchFamily="18" charset="0"/>
                <a:ea typeface="Cambria" panose="02040503050406030204" pitchFamily="18" charset="0"/>
              </a:rPr>
              <a:t>&lt;jsp-file&gt;/welcome.jsp&lt;/jsp-file&gt;  </a:t>
            </a:r>
          </a:p>
          <a:p>
            <a:pPr algn="just">
              <a:spcBef>
                <a:spcPts val="0"/>
              </a:spcBef>
              <a:buNone/>
            </a:pPr>
            <a:r>
              <a:rPr lang="en-US" dirty="0">
                <a:latin typeface="Cambria" panose="02040503050406030204" pitchFamily="18" charset="0"/>
                <a:ea typeface="Cambria" panose="02040503050406030204" pitchFamily="18" charset="0"/>
              </a:rPr>
              <a:t>&lt;init-param&gt;  </a:t>
            </a:r>
          </a:p>
          <a:p>
            <a:pPr algn="just">
              <a:spcBef>
                <a:spcPts val="0"/>
              </a:spcBef>
              <a:buNone/>
            </a:pPr>
            <a:r>
              <a:rPr lang="en-US" dirty="0">
                <a:latin typeface="Cambria" panose="02040503050406030204" pitchFamily="18" charset="0"/>
                <a:ea typeface="Cambria" panose="02040503050406030204" pitchFamily="18" charset="0"/>
              </a:rPr>
              <a:t>&lt;param-name&gt;dname&lt;/param-name&gt;  </a:t>
            </a:r>
          </a:p>
          <a:p>
            <a:pPr algn="just">
              <a:spcBef>
                <a:spcPts val="0"/>
              </a:spcBef>
              <a:buNone/>
            </a:pPr>
            <a:r>
              <a:rPr lang="en-US" dirty="0">
                <a:latin typeface="Cambria" panose="02040503050406030204" pitchFamily="18" charset="0"/>
                <a:ea typeface="Cambria" panose="02040503050406030204" pitchFamily="18" charset="0"/>
              </a:rPr>
              <a:t>&lt;</a:t>
            </a:r>
            <a:r>
              <a:rPr lang="en-US" dirty="0" smtClean="0">
                <a:latin typeface="Cambria" panose="02040503050406030204" pitchFamily="18" charset="0"/>
                <a:ea typeface="Cambria" panose="02040503050406030204" pitchFamily="18" charset="0"/>
              </a:rPr>
              <a:t>param-value&gt;sun.jdbc.odbc.JdbcOdbcDriver</a:t>
            </a:r>
            <a:r>
              <a:rPr lang="en-US" dirty="0">
                <a:latin typeface="Cambria" panose="02040503050406030204" pitchFamily="18" charset="0"/>
                <a:ea typeface="Cambria" panose="02040503050406030204" pitchFamily="18" charset="0"/>
              </a:rPr>
              <a:t>&lt;/param-value&gt;  </a:t>
            </a:r>
          </a:p>
          <a:p>
            <a:pPr algn="just">
              <a:spcBef>
                <a:spcPts val="0"/>
              </a:spcBef>
              <a:buNone/>
            </a:pPr>
            <a:r>
              <a:rPr lang="en-US" dirty="0">
                <a:latin typeface="Cambria" panose="02040503050406030204" pitchFamily="18" charset="0"/>
                <a:ea typeface="Cambria" panose="02040503050406030204" pitchFamily="18" charset="0"/>
              </a:rPr>
              <a:t>&lt;/init-param&gt;    </a:t>
            </a:r>
          </a:p>
          <a:p>
            <a:pPr algn="just">
              <a:spcBef>
                <a:spcPts val="0"/>
              </a:spcBef>
              <a:buNone/>
            </a:pPr>
            <a:r>
              <a:rPr lang="en-US" dirty="0">
                <a:latin typeface="Cambria" panose="02040503050406030204" pitchFamily="18" charset="0"/>
                <a:ea typeface="Cambria" panose="02040503050406030204" pitchFamily="18" charset="0"/>
              </a:rPr>
              <a:t>&lt;/servlet&gt;   </a:t>
            </a:r>
          </a:p>
          <a:p>
            <a:pPr algn="just">
              <a:spcBef>
                <a:spcPts val="0"/>
              </a:spcBef>
              <a:buNone/>
            </a:pPr>
            <a:r>
              <a:rPr lang="en-US" dirty="0">
                <a:latin typeface="Cambria" panose="02040503050406030204" pitchFamily="18" charset="0"/>
                <a:ea typeface="Cambria" panose="02040503050406030204" pitchFamily="18" charset="0"/>
              </a:rPr>
              <a:t>&lt;servlet-mapping&gt;  </a:t>
            </a:r>
          </a:p>
          <a:p>
            <a:pPr algn="just">
              <a:spcBef>
                <a:spcPts val="0"/>
              </a:spcBef>
              <a:buNone/>
            </a:pPr>
            <a:r>
              <a:rPr lang="en-US" dirty="0">
                <a:latin typeface="Cambria" panose="02040503050406030204" pitchFamily="18" charset="0"/>
                <a:ea typeface="Cambria" panose="02040503050406030204" pitchFamily="18" charset="0"/>
              </a:rPr>
              <a:t>&lt;</a:t>
            </a:r>
            <a:r>
              <a:rPr lang="en-US" dirty="0" smtClean="0">
                <a:latin typeface="Cambria" panose="02040503050406030204" pitchFamily="18" charset="0"/>
                <a:ea typeface="Cambria" panose="02040503050406030204" pitchFamily="18" charset="0"/>
              </a:rPr>
              <a:t>servlet-name&gt;xyz&lt;/</a:t>
            </a:r>
            <a:r>
              <a:rPr lang="en-US" dirty="0">
                <a:latin typeface="Cambria" panose="02040503050406030204" pitchFamily="18" charset="0"/>
                <a:ea typeface="Cambria" panose="02040503050406030204" pitchFamily="18" charset="0"/>
              </a:rPr>
              <a:t>servlet-name&gt;  </a:t>
            </a:r>
          </a:p>
          <a:p>
            <a:pPr algn="just">
              <a:spcBef>
                <a:spcPts val="0"/>
              </a:spcBef>
              <a:buNone/>
            </a:pPr>
            <a:r>
              <a:rPr lang="en-US" dirty="0">
                <a:latin typeface="Cambria" panose="02040503050406030204" pitchFamily="18" charset="0"/>
                <a:ea typeface="Cambria" panose="02040503050406030204" pitchFamily="18" charset="0"/>
              </a:rPr>
              <a:t>&lt;url-pattern&gt;/welcome&lt;/url-pattern&gt;  </a:t>
            </a:r>
          </a:p>
          <a:p>
            <a:pPr algn="just">
              <a:spcBef>
                <a:spcPts val="0"/>
              </a:spcBef>
              <a:buNone/>
            </a:pPr>
            <a:r>
              <a:rPr lang="en-US" dirty="0">
                <a:latin typeface="Cambria" panose="02040503050406030204" pitchFamily="18" charset="0"/>
                <a:ea typeface="Cambria" panose="02040503050406030204" pitchFamily="18" charset="0"/>
              </a:rPr>
              <a:t>&lt;/servlet-mapping</a:t>
            </a:r>
            <a:r>
              <a:rPr lang="en-US" b="1" dirty="0">
                <a:latin typeface="Cambria" panose="02040503050406030204" pitchFamily="18" charset="0"/>
                <a:ea typeface="Cambria" panose="02040503050406030204" pitchFamily="18" charset="0"/>
              </a:rPr>
              <a:t>&gt;</a:t>
            </a:r>
            <a:r>
              <a:rPr lang="en-US" sz="2400" dirty="0">
                <a:latin typeface="Cambria" panose="02040503050406030204" pitchFamily="18" charset="0"/>
                <a:ea typeface="Cambria" panose="02040503050406030204" pitchFamily="18" charset="0"/>
              </a:rPr>
              <a:t>  </a:t>
            </a:r>
          </a:p>
          <a:p>
            <a:pPr algn="just">
              <a:spcBef>
                <a:spcPts val="0"/>
              </a:spcBef>
              <a:buNone/>
            </a:pPr>
            <a:r>
              <a:rPr lang="en-US" dirty="0">
                <a:latin typeface="Cambria" panose="02040503050406030204" pitchFamily="18" charset="0"/>
                <a:ea typeface="Cambria" panose="02040503050406030204" pitchFamily="18" charset="0"/>
              </a:rPr>
              <a:t>&lt;/web-app&gt;  </a:t>
            </a:r>
          </a:p>
          <a:p>
            <a:pPr algn="just">
              <a:spcBef>
                <a:spcPts val="0"/>
              </a:spcBef>
              <a:buNone/>
            </a:pPr>
            <a:r>
              <a:rPr lang="en-US" sz="2000" b="1" dirty="0">
                <a:solidFill>
                  <a:schemeClr val="accent5"/>
                </a:solidFill>
                <a:latin typeface="Cambria" panose="02040503050406030204" pitchFamily="18" charset="0"/>
                <a:ea typeface="Cambria" panose="02040503050406030204" pitchFamily="18" charset="0"/>
              </a:rPr>
              <a:t>welcome.jsp</a:t>
            </a:r>
          </a:p>
          <a:p>
            <a:pPr algn="just">
              <a:spcBef>
                <a:spcPts val="0"/>
              </a:spcBef>
              <a:buNone/>
            </a:pPr>
            <a:r>
              <a:rPr lang="en-US" dirty="0">
                <a:latin typeface="Cambria" panose="02040503050406030204" pitchFamily="18" charset="0"/>
                <a:ea typeface="Cambria" panose="02040503050406030204" pitchFamily="18" charset="0"/>
              </a:rPr>
              <a:t>&lt;%   </a:t>
            </a:r>
          </a:p>
          <a:p>
            <a:pPr algn="just">
              <a:spcBef>
                <a:spcPts val="0"/>
              </a:spcBef>
              <a:buNone/>
            </a:pPr>
            <a:r>
              <a:rPr lang="en-US" dirty="0">
                <a:latin typeface="Cambria" panose="02040503050406030204" pitchFamily="18" charset="0"/>
                <a:ea typeface="Cambria" panose="02040503050406030204" pitchFamily="18" charset="0"/>
              </a:rPr>
              <a:t>out.print("Welcome "+request.getParameter("uname"));  </a:t>
            </a:r>
          </a:p>
          <a:p>
            <a:pPr algn="just">
              <a:spcBef>
                <a:spcPts val="0"/>
              </a:spcBef>
              <a:buNone/>
            </a:pPr>
            <a:r>
              <a:rPr lang="en-US" dirty="0">
                <a:latin typeface="Cambria" panose="02040503050406030204" pitchFamily="18" charset="0"/>
                <a:ea typeface="Cambria" panose="02040503050406030204" pitchFamily="18" charset="0"/>
              </a:rPr>
              <a:t>String driver=config.getInitParameter("dname");  </a:t>
            </a:r>
          </a:p>
          <a:p>
            <a:pPr algn="just">
              <a:spcBef>
                <a:spcPts val="0"/>
              </a:spcBef>
              <a:buNone/>
            </a:pPr>
            <a:r>
              <a:rPr lang="en-US" dirty="0">
                <a:latin typeface="Cambria" panose="02040503050406030204" pitchFamily="18" charset="0"/>
                <a:ea typeface="Cambria" panose="02040503050406030204" pitchFamily="18" charset="0"/>
              </a:rPr>
              <a:t>out.print("driver name is="+driver);  </a:t>
            </a:r>
          </a:p>
          <a:p>
            <a:pPr algn="just">
              <a:spcBef>
                <a:spcPts val="0"/>
              </a:spcBef>
              <a:buNone/>
            </a:pPr>
            <a:r>
              <a:rPr lang="en-US" dirty="0">
                <a:latin typeface="Cambria" panose="02040503050406030204" pitchFamily="18" charset="0"/>
                <a:ea typeface="Cambria" panose="02040503050406030204" pitchFamily="18" charset="0"/>
              </a:rPr>
              <a:t>%&gt;  </a:t>
            </a:r>
          </a:p>
        </p:txBody>
      </p:sp>
    </p:spTree>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488832" cy="498168"/>
          </a:xfrm>
        </p:spPr>
        <p:txBody>
          <a:bodyPr/>
          <a:lstStyle/>
          <a:p>
            <a:r>
              <a:rPr lang="en-US" sz="3200" b="1" dirty="0" smtClean="0">
                <a:solidFill>
                  <a:srgbClr val="002060"/>
                </a:solidFill>
                <a:latin typeface="Cambria" panose="02040503050406030204" pitchFamily="18" charset="0"/>
                <a:ea typeface="Cambria" panose="02040503050406030204" pitchFamily="18" charset="0"/>
              </a:rPr>
              <a:t/>
            </a:r>
            <a:br>
              <a:rPr lang="en-US" sz="3200" b="1" dirty="0" smtClean="0">
                <a:solidFill>
                  <a:srgbClr val="002060"/>
                </a:solidFill>
                <a:latin typeface="Cambria" panose="02040503050406030204" pitchFamily="18" charset="0"/>
                <a:ea typeface="Cambria" panose="02040503050406030204" pitchFamily="18" charset="0"/>
              </a:rPr>
            </a:br>
            <a:r>
              <a:rPr lang="en-US" sz="3200" b="1" dirty="0" smtClean="0">
                <a:solidFill>
                  <a:srgbClr val="002060"/>
                </a:solidFill>
                <a:latin typeface="Cambria" panose="02040503050406030204" pitchFamily="18" charset="0"/>
                <a:ea typeface="Cambria" panose="02040503050406030204" pitchFamily="18" charset="0"/>
              </a:rPr>
              <a:t/>
            </a:r>
            <a:br>
              <a:rPr lang="en-US" sz="3200" b="1" dirty="0" smtClean="0">
                <a:solidFill>
                  <a:srgbClr val="002060"/>
                </a:solidFill>
                <a:latin typeface="Cambria" panose="02040503050406030204" pitchFamily="18" charset="0"/>
                <a:ea typeface="Cambria" panose="02040503050406030204" pitchFamily="18" charset="0"/>
              </a:rPr>
            </a:br>
            <a:r>
              <a:rPr lang="en-US" sz="3200" b="1" dirty="0" smtClean="0">
                <a:solidFill>
                  <a:srgbClr val="002060"/>
                </a:solidFill>
                <a:latin typeface="Cambria" panose="02040503050406030204" pitchFamily="18" charset="0"/>
                <a:ea typeface="Cambria" panose="02040503050406030204" pitchFamily="18" charset="0"/>
              </a:rPr>
              <a:t>JSP application implicit object</a:t>
            </a:r>
            <a:br>
              <a:rPr lang="en-US" sz="3200" b="1" dirty="0" smtClean="0">
                <a:solidFill>
                  <a:srgbClr val="002060"/>
                </a:solidFill>
                <a:latin typeface="Cambria" panose="02040503050406030204" pitchFamily="18" charset="0"/>
                <a:ea typeface="Cambria" panose="02040503050406030204" pitchFamily="18" charset="0"/>
              </a:rPr>
            </a:br>
            <a:r>
              <a:rPr lang="en-US" sz="3200" b="1" dirty="0" smtClean="0">
                <a:solidFill>
                  <a:srgbClr val="002060"/>
                </a:solidFill>
                <a:latin typeface="Cambria" panose="02040503050406030204" pitchFamily="18" charset="0"/>
                <a:ea typeface="Cambria" panose="02040503050406030204" pitchFamily="18" charset="0"/>
              </a:rPr>
              <a:t/>
            </a:r>
            <a:br>
              <a:rPr lang="en-US" sz="3200" b="1" dirty="0" smtClean="0">
                <a:solidFill>
                  <a:srgbClr val="002060"/>
                </a:solidFill>
                <a:latin typeface="Cambria" panose="02040503050406030204" pitchFamily="18" charset="0"/>
                <a:ea typeface="Cambria" panose="02040503050406030204" pitchFamily="18" charset="0"/>
              </a:rPr>
            </a:br>
            <a:endParaRPr lang="en-US" sz="3200" b="1" dirty="0">
              <a:solidFill>
                <a:srgbClr val="00206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191344" y="523836"/>
            <a:ext cx="5688632" cy="5248293"/>
          </a:xfrm>
        </p:spPr>
        <p:txBody>
          <a:bodyPr/>
          <a:lstStyle/>
          <a:p>
            <a:pPr algn="just"/>
            <a:r>
              <a:rPr lang="en-GB" sz="1800" dirty="0" smtClean="0">
                <a:latin typeface="Cambria" panose="02040503050406030204" pitchFamily="18" charset="0"/>
                <a:ea typeface="Cambria" panose="02040503050406030204" pitchFamily="18" charset="0"/>
              </a:rPr>
              <a:t>In JSP, application is an implicit object of type </a:t>
            </a:r>
            <a:r>
              <a:rPr lang="en-GB" sz="1800" i="1" dirty="0" err="1" smtClean="0">
                <a:latin typeface="Cambria" panose="02040503050406030204" pitchFamily="18" charset="0"/>
                <a:ea typeface="Cambria" panose="02040503050406030204" pitchFamily="18" charset="0"/>
              </a:rPr>
              <a:t>ServletContext</a:t>
            </a:r>
            <a:r>
              <a:rPr lang="en-GB" sz="1800" dirty="0" smtClean="0">
                <a:latin typeface="Cambria" panose="02040503050406030204" pitchFamily="18" charset="0"/>
                <a:ea typeface="Cambria" panose="02040503050406030204" pitchFamily="18" charset="0"/>
              </a:rPr>
              <a:t>.</a:t>
            </a:r>
          </a:p>
          <a:p>
            <a:pPr algn="just"/>
            <a:r>
              <a:rPr lang="en-GB" sz="1800" dirty="0" smtClean="0">
                <a:latin typeface="Cambria" panose="02040503050406030204" pitchFamily="18" charset="0"/>
                <a:ea typeface="Cambria" panose="02040503050406030204" pitchFamily="18" charset="0"/>
              </a:rPr>
              <a:t>The instance of </a:t>
            </a:r>
            <a:r>
              <a:rPr lang="en-GB" sz="1800" dirty="0" err="1" smtClean="0">
                <a:latin typeface="Cambria" panose="02040503050406030204" pitchFamily="18" charset="0"/>
                <a:ea typeface="Cambria" panose="02040503050406030204" pitchFamily="18" charset="0"/>
              </a:rPr>
              <a:t>ServletContext</a:t>
            </a:r>
            <a:r>
              <a:rPr lang="en-GB" sz="1800" dirty="0" smtClean="0">
                <a:latin typeface="Cambria" panose="02040503050406030204" pitchFamily="18" charset="0"/>
                <a:ea typeface="Cambria" panose="02040503050406030204" pitchFamily="18" charset="0"/>
              </a:rPr>
              <a:t> is created only once by the web container when application or project is deployed on the server.</a:t>
            </a:r>
          </a:p>
          <a:p>
            <a:pPr algn="just"/>
            <a:r>
              <a:rPr lang="en-GB" sz="1800" dirty="0" smtClean="0">
                <a:latin typeface="Cambria" panose="02040503050406030204" pitchFamily="18" charset="0"/>
                <a:ea typeface="Cambria" panose="02040503050406030204" pitchFamily="18" charset="0"/>
              </a:rPr>
              <a:t>This object can be used to get initialization parameter from configuration file (web.xml). It can also be used to get, set or remove attribute from the application scope.</a:t>
            </a:r>
          </a:p>
          <a:p>
            <a:pPr algn="just"/>
            <a:r>
              <a:rPr lang="en-GB" sz="1800" dirty="0" smtClean="0">
                <a:latin typeface="Cambria" panose="02040503050406030204" pitchFamily="18" charset="0"/>
                <a:ea typeface="Cambria" panose="02040503050406030204" pitchFamily="18" charset="0"/>
              </a:rPr>
              <a:t>This initialization parameter can be used by all </a:t>
            </a:r>
            <a:r>
              <a:rPr lang="en-GB" sz="1800" dirty="0" err="1" smtClean="0">
                <a:latin typeface="Cambria" panose="02040503050406030204" pitchFamily="18" charset="0"/>
                <a:ea typeface="Cambria" panose="02040503050406030204" pitchFamily="18" charset="0"/>
              </a:rPr>
              <a:t>jsp</a:t>
            </a:r>
            <a:r>
              <a:rPr lang="en-GB" sz="1800" dirty="0" smtClean="0">
                <a:latin typeface="Cambria" panose="02040503050406030204" pitchFamily="18" charset="0"/>
                <a:ea typeface="Cambria" panose="02040503050406030204" pitchFamily="18" charset="0"/>
              </a:rPr>
              <a:t> pages.</a:t>
            </a:r>
          </a:p>
          <a:p>
            <a:pPr algn="just"/>
            <a:r>
              <a:rPr lang="en-US" sz="1800" dirty="0" smtClean="0">
                <a:latin typeface="Cambria" panose="02040503050406030204" pitchFamily="18" charset="0"/>
                <a:ea typeface="Cambria" panose="02040503050406030204" pitchFamily="18" charset="0"/>
              </a:rPr>
              <a:t>Example of application implicit object:</a:t>
            </a:r>
          </a:p>
          <a:p>
            <a:pPr algn="just"/>
            <a:r>
              <a:rPr lang="en-US" sz="1800" b="1" u="sng" dirty="0" smtClean="0">
                <a:latin typeface="Cambria" panose="02040503050406030204" pitchFamily="18" charset="0"/>
                <a:ea typeface="Cambria" panose="02040503050406030204" pitchFamily="18" charset="0"/>
              </a:rPr>
              <a:t>index.html</a:t>
            </a:r>
            <a:endParaRPr lang="en-US" sz="1800" u="sng" dirty="0" smtClean="0">
              <a:latin typeface="Cambria" panose="02040503050406030204" pitchFamily="18" charset="0"/>
              <a:ea typeface="Cambria" panose="02040503050406030204" pitchFamily="18" charset="0"/>
            </a:endParaRPr>
          </a:p>
          <a:p>
            <a:pPr algn="just">
              <a:spcBef>
                <a:spcPts val="0"/>
              </a:spcBef>
              <a:buNone/>
            </a:pPr>
            <a:r>
              <a:rPr lang="en-US" sz="1800" dirty="0" smtClean="0">
                <a:latin typeface="Cambria" panose="02040503050406030204" pitchFamily="18" charset="0"/>
                <a:ea typeface="Cambria" panose="02040503050406030204" pitchFamily="18" charset="0"/>
              </a:rPr>
              <a:t>&lt;form action="welcome"&gt;  </a:t>
            </a:r>
          </a:p>
          <a:p>
            <a:pPr algn="just">
              <a:spcBef>
                <a:spcPts val="0"/>
              </a:spcBef>
              <a:buNone/>
            </a:pPr>
            <a:r>
              <a:rPr lang="en-US" sz="1800" dirty="0" smtClean="0">
                <a:latin typeface="Cambria" panose="02040503050406030204" pitchFamily="18" charset="0"/>
                <a:ea typeface="Cambria" panose="02040503050406030204" pitchFamily="18" charset="0"/>
              </a:rPr>
              <a:t>&lt;input type="text" name="</a:t>
            </a:r>
            <a:r>
              <a:rPr lang="en-US" sz="1800" dirty="0" err="1" smtClean="0">
                <a:latin typeface="Cambria" panose="02040503050406030204" pitchFamily="18" charset="0"/>
                <a:ea typeface="Cambria" panose="02040503050406030204" pitchFamily="18" charset="0"/>
              </a:rPr>
              <a:t>uname</a:t>
            </a:r>
            <a:r>
              <a:rPr lang="en-US" sz="1800" dirty="0" smtClean="0">
                <a:latin typeface="Cambria" panose="02040503050406030204" pitchFamily="18" charset="0"/>
                <a:ea typeface="Cambria" panose="02040503050406030204" pitchFamily="18" charset="0"/>
              </a:rPr>
              <a:t>"&gt;  </a:t>
            </a:r>
          </a:p>
          <a:p>
            <a:pPr algn="just">
              <a:spcBef>
                <a:spcPts val="0"/>
              </a:spcBef>
              <a:buNone/>
            </a:pPr>
            <a:r>
              <a:rPr lang="en-US" sz="1800" dirty="0" smtClean="0">
                <a:latin typeface="Cambria" panose="02040503050406030204" pitchFamily="18" charset="0"/>
                <a:ea typeface="Cambria" panose="02040503050406030204" pitchFamily="18" charset="0"/>
              </a:rPr>
              <a:t>&lt;input type="submit" value="go"&gt;&lt;</a:t>
            </a:r>
            <a:r>
              <a:rPr lang="en-US" sz="1800" dirty="0" err="1" smtClean="0">
                <a:latin typeface="Cambria" panose="02040503050406030204" pitchFamily="18" charset="0"/>
                <a:ea typeface="Cambria" panose="02040503050406030204" pitchFamily="18" charset="0"/>
              </a:rPr>
              <a:t>br</a:t>
            </a:r>
            <a:r>
              <a:rPr lang="en-US" sz="1800" dirty="0" smtClean="0">
                <a:latin typeface="Cambria" panose="02040503050406030204" pitchFamily="18" charset="0"/>
                <a:ea typeface="Cambria" panose="02040503050406030204" pitchFamily="18" charset="0"/>
              </a:rPr>
              <a:t>/&gt;  </a:t>
            </a:r>
          </a:p>
          <a:p>
            <a:pPr algn="just">
              <a:spcBef>
                <a:spcPts val="0"/>
              </a:spcBef>
              <a:buNone/>
            </a:pPr>
            <a:r>
              <a:rPr lang="en-US" sz="1800" dirty="0" smtClean="0">
                <a:latin typeface="Cambria" panose="02040503050406030204" pitchFamily="18" charset="0"/>
                <a:ea typeface="Cambria" panose="02040503050406030204" pitchFamily="18" charset="0"/>
              </a:rPr>
              <a:t>&lt;/form&gt;  </a:t>
            </a:r>
          </a:p>
          <a:p>
            <a:pPr algn="just">
              <a:spcBef>
                <a:spcPts val="0"/>
              </a:spcBef>
              <a:buNone/>
            </a:pPr>
            <a:r>
              <a:rPr lang="en-US" sz="1800" dirty="0" smtClean="0">
                <a:latin typeface="Cambria" panose="02040503050406030204" pitchFamily="18" charset="0"/>
                <a:ea typeface="Cambria" panose="02040503050406030204" pitchFamily="18" charset="0"/>
              </a:rPr>
              <a:t> </a:t>
            </a:r>
          </a:p>
          <a:p>
            <a:pPr algn="just"/>
            <a:endParaRPr lang="en-GB" sz="1800" dirty="0" smtClean="0">
              <a:latin typeface="Cambria" panose="02040503050406030204" pitchFamily="18" charset="0"/>
              <a:ea typeface="Cambria" panose="02040503050406030204" pitchFamily="18" charset="0"/>
            </a:endParaRPr>
          </a:p>
          <a:p>
            <a:pPr algn="just">
              <a:buNone/>
            </a:pPr>
            <a:endParaRPr lang="en-US" sz="1800" dirty="0" smtClean="0">
              <a:latin typeface="Cambria" panose="02040503050406030204" pitchFamily="18" charset="0"/>
              <a:ea typeface="Cambria" panose="02040503050406030204" pitchFamily="18" charset="0"/>
            </a:endParaRPr>
          </a:p>
          <a:p>
            <a:pPr algn="just">
              <a:buNone/>
            </a:pPr>
            <a:r>
              <a:rPr lang="en-US" sz="2400" dirty="0" smtClean="0">
                <a:latin typeface="Cambria" panose="02040503050406030204" pitchFamily="18" charset="0"/>
                <a:ea typeface="Cambria" panose="02040503050406030204" pitchFamily="18" charset="0"/>
              </a:rPr>
              <a:t> </a:t>
            </a:r>
          </a:p>
          <a:p>
            <a:pPr algn="just">
              <a:buNone/>
            </a:pPr>
            <a:endParaRPr lang="en-US" sz="24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86</a:t>
            </a:fld>
            <a:endParaRPr lang="en-US" altLang="en-US">
              <a:latin typeface="Cambria" panose="02040503050406030204" pitchFamily="18" charset="0"/>
              <a:ea typeface="Cambria" panose="02040503050406030204" pitchFamily="18" charset="0"/>
            </a:endParaRPr>
          </a:p>
        </p:txBody>
      </p:sp>
      <p:sp>
        <p:nvSpPr>
          <p:cNvPr id="5" name="Rectangle 4"/>
          <p:cNvSpPr/>
          <p:nvPr/>
        </p:nvSpPr>
        <p:spPr>
          <a:xfrm>
            <a:off x="6240016" y="0"/>
            <a:ext cx="5951984" cy="6186309"/>
          </a:xfrm>
          <a:prstGeom prst="rect">
            <a:avLst/>
          </a:prstGeom>
        </p:spPr>
        <p:txBody>
          <a:bodyPr wrap="square">
            <a:spAutoFit/>
          </a:bodyPr>
          <a:lstStyle/>
          <a:p>
            <a:pPr algn="just">
              <a:spcBef>
                <a:spcPts val="0"/>
              </a:spcBef>
              <a:buNone/>
            </a:pPr>
            <a:r>
              <a:rPr lang="en-US" b="1" u="sng" dirty="0">
                <a:latin typeface="Cambria" panose="02040503050406030204" pitchFamily="18" charset="0"/>
                <a:ea typeface="Cambria" panose="02040503050406030204" pitchFamily="18" charset="0"/>
              </a:rPr>
              <a:t>web.xml file</a:t>
            </a:r>
            <a:endParaRPr lang="en-US" u="sng" dirty="0">
              <a:latin typeface="Cambria" panose="02040503050406030204" pitchFamily="18" charset="0"/>
              <a:ea typeface="Cambria" panose="02040503050406030204" pitchFamily="18" charset="0"/>
            </a:endParaRPr>
          </a:p>
          <a:p>
            <a:pPr algn="just">
              <a:spcBef>
                <a:spcPts val="0"/>
              </a:spcBef>
              <a:buNone/>
            </a:pPr>
            <a:r>
              <a:rPr lang="en-US" dirty="0">
                <a:latin typeface="Cambria" panose="02040503050406030204" pitchFamily="18" charset="0"/>
                <a:ea typeface="Cambria" panose="02040503050406030204" pitchFamily="18" charset="0"/>
              </a:rPr>
              <a:t>&lt;web-app&gt;    </a:t>
            </a:r>
          </a:p>
          <a:p>
            <a:pPr algn="just">
              <a:spcBef>
                <a:spcPts val="0"/>
              </a:spcBef>
              <a:buNone/>
            </a:pPr>
            <a:r>
              <a:rPr lang="en-US" dirty="0">
                <a:latin typeface="Cambria" panose="02040503050406030204" pitchFamily="18" charset="0"/>
                <a:ea typeface="Cambria" panose="02040503050406030204" pitchFamily="18" charset="0"/>
              </a:rPr>
              <a:t>&lt;servlet&gt;  </a:t>
            </a:r>
          </a:p>
          <a:p>
            <a:pPr algn="just">
              <a:spcBef>
                <a:spcPts val="0"/>
              </a:spcBef>
              <a:buNone/>
            </a:pPr>
            <a:r>
              <a:rPr lang="en-US" dirty="0">
                <a:latin typeface="Cambria" panose="02040503050406030204" pitchFamily="18" charset="0"/>
                <a:ea typeface="Cambria" panose="02040503050406030204" pitchFamily="18" charset="0"/>
              </a:rPr>
              <a:t>&lt;servlet-name&gt;sonoojaiswal&lt;/servlet-name&gt;  </a:t>
            </a:r>
          </a:p>
          <a:p>
            <a:pPr algn="just">
              <a:spcBef>
                <a:spcPts val="0"/>
              </a:spcBef>
              <a:buNone/>
            </a:pPr>
            <a:r>
              <a:rPr lang="en-US" dirty="0">
                <a:latin typeface="Cambria" panose="02040503050406030204" pitchFamily="18" charset="0"/>
                <a:ea typeface="Cambria" panose="02040503050406030204" pitchFamily="18" charset="0"/>
              </a:rPr>
              <a:t>&lt;jsp-file&gt;/welcome.jsp&lt;/jsp-file&gt;  </a:t>
            </a:r>
          </a:p>
          <a:p>
            <a:pPr algn="just">
              <a:spcBef>
                <a:spcPts val="0"/>
              </a:spcBef>
              <a:buNone/>
            </a:pPr>
            <a:r>
              <a:rPr lang="en-US" dirty="0">
                <a:latin typeface="Cambria" panose="02040503050406030204" pitchFamily="18" charset="0"/>
                <a:ea typeface="Cambria" panose="02040503050406030204" pitchFamily="18" charset="0"/>
              </a:rPr>
              <a:t>&lt;/servlet&gt;    </a:t>
            </a:r>
          </a:p>
          <a:p>
            <a:pPr algn="just">
              <a:spcBef>
                <a:spcPts val="0"/>
              </a:spcBef>
              <a:buNone/>
            </a:pPr>
            <a:r>
              <a:rPr lang="en-US" dirty="0">
                <a:latin typeface="Cambria" panose="02040503050406030204" pitchFamily="18" charset="0"/>
                <a:ea typeface="Cambria" panose="02040503050406030204" pitchFamily="18" charset="0"/>
              </a:rPr>
              <a:t>&lt;servlet-mapping&gt;  </a:t>
            </a:r>
          </a:p>
          <a:p>
            <a:pPr algn="just">
              <a:spcBef>
                <a:spcPts val="0"/>
              </a:spcBef>
              <a:buNone/>
            </a:pPr>
            <a:r>
              <a:rPr lang="en-US" dirty="0">
                <a:latin typeface="Cambria" panose="02040503050406030204" pitchFamily="18" charset="0"/>
                <a:ea typeface="Cambria" panose="02040503050406030204" pitchFamily="18" charset="0"/>
              </a:rPr>
              <a:t>&lt;servlet-name&gt;sonoojaiswal&lt;/servlet-name&gt;  </a:t>
            </a:r>
          </a:p>
          <a:p>
            <a:pPr algn="just">
              <a:spcBef>
                <a:spcPts val="0"/>
              </a:spcBef>
              <a:buNone/>
            </a:pPr>
            <a:r>
              <a:rPr lang="en-US" dirty="0">
                <a:latin typeface="Cambria" panose="02040503050406030204" pitchFamily="18" charset="0"/>
                <a:ea typeface="Cambria" panose="02040503050406030204" pitchFamily="18" charset="0"/>
              </a:rPr>
              <a:t>&lt;url-pattern&gt;/welcome&lt;/url-pattern&gt;  </a:t>
            </a:r>
          </a:p>
          <a:p>
            <a:pPr algn="just">
              <a:spcBef>
                <a:spcPts val="0"/>
              </a:spcBef>
              <a:buNone/>
            </a:pPr>
            <a:r>
              <a:rPr lang="en-US" dirty="0">
                <a:latin typeface="Cambria" panose="02040503050406030204" pitchFamily="18" charset="0"/>
                <a:ea typeface="Cambria" panose="02040503050406030204" pitchFamily="18" charset="0"/>
              </a:rPr>
              <a:t>&lt;/servlet-mapping&gt;    </a:t>
            </a:r>
          </a:p>
          <a:p>
            <a:pPr algn="just">
              <a:spcBef>
                <a:spcPts val="0"/>
              </a:spcBef>
              <a:buNone/>
            </a:pPr>
            <a:r>
              <a:rPr lang="en-US" dirty="0">
                <a:latin typeface="Cambria" panose="02040503050406030204" pitchFamily="18" charset="0"/>
                <a:ea typeface="Cambria" panose="02040503050406030204" pitchFamily="18" charset="0"/>
              </a:rPr>
              <a:t>&lt;context-param&gt;  </a:t>
            </a:r>
          </a:p>
          <a:p>
            <a:pPr algn="just">
              <a:spcBef>
                <a:spcPts val="0"/>
              </a:spcBef>
              <a:buNone/>
            </a:pPr>
            <a:r>
              <a:rPr lang="en-US" dirty="0">
                <a:latin typeface="Cambria" panose="02040503050406030204" pitchFamily="18" charset="0"/>
                <a:ea typeface="Cambria" panose="02040503050406030204" pitchFamily="18" charset="0"/>
              </a:rPr>
              <a:t>&lt;param-name&gt;dname&lt;/param-name&gt;  </a:t>
            </a:r>
          </a:p>
          <a:p>
            <a:pPr algn="just">
              <a:spcBef>
                <a:spcPts val="0"/>
              </a:spcBef>
              <a:buNone/>
            </a:pPr>
            <a:r>
              <a:rPr lang="en-US" dirty="0">
                <a:latin typeface="Cambria" panose="02040503050406030204" pitchFamily="18" charset="0"/>
                <a:ea typeface="Cambria" panose="02040503050406030204" pitchFamily="18" charset="0"/>
              </a:rPr>
              <a:t>&lt;param-value&gt;sun.jdbc.odbc.JdbcOdbcDriver&lt;/param-value&gt;  </a:t>
            </a:r>
          </a:p>
          <a:p>
            <a:pPr algn="just">
              <a:spcBef>
                <a:spcPts val="0"/>
              </a:spcBef>
              <a:buNone/>
            </a:pPr>
            <a:r>
              <a:rPr lang="en-US" dirty="0">
                <a:latin typeface="Cambria" panose="02040503050406030204" pitchFamily="18" charset="0"/>
                <a:ea typeface="Cambria" panose="02040503050406030204" pitchFamily="18" charset="0"/>
              </a:rPr>
              <a:t>&lt;/context-param&gt;    </a:t>
            </a:r>
          </a:p>
          <a:p>
            <a:pPr algn="just">
              <a:spcBef>
                <a:spcPts val="0"/>
              </a:spcBef>
              <a:buNone/>
            </a:pPr>
            <a:r>
              <a:rPr lang="en-US" dirty="0">
                <a:latin typeface="Cambria" panose="02040503050406030204" pitchFamily="18" charset="0"/>
                <a:ea typeface="Cambria" panose="02040503050406030204" pitchFamily="18" charset="0"/>
              </a:rPr>
              <a:t>&lt;/web-app&gt;  </a:t>
            </a:r>
          </a:p>
          <a:p>
            <a:pPr algn="just">
              <a:spcBef>
                <a:spcPts val="0"/>
              </a:spcBef>
              <a:buNone/>
            </a:pPr>
            <a:r>
              <a:rPr lang="en-US" b="1" u="sng" dirty="0">
                <a:latin typeface="Cambria" panose="02040503050406030204" pitchFamily="18" charset="0"/>
                <a:ea typeface="Cambria" panose="02040503050406030204" pitchFamily="18" charset="0"/>
              </a:rPr>
              <a:t>welcome.jsp</a:t>
            </a:r>
            <a:endParaRPr lang="en-US" u="sng" dirty="0">
              <a:latin typeface="Cambria" panose="02040503050406030204" pitchFamily="18" charset="0"/>
              <a:ea typeface="Cambria" panose="02040503050406030204" pitchFamily="18" charset="0"/>
            </a:endParaRPr>
          </a:p>
          <a:p>
            <a:pPr algn="just">
              <a:spcBef>
                <a:spcPts val="0"/>
              </a:spcBef>
              <a:buNone/>
            </a:pPr>
            <a:r>
              <a:rPr lang="en-US" b="1" dirty="0">
                <a:latin typeface="Cambria" panose="02040503050406030204" pitchFamily="18" charset="0"/>
                <a:ea typeface="Cambria" panose="02040503050406030204" pitchFamily="18" charset="0"/>
              </a:rPr>
              <a:t>&lt;</a:t>
            </a:r>
            <a:r>
              <a:rPr lang="en-US" dirty="0">
                <a:latin typeface="Cambria" panose="02040503050406030204" pitchFamily="18" charset="0"/>
                <a:ea typeface="Cambria" panose="02040503050406030204" pitchFamily="18" charset="0"/>
              </a:rPr>
              <a:t>%     </a:t>
            </a:r>
          </a:p>
          <a:p>
            <a:pPr algn="just">
              <a:spcBef>
                <a:spcPts val="0"/>
              </a:spcBef>
              <a:buNone/>
            </a:pPr>
            <a:r>
              <a:rPr lang="en-US" dirty="0">
                <a:latin typeface="Cambria" panose="02040503050406030204" pitchFamily="18" charset="0"/>
                <a:ea typeface="Cambria" panose="02040503050406030204" pitchFamily="18" charset="0"/>
              </a:rPr>
              <a:t>out.print("Welcome "+request.getParameter("uname</a:t>
            </a:r>
            <a:r>
              <a:rPr lang="en-US" dirty="0" smtClean="0">
                <a:latin typeface="Cambria" panose="02040503050406030204" pitchFamily="18" charset="0"/>
                <a:ea typeface="Cambria" panose="02040503050406030204" pitchFamily="18" charset="0"/>
              </a:rPr>
              <a:t>"));</a:t>
            </a:r>
            <a:r>
              <a:rPr lang="en-US" dirty="0">
                <a:latin typeface="Cambria" panose="02040503050406030204" pitchFamily="18" charset="0"/>
                <a:ea typeface="Cambria" panose="02040503050406030204" pitchFamily="18" charset="0"/>
              </a:rPr>
              <a:t> </a:t>
            </a:r>
          </a:p>
          <a:p>
            <a:pPr algn="just">
              <a:spcBef>
                <a:spcPts val="0"/>
              </a:spcBef>
              <a:buNone/>
            </a:pPr>
            <a:r>
              <a:rPr lang="en-US" dirty="0">
                <a:latin typeface="Cambria" panose="02040503050406030204" pitchFamily="18" charset="0"/>
                <a:ea typeface="Cambria" panose="02040503050406030204" pitchFamily="18" charset="0"/>
              </a:rPr>
              <a:t>String driver=application.getInitParameter("dname");  </a:t>
            </a:r>
          </a:p>
          <a:p>
            <a:pPr algn="just">
              <a:spcBef>
                <a:spcPts val="0"/>
              </a:spcBef>
              <a:buNone/>
            </a:pPr>
            <a:r>
              <a:rPr lang="en-US" dirty="0">
                <a:latin typeface="Cambria" panose="02040503050406030204" pitchFamily="18" charset="0"/>
                <a:ea typeface="Cambria" panose="02040503050406030204" pitchFamily="18" charset="0"/>
              </a:rPr>
              <a:t>out.print("driver name is="+driver);    </a:t>
            </a:r>
          </a:p>
          <a:p>
            <a:pPr algn="just">
              <a:spcBef>
                <a:spcPts val="0"/>
              </a:spcBef>
              <a:buNone/>
            </a:pPr>
            <a:r>
              <a:rPr lang="en-US" dirty="0">
                <a:latin typeface="Cambria" panose="02040503050406030204" pitchFamily="18" charset="0"/>
                <a:ea typeface="Cambria" panose="02040503050406030204" pitchFamily="18" charset="0"/>
              </a:rPr>
              <a:t>%</a:t>
            </a:r>
            <a:r>
              <a:rPr lang="en-US" b="1" dirty="0">
                <a:latin typeface="Cambria" panose="02040503050406030204" pitchFamily="18" charset="0"/>
                <a:ea typeface="Cambria" panose="02040503050406030204" pitchFamily="18" charset="0"/>
              </a:rPr>
              <a:t>&gt;</a:t>
            </a:r>
            <a:r>
              <a:rPr lang="en-US" dirty="0">
                <a:latin typeface="Cambria" panose="02040503050406030204" pitchFamily="18" charset="0"/>
                <a:ea typeface="Cambria" panose="02040503050406030204" pitchFamily="18" charset="0"/>
              </a:rPr>
              <a:t> </a:t>
            </a:r>
            <a:endParaRPr lang="en-US" dirty="0"/>
          </a:p>
        </p:txBody>
      </p:sp>
    </p:spTree>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78" y="8348"/>
            <a:ext cx="5130770" cy="504056"/>
          </a:xfrm>
        </p:spPr>
        <p:txBody>
          <a:bodyPr/>
          <a:lstStyle/>
          <a:p>
            <a:r>
              <a:rPr lang="en-US" sz="3600" b="1" dirty="0" smtClean="0">
                <a:solidFill>
                  <a:schemeClr val="accent5"/>
                </a:solidFill>
                <a:latin typeface="Cambria" panose="02040503050406030204" pitchFamily="18" charset="0"/>
                <a:ea typeface="Cambria" panose="02040503050406030204" pitchFamily="18" charset="0"/>
              </a:rPr>
              <a:t/>
            </a:r>
            <a:br>
              <a:rPr lang="en-US" sz="3600" b="1" dirty="0" smtClean="0">
                <a:solidFill>
                  <a:schemeClr val="accent5"/>
                </a:solidFill>
                <a:latin typeface="Cambria" panose="02040503050406030204" pitchFamily="18" charset="0"/>
                <a:ea typeface="Cambria" panose="02040503050406030204" pitchFamily="18" charset="0"/>
              </a:rPr>
            </a:br>
            <a:r>
              <a:rPr lang="en-US" sz="3600" b="1" dirty="0" smtClean="0">
                <a:solidFill>
                  <a:schemeClr val="accent5"/>
                </a:solidFill>
                <a:latin typeface="Cambria" panose="02040503050406030204" pitchFamily="18" charset="0"/>
                <a:ea typeface="Cambria" panose="02040503050406030204" pitchFamily="18" charset="0"/>
              </a:rPr>
              <a:t/>
            </a:r>
            <a:br>
              <a:rPr lang="en-US" sz="3600" b="1" dirty="0" smtClean="0">
                <a:solidFill>
                  <a:schemeClr val="accent5"/>
                </a:solidFill>
                <a:latin typeface="Cambria" panose="02040503050406030204" pitchFamily="18" charset="0"/>
                <a:ea typeface="Cambria" panose="02040503050406030204" pitchFamily="18" charset="0"/>
              </a:rPr>
            </a:br>
            <a:r>
              <a:rPr lang="en-US" sz="3600" b="1" dirty="0" smtClean="0">
                <a:solidFill>
                  <a:schemeClr val="accent5"/>
                </a:solidFill>
                <a:latin typeface="Cambria" panose="02040503050406030204" pitchFamily="18" charset="0"/>
                <a:ea typeface="Cambria" panose="02040503050406030204" pitchFamily="18" charset="0"/>
              </a:rPr>
              <a:t>session implicit object</a:t>
            </a:r>
            <a:br>
              <a:rPr lang="en-US" sz="3600" b="1" dirty="0" smtClean="0">
                <a:solidFill>
                  <a:schemeClr val="accent5"/>
                </a:solidFill>
                <a:latin typeface="Cambria" panose="02040503050406030204" pitchFamily="18" charset="0"/>
                <a:ea typeface="Cambria" panose="02040503050406030204" pitchFamily="18" charset="0"/>
              </a:rPr>
            </a:br>
            <a:r>
              <a:rPr lang="en-US" sz="3600" b="1" dirty="0" smtClean="0">
                <a:solidFill>
                  <a:schemeClr val="accent5"/>
                </a:solidFill>
                <a:latin typeface="Cambria" panose="02040503050406030204" pitchFamily="18" charset="0"/>
                <a:ea typeface="Cambria" panose="02040503050406030204" pitchFamily="18" charset="0"/>
              </a:rPr>
              <a:t/>
            </a:r>
            <a:br>
              <a:rPr lang="en-US" sz="3600" b="1" dirty="0" smtClean="0">
                <a:solidFill>
                  <a:schemeClr val="accent5"/>
                </a:solidFill>
                <a:latin typeface="Cambria" panose="02040503050406030204" pitchFamily="18" charset="0"/>
                <a:ea typeface="Cambria" panose="02040503050406030204" pitchFamily="18" charset="0"/>
              </a:rPr>
            </a:br>
            <a:endParaRPr lang="en-US" sz="3600" b="1" dirty="0">
              <a:solidFill>
                <a:schemeClr val="accent5"/>
              </a:solidFill>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87</a:t>
            </a:fld>
            <a:endParaRPr lang="en-US" altLang="en-US">
              <a:latin typeface="Cambria" panose="02040503050406030204" pitchFamily="18" charset="0"/>
              <a:ea typeface="Cambria" panose="02040503050406030204" pitchFamily="18" charset="0"/>
            </a:endParaRPr>
          </a:p>
        </p:txBody>
      </p:sp>
      <p:sp>
        <p:nvSpPr>
          <p:cNvPr id="5" name="Content Placeholder 4"/>
          <p:cNvSpPr>
            <a:spLocks noGrp="1"/>
          </p:cNvSpPr>
          <p:nvPr>
            <p:ph idx="1"/>
          </p:nvPr>
        </p:nvSpPr>
        <p:spPr>
          <a:xfrm>
            <a:off x="191344" y="620688"/>
            <a:ext cx="5472608" cy="4351338"/>
          </a:xfrm>
        </p:spPr>
        <p:txBody>
          <a:bodyPr/>
          <a:lstStyle/>
          <a:p>
            <a:pPr algn="just"/>
            <a:r>
              <a:rPr lang="en-US" sz="2000" dirty="0" smtClean="0">
                <a:latin typeface="Cambria" panose="02040503050406030204" pitchFamily="18" charset="0"/>
                <a:ea typeface="Cambria" panose="02040503050406030204" pitchFamily="18" charset="0"/>
              </a:rPr>
              <a:t>In JSP, session is an implicit object of type HttpSession. The Java developer can use this object to set, get or remove attribute or to get session information. Example of session implicit object</a:t>
            </a:r>
            <a:endParaRPr lang="en-US" dirty="0" smtClean="0">
              <a:latin typeface="Cambria" panose="02040503050406030204" pitchFamily="18" charset="0"/>
              <a:ea typeface="Cambria" panose="02040503050406030204" pitchFamily="18" charset="0"/>
            </a:endParaRPr>
          </a:p>
          <a:p>
            <a:pPr marL="0" indent="0" algn="just">
              <a:buNone/>
            </a:pPr>
            <a:r>
              <a:rPr lang="en-US" sz="2000" b="1" u="sng" dirty="0" smtClean="0">
                <a:solidFill>
                  <a:schemeClr val="accent5"/>
                </a:solidFill>
                <a:latin typeface="Cambria" panose="02040503050406030204" pitchFamily="18" charset="0"/>
                <a:ea typeface="Cambria" panose="02040503050406030204" pitchFamily="18" charset="0"/>
              </a:rPr>
              <a:t>index.html</a:t>
            </a:r>
          </a:p>
          <a:p>
            <a:pPr algn="just">
              <a:spcBef>
                <a:spcPts val="0"/>
              </a:spcBef>
              <a:buNone/>
            </a:pPr>
            <a:r>
              <a:rPr lang="en-US" sz="2000" dirty="0" smtClean="0">
                <a:latin typeface="Cambria" panose="02040503050406030204" pitchFamily="18" charset="0"/>
                <a:ea typeface="Cambria" panose="02040503050406030204" pitchFamily="18" charset="0"/>
              </a:rPr>
              <a:t>&lt;html&gt;  </a:t>
            </a:r>
          </a:p>
          <a:p>
            <a:pPr algn="just">
              <a:spcBef>
                <a:spcPts val="0"/>
              </a:spcBef>
              <a:buNone/>
            </a:pPr>
            <a:r>
              <a:rPr lang="en-US" sz="2000" dirty="0" smtClean="0">
                <a:latin typeface="Cambria" panose="02040503050406030204" pitchFamily="18" charset="0"/>
                <a:ea typeface="Cambria" panose="02040503050406030204" pitchFamily="18" charset="0"/>
              </a:rPr>
              <a:t>&lt;body&gt;  </a:t>
            </a:r>
          </a:p>
          <a:p>
            <a:pPr algn="just">
              <a:spcBef>
                <a:spcPts val="0"/>
              </a:spcBef>
              <a:buNone/>
            </a:pPr>
            <a:r>
              <a:rPr lang="en-US" sz="2000" dirty="0" smtClean="0">
                <a:latin typeface="Cambria" panose="02040503050406030204" pitchFamily="18" charset="0"/>
                <a:ea typeface="Cambria" panose="02040503050406030204" pitchFamily="18" charset="0"/>
              </a:rPr>
              <a:t>&lt;form action="welcome.jsp"&gt;  </a:t>
            </a:r>
          </a:p>
          <a:p>
            <a:pPr algn="just">
              <a:spcBef>
                <a:spcPts val="0"/>
              </a:spcBef>
              <a:buNone/>
            </a:pPr>
            <a:r>
              <a:rPr lang="en-US" sz="2000" dirty="0" smtClean="0">
                <a:latin typeface="Cambria" panose="02040503050406030204" pitchFamily="18" charset="0"/>
                <a:ea typeface="Cambria" panose="02040503050406030204" pitchFamily="18" charset="0"/>
              </a:rPr>
              <a:t>&lt;input type="text" name="</a:t>
            </a:r>
            <a:r>
              <a:rPr lang="en-US" sz="2000" dirty="0" err="1" smtClean="0">
                <a:latin typeface="Cambria" panose="02040503050406030204" pitchFamily="18" charset="0"/>
                <a:ea typeface="Cambria" panose="02040503050406030204" pitchFamily="18" charset="0"/>
              </a:rPr>
              <a:t>uname</a:t>
            </a:r>
            <a:r>
              <a:rPr lang="en-US" sz="2000" dirty="0" smtClean="0">
                <a:latin typeface="Cambria" panose="02040503050406030204" pitchFamily="18" charset="0"/>
                <a:ea typeface="Cambria" panose="02040503050406030204" pitchFamily="18" charset="0"/>
              </a:rPr>
              <a:t>"&gt;  </a:t>
            </a:r>
          </a:p>
          <a:p>
            <a:pPr algn="just">
              <a:spcBef>
                <a:spcPts val="0"/>
              </a:spcBef>
              <a:buNone/>
            </a:pPr>
            <a:r>
              <a:rPr lang="en-US" sz="2000" dirty="0" smtClean="0">
                <a:latin typeface="Cambria" panose="02040503050406030204" pitchFamily="18" charset="0"/>
                <a:ea typeface="Cambria" panose="02040503050406030204" pitchFamily="18" charset="0"/>
              </a:rPr>
              <a:t>&lt;input type="submit" value="go"&gt;&lt;</a:t>
            </a:r>
            <a:r>
              <a:rPr lang="en-US" sz="2000" dirty="0" err="1" smtClean="0">
                <a:latin typeface="Cambria" panose="02040503050406030204" pitchFamily="18" charset="0"/>
                <a:ea typeface="Cambria" panose="02040503050406030204" pitchFamily="18" charset="0"/>
              </a:rPr>
              <a:t>br</a:t>
            </a:r>
            <a:r>
              <a:rPr lang="en-US" sz="2000" dirty="0" smtClean="0">
                <a:latin typeface="Cambria" panose="02040503050406030204" pitchFamily="18" charset="0"/>
                <a:ea typeface="Cambria" panose="02040503050406030204" pitchFamily="18" charset="0"/>
              </a:rPr>
              <a:t>/&gt;  </a:t>
            </a:r>
          </a:p>
          <a:p>
            <a:pPr algn="just">
              <a:spcBef>
                <a:spcPts val="0"/>
              </a:spcBef>
              <a:buNone/>
            </a:pPr>
            <a:r>
              <a:rPr lang="en-US" sz="2000" dirty="0" smtClean="0">
                <a:latin typeface="Cambria" panose="02040503050406030204" pitchFamily="18" charset="0"/>
                <a:ea typeface="Cambria" panose="02040503050406030204" pitchFamily="18" charset="0"/>
              </a:rPr>
              <a:t>&lt;/form&gt;  </a:t>
            </a:r>
          </a:p>
          <a:p>
            <a:pPr algn="just">
              <a:spcBef>
                <a:spcPts val="0"/>
              </a:spcBef>
              <a:buNone/>
            </a:pPr>
            <a:r>
              <a:rPr lang="en-US" sz="2000" dirty="0" smtClean="0">
                <a:latin typeface="Cambria" panose="02040503050406030204" pitchFamily="18" charset="0"/>
                <a:ea typeface="Cambria" panose="02040503050406030204" pitchFamily="18" charset="0"/>
              </a:rPr>
              <a:t>&lt;/body&gt;  </a:t>
            </a:r>
          </a:p>
          <a:p>
            <a:pPr algn="just">
              <a:spcBef>
                <a:spcPts val="0"/>
              </a:spcBef>
              <a:buNone/>
            </a:pPr>
            <a:r>
              <a:rPr lang="en-US" sz="2000" dirty="0" smtClean="0">
                <a:latin typeface="Cambria" panose="02040503050406030204" pitchFamily="18" charset="0"/>
                <a:ea typeface="Cambria" panose="02040503050406030204" pitchFamily="18" charset="0"/>
              </a:rPr>
              <a:t>&lt;/html&gt;  </a:t>
            </a:r>
          </a:p>
        </p:txBody>
      </p:sp>
      <p:sp>
        <p:nvSpPr>
          <p:cNvPr id="3" name="Rectangle 2"/>
          <p:cNvSpPr/>
          <p:nvPr/>
        </p:nvSpPr>
        <p:spPr>
          <a:xfrm>
            <a:off x="5982308" y="8348"/>
            <a:ext cx="5256584" cy="5693866"/>
          </a:xfrm>
          <a:prstGeom prst="rect">
            <a:avLst/>
          </a:prstGeom>
        </p:spPr>
        <p:txBody>
          <a:bodyPr wrap="square">
            <a:spAutoFit/>
          </a:bodyPr>
          <a:lstStyle/>
          <a:p>
            <a:pPr>
              <a:spcBef>
                <a:spcPts val="0"/>
              </a:spcBef>
              <a:buNone/>
            </a:pPr>
            <a:r>
              <a:rPr lang="en-US" sz="2000" b="1" u="sng" dirty="0">
                <a:solidFill>
                  <a:schemeClr val="accent5"/>
                </a:solidFill>
                <a:latin typeface="Cambria" panose="02040503050406030204" pitchFamily="18" charset="0"/>
                <a:ea typeface="Cambria" panose="02040503050406030204" pitchFamily="18" charset="0"/>
              </a:rPr>
              <a:t>welcome.jsp</a:t>
            </a:r>
          </a:p>
          <a:p>
            <a:pPr>
              <a:spcBef>
                <a:spcPts val="0"/>
              </a:spcBef>
              <a:buNone/>
            </a:pPr>
            <a:r>
              <a:rPr lang="en-US" dirty="0">
                <a:latin typeface="Cambria" panose="02040503050406030204" pitchFamily="18" charset="0"/>
                <a:ea typeface="Cambria" panose="02040503050406030204" pitchFamily="18" charset="0"/>
              </a:rPr>
              <a:t>&lt;html&gt;  </a:t>
            </a:r>
          </a:p>
          <a:p>
            <a:pPr>
              <a:spcBef>
                <a:spcPts val="0"/>
              </a:spcBef>
              <a:buNone/>
            </a:pPr>
            <a:r>
              <a:rPr lang="en-US" dirty="0">
                <a:latin typeface="Cambria" panose="02040503050406030204" pitchFamily="18" charset="0"/>
                <a:ea typeface="Cambria" panose="02040503050406030204" pitchFamily="18" charset="0"/>
              </a:rPr>
              <a:t>&lt;body&gt;  </a:t>
            </a:r>
          </a:p>
          <a:p>
            <a:pPr>
              <a:spcBef>
                <a:spcPts val="0"/>
              </a:spcBef>
              <a:buNone/>
            </a:pPr>
            <a:r>
              <a:rPr lang="en-US" dirty="0">
                <a:latin typeface="Cambria" panose="02040503050406030204" pitchFamily="18" charset="0"/>
                <a:ea typeface="Cambria" panose="02040503050406030204" pitchFamily="18" charset="0"/>
              </a:rPr>
              <a:t>&lt;%     </a:t>
            </a:r>
          </a:p>
          <a:p>
            <a:pPr>
              <a:spcBef>
                <a:spcPts val="0"/>
              </a:spcBef>
              <a:buNone/>
            </a:pPr>
            <a:r>
              <a:rPr lang="en-US" dirty="0">
                <a:latin typeface="Cambria" panose="02040503050406030204" pitchFamily="18" charset="0"/>
                <a:ea typeface="Cambria" panose="02040503050406030204" pitchFamily="18" charset="0"/>
              </a:rPr>
              <a:t>String name=request.getParameter("uname");  </a:t>
            </a:r>
          </a:p>
          <a:p>
            <a:pPr>
              <a:spcBef>
                <a:spcPts val="0"/>
              </a:spcBef>
              <a:buNone/>
            </a:pPr>
            <a:r>
              <a:rPr lang="en-US" dirty="0">
                <a:latin typeface="Cambria" panose="02040503050406030204" pitchFamily="18" charset="0"/>
                <a:ea typeface="Cambria" panose="02040503050406030204" pitchFamily="18" charset="0"/>
              </a:rPr>
              <a:t>out.print("Welcome "+name);    </a:t>
            </a:r>
          </a:p>
          <a:p>
            <a:pPr>
              <a:spcBef>
                <a:spcPts val="0"/>
              </a:spcBef>
              <a:buNone/>
            </a:pPr>
            <a:r>
              <a:rPr lang="en-US" dirty="0">
                <a:latin typeface="Cambria" panose="02040503050406030204" pitchFamily="18" charset="0"/>
                <a:ea typeface="Cambria" panose="02040503050406030204" pitchFamily="18" charset="0"/>
              </a:rPr>
              <a:t>session.setAttribute("user",name);    </a:t>
            </a:r>
          </a:p>
          <a:p>
            <a:pPr>
              <a:spcBef>
                <a:spcPts val="0"/>
              </a:spcBef>
              <a:buNone/>
            </a:pPr>
            <a:r>
              <a:rPr lang="en-US" dirty="0">
                <a:latin typeface="Cambria" panose="02040503050406030204" pitchFamily="18" charset="0"/>
                <a:ea typeface="Cambria" panose="02040503050406030204" pitchFamily="18" charset="0"/>
              </a:rPr>
              <a:t>&lt;a href="second.jsp"&gt;second jsp page&lt;/a&gt;    </a:t>
            </a:r>
          </a:p>
          <a:p>
            <a:pPr>
              <a:spcBef>
                <a:spcPts val="0"/>
              </a:spcBef>
              <a:buNone/>
            </a:pPr>
            <a:r>
              <a:rPr lang="en-US" dirty="0">
                <a:latin typeface="Cambria" panose="02040503050406030204" pitchFamily="18" charset="0"/>
                <a:ea typeface="Cambria" panose="02040503050406030204" pitchFamily="18" charset="0"/>
              </a:rPr>
              <a:t>%&gt;  </a:t>
            </a:r>
          </a:p>
          <a:p>
            <a:pPr>
              <a:spcBef>
                <a:spcPts val="0"/>
              </a:spcBef>
              <a:buNone/>
            </a:pPr>
            <a:r>
              <a:rPr lang="en-US" dirty="0">
                <a:latin typeface="Cambria" panose="02040503050406030204" pitchFamily="18" charset="0"/>
                <a:ea typeface="Cambria" panose="02040503050406030204" pitchFamily="18" charset="0"/>
              </a:rPr>
              <a:t>&lt;/body&gt;  </a:t>
            </a:r>
          </a:p>
          <a:p>
            <a:pPr>
              <a:spcBef>
                <a:spcPts val="0"/>
              </a:spcBef>
              <a:buNone/>
            </a:pPr>
            <a:r>
              <a:rPr lang="en-US" dirty="0">
                <a:latin typeface="Cambria" panose="02040503050406030204" pitchFamily="18" charset="0"/>
                <a:ea typeface="Cambria" panose="02040503050406030204" pitchFamily="18" charset="0"/>
              </a:rPr>
              <a:t>&lt;/html&gt;  </a:t>
            </a:r>
          </a:p>
          <a:p>
            <a:pPr>
              <a:spcBef>
                <a:spcPts val="0"/>
              </a:spcBef>
              <a:buNone/>
            </a:pPr>
            <a:r>
              <a:rPr lang="en-US" sz="2000" b="1" u="sng" dirty="0">
                <a:solidFill>
                  <a:schemeClr val="accent5"/>
                </a:solidFill>
                <a:latin typeface="Cambria" panose="02040503050406030204" pitchFamily="18" charset="0"/>
                <a:ea typeface="Cambria" panose="02040503050406030204" pitchFamily="18" charset="0"/>
              </a:rPr>
              <a:t>second.jsp</a:t>
            </a:r>
          </a:p>
          <a:p>
            <a:pPr>
              <a:spcBef>
                <a:spcPts val="0"/>
              </a:spcBef>
              <a:buNone/>
            </a:pPr>
            <a:r>
              <a:rPr lang="en-US" dirty="0">
                <a:latin typeface="Cambria" panose="02040503050406030204" pitchFamily="18" charset="0"/>
                <a:ea typeface="Cambria" panose="02040503050406030204" pitchFamily="18" charset="0"/>
              </a:rPr>
              <a:t>&lt;html&gt;  </a:t>
            </a:r>
          </a:p>
          <a:p>
            <a:pPr>
              <a:spcBef>
                <a:spcPts val="0"/>
              </a:spcBef>
              <a:buNone/>
            </a:pPr>
            <a:r>
              <a:rPr lang="en-US" dirty="0">
                <a:latin typeface="Cambria" panose="02040503050406030204" pitchFamily="18" charset="0"/>
                <a:ea typeface="Cambria" panose="02040503050406030204" pitchFamily="18" charset="0"/>
              </a:rPr>
              <a:t>&lt;body&gt;  </a:t>
            </a:r>
          </a:p>
          <a:p>
            <a:pPr>
              <a:spcBef>
                <a:spcPts val="0"/>
              </a:spcBef>
              <a:buNone/>
            </a:pPr>
            <a:r>
              <a:rPr lang="en-US" dirty="0">
                <a:latin typeface="Cambria" panose="02040503050406030204" pitchFamily="18" charset="0"/>
                <a:ea typeface="Cambria" panose="02040503050406030204" pitchFamily="18" charset="0"/>
              </a:rPr>
              <a:t>&lt;%     </a:t>
            </a:r>
          </a:p>
          <a:p>
            <a:pPr>
              <a:spcBef>
                <a:spcPts val="0"/>
              </a:spcBef>
              <a:buNone/>
            </a:pPr>
            <a:r>
              <a:rPr lang="en-US" dirty="0">
                <a:latin typeface="Cambria" panose="02040503050406030204" pitchFamily="18" charset="0"/>
                <a:ea typeface="Cambria" panose="02040503050406030204" pitchFamily="18" charset="0"/>
              </a:rPr>
              <a:t>String name=(String)session.getAttribute("user");  </a:t>
            </a:r>
          </a:p>
          <a:p>
            <a:pPr>
              <a:spcBef>
                <a:spcPts val="0"/>
              </a:spcBef>
              <a:buNone/>
            </a:pPr>
            <a:r>
              <a:rPr lang="en-US" dirty="0">
                <a:latin typeface="Cambria" panose="02040503050406030204" pitchFamily="18" charset="0"/>
                <a:ea typeface="Cambria" panose="02040503050406030204" pitchFamily="18" charset="0"/>
              </a:rPr>
              <a:t>out.print("Hello "+name);    </a:t>
            </a:r>
          </a:p>
          <a:p>
            <a:pPr>
              <a:spcBef>
                <a:spcPts val="0"/>
              </a:spcBef>
              <a:buNone/>
            </a:pPr>
            <a:r>
              <a:rPr lang="en-US" dirty="0">
                <a:latin typeface="Cambria" panose="02040503050406030204" pitchFamily="18" charset="0"/>
                <a:ea typeface="Cambria" panose="02040503050406030204" pitchFamily="18" charset="0"/>
              </a:rPr>
              <a:t>%&gt;  </a:t>
            </a:r>
          </a:p>
          <a:p>
            <a:pPr>
              <a:spcBef>
                <a:spcPts val="0"/>
              </a:spcBef>
              <a:buNone/>
            </a:pPr>
            <a:r>
              <a:rPr lang="en-US" dirty="0">
                <a:latin typeface="Cambria" panose="02040503050406030204" pitchFamily="18" charset="0"/>
                <a:ea typeface="Cambria" panose="02040503050406030204" pitchFamily="18" charset="0"/>
              </a:rPr>
              <a:t>&lt;/body&gt;  </a:t>
            </a:r>
          </a:p>
          <a:p>
            <a:pPr>
              <a:spcBef>
                <a:spcPts val="0"/>
              </a:spcBef>
              <a:buNone/>
            </a:pPr>
            <a:r>
              <a:rPr lang="en-US" dirty="0">
                <a:latin typeface="Cambria" panose="02040503050406030204" pitchFamily="18" charset="0"/>
                <a:ea typeface="Cambria" panose="02040503050406030204" pitchFamily="18" charset="0"/>
              </a:rPr>
              <a:t>&lt;/html&gt;  </a:t>
            </a:r>
          </a:p>
        </p:txBody>
      </p:sp>
    </p:spTree>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63352" y="836712"/>
            <a:ext cx="11234464" cy="3131393"/>
          </a:xfrm>
        </p:spPr>
        <p:txBody>
          <a:bodyPr/>
          <a:lstStyle/>
          <a:p>
            <a:pPr algn="just"/>
            <a:r>
              <a:rPr lang="en-US" sz="2000" dirty="0" smtClean="0">
                <a:latin typeface="Cambria" panose="02040503050406030204" pitchFamily="18" charset="0"/>
                <a:ea typeface="Cambria" panose="02040503050406030204" pitchFamily="18" charset="0"/>
              </a:rPr>
              <a:t>In JSP, pageContext is an implicit object of type PageContext class.The pageContext object can be used to set, get or remove attribute from one of the following scopes:page</a:t>
            </a:r>
          </a:p>
          <a:p>
            <a:pPr algn="just"/>
            <a:r>
              <a:rPr lang="en-US" sz="2000" dirty="0" smtClean="0">
                <a:latin typeface="Cambria" panose="02040503050406030204" pitchFamily="18" charset="0"/>
                <a:ea typeface="Cambria" panose="02040503050406030204" pitchFamily="18" charset="0"/>
              </a:rPr>
              <a:t>request</a:t>
            </a:r>
          </a:p>
          <a:p>
            <a:pPr algn="just"/>
            <a:r>
              <a:rPr lang="en-US" sz="2000" dirty="0" smtClean="0">
                <a:latin typeface="Cambria" panose="02040503050406030204" pitchFamily="18" charset="0"/>
                <a:ea typeface="Cambria" panose="02040503050406030204" pitchFamily="18" charset="0"/>
              </a:rPr>
              <a:t>session</a:t>
            </a:r>
          </a:p>
          <a:p>
            <a:pPr algn="just"/>
            <a:r>
              <a:rPr lang="en-US" sz="2000" dirty="0" smtClean="0">
                <a:latin typeface="Cambria" panose="02040503050406030204" pitchFamily="18" charset="0"/>
                <a:ea typeface="Cambria" panose="02040503050406030204" pitchFamily="18" charset="0"/>
              </a:rPr>
              <a:t>application</a:t>
            </a:r>
          </a:p>
          <a:p>
            <a:pPr algn="just"/>
            <a:r>
              <a:rPr lang="en-US" sz="2000" dirty="0" smtClean="0">
                <a:latin typeface="Cambria" panose="02040503050406030204" pitchFamily="18" charset="0"/>
                <a:ea typeface="Cambria" panose="02040503050406030204" pitchFamily="18" charset="0"/>
              </a:rPr>
              <a:t>In JSP, page scope is the default scope.</a:t>
            </a:r>
          </a:p>
          <a:p>
            <a:pPr algn="just">
              <a:spcBef>
                <a:spcPts val="0"/>
              </a:spcBef>
              <a:buNone/>
            </a:pPr>
            <a:endParaRPr lang="en-US" sz="20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88</a:t>
            </a:fld>
            <a:endParaRPr lang="en-US" altLang="en-US">
              <a:latin typeface="Cambria" panose="02040503050406030204" pitchFamily="18" charset="0"/>
              <a:ea typeface="Cambria" panose="02040503050406030204" pitchFamily="18" charset="0"/>
            </a:endParaRPr>
          </a:p>
        </p:txBody>
      </p:sp>
      <p:sp>
        <p:nvSpPr>
          <p:cNvPr id="8" name="Title 1"/>
          <p:cNvSpPr>
            <a:spLocks noGrp="1"/>
          </p:cNvSpPr>
          <p:nvPr>
            <p:ph type="title"/>
          </p:nvPr>
        </p:nvSpPr>
        <p:spPr>
          <a:xfrm>
            <a:off x="1978" y="8348"/>
            <a:ext cx="6526070" cy="504056"/>
          </a:xfrm>
        </p:spPr>
        <p:txBody>
          <a:bodyPr/>
          <a:lstStyle/>
          <a:p>
            <a:r>
              <a:rPr lang="en-US" sz="3600" b="1" dirty="0" smtClean="0">
                <a:solidFill>
                  <a:schemeClr val="accent5"/>
                </a:solidFill>
                <a:latin typeface="Cambria" panose="02040503050406030204" pitchFamily="18" charset="0"/>
                <a:ea typeface="Cambria" panose="02040503050406030204" pitchFamily="18" charset="0"/>
              </a:rPr>
              <a:t/>
            </a:r>
            <a:br>
              <a:rPr lang="en-US" sz="3600" b="1" dirty="0" smtClean="0">
                <a:solidFill>
                  <a:schemeClr val="accent5"/>
                </a:solidFill>
                <a:latin typeface="Cambria" panose="02040503050406030204" pitchFamily="18" charset="0"/>
                <a:ea typeface="Cambria" panose="02040503050406030204" pitchFamily="18" charset="0"/>
              </a:rPr>
            </a:br>
            <a:r>
              <a:rPr lang="en-US" sz="3600" b="1" dirty="0" smtClean="0">
                <a:solidFill>
                  <a:schemeClr val="accent5"/>
                </a:solidFill>
                <a:latin typeface="Cambria" panose="02040503050406030204" pitchFamily="18" charset="0"/>
                <a:ea typeface="Cambria" panose="02040503050406030204" pitchFamily="18" charset="0"/>
              </a:rPr>
              <a:t/>
            </a:r>
            <a:br>
              <a:rPr lang="en-US" sz="3600" b="1" dirty="0" smtClean="0">
                <a:solidFill>
                  <a:schemeClr val="accent5"/>
                </a:solidFill>
                <a:latin typeface="Cambria" panose="02040503050406030204" pitchFamily="18" charset="0"/>
                <a:ea typeface="Cambria" panose="02040503050406030204" pitchFamily="18" charset="0"/>
              </a:rPr>
            </a:br>
            <a:r>
              <a:rPr lang="en-US" sz="3600" b="1" dirty="0" smtClean="0">
                <a:solidFill>
                  <a:schemeClr val="accent5"/>
                </a:solidFill>
                <a:latin typeface="Cambria" panose="02040503050406030204" pitchFamily="18" charset="0"/>
                <a:ea typeface="Cambria" panose="02040503050406030204" pitchFamily="18" charset="0"/>
              </a:rPr>
              <a:t>pageContext implicit object</a:t>
            </a:r>
            <a:br>
              <a:rPr lang="en-US" sz="3600" b="1" dirty="0" smtClean="0">
                <a:solidFill>
                  <a:schemeClr val="accent5"/>
                </a:solidFill>
                <a:latin typeface="Cambria" panose="02040503050406030204" pitchFamily="18" charset="0"/>
                <a:ea typeface="Cambria" panose="02040503050406030204" pitchFamily="18" charset="0"/>
              </a:rPr>
            </a:br>
            <a:r>
              <a:rPr lang="en-US" sz="3600" b="1" dirty="0" smtClean="0">
                <a:solidFill>
                  <a:schemeClr val="accent5"/>
                </a:solidFill>
                <a:latin typeface="Cambria" panose="02040503050406030204" pitchFamily="18" charset="0"/>
                <a:ea typeface="Cambria" panose="02040503050406030204" pitchFamily="18" charset="0"/>
              </a:rPr>
              <a:t/>
            </a:r>
            <a:br>
              <a:rPr lang="en-US" sz="3600" b="1" dirty="0" smtClean="0">
                <a:solidFill>
                  <a:schemeClr val="accent5"/>
                </a:solidFill>
                <a:latin typeface="Cambria" panose="02040503050406030204" pitchFamily="18" charset="0"/>
                <a:ea typeface="Cambria" panose="02040503050406030204" pitchFamily="18" charset="0"/>
              </a:rPr>
            </a:br>
            <a:r>
              <a:rPr lang="en-US" sz="3600" b="1" dirty="0" smtClean="0">
                <a:solidFill>
                  <a:schemeClr val="accent5"/>
                </a:solidFill>
                <a:latin typeface="Cambria" panose="02040503050406030204" pitchFamily="18" charset="0"/>
                <a:ea typeface="Cambria" panose="02040503050406030204" pitchFamily="18" charset="0"/>
              </a:rPr>
              <a:t> </a:t>
            </a:r>
            <a:endParaRPr lang="en-US" sz="3600" b="1" dirty="0">
              <a:solidFill>
                <a:schemeClr val="accent5"/>
              </a:solidFill>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035" y="0"/>
            <a:ext cx="5041776" cy="543595"/>
          </a:xfrm>
        </p:spPr>
        <p:txBody>
          <a:bodyPr/>
          <a:lstStyle/>
          <a:p>
            <a:r>
              <a:rPr lang="en-US" sz="4000" b="1" dirty="0" smtClean="0">
                <a:solidFill>
                  <a:schemeClr val="accent5"/>
                </a:solidFill>
                <a:latin typeface="Cambria" panose="02040503050406030204" pitchFamily="18" charset="0"/>
                <a:ea typeface="Cambria" panose="02040503050406030204" pitchFamily="18" charset="0"/>
              </a:rPr>
              <a:t>page implicit object</a:t>
            </a:r>
            <a:endParaRPr lang="en-US" sz="40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551384" y="764704"/>
            <a:ext cx="10515600" cy="4748227"/>
          </a:xfrm>
        </p:spPr>
        <p:txBody>
          <a:bodyPr/>
          <a:lstStyle/>
          <a:p>
            <a:pPr algn="just"/>
            <a:r>
              <a:rPr lang="en-GB" sz="2400" dirty="0" smtClean="0">
                <a:latin typeface="Cambria" panose="02040503050406030204" pitchFamily="18" charset="0"/>
                <a:ea typeface="Cambria" panose="02040503050406030204" pitchFamily="18" charset="0"/>
              </a:rPr>
              <a:t>In JSP, page is an implicit object of type Object class. This object is assigned to the reference of auto generated servlet class. It is written as:</a:t>
            </a:r>
          </a:p>
          <a:p>
            <a:pPr marL="0" indent="0" algn="just">
              <a:buNone/>
            </a:pPr>
            <a:r>
              <a:rPr lang="en-GB" sz="2400" dirty="0" smtClean="0">
                <a:latin typeface="Cambria" panose="02040503050406030204" pitchFamily="18" charset="0"/>
                <a:ea typeface="Cambria" panose="02040503050406030204" pitchFamily="18" charset="0"/>
              </a:rPr>
              <a:t>	Object page=this; </a:t>
            </a:r>
          </a:p>
          <a:p>
            <a:pPr marL="0" indent="0" algn="just">
              <a:buNone/>
            </a:pPr>
            <a:r>
              <a:rPr lang="en-GB" sz="2400" dirty="0">
                <a:latin typeface="Cambria" panose="02040503050406030204" pitchFamily="18" charset="0"/>
                <a:ea typeface="Cambria" panose="02040503050406030204" pitchFamily="18" charset="0"/>
              </a:rPr>
              <a:t>	</a:t>
            </a:r>
            <a:r>
              <a:rPr lang="en-GB" sz="2400" dirty="0" smtClean="0">
                <a:latin typeface="Cambria" panose="02040503050406030204" pitchFamily="18" charset="0"/>
                <a:ea typeface="Cambria" panose="02040503050406030204" pitchFamily="18" charset="0"/>
              </a:rPr>
              <a:t>For using this object it must be cast to Servlet type. 	</a:t>
            </a:r>
          </a:p>
          <a:p>
            <a:pPr marL="0" indent="0" algn="just">
              <a:buNone/>
            </a:pPr>
            <a:r>
              <a:rPr lang="en-GB" sz="2400" dirty="0">
                <a:latin typeface="Cambria" panose="02040503050406030204" pitchFamily="18" charset="0"/>
                <a:ea typeface="Cambria" panose="02040503050406030204" pitchFamily="18" charset="0"/>
              </a:rPr>
              <a:t>	</a:t>
            </a:r>
            <a:r>
              <a:rPr lang="en-GB" sz="2400" dirty="0" smtClean="0">
                <a:latin typeface="Cambria" panose="02040503050406030204" pitchFamily="18" charset="0"/>
                <a:ea typeface="Cambria" panose="02040503050406030204" pitchFamily="18" charset="0"/>
              </a:rPr>
              <a:t>For example:</a:t>
            </a:r>
          </a:p>
          <a:p>
            <a:pPr marL="0" indent="0" algn="just">
              <a:buNone/>
            </a:pPr>
            <a:r>
              <a:rPr lang="en-GB" sz="2400" dirty="0">
                <a:latin typeface="Cambria" panose="02040503050406030204" pitchFamily="18" charset="0"/>
                <a:ea typeface="Cambria" panose="02040503050406030204" pitchFamily="18" charset="0"/>
              </a:rPr>
              <a:t>	</a:t>
            </a:r>
            <a:r>
              <a:rPr lang="en-GB" sz="2400" dirty="0" smtClean="0">
                <a:latin typeface="Cambria" panose="02040503050406030204" pitchFamily="18" charset="0"/>
                <a:ea typeface="Cambria" panose="02040503050406030204" pitchFamily="18" charset="0"/>
              </a:rPr>
              <a:t>&lt;% (HttpServlet)page.log("message"); %&gt;</a:t>
            </a:r>
          </a:p>
          <a:p>
            <a:pPr marL="0" indent="0" algn="just">
              <a:buNone/>
            </a:pPr>
            <a:r>
              <a:rPr lang="en-GB" sz="2400" dirty="0">
                <a:latin typeface="Cambria" panose="02040503050406030204" pitchFamily="18" charset="0"/>
                <a:ea typeface="Cambria" panose="02040503050406030204" pitchFamily="18" charset="0"/>
              </a:rPr>
              <a:t>	</a:t>
            </a:r>
            <a:endParaRPr lang="en-US" sz="24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89</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16632"/>
            <a:ext cx="6049888" cy="615603"/>
          </a:xfrm>
        </p:spPr>
        <p:txBody>
          <a:bodyPr/>
          <a:lstStyle/>
          <a:p>
            <a:r>
              <a:rPr lang="en-US" sz="4000" b="1" dirty="0" smtClean="0">
                <a:solidFill>
                  <a:srgbClr val="7030A0"/>
                </a:solidFill>
                <a:latin typeface="Cambria" panose="02040503050406030204" pitchFamily="18" charset="0"/>
                <a:ea typeface="Cambria" panose="02040503050406030204" pitchFamily="18" charset="0"/>
              </a:rPr>
              <a:t/>
            </a:r>
            <a:br>
              <a:rPr lang="en-US" sz="4000" b="1" dirty="0" smtClean="0">
                <a:solidFill>
                  <a:srgbClr val="7030A0"/>
                </a:solidFill>
                <a:latin typeface="Cambria" panose="02040503050406030204" pitchFamily="18" charset="0"/>
                <a:ea typeface="Cambria" panose="02040503050406030204" pitchFamily="18" charset="0"/>
              </a:rPr>
            </a:br>
            <a:r>
              <a:rPr lang="en-US" sz="4000" b="1" dirty="0" smtClean="0">
                <a:solidFill>
                  <a:srgbClr val="7030A0"/>
                </a:solidFill>
                <a:latin typeface="Cambria" panose="02040503050406030204" pitchFamily="18" charset="0"/>
                <a:ea typeface="Cambria" panose="02040503050406030204" pitchFamily="18" charset="0"/>
              </a:rPr>
              <a:t/>
            </a:r>
            <a:br>
              <a:rPr lang="en-US" sz="4000" b="1" dirty="0" smtClean="0">
                <a:solidFill>
                  <a:srgbClr val="7030A0"/>
                </a:solidFill>
                <a:latin typeface="Cambria" panose="02040503050406030204" pitchFamily="18" charset="0"/>
                <a:ea typeface="Cambria" panose="02040503050406030204" pitchFamily="18" charset="0"/>
              </a:rPr>
            </a:br>
            <a:r>
              <a:rPr lang="en-US" sz="4000" b="1" dirty="0" smtClean="0">
                <a:solidFill>
                  <a:srgbClr val="7030A0"/>
                </a:solidFill>
                <a:latin typeface="Cambria" panose="02040503050406030204" pitchFamily="18" charset="0"/>
                <a:ea typeface="Cambria" panose="02040503050406030204" pitchFamily="18" charset="0"/>
              </a:rPr>
              <a:t>exception implicit object</a:t>
            </a:r>
            <a:br>
              <a:rPr lang="en-US" sz="4000" b="1" dirty="0" smtClean="0">
                <a:solidFill>
                  <a:srgbClr val="7030A0"/>
                </a:solidFill>
                <a:latin typeface="Cambria" panose="02040503050406030204" pitchFamily="18" charset="0"/>
                <a:ea typeface="Cambria" panose="02040503050406030204" pitchFamily="18" charset="0"/>
              </a:rPr>
            </a:br>
            <a:r>
              <a:rPr lang="en-GB" sz="4000" b="1" dirty="0" smtClean="0">
                <a:solidFill>
                  <a:srgbClr val="7030A0"/>
                </a:solidFill>
                <a:latin typeface="Cambria" panose="02040503050406030204" pitchFamily="18" charset="0"/>
                <a:ea typeface="Cambria" panose="02040503050406030204" pitchFamily="18" charset="0"/>
              </a:rPr>
              <a:t/>
            </a:r>
            <a:br>
              <a:rPr lang="en-GB" sz="4000" b="1" dirty="0" smtClean="0">
                <a:solidFill>
                  <a:srgbClr val="7030A0"/>
                </a:solidFill>
                <a:latin typeface="Cambria" panose="02040503050406030204" pitchFamily="18" charset="0"/>
                <a:ea typeface="Cambria" panose="02040503050406030204" pitchFamily="18" charset="0"/>
              </a:rPr>
            </a:br>
            <a:endParaRPr lang="en-US" sz="4000" b="1" dirty="0">
              <a:solidFill>
                <a:srgbClr val="7030A0"/>
              </a:solidFill>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90</a:t>
            </a:fld>
            <a:endParaRPr lang="en-US" altLang="en-US">
              <a:latin typeface="Cambria" panose="02040503050406030204" pitchFamily="18" charset="0"/>
              <a:ea typeface="Cambria" panose="02040503050406030204" pitchFamily="18" charset="0"/>
            </a:endParaRPr>
          </a:p>
        </p:txBody>
      </p:sp>
      <p:sp>
        <p:nvSpPr>
          <p:cNvPr id="6" name="Content Placeholder 5"/>
          <p:cNvSpPr>
            <a:spLocks noGrp="1"/>
          </p:cNvSpPr>
          <p:nvPr>
            <p:ph idx="1"/>
          </p:nvPr>
        </p:nvSpPr>
        <p:spPr>
          <a:xfrm>
            <a:off x="479376" y="737316"/>
            <a:ext cx="10515600" cy="4748227"/>
          </a:xfrm>
        </p:spPr>
        <p:txBody>
          <a:bodyPr/>
          <a:lstStyle/>
          <a:p>
            <a:pPr algn="just"/>
            <a:r>
              <a:rPr lang="en-GB" sz="2400" dirty="0" smtClean="0">
                <a:latin typeface="Cambria" panose="02040503050406030204" pitchFamily="18" charset="0"/>
                <a:ea typeface="Cambria" panose="02040503050406030204" pitchFamily="18" charset="0"/>
              </a:rPr>
              <a:t>In JSP, exception is an implicit object of type </a:t>
            </a:r>
            <a:r>
              <a:rPr lang="en-GB" sz="2400" dirty="0" err="1" smtClean="0">
                <a:latin typeface="Cambria" panose="02040503050406030204" pitchFamily="18" charset="0"/>
                <a:ea typeface="Cambria" panose="02040503050406030204" pitchFamily="18" charset="0"/>
              </a:rPr>
              <a:t>java.lang.Throwable</a:t>
            </a:r>
            <a:r>
              <a:rPr lang="en-GB" sz="2400" dirty="0" smtClean="0">
                <a:latin typeface="Cambria" panose="02040503050406030204" pitchFamily="18" charset="0"/>
                <a:ea typeface="Cambria" panose="02040503050406030204" pitchFamily="18" charset="0"/>
              </a:rPr>
              <a:t> class. This object can be used to print the exception. But it can only be used in error pages. It is better to learn it after page directive. Let's see a simple example:</a:t>
            </a:r>
          </a:p>
          <a:p>
            <a:pPr marL="0" indent="0" algn="just">
              <a:buNone/>
            </a:pPr>
            <a:r>
              <a:rPr lang="en-GB" sz="2400" dirty="0" smtClean="0">
                <a:latin typeface="Cambria" panose="02040503050406030204" pitchFamily="18" charset="0"/>
                <a:ea typeface="Cambria" panose="02040503050406030204" pitchFamily="18" charset="0"/>
              </a:rPr>
              <a:t>Example of exception implicit object:</a:t>
            </a:r>
          </a:p>
          <a:p>
            <a:pPr algn="just"/>
            <a:r>
              <a:rPr lang="en-GB" sz="2400" b="1" dirty="0" smtClean="0">
                <a:latin typeface="Cambria" panose="02040503050406030204" pitchFamily="18" charset="0"/>
                <a:ea typeface="Cambria" panose="02040503050406030204" pitchFamily="18" charset="0"/>
              </a:rPr>
              <a:t>error.jsp</a:t>
            </a:r>
          </a:p>
          <a:p>
            <a:pPr algn="just">
              <a:spcBef>
                <a:spcPts val="0"/>
              </a:spcBef>
              <a:buNone/>
            </a:pPr>
            <a:r>
              <a:rPr lang="en-GB" sz="2400" dirty="0" smtClean="0">
                <a:latin typeface="Cambria" panose="02040503050406030204" pitchFamily="18" charset="0"/>
                <a:ea typeface="Cambria" panose="02040503050406030204" pitchFamily="18" charset="0"/>
              </a:rPr>
              <a:t>&lt;%@ page </a:t>
            </a:r>
            <a:r>
              <a:rPr lang="en-GB" sz="2400" dirty="0" err="1" smtClean="0">
                <a:latin typeface="Cambria" panose="02040503050406030204" pitchFamily="18" charset="0"/>
                <a:ea typeface="Cambria" panose="02040503050406030204" pitchFamily="18" charset="0"/>
              </a:rPr>
              <a:t>isErrorPage</a:t>
            </a:r>
            <a:r>
              <a:rPr lang="en-GB" sz="2400" dirty="0" smtClean="0">
                <a:latin typeface="Cambria" panose="02040503050406030204" pitchFamily="18" charset="0"/>
                <a:ea typeface="Cambria" panose="02040503050406030204" pitchFamily="18" charset="0"/>
              </a:rPr>
              <a:t>="true" %&gt;  </a:t>
            </a:r>
          </a:p>
          <a:p>
            <a:pPr algn="just">
              <a:spcBef>
                <a:spcPts val="0"/>
              </a:spcBef>
              <a:buNone/>
            </a:pPr>
            <a:r>
              <a:rPr lang="en-GB" sz="2400" dirty="0" smtClean="0">
                <a:latin typeface="Cambria" panose="02040503050406030204" pitchFamily="18" charset="0"/>
                <a:ea typeface="Cambria" panose="02040503050406030204" pitchFamily="18" charset="0"/>
              </a:rPr>
              <a:t>&lt;html&gt;  </a:t>
            </a:r>
          </a:p>
          <a:p>
            <a:pPr algn="just">
              <a:spcBef>
                <a:spcPts val="0"/>
              </a:spcBef>
              <a:buNone/>
            </a:pPr>
            <a:r>
              <a:rPr lang="en-GB" sz="2400" dirty="0" smtClean="0">
                <a:latin typeface="Cambria" panose="02040503050406030204" pitchFamily="18" charset="0"/>
                <a:ea typeface="Cambria" panose="02040503050406030204" pitchFamily="18" charset="0"/>
              </a:rPr>
              <a:t>&lt;body&gt;  </a:t>
            </a:r>
          </a:p>
          <a:p>
            <a:pPr algn="just">
              <a:spcBef>
                <a:spcPts val="0"/>
              </a:spcBef>
              <a:buNone/>
            </a:pPr>
            <a:r>
              <a:rPr lang="en-GB" sz="2400" dirty="0" smtClean="0">
                <a:latin typeface="Cambria" panose="02040503050406030204" pitchFamily="18" charset="0"/>
                <a:ea typeface="Cambria" panose="02040503050406030204" pitchFamily="18" charset="0"/>
              </a:rPr>
              <a:t>  </a:t>
            </a:r>
          </a:p>
          <a:p>
            <a:pPr algn="just">
              <a:spcBef>
                <a:spcPts val="0"/>
              </a:spcBef>
              <a:buNone/>
            </a:pPr>
            <a:r>
              <a:rPr lang="en-GB" sz="2400" dirty="0" smtClean="0">
                <a:latin typeface="Cambria" panose="02040503050406030204" pitchFamily="18" charset="0"/>
                <a:ea typeface="Cambria" panose="02040503050406030204" pitchFamily="18" charset="0"/>
              </a:rPr>
              <a:t>Sorry following exception occured: &lt;%= exception %&gt;  </a:t>
            </a:r>
          </a:p>
          <a:p>
            <a:pPr algn="just">
              <a:spcBef>
                <a:spcPts val="0"/>
              </a:spcBef>
              <a:buNone/>
            </a:pPr>
            <a:r>
              <a:rPr lang="en-GB" sz="2400" dirty="0" smtClean="0">
                <a:latin typeface="Cambria" panose="02040503050406030204" pitchFamily="18" charset="0"/>
                <a:ea typeface="Cambria" panose="02040503050406030204" pitchFamily="18" charset="0"/>
              </a:rPr>
              <a:t>  &lt;/body&gt;  </a:t>
            </a:r>
          </a:p>
          <a:p>
            <a:pPr algn="just">
              <a:spcBef>
                <a:spcPts val="0"/>
              </a:spcBef>
              <a:buNone/>
            </a:pPr>
            <a:r>
              <a:rPr lang="en-GB" sz="2400" dirty="0" smtClean="0">
                <a:latin typeface="Cambria" panose="02040503050406030204" pitchFamily="18" charset="0"/>
                <a:ea typeface="Cambria" panose="02040503050406030204" pitchFamily="18" charset="0"/>
              </a:rPr>
              <a:t>&lt;/html&gt;  </a:t>
            </a:r>
          </a:p>
          <a:p>
            <a:pPr algn="just">
              <a:buNone/>
            </a:pPr>
            <a:endParaRPr lang="en-US" sz="2400" dirty="0">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344" y="116632"/>
            <a:ext cx="3601616" cy="687611"/>
          </a:xfrm>
        </p:spPr>
        <p:txBody>
          <a:bodyPr/>
          <a:lstStyle/>
          <a:p>
            <a:pPr algn="just"/>
            <a:r>
              <a:rPr lang="en-US" sz="4000" b="1" dirty="0" smtClean="0">
                <a:solidFill>
                  <a:srgbClr val="7030A0"/>
                </a:solidFill>
                <a:latin typeface="Cambria" panose="02040503050406030204" pitchFamily="18" charset="0"/>
                <a:ea typeface="Cambria" panose="02040503050406030204" pitchFamily="18" charset="0"/>
              </a:rPr>
              <a:t>JSP directives</a:t>
            </a:r>
            <a:endParaRPr lang="en-US" sz="4000" b="1" dirty="0">
              <a:solidFill>
                <a:srgbClr val="7030A0"/>
              </a:solidFill>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91</a:t>
            </a:fld>
            <a:endParaRPr lang="en-US" altLang="en-US">
              <a:latin typeface="Cambria" panose="02040503050406030204" pitchFamily="18" charset="0"/>
              <a:ea typeface="Cambria" panose="02040503050406030204" pitchFamily="18" charset="0"/>
            </a:endParaRPr>
          </a:p>
        </p:txBody>
      </p:sp>
      <p:sp>
        <p:nvSpPr>
          <p:cNvPr id="5" name="Content Placeholder 4"/>
          <p:cNvSpPr>
            <a:spLocks noGrp="1"/>
          </p:cNvSpPr>
          <p:nvPr>
            <p:ph idx="1"/>
          </p:nvPr>
        </p:nvSpPr>
        <p:spPr>
          <a:xfrm>
            <a:off x="695400" y="1124744"/>
            <a:ext cx="10515600" cy="4351338"/>
          </a:xfrm>
        </p:spPr>
        <p:txBody>
          <a:bodyPr/>
          <a:lstStyle/>
          <a:p>
            <a:pPr algn="just"/>
            <a:r>
              <a:rPr lang="en-GB" dirty="0" smtClean="0">
                <a:latin typeface="Cambria" panose="02040503050406030204" pitchFamily="18" charset="0"/>
                <a:ea typeface="Cambria" panose="02040503050406030204" pitchFamily="18" charset="0"/>
              </a:rPr>
              <a:t>The </a:t>
            </a:r>
            <a:r>
              <a:rPr lang="en-GB" b="1" dirty="0" err="1" smtClean="0">
                <a:latin typeface="Cambria" panose="02040503050406030204" pitchFamily="18" charset="0"/>
                <a:ea typeface="Cambria" panose="02040503050406030204" pitchFamily="18" charset="0"/>
              </a:rPr>
              <a:t>jsp</a:t>
            </a:r>
            <a:r>
              <a:rPr lang="en-GB" b="1" dirty="0" smtClean="0">
                <a:latin typeface="Cambria" panose="02040503050406030204" pitchFamily="18" charset="0"/>
                <a:ea typeface="Cambria" panose="02040503050406030204" pitchFamily="18" charset="0"/>
              </a:rPr>
              <a:t> directives</a:t>
            </a:r>
            <a:r>
              <a:rPr lang="en-GB" dirty="0" smtClean="0">
                <a:latin typeface="Cambria" panose="02040503050406030204" pitchFamily="18" charset="0"/>
                <a:ea typeface="Cambria" panose="02040503050406030204" pitchFamily="18" charset="0"/>
              </a:rPr>
              <a:t> are messages that tells the web container how to translate a JSP page into the corresponding </a:t>
            </a:r>
            <a:r>
              <a:rPr lang="en-GB" dirty="0" err="1" smtClean="0">
                <a:latin typeface="Cambria" panose="02040503050406030204" pitchFamily="18" charset="0"/>
                <a:ea typeface="Cambria" panose="02040503050406030204" pitchFamily="18" charset="0"/>
              </a:rPr>
              <a:t>servlet</a:t>
            </a:r>
            <a:r>
              <a:rPr lang="en-GB" dirty="0" smtClean="0">
                <a:latin typeface="Cambria" panose="02040503050406030204" pitchFamily="18" charset="0"/>
                <a:ea typeface="Cambria" panose="02040503050406030204" pitchFamily="18" charset="0"/>
              </a:rPr>
              <a:t>.</a:t>
            </a:r>
          </a:p>
          <a:p>
            <a:pPr algn="just"/>
            <a:r>
              <a:rPr lang="en-GB" dirty="0" smtClean="0">
                <a:latin typeface="Cambria" panose="02040503050406030204" pitchFamily="18" charset="0"/>
                <a:ea typeface="Cambria" panose="02040503050406030204" pitchFamily="18" charset="0"/>
              </a:rPr>
              <a:t>There are three types of directives:</a:t>
            </a:r>
          </a:p>
          <a:p>
            <a:pPr algn="just">
              <a:buFont typeface="Wingdings" pitchFamily="2" charset="2"/>
              <a:buChar char="v"/>
            </a:pPr>
            <a:r>
              <a:rPr lang="en-GB" dirty="0" smtClean="0">
                <a:latin typeface="Cambria" panose="02040503050406030204" pitchFamily="18" charset="0"/>
                <a:ea typeface="Cambria" panose="02040503050406030204" pitchFamily="18" charset="0"/>
              </a:rPr>
              <a:t>page directive</a:t>
            </a:r>
          </a:p>
          <a:p>
            <a:pPr algn="just">
              <a:buFont typeface="Wingdings" pitchFamily="2" charset="2"/>
              <a:buChar char="v"/>
            </a:pPr>
            <a:r>
              <a:rPr lang="en-GB" dirty="0" smtClean="0">
                <a:latin typeface="Cambria" panose="02040503050406030204" pitchFamily="18" charset="0"/>
                <a:ea typeface="Cambria" panose="02040503050406030204" pitchFamily="18" charset="0"/>
              </a:rPr>
              <a:t>include directive</a:t>
            </a:r>
          </a:p>
          <a:p>
            <a:pPr algn="just">
              <a:buFont typeface="Wingdings" pitchFamily="2" charset="2"/>
              <a:buChar char="v"/>
            </a:pPr>
            <a:r>
              <a:rPr lang="en-GB" dirty="0" err="1" smtClean="0">
                <a:latin typeface="Cambria" panose="02040503050406030204" pitchFamily="18" charset="0"/>
                <a:ea typeface="Cambria" panose="02040503050406030204" pitchFamily="18" charset="0"/>
              </a:rPr>
              <a:t>taglib</a:t>
            </a:r>
            <a:r>
              <a:rPr lang="en-GB" dirty="0" smtClean="0">
                <a:latin typeface="Cambria" panose="02040503050406030204" pitchFamily="18" charset="0"/>
                <a:ea typeface="Cambria" panose="02040503050406030204" pitchFamily="18" charset="0"/>
              </a:rPr>
              <a:t> directive</a:t>
            </a:r>
          </a:p>
          <a:p>
            <a:pPr algn="just"/>
            <a:r>
              <a:rPr lang="en-GB" dirty="0" smtClean="0">
                <a:latin typeface="Cambria" panose="02040503050406030204" pitchFamily="18" charset="0"/>
                <a:ea typeface="Cambria" panose="02040503050406030204" pitchFamily="18" charset="0"/>
              </a:rPr>
              <a:t>Syntax of JSP Directive</a:t>
            </a:r>
          </a:p>
          <a:p>
            <a:pPr marL="0" indent="0" algn="just">
              <a:buNone/>
            </a:pPr>
            <a:r>
              <a:rPr lang="en-GB" dirty="0" smtClean="0">
                <a:latin typeface="Cambria" panose="02040503050406030204" pitchFamily="18" charset="0"/>
                <a:ea typeface="Cambria" panose="02040503050406030204" pitchFamily="18" charset="0"/>
              </a:rPr>
              <a:t>	&lt;%@ directive attribute="value" %&gt;  </a:t>
            </a:r>
          </a:p>
          <a:p>
            <a:pPr algn="just"/>
            <a:endParaRPr lang="en-US" dirty="0">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8348"/>
            <a:ext cx="4824536" cy="508778"/>
          </a:xfrm>
        </p:spPr>
        <p:txBody>
          <a:bodyPr/>
          <a:lstStyle/>
          <a:p>
            <a:pPr algn="just"/>
            <a:r>
              <a:rPr lang="en-US" sz="4000" b="1" dirty="0" smtClean="0">
                <a:solidFill>
                  <a:srgbClr val="7030A0"/>
                </a:solidFill>
                <a:latin typeface="Cambria" panose="02040503050406030204" pitchFamily="18" charset="0"/>
                <a:ea typeface="Cambria" panose="02040503050406030204" pitchFamily="18" charset="0"/>
              </a:rPr>
              <a:t>JSP page directive</a:t>
            </a:r>
            <a:endParaRPr lang="en-US" sz="4000" b="1" dirty="0">
              <a:solidFill>
                <a:srgbClr val="7030A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07368" y="517126"/>
            <a:ext cx="10515600" cy="5176855"/>
          </a:xfrm>
        </p:spPr>
        <p:txBody>
          <a:bodyPr/>
          <a:lstStyle/>
          <a:p>
            <a:pPr>
              <a:lnSpc>
                <a:spcPct val="100000"/>
              </a:lnSpc>
              <a:spcBef>
                <a:spcPts val="0"/>
              </a:spcBef>
            </a:pPr>
            <a:r>
              <a:rPr lang="en-GB" sz="2000" dirty="0" smtClean="0">
                <a:latin typeface="Cambria" panose="02040503050406030204" pitchFamily="18" charset="0"/>
                <a:ea typeface="Cambria" panose="02040503050406030204" pitchFamily="18" charset="0"/>
              </a:rPr>
              <a:t>The page directive defines attributes that apply to an entire JSP page.</a:t>
            </a:r>
          </a:p>
          <a:p>
            <a:pPr>
              <a:lnSpc>
                <a:spcPct val="100000"/>
              </a:lnSpc>
              <a:spcBef>
                <a:spcPts val="0"/>
              </a:spcBef>
            </a:pPr>
            <a:r>
              <a:rPr lang="en-GB" sz="2000" dirty="0" smtClean="0">
                <a:latin typeface="Cambria" panose="02040503050406030204" pitchFamily="18" charset="0"/>
                <a:ea typeface="Cambria" panose="02040503050406030204" pitchFamily="18" charset="0"/>
              </a:rPr>
              <a:t>Syntax of JSP page directive</a:t>
            </a:r>
          </a:p>
          <a:p>
            <a:pPr marL="0" indent="0">
              <a:lnSpc>
                <a:spcPct val="100000"/>
              </a:lnSpc>
              <a:spcBef>
                <a:spcPts val="0"/>
              </a:spcBef>
              <a:buNone/>
            </a:pPr>
            <a:r>
              <a:rPr lang="en-GB" sz="2000" dirty="0" smtClean="0">
                <a:latin typeface="Cambria" panose="02040503050406030204" pitchFamily="18" charset="0"/>
                <a:ea typeface="Cambria" panose="02040503050406030204" pitchFamily="18" charset="0"/>
              </a:rPr>
              <a:t>	</a:t>
            </a:r>
            <a:r>
              <a:rPr lang="en-GB" sz="2000" b="1" dirty="0" smtClean="0">
                <a:latin typeface="Cambria" panose="02040503050406030204" pitchFamily="18" charset="0"/>
                <a:ea typeface="Cambria" panose="02040503050406030204" pitchFamily="18" charset="0"/>
              </a:rPr>
              <a:t>&lt;%@ page attribute="value" %&gt;  </a:t>
            </a:r>
          </a:p>
          <a:p>
            <a:pPr>
              <a:lnSpc>
                <a:spcPct val="100000"/>
              </a:lnSpc>
              <a:spcBef>
                <a:spcPts val="0"/>
              </a:spcBef>
            </a:pPr>
            <a:r>
              <a:rPr lang="en-US" sz="2000" u="sng" dirty="0" smtClean="0">
                <a:latin typeface="Cambria" panose="02040503050406030204" pitchFamily="18" charset="0"/>
                <a:ea typeface="Cambria" panose="02040503050406030204" pitchFamily="18" charset="0"/>
              </a:rPr>
              <a:t>Attributes of JSP page directive</a:t>
            </a:r>
          </a:p>
          <a:p>
            <a:pPr lvl="1">
              <a:lnSpc>
                <a:spcPct val="100000"/>
              </a:lnSpc>
              <a:spcBef>
                <a:spcPts val="0"/>
              </a:spcBef>
              <a:buFont typeface="Courier New" pitchFamily="49" charset="0"/>
              <a:buChar char="o"/>
            </a:pPr>
            <a:r>
              <a:rPr lang="en-US" sz="1800" dirty="0" smtClean="0">
                <a:latin typeface="Cambria" panose="02040503050406030204" pitchFamily="18" charset="0"/>
                <a:ea typeface="Cambria" panose="02040503050406030204" pitchFamily="18" charset="0"/>
              </a:rPr>
              <a:t>import</a:t>
            </a:r>
          </a:p>
          <a:p>
            <a:pPr lvl="1">
              <a:lnSpc>
                <a:spcPct val="100000"/>
              </a:lnSpc>
              <a:spcBef>
                <a:spcPts val="0"/>
              </a:spcBef>
              <a:buFont typeface="Courier New" pitchFamily="49" charset="0"/>
              <a:buChar char="o"/>
            </a:pPr>
            <a:r>
              <a:rPr lang="en-US" sz="1800" dirty="0" err="1" smtClean="0">
                <a:latin typeface="Cambria" panose="02040503050406030204" pitchFamily="18" charset="0"/>
                <a:ea typeface="Cambria" panose="02040503050406030204" pitchFamily="18" charset="0"/>
              </a:rPr>
              <a:t>contentType</a:t>
            </a:r>
            <a:endParaRPr lang="en-US" sz="1800" dirty="0" smtClean="0">
              <a:latin typeface="Cambria" panose="02040503050406030204" pitchFamily="18" charset="0"/>
              <a:ea typeface="Cambria" panose="02040503050406030204" pitchFamily="18" charset="0"/>
            </a:endParaRPr>
          </a:p>
          <a:p>
            <a:pPr lvl="1">
              <a:lnSpc>
                <a:spcPct val="100000"/>
              </a:lnSpc>
              <a:spcBef>
                <a:spcPts val="0"/>
              </a:spcBef>
              <a:buFont typeface="Courier New" pitchFamily="49" charset="0"/>
              <a:buChar char="o"/>
            </a:pPr>
            <a:r>
              <a:rPr lang="en-US" sz="1800" dirty="0" smtClean="0">
                <a:latin typeface="Cambria" panose="02040503050406030204" pitchFamily="18" charset="0"/>
                <a:ea typeface="Cambria" panose="02040503050406030204" pitchFamily="18" charset="0"/>
              </a:rPr>
              <a:t>extends</a:t>
            </a:r>
          </a:p>
          <a:p>
            <a:pPr lvl="1">
              <a:lnSpc>
                <a:spcPct val="100000"/>
              </a:lnSpc>
              <a:spcBef>
                <a:spcPts val="0"/>
              </a:spcBef>
              <a:buFont typeface="Courier New" pitchFamily="49" charset="0"/>
              <a:buChar char="o"/>
            </a:pPr>
            <a:r>
              <a:rPr lang="en-US" sz="1800" dirty="0" smtClean="0">
                <a:latin typeface="Cambria" panose="02040503050406030204" pitchFamily="18" charset="0"/>
                <a:ea typeface="Cambria" panose="02040503050406030204" pitchFamily="18" charset="0"/>
              </a:rPr>
              <a:t>info</a:t>
            </a:r>
          </a:p>
          <a:p>
            <a:pPr lvl="1">
              <a:lnSpc>
                <a:spcPct val="100000"/>
              </a:lnSpc>
              <a:spcBef>
                <a:spcPts val="0"/>
              </a:spcBef>
              <a:buFont typeface="Courier New" pitchFamily="49" charset="0"/>
              <a:buChar char="o"/>
            </a:pPr>
            <a:r>
              <a:rPr lang="en-US" sz="1800" dirty="0" smtClean="0">
                <a:latin typeface="Cambria" panose="02040503050406030204" pitchFamily="18" charset="0"/>
                <a:ea typeface="Cambria" panose="02040503050406030204" pitchFamily="18" charset="0"/>
              </a:rPr>
              <a:t>language</a:t>
            </a:r>
          </a:p>
          <a:p>
            <a:pPr lvl="1">
              <a:lnSpc>
                <a:spcPct val="100000"/>
              </a:lnSpc>
              <a:spcBef>
                <a:spcPts val="0"/>
              </a:spcBef>
              <a:buFont typeface="Courier New" pitchFamily="49" charset="0"/>
              <a:buChar char="o"/>
            </a:pPr>
            <a:r>
              <a:rPr lang="en-US" sz="1800" dirty="0" err="1" smtClean="0">
                <a:latin typeface="Cambria" panose="02040503050406030204" pitchFamily="18" charset="0"/>
                <a:ea typeface="Cambria" panose="02040503050406030204" pitchFamily="18" charset="0"/>
              </a:rPr>
              <a:t>isELIgnored</a:t>
            </a:r>
            <a:endParaRPr lang="en-US" sz="1800" dirty="0" smtClean="0">
              <a:latin typeface="Cambria" panose="02040503050406030204" pitchFamily="18" charset="0"/>
              <a:ea typeface="Cambria" panose="02040503050406030204" pitchFamily="18" charset="0"/>
            </a:endParaRPr>
          </a:p>
          <a:p>
            <a:pPr lvl="1">
              <a:lnSpc>
                <a:spcPct val="100000"/>
              </a:lnSpc>
              <a:spcBef>
                <a:spcPts val="0"/>
              </a:spcBef>
              <a:buFont typeface="Courier New" pitchFamily="49" charset="0"/>
              <a:buChar char="o"/>
            </a:pPr>
            <a:r>
              <a:rPr lang="en-US" sz="1800" dirty="0" smtClean="0">
                <a:latin typeface="Cambria" panose="02040503050406030204" pitchFamily="18" charset="0"/>
                <a:ea typeface="Cambria" panose="02040503050406030204" pitchFamily="18" charset="0"/>
              </a:rPr>
              <a:t>isThreadSafe</a:t>
            </a:r>
          </a:p>
          <a:p>
            <a:pPr lvl="1">
              <a:lnSpc>
                <a:spcPct val="100000"/>
              </a:lnSpc>
              <a:spcBef>
                <a:spcPts val="0"/>
              </a:spcBef>
              <a:buFont typeface="Courier New" pitchFamily="49" charset="0"/>
              <a:buChar char="o"/>
            </a:pPr>
            <a:r>
              <a:rPr lang="en-US" sz="1800" dirty="0" err="1" smtClean="0">
                <a:latin typeface="Cambria" panose="02040503050406030204" pitchFamily="18" charset="0"/>
                <a:ea typeface="Cambria" panose="02040503050406030204" pitchFamily="18" charset="0"/>
              </a:rPr>
              <a:t>pageEncoding</a:t>
            </a:r>
            <a:endParaRPr lang="en-US" sz="1800" dirty="0" smtClean="0">
              <a:latin typeface="Cambria" panose="02040503050406030204" pitchFamily="18" charset="0"/>
              <a:ea typeface="Cambria" panose="02040503050406030204" pitchFamily="18" charset="0"/>
            </a:endParaRPr>
          </a:p>
          <a:p>
            <a:pPr lvl="1">
              <a:lnSpc>
                <a:spcPct val="100000"/>
              </a:lnSpc>
              <a:spcBef>
                <a:spcPts val="0"/>
              </a:spcBef>
              <a:buFont typeface="Courier New" pitchFamily="49" charset="0"/>
              <a:buChar char="o"/>
            </a:pPr>
            <a:r>
              <a:rPr lang="en-US" sz="1800" dirty="0" err="1" smtClean="0">
                <a:latin typeface="Cambria" panose="02040503050406030204" pitchFamily="18" charset="0"/>
                <a:ea typeface="Cambria" panose="02040503050406030204" pitchFamily="18" charset="0"/>
              </a:rPr>
              <a:t>errorPage</a:t>
            </a:r>
            <a:endParaRPr lang="en-US" sz="1800" dirty="0" smtClean="0">
              <a:latin typeface="Cambria" panose="02040503050406030204" pitchFamily="18" charset="0"/>
              <a:ea typeface="Cambria" panose="02040503050406030204" pitchFamily="18" charset="0"/>
            </a:endParaRPr>
          </a:p>
          <a:p>
            <a:pPr lvl="1">
              <a:lnSpc>
                <a:spcPct val="100000"/>
              </a:lnSpc>
              <a:spcBef>
                <a:spcPts val="0"/>
              </a:spcBef>
              <a:buFont typeface="Courier New" pitchFamily="49" charset="0"/>
              <a:buChar char="o"/>
            </a:pPr>
            <a:r>
              <a:rPr lang="en-US" sz="1800" dirty="0" err="1" smtClean="0">
                <a:latin typeface="Cambria" panose="02040503050406030204" pitchFamily="18" charset="0"/>
                <a:ea typeface="Cambria" panose="02040503050406030204" pitchFamily="18" charset="0"/>
              </a:rPr>
              <a:t>isErrorPage</a:t>
            </a:r>
            <a:endParaRPr lang="en-US" sz="1800" dirty="0" smtClean="0">
              <a:latin typeface="Cambria" panose="02040503050406030204" pitchFamily="18" charset="0"/>
              <a:ea typeface="Cambria" panose="02040503050406030204" pitchFamily="18" charset="0"/>
            </a:endParaRPr>
          </a:p>
          <a:p>
            <a:pPr>
              <a:lnSpc>
                <a:spcPct val="100000"/>
              </a:lnSpc>
              <a:spcBef>
                <a:spcPts val="0"/>
              </a:spcBef>
              <a:buNone/>
            </a:pPr>
            <a:endParaRPr lang="en-US" sz="24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92</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344" y="116632"/>
            <a:ext cx="2089448" cy="478405"/>
          </a:xfrm>
        </p:spPr>
        <p:txBody>
          <a:bodyPr/>
          <a:lstStyle/>
          <a:p>
            <a:r>
              <a:rPr lang="en-GB" sz="4000" b="1" dirty="0" smtClean="0">
                <a:solidFill>
                  <a:srgbClr val="7030A0"/>
                </a:solidFill>
                <a:latin typeface="Cambria" panose="02040503050406030204" pitchFamily="18" charset="0"/>
                <a:ea typeface="Cambria" panose="02040503050406030204" pitchFamily="18" charset="0"/>
              </a:rPr>
              <a:t/>
            </a:r>
            <a:br>
              <a:rPr lang="en-GB" sz="4000" b="1" dirty="0" smtClean="0">
                <a:solidFill>
                  <a:srgbClr val="7030A0"/>
                </a:solidFill>
                <a:latin typeface="Cambria" panose="02040503050406030204" pitchFamily="18" charset="0"/>
                <a:ea typeface="Cambria" panose="02040503050406030204" pitchFamily="18" charset="0"/>
              </a:rPr>
            </a:br>
            <a:r>
              <a:rPr lang="en-US" sz="4000" b="1" dirty="0" smtClean="0">
                <a:solidFill>
                  <a:srgbClr val="7030A0"/>
                </a:solidFill>
                <a:latin typeface="Cambria" panose="02040503050406030204" pitchFamily="18" charset="0"/>
                <a:ea typeface="Cambria" panose="02040503050406030204" pitchFamily="18" charset="0"/>
              </a:rPr>
              <a:t>import</a:t>
            </a:r>
            <a:br>
              <a:rPr lang="en-US" sz="4000" b="1" dirty="0" smtClean="0">
                <a:solidFill>
                  <a:srgbClr val="7030A0"/>
                </a:solidFill>
                <a:latin typeface="Cambria" panose="02040503050406030204" pitchFamily="18" charset="0"/>
                <a:ea typeface="Cambria" panose="02040503050406030204" pitchFamily="18" charset="0"/>
              </a:rPr>
            </a:br>
            <a:endParaRPr lang="en-US" sz="4000" b="1" dirty="0">
              <a:solidFill>
                <a:srgbClr val="7030A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983432" y="764704"/>
            <a:ext cx="9218240" cy="4157084"/>
          </a:xfrm>
        </p:spPr>
        <p:txBody>
          <a:bodyPr/>
          <a:lstStyle/>
          <a:p>
            <a:pPr algn="just"/>
            <a:r>
              <a:rPr lang="en-GB" sz="2000" dirty="0" smtClean="0">
                <a:latin typeface="Cambria" panose="02040503050406030204" pitchFamily="18" charset="0"/>
                <a:ea typeface="Cambria" panose="02040503050406030204" pitchFamily="18" charset="0"/>
              </a:rPr>
              <a:t>The import attribute is used to import class, interface or all the members of a package. It is similar to import keyword in java class or interface. Example of import attribute</a:t>
            </a:r>
          </a:p>
          <a:p>
            <a:pPr marL="0" indent="0" algn="just">
              <a:buNone/>
            </a:pPr>
            <a:endParaRPr lang="en-GB" sz="2000" dirty="0" smtClean="0">
              <a:latin typeface="Cambria" panose="02040503050406030204" pitchFamily="18" charset="0"/>
              <a:ea typeface="Cambria" panose="02040503050406030204" pitchFamily="18" charset="0"/>
            </a:endParaRPr>
          </a:p>
          <a:p>
            <a:pPr marL="914400" lvl="2" indent="0" algn="just">
              <a:buNone/>
            </a:pPr>
            <a:r>
              <a:rPr lang="en-GB" sz="2400" dirty="0" smtClean="0">
                <a:latin typeface="Cambria" panose="02040503050406030204" pitchFamily="18" charset="0"/>
                <a:ea typeface="Cambria" panose="02040503050406030204" pitchFamily="18" charset="0"/>
              </a:rPr>
              <a:t>&lt;html&gt;  </a:t>
            </a:r>
          </a:p>
          <a:p>
            <a:pPr marL="914400" lvl="2" indent="0" algn="just">
              <a:buNone/>
            </a:pPr>
            <a:r>
              <a:rPr lang="en-GB" sz="2400" dirty="0" smtClean="0">
                <a:latin typeface="Cambria" panose="02040503050406030204" pitchFamily="18" charset="0"/>
                <a:ea typeface="Cambria" panose="02040503050406030204" pitchFamily="18" charset="0"/>
              </a:rPr>
              <a:t>&lt;body&gt;  </a:t>
            </a:r>
          </a:p>
          <a:p>
            <a:pPr marL="914400" lvl="2" indent="0" algn="just">
              <a:buNone/>
            </a:pPr>
            <a:r>
              <a:rPr lang="en-GB" sz="2400" dirty="0" smtClean="0">
                <a:latin typeface="Cambria" panose="02040503050406030204" pitchFamily="18" charset="0"/>
                <a:ea typeface="Cambria" panose="02040503050406030204" pitchFamily="18" charset="0"/>
              </a:rPr>
              <a:t>&lt;%@ page </a:t>
            </a:r>
            <a:r>
              <a:rPr lang="en-GB" sz="2400" b="1" dirty="0" smtClean="0">
                <a:latin typeface="Cambria" panose="02040503050406030204" pitchFamily="18" charset="0"/>
                <a:ea typeface="Cambria" panose="02040503050406030204" pitchFamily="18" charset="0"/>
              </a:rPr>
              <a:t>import</a:t>
            </a:r>
            <a:r>
              <a:rPr lang="en-GB" sz="2400" dirty="0" smtClean="0">
                <a:latin typeface="Cambria" panose="02040503050406030204" pitchFamily="18" charset="0"/>
                <a:ea typeface="Cambria" panose="02040503050406030204" pitchFamily="18" charset="0"/>
              </a:rPr>
              <a:t>="</a:t>
            </a:r>
            <a:r>
              <a:rPr lang="en-GB" sz="2400" dirty="0" err="1" smtClean="0">
                <a:latin typeface="Cambria" panose="02040503050406030204" pitchFamily="18" charset="0"/>
                <a:ea typeface="Cambria" panose="02040503050406030204" pitchFamily="18" charset="0"/>
              </a:rPr>
              <a:t>java.util.Date</a:t>
            </a:r>
            <a:r>
              <a:rPr lang="en-GB" sz="2400" dirty="0" smtClean="0">
                <a:latin typeface="Cambria" panose="02040503050406030204" pitchFamily="18" charset="0"/>
                <a:ea typeface="Cambria" panose="02040503050406030204" pitchFamily="18" charset="0"/>
              </a:rPr>
              <a:t>" %&gt;  </a:t>
            </a:r>
          </a:p>
          <a:p>
            <a:pPr marL="914400" lvl="2" indent="0" algn="just">
              <a:buNone/>
            </a:pPr>
            <a:r>
              <a:rPr lang="en-GB" sz="2400" dirty="0" smtClean="0">
                <a:latin typeface="Cambria" panose="02040503050406030204" pitchFamily="18" charset="0"/>
                <a:ea typeface="Cambria" panose="02040503050406030204" pitchFamily="18" charset="0"/>
              </a:rPr>
              <a:t>Today is: &lt;%= </a:t>
            </a:r>
            <a:r>
              <a:rPr lang="en-GB" sz="2400" b="1" dirty="0" smtClean="0">
                <a:latin typeface="Cambria" panose="02040503050406030204" pitchFamily="18" charset="0"/>
                <a:ea typeface="Cambria" panose="02040503050406030204" pitchFamily="18" charset="0"/>
              </a:rPr>
              <a:t>new</a:t>
            </a:r>
            <a:r>
              <a:rPr lang="en-GB" sz="2400" dirty="0" smtClean="0">
                <a:latin typeface="Cambria" panose="02040503050406030204" pitchFamily="18" charset="0"/>
                <a:ea typeface="Cambria" panose="02040503050406030204" pitchFamily="18" charset="0"/>
              </a:rPr>
              <a:t> Date() %&gt;  </a:t>
            </a:r>
          </a:p>
          <a:p>
            <a:pPr marL="914400" lvl="2" indent="0" algn="just">
              <a:buNone/>
            </a:pPr>
            <a:r>
              <a:rPr lang="en-GB" sz="2400" dirty="0" smtClean="0">
                <a:latin typeface="Cambria" panose="02040503050406030204" pitchFamily="18" charset="0"/>
                <a:ea typeface="Cambria" panose="02040503050406030204" pitchFamily="18" charset="0"/>
              </a:rPr>
              <a:t>&lt;/body&gt;  </a:t>
            </a:r>
          </a:p>
          <a:p>
            <a:pPr marL="914400" lvl="2" indent="0" algn="just">
              <a:buNone/>
            </a:pPr>
            <a:r>
              <a:rPr lang="en-GB" sz="2400" dirty="0" smtClean="0">
                <a:latin typeface="Cambria" panose="02040503050406030204" pitchFamily="18" charset="0"/>
                <a:ea typeface="Cambria" panose="02040503050406030204" pitchFamily="18" charset="0"/>
              </a:rPr>
              <a:t>&lt;/html&gt; </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93</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582" y="31685"/>
            <a:ext cx="10515600" cy="849297"/>
          </a:xfrm>
        </p:spPr>
        <p:txBody>
          <a:bodyPr/>
          <a:lstStyle/>
          <a:p>
            <a:r>
              <a:rPr lang="en-US" sz="4000" b="1" dirty="0" smtClean="0">
                <a:solidFill>
                  <a:schemeClr val="accent5"/>
                </a:solidFill>
                <a:latin typeface="Cambria" panose="02040503050406030204" pitchFamily="18" charset="0"/>
                <a:ea typeface="Cambria" panose="02040503050406030204" pitchFamily="18" charset="0"/>
              </a:rPr>
              <a:t/>
            </a:r>
            <a:br>
              <a:rPr lang="en-US" sz="4000" b="1" dirty="0" smtClean="0">
                <a:solidFill>
                  <a:schemeClr val="accent5"/>
                </a:solidFill>
                <a:latin typeface="Cambria" panose="02040503050406030204" pitchFamily="18" charset="0"/>
                <a:ea typeface="Cambria" panose="02040503050406030204" pitchFamily="18" charset="0"/>
              </a:rPr>
            </a:br>
            <a:r>
              <a:rPr lang="en-US" sz="4000" b="1" dirty="0" smtClean="0">
                <a:solidFill>
                  <a:schemeClr val="accent5"/>
                </a:solidFill>
                <a:latin typeface="Cambria" panose="02040503050406030204" pitchFamily="18" charset="0"/>
                <a:ea typeface="Cambria" panose="02040503050406030204" pitchFamily="18" charset="0"/>
              </a:rPr>
              <a:t/>
            </a:r>
            <a:br>
              <a:rPr lang="en-US" sz="4000" b="1" dirty="0" smtClean="0">
                <a:solidFill>
                  <a:schemeClr val="accent5"/>
                </a:solidFill>
                <a:latin typeface="Cambria" panose="02040503050406030204" pitchFamily="18" charset="0"/>
                <a:ea typeface="Cambria" panose="02040503050406030204" pitchFamily="18" charset="0"/>
              </a:rPr>
            </a:br>
            <a:r>
              <a:rPr lang="en-US" sz="4000" b="1" dirty="0" err="1" smtClean="0">
                <a:solidFill>
                  <a:schemeClr val="accent5"/>
                </a:solidFill>
                <a:latin typeface="Cambria" panose="02040503050406030204" pitchFamily="18" charset="0"/>
                <a:ea typeface="Cambria" panose="02040503050406030204" pitchFamily="18" charset="0"/>
              </a:rPr>
              <a:t>contentType</a:t>
            </a:r>
            <a:r>
              <a:rPr lang="en-US" sz="4000" b="1" dirty="0" smtClean="0">
                <a:solidFill>
                  <a:schemeClr val="accent5"/>
                </a:solidFill>
                <a:latin typeface="Cambria" panose="02040503050406030204" pitchFamily="18" charset="0"/>
                <a:ea typeface="Cambria" panose="02040503050406030204" pitchFamily="18" charset="0"/>
              </a:rPr>
              <a:t/>
            </a:r>
            <a:br>
              <a:rPr lang="en-US" sz="4000" b="1" dirty="0" smtClean="0">
                <a:solidFill>
                  <a:schemeClr val="accent5"/>
                </a:solidFill>
                <a:latin typeface="Cambria" panose="02040503050406030204" pitchFamily="18" charset="0"/>
                <a:ea typeface="Cambria" panose="02040503050406030204" pitchFamily="18" charset="0"/>
              </a:rPr>
            </a:br>
            <a:r>
              <a:rPr lang="en-US" sz="4000" b="1" dirty="0" smtClean="0">
                <a:solidFill>
                  <a:schemeClr val="accent5"/>
                </a:solidFill>
                <a:latin typeface="Cambria" panose="02040503050406030204" pitchFamily="18" charset="0"/>
                <a:ea typeface="Cambria" panose="02040503050406030204" pitchFamily="18" charset="0"/>
              </a:rPr>
              <a:t/>
            </a:r>
            <a:br>
              <a:rPr lang="en-US" sz="4000" b="1" dirty="0" smtClean="0">
                <a:solidFill>
                  <a:schemeClr val="accent5"/>
                </a:solidFill>
                <a:latin typeface="Cambria" panose="02040503050406030204" pitchFamily="18" charset="0"/>
                <a:ea typeface="Cambria" panose="02040503050406030204" pitchFamily="18" charset="0"/>
              </a:rPr>
            </a:br>
            <a:endParaRPr lang="en-US" sz="40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623392" y="880983"/>
            <a:ext cx="10441160" cy="4276210"/>
          </a:xfrm>
        </p:spPr>
        <p:txBody>
          <a:bodyPr/>
          <a:lstStyle/>
          <a:p>
            <a:pPr algn="just"/>
            <a:r>
              <a:rPr lang="en-GB" sz="2400" dirty="0" smtClean="0">
                <a:latin typeface="Cambria" panose="02040503050406030204" pitchFamily="18" charset="0"/>
                <a:ea typeface="Cambria" panose="02040503050406030204" pitchFamily="18" charset="0"/>
              </a:rPr>
              <a:t> The contentType attribute defines the MIME type of the HTTP response. The default value is "text/html;charset=ISO-8859-1".</a:t>
            </a:r>
          </a:p>
          <a:p>
            <a:pPr algn="just"/>
            <a:r>
              <a:rPr lang="en-GB" sz="2400" u="sng" dirty="0" smtClean="0">
                <a:latin typeface="Cambria" panose="02040503050406030204" pitchFamily="18" charset="0"/>
                <a:ea typeface="Cambria" panose="02040503050406030204" pitchFamily="18" charset="0"/>
              </a:rPr>
              <a:t>Example of </a:t>
            </a:r>
            <a:r>
              <a:rPr lang="en-GB" sz="2400" u="sng" dirty="0" err="1" smtClean="0">
                <a:latin typeface="Cambria" panose="02040503050406030204" pitchFamily="18" charset="0"/>
                <a:ea typeface="Cambria" panose="02040503050406030204" pitchFamily="18" charset="0"/>
              </a:rPr>
              <a:t>contentType</a:t>
            </a:r>
            <a:r>
              <a:rPr lang="en-GB" sz="2400" u="sng" dirty="0" smtClean="0">
                <a:latin typeface="Cambria" panose="02040503050406030204" pitchFamily="18" charset="0"/>
                <a:ea typeface="Cambria" panose="02040503050406030204" pitchFamily="18" charset="0"/>
              </a:rPr>
              <a:t> attribute</a:t>
            </a:r>
          </a:p>
          <a:p>
            <a:pPr algn="just">
              <a:spcBef>
                <a:spcPts val="0"/>
              </a:spcBef>
              <a:buNone/>
            </a:pPr>
            <a:r>
              <a:rPr lang="en-GB" sz="2400" dirty="0" smtClean="0">
                <a:latin typeface="Cambria" panose="02040503050406030204" pitchFamily="18" charset="0"/>
                <a:ea typeface="Cambria" panose="02040503050406030204" pitchFamily="18" charset="0"/>
              </a:rPr>
              <a:t>&lt;html&gt;  </a:t>
            </a:r>
          </a:p>
          <a:p>
            <a:pPr algn="just">
              <a:spcBef>
                <a:spcPts val="0"/>
              </a:spcBef>
              <a:buNone/>
            </a:pPr>
            <a:r>
              <a:rPr lang="en-GB" sz="2400" dirty="0" smtClean="0">
                <a:latin typeface="Cambria" panose="02040503050406030204" pitchFamily="18" charset="0"/>
                <a:ea typeface="Cambria" panose="02040503050406030204" pitchFamily="18" charset="0"/>
              </a:rPr>
              <a:t>&lt;body&gt;  </a:t>
            </a:r>
          </a:p>
          <a:p>
            <a:pPr algn="just">
              <a:spcBef>
                <a:spcPts val="0"/>
              </a:spcBef>
              <a:buNone/>
            </a:pPr>
            <a:r>
              <a:rPr lang="en-GB" sz="2400" dirty="0" smtClean="0">
                <a:latin typeface="Cambria" panose="02040503050406030204" pitchFamily="18" charset="0"/>
                <a:ea typeface="Cambria" panose="02040503050406030204" pitchFamily="18" charset="0"/>
              </a:rPr>
              <a:t>  </a:t>
            </a:r>
          </a:p>
          <a:p>
            <a:pPr algn="just">
              <a:spcBef>
                <a:spcPts val="0"/>
              </a:spcBef>
              <a:buNone/>
            </a:pPr>
            <a:r>
              <a:rPr lang="en-GB" sz="2400" dirty="0" smtClean="0">
                <a:latin typeface="Cambria" panose="02040503050406030204" pitchFamily="18" charset="0"/>
                <a:ea typeface="Cambria" panose="02040503050406030204" pitchFamily="18" charset="0"/>
              </a:rPr>
              <a:t>&lt;%@ page </a:t>
            </a:r>
            <a:r>
              <a:rPr lang="en-GB" sz="2400" dirty="0" err="1" smtClean="0">
                <a:latin typeface="Cambria" panose="02040503050406030204" pitchFamily="18" charset="0"/>
                <a:ea typeface="Cambria" panose="02040503050406030204" pitchFamily="18" charset="0"/>
              </a:rPr>
              <a:t>contentType</a:t>
            </a:r>
            <a:r>
              <a:rPr lang="en-GB" sz="2400" dirty="0" smtClean="0">
                <a:latin typeface="Cambria" panose="02040503050406030204" pitchFamily="18" charset="0"/>
                <a:ea typeface="Cambria" panose="02040503050406030204" pitchFamily="18" charset="0"/>
              </a:rPr>
              <a:t>=application/</a:t>
            </a:r>
            <a:r>
              <a:rPr lang="en-GB" sz="2400" dirty="0" err="1" smtClean="0">
                <a:latin typeface="Cambria" panose="02040503050406030204" pitchFamily="18" charset="0"/>
                <a:ea typeface="Cambria" panose="02040503050406030204" pitchFamily="18" charset="0"/>
              </a:rPr>
              <a:t>msword</a:t>
            </a:r>
            <a:r>
              <a:rPr lang="en-GB" sz="2400" dirty="0" smtClean="0">
                <a:latin typeface="Cambria" panose="02040503050406030204" pitchFamily="18" charset="0"/>
                <a:ea typeface="Cambria" panose="02040503050406030204" pitchFamily="18" charset="0"/>
              </a:rPr>
              <a:t> %&gt;  </a:t>
            </a:r>
          </a:p>
          <a:p>
            <a:pPr algn="just">
              <a:spcBef>
                <a:spcPts val="0"/>
              </a:spcBef>
              <a:buNone/>
            </a:pPr>
            <a:r>
              <a:rPr lang="en-GB" sz="2400" dirty="0" smtClean="0">
                <a:latin typeface="Cambria" panose="02040503050406030204" pitchFamily="18" charset="0"/>
                <a:ea typeface="Cambria" panose="02040503050406030204" pitchFamily="18" charset="0"/>
              </a:rPr>
              <a:t>Today is: &lt;%= </a:t>
            </a:r>
            <a:r>
              <a:rPr lang="en-GB" sz="2400" b="1" dirty="0" smtClean="0">
                <a:latin typeface="Cambria" panose="02040503050406030204" pitchFamily="18" charset="0"/>
                <a:ea typeface="Cambria" panose="02040503050406030204" pitchFamily="18" charset="0"/>
              </a:rPr>
              <a:t>new</a:t>
            </a:r>
            <a:r>
              <a:rPr lang="en-GB" sz="2400" dirty="0" smtClean="0">
                <a:latin typeface="Cambria" panose="02040503050406030204" pitchFamily="18" charset="0"/>
                <a:ea typeface="Cambria" panose="02040503050406030204" pitchFamily="18" charset="0"/>
              </a:rPr>
              <a:t> </a:t>
            </a:r>
            <a:r>
              <a:rPr lang="en-GB" sz="2400" dirty="0" err="1" smtClean="0">
                <a:latin typeface="Cambria" panose="02040503050406030204" pitchFamily="18" charset="0"/>
                <a:ea typeface="Cambria" panose="02040503050406030204" pitchFamily="18" charset="0"/>
              </a:rPr>
              <a:t>java.util.Date</a:t>
            </a:r>
            <a:r>
              <a:rPr lang="en-GB" sz="2400" dirty="0" smtClean="0">
                <a:latin typeface="Cambria" panose="02040503050406030204" pitchFamily="18" charset="0"/>
                <a:ea typeface="Cambria" panose="02040503050406030204" pitchFamily="18" charset="0"/>
              </a:rPr>
              <a:t>() %&gt;  </a:t>
            </a:r>
          </a:p>
          <a:p>
            <a:pPr algn="just">
              <a:spcBef>
                <a:spcPts val="0"/>
              </a:spcBef>
              <a:buNone/>
            </a:pPr>
            <a:r>
              <a:rPr lang="en-GB" sz="2400" dirty="0" smtClean="0">
                <a:latin typeface="Cambria" panose="02040503050406030204" pitchFamily="18" charset="0"/>
                <a:ea typeface="Cambria" panose="02040503050406030204" pitchFamily="18" charset="0"/>
              </a:rPr>
              <a:t>  </a:t>
            </a:r>
          </a:p>
          <a:p>
            <a:pPr algn="just">
              <a:spcBef>
                <a:spcPts val="0"/>
              </a:spcBef>
              <a:buNone/>
            </a:pPr>
            <a:r>
              <a:rPr lang="en-GB" sz="2400" dirty="0" smtClean="0">
                <a:latin typeface="Cambria" panose="02040503050406030204" pitchFamily="18" charset="0"/>
                <a:ea typeface="Cambria" panose="02040503050406030204" pitchFamily="18" charset="0"/>
              </a:rPr>
              <a:t>&lt;/body&gt;  </a:t>
            </a:r>
          </a:p>
          <a:p>
            <a:pPr algn="just">
              <a:spcBef>
                <a:spcPts val="0"/>
              </a:spcBef>
              <a:buNone/>
            </a:pPr>
            <a:r>
              <a:rPr lang="en-GB" sz="2400" dirty="0" smtClean="0">
                <a:latin typeface="Cambria" panose="02040503050406030204" pitchFamily="18" charset="0"/>
                <a:ea typeface="Cambria" panose="02040503050406030204" pitchFamily="18" charset="0"/>
              </a:rPr>
              <a:t>&lt;/html&gt;  </a:t>
            </a:r>
          </a:p>
          <a:p>
            <a:pPr algn="just"/>
            <a:endParaRPr lang="en-GB" sz="2400" dirty="0" smtClean="0">
              <a:latin typeface="Cambria" panose="02040503050406030204" pitchFamily="18" charset="0"/>
              <a:ea typeface="Cambria" panose="02040503050406030204" pitchFamily="18" charset="0"/>
            </a:endParaRPr>
          </a:p>
          <a:p>
            <a:pPr algn="just"/>
            <a:endParaRPr lang="en-US" sz="24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94</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78" y="19653"/>
            <a:ext cx="5301934" cy="529027"/>
          </a:xfrm>
        </p:spPr>
        <p:txBody>
          <a:bodyPr/>
          <a:lstStyle/>
          <a:p>
            <a:r>
              <a:rPr lang="en-US" sz="4000" b="1" dirty="0">
                <a:solidFill>
                  <a:schemeClr val="accent5"/>
                </a:solidFill>
                <a:latin typeface="Cambria" panose="02040503050406030204" pitchFamily="18" charset="0"/>
                <a:ea typeface="Cambria" panose="02040503050406030204" pitchFamily="18" charset="0"/>
              </a:rPr>
              <a:t>e</a:t>
            </a:r>
            <a:r>
              <a:rPr lang="en-US" sz="4000" b="1" dirty="0" smtClean="0">
                <a:solidFill>
                  <a:schemeClr val="accent5"/>
                </a:solidFill>
                <a:latin typeface="Cambria" panose="02040503050406030204" pitchFamily="18" charset="0"/>
                <a:ea typeface="Cambria" panose="02040503050406030204" pitchFamily="18" charset="0"/>
              </a:rPr>
              <a:t>xtends &amp; info</a:t>
            </a:r>
            <a:endParaRPr lang="en-US" sz="40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79376" y="565974"/>
            <a:ext cx="10515600" cy="4819665"/>
          </a:xfrm>
        </p:spPr>
        <p:txBody>
          <a:bodyPr/>
          <a:lstStyle/>
          <a:p>
            <a:pPr algn="just"/>
            <a:r>
              <a:rPr lang="en-GB" sz="2000" dirty="0" smtClean="0">
                <a:latin typeface="Cambria" panose="02040503050406030204" pitchFamily="18" charset="0"/>
                <a:ea typeface="Cambria" panose="02040503050406030204" pitchFamily="18" charset="0"/>
              </a:rPr>
              <a:t>The “</a:t>
            </a:r>
            <a:r>
              <a:rPr lang="en-GB" sz="2000" b="1" dirty="0" smtClean="0">
                <a:latin typeface="Cambria" panose="02040503050406030204" pitchFamily="18" charset="0"/>
                <a:ea typeface="Cambria" panose="02040503050406030204" pitchFamily="18" charset="0"/>
              </a:rPr>
              <a:t>extends”</a:t>
            </a:r>
            <a:r>
              <a:rPr lang="en-GB" sz="2000" dirty="0" smtClean="0">
                <a:latin typeface="Cambria" panose="02040503050406030204" pitchFamily="18" charset="0"/>
                <a:ea typeface="Cambria" panose="02040503050406030204" pitchFamily="18" charset="0"/>
              </a:rPr>
              <a:t> attribute defines the parent class that will be inherited by the generated servlet. </a:t>
            </a:r>
          </a:p>
          <a:p>
            <a:pPr algn="just"/>
            <a:r>
              <a:rPr lang="en-GB" sz="2000" dirty="0" smtClean="0">
                <a:latin typeface="Cambria" panose="02040503050406030204" pitchFamily="18" charset="0"/>
                <a:ea typeface="Cambria" panose="02040503050406030204" pitchFamily="18" charset="0"/>
              </a:rPr>
              <a:t>The </a:t>
            </a:r>
            <a:r>
              <a:rPr lang="en-GB" sz="2000" b="1" dirty="0" smtClean="0">
                <a:latin typeface="Cambria" panose="02040503050406030204" pitchFamily="18" charset="0"/>
                <a:ea typeface="Cambria" panose="02040503050406030204" pitchFamily="18" charset="0"/>
              </a:rPr>
              <a:t>”info”</a:t>
            </a:r>
            <a:r>
              <a:rPr lang="en-GB" sz="2000" dirty="0" smtClean="0">
                <a:latin typeface="Cambria" panose="02040503050406030204" pitchFamily="18" charset="0"/>
                <a:ea typeface="Cambria" panose="02040503050406030204" pitchFamily="18" charset="0"/>
              </a:rPr>
              <a:t> attribute simply sets the information of the JSP page which is retrieved later by using getServletInfo() method of Servlet interface.</a:t>
            </a:r>
          </a:p>
          <a:p>
            <a:pPr algn="just"/>
            <a:r>
              <a:rPr lang="en-GB" sz="2000" u="sng" dirty="0" smtClean="0">
                <a:latin typeface="Cambria" panose="02040503050406030204" pitchFamily="18" charset="0"/>
                <a:ea typeface="Cambria" panose="02040503050406030204" pitchFamily="18" charset="0"/>
              </a:rPr>
              <a:t>Example of info attribute</a:t>
            </a:r>
          </a:p>
          <a:p>
            <a:pPr algn="just">
              <a:spcBef>
                <a:spcPts val="0"/>
              </a:spcBef>
              <a:buNone/>
            </a:pPr>
            <a:r>
              <a:rPr lang="en-GB" sz="2000" dirty="0" smtClean="0">
                <a:latin typeface="Cambria" panose="02040503050406030204" pitchFamily="18" charset="0"/>
                <a:ea typeface="Cambria" panose="02040503050406030204" pitchFamily="18" charset="0"/>
              </a:rPr>
              <a:t>&lt;html&gt;  </a:t>
            </a:r>
          </a:p>
          <a:p>
            <a:pPr algn="just">
              <a:spcBef>
                <a:spcPts val="0"/>
              </a:spcBef>
              <a:buNone/>
            </a:pPr>
            <a:r>
              <a:rPr lang="en-GB" sz="2000" dirty="0" smtClean="0">
                <a:latin typeface="Cambria" panose="02040503050406030204" pitchFamily="18" charset="0"/>
                <a:ea typeface="Cambria" panose="02040503050406030204" pitchFamily="18" charset="0"/>
              </a:rPr>
              <a:t>&lt;body&gt;    </a:t>
            </a:r>
          </a:p>
          <a:p>
            <a:pPr algn="just">
              <a:spcBef>
                <a:spcPts val="0"/>
              </a:spcBef>
              <a:buNone/>
            </a:pPr>
            <a:r>
              <a:rPr lang="en-GB" sz="2000" dirty="0" smtClean="0">
                <a:latin typeface="Cambria" panose="02040503050406030204" pitchFamily="18" charset="0"/>
                <a:ea typeface="Cambria" panose="02040503050406030204" pitchFamily="18" charset="0"/>
              </a:rPr>
              <a:t>&lt;%@ page info="composed by ZIA" %&gt;  </a:t>
            </a:r>
          </a:p>
          <a:p>
            <a:pPr algn="just">
              <a:spcBef>
                <a:spcPts val="0"/>
              </a:spcBef>
              <a:buNone/>
            </a:pPr>
            <a:r>
              <a:rPr lang="en-GB" sz="2000" dirty="0" smtClean="0">
                <a:latin typeface="Cambria" panose="02040503050406030204" pitchFamily="18" charset="0"/>
                <a:ea typeface="Cambria" panose="02040503050406030204" pitchFamily="18" charset="0"/>
              </a:rPr>
              <a:t>Today is: &lt;%= </a:t>
            </a:r>
            <a:r>
              <a:rPr lang="en-GB" sz="2000" b="1" dirty="0" smtClean="0">
                <a:latin typeface="Cambria" panose="02040503050406030204" pitchFamily="18" charset="0"/>
                <a:ea typeface="Cambria" panose="02040503050406030204" pitchFamily="18" charset="0"/>
              </a:rPr>
              <a:t>new</a:t>
            </a:r>
            <a:r>
              <a:rPr lang="en-GB" sz="2000" dirty="0" smtClean="0">
                <a:latin typeface="Cambria" panose="02040503050406030204" pitchFamily="18" charset="0"/>
                <a:ea typeface="Cambria" panose="02040503050406030204" pitchFamily="18" charset="0"/>
              </a:rPr>
              <a:t> java.util.Date() %&gt;    </a:t>
            </a:r>
          </a:p>
          <a:p>
            <a:pPr algn="just">
              <a:spcBef>
                <a:spcPts val="0"/>
              </a:spcBef>
              <a:buNone/>
            </a:pPr>
            <a:r>
              <a:rPr lang="en-GB" sz="2000" dirty="0" smtClean="0">
                <a:latin typeface="Cambria" panose="02040503050406030204" pitchFamily="18" charset="0"/>
                <a:ea typeface="Cambria" panose="02040503050406030204" pitchFamily="18" charset="0"/>
              </a:rPr>
              <a:t>&lt;/body&gt;  </a:t>
            </a:r>
          </a:p>
          <a:p>
            <a:pPr algn="just">
              <a:spcBef>
                <a:spcPts val="0"/>
              </a:spcBef>
              <a:buNone/>
            </a:pPr>
            <a:r>
              <a:rPr lang="en-GB" sz="2000" dirty="0" smtClean="0">
                <a:latin typeface="Cambria" panose="02040503050406030204" pitchFamily="18" charset="0"/>
                <a:ea typeface="Cambria" panose="02040503050406030204" pitchFamily="18" charset="0"/>
              </a:rPr>
              <a:t>&lt;/html&gt;  </a:t>
            </a:r>
          </a:p>
          <a:p>
            <a:pPr algn="just"/>
            <a:r>
              <a:rPr lang="en-GB" sz="2000" dirty="0" smtClean="0">
                <a:latin typeface="Cambria" panose="02040503050406030204" pitchFamily="18" charset="0"/>
                <a:ea typeface="Cambria" panose="02040503050406030204" pitchFamily="18" charset="0"/>
              </a:rPr>
              <a:t>The web container will create a method getServletInfo() in the resulting servlet. For example:</a:t>
            </a:r>
          </a:p>
          <a:p>
            <a:pPr algn="just">
              <a:buNone/>
            </a:pPr>
            <a:r>
              <a:rPr lang="en-GB" sz="2000" b="1" dirty="0" smtClean="0">
                <a:latin typeface="Cambria" panose="02040503050406030204" pitchFamily="18" charset="0"/>
                <a:ea typeface="Cambria" panose="02040503050406030204" pitchFamily="18" charset="0"/>
              </a:rPr>
              <a:t>public</a:t>
            </a:r>
            <a:r>
              <a:rPr lang="en-GB" sz="2000" dirty="0" smtClean="0">
                <a:latin typeface="Cambria" panose="02040503050406030204" pitchFamily="18" charset="0"/>
                <a:ea typeface="Cambria" panose="02040503050406030204" pitchFamily="18" charset="0"/>
              </a:rPr>
              <a:t> String </a:t>
            </a:r>
            <a:r>
              <a:rPr lang="en-GB" sz="2000" dirty="0" err="1" smtClean="0">
                <a:latin typeface="Cambria" panose="02040503050406030204" pitchFamily="18" charset="0"/>
                <a:ea typeface="Cambria" panose="02040503050406030204" pitchFamily="18" charset="0"/>
              </a:rPr>
              <a:t>getServletInfo</a:t>
            </a:r>
            <a:r>
              <a:rPr lang="en-GB" sz="2000" dirty="0" smtClean="0">
                <a:latin typeface="Cambria" panose="02040503050406030204" pitchFamily="18" charset="0"/>
                <a:ea typeface="Cambria" panose="02040503050406030204" pitchFamily="18" charset="0"/>
              </a:rPr>
              <a:t>() {  </a:t>
            </a:r>
          </a:p>
          <a:p>
            <a:pPr algn="just">
              <a:buNone/>
            </a:pPr>
            <a:r>
              <a:rPr lang="en-GB" sz="2000" dirty="0" smtClean="0">
                <a:latin typeface="Cambria" panose="02040503050406030204" pitchFamily="18" charset="0"/>
                <a:ea typeface="Cambria" panose="02040503050406030204" pitchFamily="18" charset="0"/>
              </a:rPr>
              <a:t>  </a:t>
            </a:r>
            <a:r>
              <a:rPr lang="en-GB" sz="2000" b="1" dirty="0" smtClean="0">
                <a:latin typeface="Cambria" panose="02040503050406030204" pitchFamily="18" charset="0"/>
                <a:ea typeface="Cambria" panose="02040503050406030204" pitchFamily="18" charset="0"/>
              </a:rPr>
              <a:t>return</a:t>
            </a:r>
            <a:r>
              <a:rPr lang="en-GB" sz="2000" dirty="0" smtClean="0">
                <a:latin typeface="Cambria" panose="02040503050406030204" pitchFamily="18" charset="0"/>
                <a:ea typeface="Cambria" panose="02040503050406030204" pitchFamily="18" charset="0"/>
              </a:rPr>
              <a:t> "composed by ZIA";   </a:t>
            </a:r>
          </a:p>
          <a:p>
            <a:pPr algn="just">
              <a:buNone/>
            </a:pPr>
            <a:r>
              <a:rPr lang="en-GB" sz="2000" dirty="0" smtClean="0">
                <a:latin typeface="Cambria" panose="02040503050406030204" pitchFamily="18" charset="0"/>
                <a:ea typeface="Cambria" panose="02040503050406030204" pitchFamily="18" charset="0"/>
              </a:rPr>
              <a:t>}  </a:t>
            </a:r>
          </a:p>
          <a:p>
            <a:pPr algn="just"/>
            <a:endParaRPr lang="en-US" sz="20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95</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31685"/>
            <a:ext cx="9865096" cy="516995"/>
          </a:xfrm>
        </p:spPr>
        <p:txBody>
          <a:bodyPr/>
          <a:lstStyle/>
          <a:p>
            <a:r>
              <a:rPr lang="en-GB" sz="3600" b="1" dirty="0" smtClean="0">
                <a:solidFill>
                  <a:schemeClr val="accent5"/>
                </a:solidFill>
                <a:latin typeface="Cambria" panose="02040503050406030204" pitchFamily="18" charset="0"/>
                <a:ea typeface="Cambria" panose="02040503050406030204" pitchFamily="18" charset="0"/>
              </a:rPr>
              <a:t/>
            </a:r>
            <a:br>
              <a:rPr lang="en-GB" sz="3600" b="1" dirty="0" smtClean="0">
                <a:solidFill>
                  <a:schemeClr val="accent5"/>
                </a:solidFill>
                <a:latin typeface="Cambria" panose="02040503050406030204" pitchFamily="18" charset="0"/>
                <a:ea typeface="Cambria" panose="02040503050406030204" pitchFamily="18" charset="0"/>
              </a:rPr>
            </a:br>
            <a:r>
              <a:rPr lang="en-GB" sz="3600" b="1" dirty="0" smtClean="0">
                <a:solidFill>
                  <a:schemeClr val="accent5"/>
                </a:solidFill>
                <a:latin typeface="Cambria" panose="02040503050406030204" pitchFamily="18" charset="0"/>
                <a:ea typeface="Cambria" panose="02040503050406030204" pitchFamily="18" charset="0"/>
              </a:rPr>
              <a:t/>
            </a:r>
            <a:br>
              <a:rPr lang="en-GB" sz="3600" b="1" dirty="0" smtClean="0">
                <a:solidFill>
                  <a:schemeClr val="accent5"/>
                </a:solidFill>
                <a:latin typeface="Cambria" panose="02040503050406030204" pitchFamily="18" charset="0"/>
                <a:ea typeface="Cambria" panose="02040503050406030204" pitchFamily="18" charset="0"/>
              </a:rPr>
            </a:br>
            <a:r>
              <a:rPr lang="en-GB" sz="3600" b="1" dirty="0" smtClean="0">
                <a:solidFill>
                  <a:schemeClr val="accent5"/>
                </a:solidFill>
                <a:latin typeface="Cambria" panose="02040503050406030204" pitchFamily="18" charset="0"/>
                <a:ea typeface="Cambria" panose="02040503050406030204" pitchFamily="18" charset="0"/>
              </a:rPr>
              <a:t/>
            </a:r>
            <a:br>
              <a:rPr lang="en-GB" sz="3600" b="1" dirty="0" smtClean="0">
                <a:solidFill>
                  <a:schemeClr val="accent5"/>
                </a:solidFill>
                <a:latin typeface="Cambria" panose="02040503050406030204" pitchFamily="18" charset="0"/>
                <a:ea typeface="Cambria" panose="02040503050406030204" pitchFamily="18" charset="0"/>
              </a:rPr>
            </a:br>
            <a:r>
              <a:rPr lang="en-US" sz="3600" b="1" dirty="0" smtClean="0">
                <a:solidFill>
                  <a:schemeClr val="accent5"/>
                </a:solidFill>
                <a:latin typeface="Cambria" panose="02040503050406030204" pitchFamily="18" charset="0"/>
                <a:ea typeface="Cambria" panose="02040503050406030204" pitchFamily="18" charset="0"/>
              </a:rPr>
              <a:t>language &amp; isELIgnored &amp; isThreadSafe</a:t>
            </a:r>
            <a:br>
              <a:rPr lang="en-US" sz="3600" b="1" dirty="0" smtClean="0">
                <a:solidFill>
                  <a:schemeClr val="accent5"/>
                </a:solidFill>
                <a:latin typeface="Cambria" panose="02040503050406030204" pitchFamily="18" charset="0"/>
                <a:ea typeface="Cambria" panose="02040503050406030204" pitchFamily="18" charset="0"/>
              </a:rPr>
            </a:br>
            <a:r>
              <a:rPr lang="en-US" sz="3600" b="1" dirty="0" smtClean="0">
                <a:solidFill>
                  <a:schemeClr val="accent5"/>
                </a:solidFill>
                <a:latin typeface="Cambria" panose="02040503050406030204" pitchFamily="18" charset="0"/>
                <a:ea typeface="Cambria" panose="02040503050406030204" pitchFamily="18" charset="0"/>
              </a:rPr>
              <a:t/>
            </a:r>
            <a:br>
              <a:rPr lang="en-US" sz="3600" b="1" dirty="0" smtClean="0">
                <a:solidFill>
                  <a:schemeClr val="accent5"/>
                </a:solidFill>
                <a:latin typeface="Cambria" panose="02040503050406030204" pitchFamily="18" charset="0"/>
                <a:ea typeface="Cambria" panose="02040503050406030204" pitchFamily="18" charset="0"/>
              </a:rPr>
            </a:br>
            <a:r>
              <a:rPr lang="en-GB" sz="3600" b="1" dirty="0" smtClean="0">
                <a:solidFill>
                  <a:schemeClr val="accent5"/>
                </a:solidFill>
                <a:latin typeface="Cambria" panose="02040503050406030204" pitchFamily="18" charset="0"/>
                <a:ea typeface="Cambria" panose="02040503050406030204" pitchFamily="18" charset="0"/>
              </a:rPr>
              <a:t/>
            </a:r>
            <a:br>
              <a:rPr lang="en-GB" sz="3600" b="1" dirty="0" smtClean="0">
                <a:solidFill>
                  <a:schemeClr val="accent5"/>
                </a:solidFill>
                <a:latin typeface="Cambria" panose="02040503050406030204" pitchFamily="18" charset="0"/>
                <a:ea typeface="Cambria" panose="02040503050406030204" pitchFamily="18" charset="0"/>
              </a:rPr>
            </a:br>
            <a:endParaRPr lang="en-US" sz="36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335360" y="579639"/>
            <a:ext cx="11521280" cy="4962541"/>
          </a:xfrm>
        </p:spPr>
        <p:txBody>
          <a:bodyPr/>
          <a:lstStyle/>
          <a:p>
            <a:pPr algn="just"/>
            <a:r>
              <a:rPr lang="en-GB" sz="2000" dirty="0" smtClean="0">
                <a:latin typeface="Cambria" panose="02040503050406030204" pitchFamily="18" charset="0"/>
                <a:ea typeface="Cambria" panose="02040503050406030204" pitchFamily="18" charset="0"/>
              </a:rPr>
              <a:t>The language attribute specifies the scripting language used in the JSP page. The default value is "java".</a:t>
            </a:r>
          </a:p>
          <a:p>
            <a:pPr algn="just"/>
            <a:r>
              <a:rPr lang="en-GB" sz="2000" dirty="0" smtClean="0">
                <a:latin typeface="Cambria" panose="02040503050406030204" pitchFamily="18" charset="0"/>
                <a:ea typeface="Cambria" panose="02040503050406030204" pitchFamily="18" charset="0"/>
              </a:rPr>
              <a:t>We can ignore the Expression Language (EL) in JSP by isELIgnored attribute. By default its value is false i.e. Expression Language is enabled by default. We see Expression Language later.</a:t>
            </a:r>
          </a:p>
          <a:p>
            <a:pPr marL="0" indent="0" algn="just">
              <a:buNone/>
            </a:pPr>
            <a:r>
              <a:rPr lang="en-GB" sz="2000" dirty="0" smtClean="0">
                <a:latin typeface="Cambria" panose="02040503050406030204" pitchFamily="18" charset="0"/>
                <a:ea typeface="Cambria" panose="02040503050406030204" pitchFamily="18" charset="0"/>
              </a:rPr>
              <a:t>	</a:t>
            </a:r>
            <a:r>
              <a:rPr lang="en-GB" sz="2000" b="1" dirty="0" smtClean="0">
                <a:latin typeface="Cambria" panose="02040503050406030204" pitchFamily="18" charset="0"/>
                <a:ea typeface="Cambria" panose="02040503050406030204" pitchFamily="18" charset="0"/>
              </a:rPr>
              <a:t>&lt;%@ page isELIgnored="true" %&gt;//Now EL will be ignored  </a:t>
            </a:r>
          </a:p>
          <a:p>
            <a:pPr algn="just"/>
            <a:r>
              <a:rPr lang="en-GB" sz="2000" dirty="0" smtClean="0">
                <a:latin typeface="Cambria" panose="02040503050406030204" pitchFamily="18" charset="0"/>
                <a:ea typeface="Cambria" panose="02040503050406030204" pitchFamily="18" charset="0"/>
              </a:rPr>
              <a:t>Servlet and JSP both are multithreaded. If you want to control this behaviour of JSP page, you can use isThreadSafe attribute of page directive. The value of isThreadSafeis true. If you make it false, the web container will serialize the multiple requests, i.e. it will wait until the JSP finishes responding to a request before passing another request to it. If you make the value of isThreadSafe attribute like:</a:t>
            </a:r>
          </a:p>
          <a:p>
            <a:pPr marL="0" indent="0" algn="just">
              <a:buNone/>
            </a:pPr>
            <a:r>
              <a:rPr lang="en-GB" sz="2000" dirty="0">
                <a:latin typeface="Cambria" panose="02040503050406030204" pitchFamily="18" charset="0"/>
                <a:ea typeface="Cambria" panose="02040503050406030204" pitchFamily="18" charset="0"/>
              </a:rPr>
              <a:t>	</a:t>
            </a:r>
            <a:r>
              <a:rPr lang="en-GB" sz="2000" dirty="0" smtClean="0">
                <a:latin typeface="Cambria" panose="02040503050406030204" pitchFamily="18" charset="0"/>
                <a:ea typeface="Cambria" panose="02040503050406030204" pitchFamily="18" charset="0"/>
              </a:rPr>
              <a:t>&lt;%@ page isThreadSafe="false" %&gt;</a:t>
            </a:r>
          </a:p>
          <a:p>
            <a:pPr algn="just"/>
            <a:r>
              <a:rPr lang="en-GB" sz="2000" dirty="0" smtClean="0">
                <a:latin typeface="Cambria" panose="02040503050406030204" pitchFamily="18" charset="0"/>
                <a:ea typeface="Cambria" panose="02040503050406030204" pitchFamily="18" charset="0"/>
              </a:rPr>
              <a:t>The web container in such a case, will generate the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 as:</a:t>
            </a:r>
          </a:p>
          <a:p>
            <a:pPr marL="0" indent="0" algn="just">
              <a:buNone/>
            </a:pPr>
            <a:r>
              <a:rPr lang="en-GB" sz="2000" b="1" dirty="0" smtClean="0">
                <a:latin typeface="Cambria" panose="02040503050406030204" pitchFamily="18" charset="0"/>
                <a:ea typeface="Cambria" panose="02040503050406030204" pitchFamily="18" charset="0"/>
              </a:rPr>
              <a:t>	public</a:t>
            </a:r>
            <a:r>
              <a:rPr lang="en-GB" sz="2000" dirty="0" smtClean="0">
                <a:latin typeface="Cambria" panose="02040503050406030204" pitchFamily="18" charset="0"/>
                <a:ea typeface="Cambria" panose="02040503050406030204" pitchFamily="18" charset="0"/>
              </a:rPr>
              <a:t> </a:t>
            </a:r>
            <a:r>
              <a:rPr lang="en-GB" sz="2000" b="1" dirty="0" smtClean="0">
                <a:latin typeface="Cambria" panose="02040503050406030204" pitchFamily="18" charset="0"/>
                <a:ea typeface="Cambria" panose="02040503050406030204" pitchFamily="18" charset="0"/>
              </a:rPr>
              <a:t>class</a:t>
            </a:r>
            <a:r>
              <a:rPr lang="en-GB" sz="2000" dirty="0" smtClean="0">
                <a:latin typeface="Cambria" panose="02040503050406030204" pitchFamily="18" charset="0"/>
                <a:ea typeface="Cambria" panose="02040503050406030204" pitchFamily="18" charset="0"/>
              </a:rPr>
              <a:t> SimplePage_jsp </a:t>
            </a:r>
            <a:r>
              <a:rPr lang="en-GB" sz="2000" b="1" dirty="0" smtClean="0">
                <a:latin typeface="Cambria" panose="02040503050406030204" pitchFamily="18" charset="0"/>
                <a:ea typeface="Cambria" panose="02040503050406030204" pitchFamily="18" charset="0"/>
              </a:rPr>
              <a:t>extends</a:t>
            </a:r>
            <a:r>
              <a:rPr lang="en-GB" sz="2000" dirty="0" smtClean="0">
                <a:latin typeface="Cambria" panose="02040503050406030204" pitchFamily="18" charset="0"/>
                <a:ea typeface="Cambria" panose="02040503050406030204" pitchFamily="18" charset="0"/>
              </a:rPr>
              <a:t> HttpJspBase   </a:t>
            </a:r>
          </a:p>
          <a:p>
            <a:pPr marL="0" indent="0" algn="just">
              <a:buNone/>
            </a:pPr>
            <a:r>
              <a:rPr lang="en-GB" sz="2000" dirty="0" smtClean="0">
                <a:latin typeface="Cambria" panose="02040503050406030204" pitchFamily="18" charset="0"/>
                <a:ea typeface="Cambria" panose="02040503050406030204" pitchFamily="18" charset="0"/>
              </a:rPr>
              <a:t>	</a:t>
            </a:r>
            <a:r>
              <a:rPr lang="en-GB" sz="2000" b="1" dirty="0" smtClean="0">
                <a:latin typeface="Cambria" panose="02040503050406030204" pitchFamily="18" charset="0"/>
                <a:ea typeface="Cambria" panose="02040503050406030204" pitchFamily="18" charset="0"/>
              </a:rPr>
              <a:t>implements</a:t>
            </a:r>
            <a:r>
              <a:rPr lang="en-GB" sz="2000" dirty="0" smtClean="0">
                <a:latin typeface="Cambria" panose="02040503050406030204" pitchFamily="18" charset="0"/>
                <a:ea typeface="Cambria" panose="02040503050406030204" pitchFamily="18" charset="0"/>
              </a:rPr>
              <a:t> SingleThreadModel{  </a:t>
            </a:r>
          </a:p>
          <a:p>
            <a:pPr marL="0" indent="0" algn="just">
              <a:buNone/>
            </a:pPr>
            <a:r>
              <a:rPr lang="en-GB" sz="2000" dirty="0" smtClean="0">
                <a:latin typeface="Cambria" panose="02040503050406030204" pitchFamily="18" charset="0"/>
                <a:ea typeface="Cambria" panose="02040503050406030204" pitchFamily="18" charset="0"/>
              </a:rPr>
              <a:t>		.......  </a:t>
            </a:r>
          </a:p>
          <a:p>
            <a:pPr marL="0" indent="0" algn="just">
              <a:buNone/>
            </a:pPr>
            <a:r>
              <a:rPr lang="en-GB" sz="2000" dirty="0" smtClean="0">
                <a:latin typeface="Cambria" panose="02040503050406030204" pitchFamily="18" charset="0"/>
                <a:ea typeface="Cambria" panose="02040503050406030204" pitchFamily="18" charset="0"/>
              </a:rPr>
              <a:t>	}  </a:t>
            </a:r>
          </a:p>
          <a:p>
            <a:pPr algn="just"/>
            <a:endParaRPr lang="en-US" sz="2000" dirty="0" smtClean="0">
              <a:latin typeface="Cambria" panose="02040503050406030204" pitchFamily="18" charset="0"/>
              <a:ea typeface="Cambria" panose="02040503050406030204" pitchFamily="18" charset="0"/>
            </a:endParaRPr>
          </a:p>
          <a:p>
            <a:pPr algn="just"/>
            <a:endParaRPr lang="en-US" sz="20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96</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9835"/>
            <a:ext cx="6193904" cy="399579"/>
          </a:xfrm>
        </p:spPr>
        <p:txBody>
          <a:bodyPr/>
          <a:lstStyle/>
          <a:p>
            <a:r>
              <a:rPr lang="en-GB" sz="4000" b="1" dirty="0" smtClean="0">
                <a:solidFill>
                  <a:schemeClr val="accent5"/>
                </a:solidFill>
                <a:latin typeface="Cambria" panose="02040503050406030204" pitchFamily="18" charset="0"/>
                <a:ea typeface="Cambria" panose="02040503050406030204" pitchFamily="18" charset="0"/>
              </a:rPr>
              <a:t> </a:t>
            </a:r>
            <a:br>
              <a:rPr lang="en-GB" sz="4000" b="1" dirty="0" smtClean="0">
                <a:solidFill>
                  <a:schemeClr val="accent5"/>
                </a:solidFill>
                <a:latin typeface="Cambria" panose="02040503050406030204" pitchFamily="18" charset="0"/>
                <a:ea typeface="Cambria" panose="02040503050406030204" pitchFamily="18" charset="0"/>
              </a:rPr>
            </a:br>
            <a:r>
              <a:rPr lang="en-GB" sz="4000" b="1" dirty="0" smtClean="0">
                <a:solidFill>
                  <a:schemeClr val="accent5"/>
                </a:solidFill>
                <a:latin typeface="Cambria" panose="02040503050406030204" pitchFamily="18" charset="0"/>
                <a:ea typeface="Cambria" panose="02040503050406030204" pitchFamily="18" charset="0"/>
              </a:rPr>
              <a:t/>
            </a:r>
            <a:br>
              <a:rPr lang="en-GB" sz="4000" b="1" dirty="0" smtClean="0">
                <a:solidFill>
                  <a:schemeClr val="accent5"/>
                </a:solidFill>
                <a:latin typeface="Cambria" panose="02040503050406030204" pitchFamily="18" charset="0"/>
                <a:ea typeface="Cambria" panose="02040503050406030204" pitchFamily="18" charset="0"/>
              </a:rPr>
            </a:br>
            <a:r>
              <a:rPr lang="en-US" sz="4000" b="1" dirty="0" smtClean="0">
                <a:solidFill>
                  <a:schemeClr val="accent5"/>
                </a:solidFill>
                <a:latin typeface="Cambria" panose="02040503050406030204" pitchFamily="18" charset="0"/>
                <a:ea typeface="Cambria" panose="02040503050406030204" pitchFamily="18" charset="0"/>
              </a:rPr>
              <a:t>errorPage &amp; isErrorPage</a:t>
            </a:r>
            <a:br>
              <a:rPr lang="en-US" sz="4000" b="1" dirty="0" smtClean="0">
                <a:solidFill>
                  <a:schemeClr val="accent5"/>
                </a:solidFill>
                <a:latin typeface="Cambria" panose="02040503050406030204" pitchFamily="18" charset="0"/>
                <a:ea typeface="Cambria" panose="02040503050406030204" pitchFamily="18" charset="0"/>
              </a:rPr>
            </a:br>
            <a:r>
              <a:rPr lang="en-GB" sz="4000" b="1" dirty="0" smtClean="0">
                <a:solidFill>
                  <a:schemeClr val="accent5"/>
                </a:solidFill>
                <a:latin typeface="Cambria" panose="02040503050406030204" pitchFamily="18" charset="0"/>
                <a:ea typeface="Cambria" panose="02040503050406030204" pitchFamily="18" charset="0"/>
              </a:rPr>
              <a:t/>
            </a:r>
            <a:br>
              <a:rPr lang="en-GB" sz="4000" b="1" dirty="0" smtClean="0">
                <a:solidFill>
                  <a:schemeClr val="accent5"/>
                </a:solidFill>
                <a:latin typeface="Cambria" panose="02040503050406030204" pitchFamily="18" charset="0"/>
                <a:ea typeface="Cambria" panose="02040503050406030204" pitchFamily="18" charset="0"/>
              </a:rPr>
            </a:br>
            <a:endParaRPr lang="en-US" sz="40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07368" y="620689"/>
            <a:ext cx="6912768" cy="4464496"/>
          </a:xfrm>
        </p:spPr>
        <p:txBody>
          <a:bodyPr/>
          <a:lstStyle/>
          <a:p>
            <a:pPr algn="just">
              <a:spcBef>
                <a:spcPts val="0"/>
              </a:spcBef>
            </a:pPr>
            <a:r>
              <a:rPr lang="en-GB" sz="2000" dirty="0" smtClean="0">
                <a:latin typeface="Cambria" panose="02040503050406030204" pitchFamily="18" charset="0"/>
                <a:ea typeface="Cambria" panose="02040503050406030204" pitchFamily="18" charset="0"/>
              </a:rPr>
              <a:t> The </a:t>
            </a:r>
            <a:r>
              <a:rPr lang="en-GB" sz="2000" dirty="0" err="1" smtClean="0">
                <a:latin typeface="Cambria" panose="02040503050406030204" pitchFamily="18" charset="0"/>
                <a:ea typeface="Cambria" panose="02040503050406030204" pitchFamily="18" charset="0"/>
              </a:rPr>
              <a:t>errorPage</a:t>
            </a:r>
            <a:r>
              <a:rPr lang="en-GB" sz="2000" dirty="0" smtClean="0">
                <a:latin typeface="Cambria" panose="02040503050406030204" pitchFamily="18" charset="0"/>
                <a:ea typeface="Cambria" panose="02040503050406030204" pitchFamily="18" charset="0"/>
              </a:rPr>
              <a:t> attribute is used to define the error page, if exception occurs in the current page, it will be redirected to the error page.</a:t>
            </a:r>
          </a:p>
          <a:p>
            <a:pPr algn="just">
              <a:spcBef>
                <a:spcPts val="0"/>
              </a:spcBef>
            </a:pPr>
            <a:r>
              <a:rPr lang="en-GB" sz="2000" dirty="0" smtClean="0">
                <a:latin typeface="Cambria" panose="02040503050406030204" pitchFamily="18" charset="0"/>
                <a:ea typeface="Cambria" panose="02040503050406030204" pitchFamily="18" charset="0"/>
              </a:rPr>
              <a:t>Example of </a:t>
            </a:r>
            <a:r>
              <a:rPr lang="en-GB" sz="2000" dirty="0" err="1" smtClean="0">
                <a:latin typeface="Cambria" panose="02040503050406030204" pitchFamily="18" charset="0"/>
                <a:ea typeface="Cambria" panose="02040503050406030204" pitchFamily="18" charset="0"/>
              </a:rPr>
              <a:t>errorPage</a:t>
            </a:r>
            <a:r>
              <a:rPr lang="en-GB" sz="2000" dirty="0" smtClean="0">
                <a:latin typeface="Cambria" panose="02040503050406030204" pitchFamily="18" charset="0"/>
                <a:ea typeface="Cambria" panose="02040503050406030204" pitchFamily="18" charset="0"/>
              </a:rPr>
              <a:t> attribute</a:t>
            </a:r>
          </a:p>
          <a:p>
            <a:pPr algn="just">
              <a:spcBef>
                <a:spcPts val="0"/>
              </a:spcBef>
              <a:buNone/>
            </a:pPr>
            <a:r>
              <a:rPr lang="en-GB" sz="2000" dirty="0" smtClean="0">
                <a:latin typeface="Cambria" panose="02040503050406030204" pitchFamily="18" charset="0"/>
                <a:ea typeface="Cambria" panose="02040503050406030204" pitchFamily="18" charset="0"/>
              </a:rPr>
              <a:t>//index.jsp  </a:t>
            </a:r>
          </a:p>
          <a:p>
            <a:pPr algn="just">
              <a:spcBef>
                <a:spcPts val="0"/>
              </a:spcBef>
              <a:buNone/>
            </a:pPr>
            <a:r>
              <a:rPr lang="en-GB" sz="2000" dirty="0" smtClean="0">
                <a:latin typeface="Cambria" panose="02040503050406030204" pitchFamily="18" charset="0"/>
                <a:ea typeface="Cambria" panose="02040503050406030204" pitchFamily="18" charset="0"/>
              </a:rPr>
              <a:t>&lt;html&gt;  </a:t>
            </a:r>
          </a:p>
          <a:p>
            <a:pPr algn="just">
              <a:spcBef>
                <a:spcPts val="0"/>
              </a:spcBef>
              <a:buNone/>
            </a:pPr>
            <a:r>
              <a:rPr lang="en-GB" sz="2000" dirty="0" smtClean="0">
                <a:latin typeface="Cambria" panose="02040503050406030204" pitchFamily="18" charset="0"/>
                <a:ea typeface="Cambria" panose="02040503050406030204" pitchFamily="18" charset="0"/>
              </a:rPr>
              <a:t>&lt;body&gt;    </a:t>
            </a:r>
          </a:p>
          <a:p>
            <a:pPr algn="just">
              <a:spcBef>
                <a:spcPts val="0"/>
              </a:spcBef>
              <a:buNone/>
            </a:pPr>
            <a:r>
              <a:rPr lang="en-GB" sz="2000" dirty="0" smtClean="0">
                <a:latin typeface="Cambria" panose="02040503050406030204" pitchFamily="18" charset="0"/>
                <a:ea typeface="Cambria" panose="02040503050406030204" pitchFamily="18" charset="0"/>
              </a:rPr>
              <a:t>&lt;%@ page errorPage="myerrorpage.jsp" %&gt;    </a:t>
            </a:r>
          </a:p>
          <a:p>
            <a:pPr algn="just">
              <a:spcBef>
                <a:spcPts val="0"/>
              </a:spcBef>
              <a:buNone/>
            </a:pPr>
            <a:r>
              <a:rPr lang="en-GB" sz="2000" dirty="0" smtClean="0">
                <a:latin typeface="Cambria" panose="02040503050406030204" pitchFamily="18" charset="0"/>
                <a:ea typeface="Cambria" panose="02040503050406030204" pitchFamily="18" charset="0"/>
              </a:rPr>
              <a:t> &lt;%= 100/0 %&gt;    </a:t>
            </a:r>
          </a:p>
          <a:p>
            <a:pPr algn="just">
              <a:spcBef>
                <a:spcPts val="0"/>
              </a:spcBef>
              <a:buNone/>
            </a:pPr>
            <a:r>
              <a:rPr lang="en-GB" sz="2000" dirty="0" smtClean="0">
                <a:latin typeface="Cambria" panose="02040503050406030204" pitchFamily="18" charset="0"/>
                <a:ea typeface="Cambria" panose="02040503050406030204" pitchFamily="18" charset="0"/>
              </a:rPr>
              <a:t>&lt;/body&gt;  </a:t>
            </a:r>
          </a:p>
          <a:p>
            <a:pPr algn="just">
              <a:spcBef>
                <a:spcPts val="0"/>
              </a:spcBef>
              <a:buNone/>
            </a:pPr>
            <a:r>
              <a:rPr lang="en-GB" sz="2000" dirty="0" smtClean="0">
                <a:latin typeface="Cambria" panose="02040503050406030204" pitchFamily="18" charset="0"/>
                <a:ea typeface="Cambria" panose="02040503050406030204" pitchFamily="18" charset="0"/>
              </a:rPr>
              <a:t>&lt;/html&gt;  </a:t>
            </a:r>
          </a:p>
          <a:p>
            <a:pPr algn="just"/>
            <a:r>
              <a:rPr lang="en-GB" sz="2000" dirty="0" smtClean="0">
                <a:latin typeface="Cambria" panose="02040503050406030204" pitchFamily="18" charset="0"/>
                <a:ea typeface="Cambria" panose="02040503050406030204" pitchFamily="18" charset="0"/>
              </a:rPr>
              <a:t>The </a:t>
            </a:r>
            <a:r>
              <a:rPr lang="en-GB" sz="2000" dirty="0" err="1" smtClean="0">
                <a:latin typeface="Cambria" panose="02040503050406030204" pitchFamily="18" charset="0"/>
                <a:ea typeface="Cambria" panose="02040503050406030204" pitchFamily="18" charset="0"/>
              </a:rPr>
              <a:t>isErrorPage</a:t>
            </a:r>
            <a:r>
              <a:rPr lang="en-GB" sz="2000" dirty="0" smtClean="0">
                <a:latin typeface="Cambria" panose="02040503050406030204" pitchFamily="18" charset="0"/>
                <a:ea typeface="Cambria" panose="02040503050406030204" pitchFamily="18" charset="0"/>
              </a:rPr>
              <a:t> attribute is used to declare that the current page is the error page.</a:t>
            </a:r>
          </a:p>
          <a:p>
            <a:pPr algn="just">
              <a:spcBef>
                <a:spcPts val="0"/>
              </a:spcBef>
              <a:buNone/>
            </a:pPr>
            <a:r>
              <a:rPr lang="en-GB" sz="2000" dirty="0" smtClean="0">
                <a:latin typeface="Cambria" panose="02040503050406030204" pitchFamily="18" charset="0"/>
                <a:ea typeface="Cambria" panose="02040503050406030204" pitchFamily="18" charset="0"/>
              </a:rPr>
              <a:t>Note: The exception object can only be used in the error page.</a:t>
            </a:r>
          </a:p>
          <a:p>
            <a:pPr algn="just">
              <a:spcBef>
                <a:spcPts val="0"/>
              </a:spcBef>
              <a:buNone/>
            </a:pPr>
            <a:r>
              <a:rPr lang="en-GB" sz="2000" dirty="0" smtClean="0">
                <a:latin typeface="Cambria" panose="02040503050406030204" pitchFamily="18" charset="0"/>
                <a:ea typeface="Cambria" panose="02040503050406030204" pitchFamily="18" charset="0"/>
              </a:rPr>
              <a:t>Example of isErrorPage attribute</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97</a:t>
            </a:fld>
            <a:endParaRPr lang="en-US" altLang="en-US">
              <a:latin typeface="Cambria" panose="02040503050406030204" pitchFamily="18" charset="0"/>
              <a:ea typeface="Cambria" panose="02040503050406030204" pitchFamily="18" charset="0"/>
            </a:endParaRPr>
          </a:p>
        </p:txBody>
      </p:sp>
      <p:sp>
        <p:nvSpPr>
          <p:cNvPr id="5" name="Rectangle 4"/>
          <p:cNvSpPr/>
          <p:nvPr/>
        </p:nvSpPr>
        <p:spPr>
          <a:xfrm>
            <a:off x="7774124" y="1196752"/>
            <a:ext cx="4416152" cy="3170099"/>
          </a:xfrm>
          <a:prstGeom prst="rect">
            <a:avLst/>
          </a:prstGeom>
        </p:spPr>
        <p:txBody>
          <a:bodyPr wrap="square">
            <a:spAutoFit/>
          </a:bodyPr>
          <a:lstStyle/>
          <a:p>
            <a:pPr algn="just">
              <a:spcBef>
                <a:spcPts val="0"/>
              </a:spcBef>
              <a:buNone/>
            </a:pPr>
            <a:r>
              <a:rPr lang="en-GB" sz="2000" dirty="0">
                <a:latin typeface="Cambria" panose="02040503050406030204" pitchFamily="18" charset="0"/>
                <a:ea typeface="Cambria" panose="02040503050406030204" pitchFamily="18" charset="0"/>
              </a:rPr>
              <a:t>//myerrorpage.jsp  </a:t>
            </a:r>
          </a:p>
          <a:p>
            <a:pPr algn="just">
              <a:spcBef>
                <a:spcPts val="0"/>
              </a:spcBef>
              <a:buNone/>
            </a:pPr>
            <a:r>
              <a:rPr lang="en-GB" sz="2000" dirty="0">
                <a:latin typeface="Cambria" panose="02040503050406030204" pitchFamily="18" charset="0"/>
                <a:ea typeface="Cambria" panose="02040503050406030204" pitchFamily="18" charset="0"/>
              </a:rPr>
              <a:t>&lt;html&gt;  </a:t>
            </a:r>
          </a:p>
          <a:p>
            <a:pPr algn="just">
              <a:spcBef>
                <a:spcPts val="0"/>
              </a:spcBef>
              <a:buNone/>
            </a:pPr>
            <a:r>
              <a:rPr lang="en-GB" sz="2000" dirty="0">
                <a:latin typeface="Cambria" panose="02040503050406030204" pitchFamily="18" charset="0"/>
                <a:ea typeface="Cambria" panose="02040503050406030204" pitchFamily="18" charset="0"/>
              </a:rPr>
              <a:t>&lt;body&gt;  </a:t>
            </a:r>
          </a:p>
          <a:p>
            <a:pPr algn="just">
              <a:spcBef>
                <a:spcPts val="0"/>
              </a:spcBef>
              <a:buNone/>
            </a:pPr>
            <a:r>
              <a:rPr lang="en-GB" sz="2000" dirty="0">
                <a:latin typeface="Cambria" panose="02040503050406030204" pitchFamily="18" charset="0"/>
                <a:ea typeface="Cambria" panose="02040503050406030204" pitchFamily="18" charset="0"/>
              </a:rPr>
              <a:t>  &lt;/html&gt;  </a:t>
            </a:r>
          </a:p>
          <a:p>
            <a:pPr algn="just">
              <a:spcBef>
                <a:spcPts val="0"/>
              </a:spcBef>
              <a:buNone/>
            </a:pPr>
            <a:r>
              <a:rPr lang="en-GB" sz="2000" dirty="0">
                <a:latin typeface="Cambria" panose="02040503050406030204" pitchFamily="18" charset="0"/>
                <a:ea typeface="Cambria" panose="02040503050406030204" pitchFamily="18" charset="0"/>
              </a:rPr>
              <a:t>&lt;%@ page isErrorPage="true" %&gt;    </a:t>
            </a:r>
          </a:p>
          <a:p>
            <a:pPr algn="just">
              <a:spcBef>
                <a:spcPts val="0"/>
              </a:spcBef>
              <a:buNone/>
            </a:pPr>
            <a:r>
              <a:rPr lang="en-GB" sz="2000" dirty="0">
                <a:latin typeface="Cambria" panose="02040503050406030204" pitchFamily="18" charset="0"/>
                <a:ea typeface="Cambria" panose="02040503050406030204" pitchFamily="18" charset="0"/>
              </a:rPr>
              <a:t> Sorry an exception occured!&lt;br/&gt;  </a:t>
            </a:r>
          </a:p>
          <a:p>
            <a:pPr algn="just">
              <a:spcBef>
                <a:spcPts val="0"/>
              </a:spcBef>
              <a:buNone/>
            </a:pPr>
            <a:r>
              <a:rPr lang="en-GB" sz="2000" dirty="0">
                <a:latin typeface="Cambria" panose="02040503050406030204" pitchFamily="18" charset="0"/>
                <a:ea typeface="Cambria" panose="02040503050406030204" pitchFamily="18" charset="0"/>
              </a:rPr>
              <a:t>The exception is: &lt;%= exception %&gt;  </a:t>
            </a:r>
          </a:p>
          <a:p>
            <a:pPr algn="just">
              <a:spcBef>
                <a:spcPts val="0"/>
              </a:spcBef>
              <a:buNone/>
            </a:pPr>
            <a:r>
              <a:rPr lang="en-GB" sz="2000" dirty="0">
                <a:latin typeface="Cambria" panose="02040503050406030204" pitchFamily="18" charset="0"/>
                <a:ea typeface="Cambria" panose="02040503050406030204" pitchFamily="18" charset="0"/>
              </a:rPr>
              <a:t>  </a:t>
            </a:r>
          </a:p>
          <a:p>
            <a:pPr algn="just">
              <a:spcBef>
                <a:spcPts val="0"/>
              </a:spcBef>
              <a:buNone/>
            </a:pPr>
            <a:r>
              <a:rPr lang="en-GB" sz="2000" dirty="0">
                <a:latin typeface="Cambria" panose="02040503050406030204" pitchFamily="18" charset="0"/>
                <a:ea typeface="Cambria" panose="02040503050406030204" pitchFamily="18" charset="0"/>
              </a:rPr>
              <a:t>&lt;/body&gt;  </a:t>
            </a:r>
          </a:p>
          <a:p>
            <a:pPr algn="just">
              <a:spcBef>
                <a:spcPts val="0"/>
              </a:spcBef>
              <a:buNone/>
            </a:pPr>
            <a:r>
              <a:rPr lang="en-GB" sz="2000" dirty="0">
                <a:latin typeface="Cambria" panose="02040503050406030204" pitchFamily="18" charset="0"/>
                <a:ea typeface="Cambria" panose="02040503050406030204" pitchFamily="18" charset="0"/>
              </a:rPr>
              <a:t>&lt;/html&gt;  </a:t>
            </a:r>
          </a:p>
        </p:txBody>
      </p:sp>
    </p:spTree>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87177"/>
            <a:ext cx="5544616" cy="533512"/>
          </a:xfrm>
        </p:spPr>
        <p:txBody>
          <a:bodyPr/>
          <a:lstStyle/>
          <a:p>
            <a:r>
              <a:rPr lang="en-US" sz="4000" b="1" dirty="0" smtClean="0">
                <a:solidFill>
                  <a:srgbClr val="7030A0"/>
                </a:solidFill>
                <a:latin typeface="Cambria" panose="02040503050406030204" pitchFamily="18" charset="0"/>
                <a:ea typeface="Cambria" panose="02040503050406030204" pitchFamily="18" charset="0"/>
              </a:rPr>
              <a:t/>
            </a:r>
            <a:br>
              <a:rPr lang="en-US" sz="4000" b="1" dirty="0" smtClean="0">
                <a:solidFill>
                  <a:srgbClr val="7030A0"/>
                </a:solidFill>
                <a:latin typeface="Cambria" panose="02040503050406030204" pitchFamily="18" charset="0"/>
                <a:ea typeface="Cambria" panose="02040503050406030204" pitchFamily="18" charset="0"/>
              </a:rPr>
            </a:br>
            <a:r>
              <a:rPr lang="en-US" sz="4000" b="1" dirty="0" smtClean="0">
                <a:solidFill>
                  <a:srgbClr val="7030A0"/>
                </a:solidFill>
                <a:latin typeface="Cambria" panose="02040503050406030204" pitchFamily="18" charset="0"/>
                <a:ea typeface="Cambria" panose="02040503050406030204" pitchFamily="18" charset="0"/>
              </a:rPr>
              <a:t>Jsp include Directive</a:t>
            </a:r>
            <a:r>
              <a:rPr lang="en-GB" sz="4000" b="1" dirty="0" smtClean="0">
                <a:solidFill>
                  <a:srgbClr val="7030A0"/>
                </a:solidFill>
                <a:latin typeface="Cambria" panose="02040503050406030204" pitchFamily="18" charset="0"/>
                <a:ea typeface="Cambria" panose="02040503050406030204" pitchFamily="18" charset="0"/>
              </a:rPr>
              <a:t/>
            </a:r>
            <a:br>
              <a:rPr lang="en-GB" sz="4000" b="1" dirty="0" smtClean="0">
                <a:solidFill>
                  <a:srgbClr val="7030A0"/>
                </a:solidFill>
                <a:latin typeface="Cambria" panose="02040503050406030204" pitchFamily="18" charset="0"/>
                <a:ea typeface="Cambria" panose="02040503050406030204" pitchFamily="18" charset="0"/>
              </a:rPr>
            </a:br>
            <a:endParaRPr lang="en-US" sz="4000" b="1" dirty="0">
              <a:solidFill>
                <a:srgbClr val="7030A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335360" y="764705"/>
            <a:ext cx="11449272" cy="4608511"/>
          </a:xfrm>
        </p:spPr>
        <p:txBody>
          <a:bodyPr/>
          <a:lstStyle/>
          <a:p>
            <a:pPr algn="just">
              <a:spcBef>
                <a:spcPts val="0"/>
              </a:spcBef>
              <a:buNone/>
            </a:pPr>
            <a:r>
              <a:rPr lang="en-GB" sz="2000" dirty="0" smtClean="0">
                <a:latin typeface="Cambria" panose="02040503050406030204" pitchFamily="18" charset="0"/>
                <a:ea typeface="Cambria" panose="02040503050406030204" pitchFamily="18" charset="0"/>
              </a:rPr>
              <a:t>The include directive is used to include the contents of any resource it may be </a:t>
            </a:r>
            <a:r>
              <a:rPr lang="en-GB" sz="2000" dirty="0" err="1" smtClean="0">
                <a:latin typeface="Cambria" panose="02040503050406030204" pitchFamily="18" charset="0"/>
                <a:ea typeface="Cambria" panose="02040503050406030204" pitchFamily="18" charset="0"/>
              </a:rPr>
              <a:t>jsp</a:t>
            </a:r>
            <a:r>
              <a:rPr lang="en-GB" sz="2000" dirty="0" smtClean="0">
                <a:latin typeface="Cambria" panose="02040503050406030204" pitchFamily="18" charset="0"/>
                <a:ea typeface="Cambria" panose="02040503050406030204" pitchFamily="18" charset="0"/>
              </a:rPr>
              <a:t> file, html file or text file. The include directive includes the original content of the included resource at page translation time.</a:t>
            </a:r>
          </a:p>
          <a:p>
            <a:pPr algn="just">
              <a:spcBef>
                <a:spcPts val="0"/>
              </a:spcBef>
              <a:buNone/>
            </a:pPr>
            <a:r>
              <a:rPr lang="en-GB" sz="2000" b="1" u="sng" dirty="0" smtClean="0">
                <a:latin typeface="Cambria" panose="02040503050406030204" pitchFamily="18" charset="0"/>
                <a:ea typeface="Cambria" panose="02040503050406030204" pitchFamily="18" charset="0"/>
              </a:rPr>
              <a:t>Advantage of Include directive</a:t>
            </a:r>
          </a:p>
          <a:p>
            <a:pPr algn="just">
              <a:lnSpc>
                <a:spcPct val="100000"/>
              </a:lnSpc>
              <a:spcBef>
                <a:spcPts val="0"/>
              </a:spcBef>
            </a:pPr>
            <a:r>
              <a:rPr lang="en-GB" sz="2000" dirty="0" smtClean="0">
                <a:latin typeface="Cambria" panose="02040503050406030204" pitchFamily="18" charset="0"/>
                <a:ea typeface="Cambria" panose="02040503050406030204" pitchFamily="18" charset="0"/>
              </a:rPr>
              <a:t>Code Reusability</a:t>
            </a:r>
          </a:p>
          <a:p>
            <a:pPr marL="0" indent="0" algn="just">
              <a:lnSpc>
                <a:spcPct val="100000"/>
              </a:lnSpc>
              <a:spcBef>
                <a:spcPts val="0"/>
              </a:spcBef>
              <a:buNone/>
            </a:pPr>
            <a:r>
              <a:rPr lang="en-GB" sz="2000" b="1" u="sng" dirty="0" smtClean="0">
                <a:latin typeface="Cambria" panose="02040503050406030204" pitchFamily="18" charset="0"/>
                <a:ea typeface="Cambria" panose="02040503050406030204" pitchFamily="18" charset="0"/>
              </a:rPr>
              <a:t>Syntax of include directive</a:t>
            </a:r>
          </a:p>
          <a:p>
            <a:pPr algn="just">
              <a:spcBef>
                <a:spcPts val="0"/>
              </a:spcBef>
              <a:buNone/>
            </a:pPr>
            <a:r>
              <a:rPr lang="en-GB" sz="2000" b="1" dirty="0" smtClean="0">
                <a:latin typeface="Cambria" panose="02040503050406030204" pitchFamily="18" charset="0"/>
                <a:ea typeface="Cambria" panose="02040503050406030204" pitchFamily="18" charset="0"/>
              </a:rPr>
              <a:t>		&lt;%@ include file="resourceName" %&gt;  </a:t>
            </a:r>
          </a:p>
          <a:p>
            <a:pPr algn="just">
              <a:spcBef>
                <a:spcPts val="0"/>
              </a:spcBef>
              <a:buNone/>
            </a:pPr>
            <a:r>
              <a:rPr lang="en-GB" sz="2000" b="1" dirty="0" smtClean="0">
                <a:latin typeface="Cambria" panose="02040503050406030204" pitchFamily="18" charset="0"/>
                <a:ea typeface="Cambria" panose="02040503050406030204" pitchFamily="18" charset="0"/>
              </a:rPr>
              <a:t>Example of include directive:</a:t>
            </a:r>
          </a:p>
          <a:p>
            <a:pPr algn="just">
              <a:spcBef>
                <a:spcPts val="0"/>
              </a:spcBef>
              <a:buNone/>
            </a:pPr>
            <a:r>
              <a:rPr lang="en-GB" sz="2000" smtClean="0">
                <a:latin typeface="Cambria" panose="02040503050406030204" pitchFamily="18" charset="0"/>
                <a:ea typeface="Cambria" panose="02040503050406030204" pitchFamily="18" charset="0"/>
              </a:rPr>
              <a:t>The below example include </a:t>
            </a:r>
            <a:r>
              <a:rPr lang="en-GB" sz="2000" dirty="0" smtClean="0">
                <a:latin typeface="Cambria" panose="02040503050406030204" pitchFamily="18" charset="0"/>
                <a:ea typeface="Cambria" panose="02040503050406030204" pitchFamily="18" charset="0"/>
              </a:rPr>
              <a:t>the content of the header.html file. To run this example you must create a header.html file.</a:t>
            </a:r>
          </a:p>
          <a:p>
            <a:pPr algn="just">
              <a:spcBef>
                <a:spcPts val="0"/>
              </a:spcBef>
              <a:buNone/>
            </a:pPr>
            <a:r>
              <a:rPr lang="en-GB" sz="2000" dirty="0" smtClean="0">
                <a:latin typeface="Cambria" panose="02040503050406030204" pitchFamily="18" charset="0"/>
                <a:ea typeface="Cambria" panose="02040503050406030204" pitchFamily="18" charset="0"/>
              </a:rPr>
              <a:t>&lt;html&gt;</a:t>
            </a:r>
          </a:p>
          <a:p>
            <a:pPr algn="just">
              <a:spcBef>
                <a:spcPts val="0"/>
              </a:spcBef>
              <a:buNone/>
            </a:pPr>
            <a:r>
              <a:rPr lang="en-US" sz="2000" dirty="0" smtClean="0">
                <a:latin typeface="Cambria" panose="02040503050406030204" pitchFamily="18" charset="0"/>
                <a:ea typeface="Cambria" panose="02040503050406030204" pitchFamily="18" charset="0"/>
              </a:rPr>
              <a:t>&lt;body&gt;    </a:t>
            </a:r>
          </a:p>
          <a:p>
            <a:pPr algn="just">
              <a:spcBef>
                <a:spcPts val="0"/>
              </a:spcBef>
              <a:buNone/>
            </a:pPr>
            <a:r>
              <a:rPr lang="en-US" sz="2000" dirty="0" smtClean="0">
                <a:latin typeface="Cambria" panose="02040503050406030204" pitchFamily="18" charset="0"/>
                <a:ea typeface="Cambria" panose="02040503050406030204" pitchFamily="18" charset="0"/>
              </a:rPr>
              <a:t>&lt;%@ include file="header.html" %&gt;    </a:t>
            </a:r>
          </a:p>
          <a:p>
            <a:pPr algn="just">
              <a:spcBef>
                <a:spcPts val="0"/>
              </a:spcBef>
              <a:buNone/>
            </a:pPr>
            <a:r>
              <a:rPr lang="en-US" sz="2000" dirty="0" smtClean="0">
                <a:latin typeface="Cambria" panose="02040503050406030204" pitchFamily="18" charset="0"/>
                <a:ea typeface="Cambria" panose="02040503050406030204" pitchFamily="18" charset="0"/>
              </a:rPr>
              <a:t>Today is: &lt;%= java.util.Calendar.getInstance().getTime() %&gt;    </a:t>
            </a:r>
          </a:p>
          <a:p>
            <a:pPr algn="just">
              <a:spcBef>
                <a:spcPts val="0"/>
              </a:spcBef>
              <a:buNone/>
            </a:pPr>
            <a:r>
              <a:rPr lang="en-US" sz="2000" dirty="0" smtClean="0">
                <a:latin typeface="Cambria" panose="02040503050406030204" pitchFamily="18" charset="0"/>
                <a:ea typeface="Cambria" panose="02040503050406030204" pitchFamily="18" charset="0"/>
              </a:rPr>
              <a:t>&lt;/body&gt;  </a:t>
            </a:r>
          </a:p>
          <a:p>
            <a:pPr algn="just">
              <a:spcBef>
                <a:spcPts val="0"/>
              </a:spcBef>
              <a:buNone/>
            </a:pPr>
            <a:r>
              <a:rPr lang="en-US" sz="2000" dirty="0" smtClean="0">
                <a:latin typeface="Cambria" panose="02040503050406030204" pitchFamily="18" charset="0"/>
                <a:ea typeface="Cambria" panose="02040503050406030204" pitchFamily="18" charset="0"/>
              </a:rPr>
              <a:t>&lt;/html&gt;  </a:t>
            </a:r>
            <a:endParaRPr lang="en-GB" dirty="0" smtClean="0">
              <a:latin typeface="Cambria" panose="02040503050406030204" pitchFamily="18" charset="0"/>
              <a:ea typeface="Cambria" panose="02040503050406030204" pitchFamily="18" charset="0"/>
            </a:endParaRPr>
          </a:p>
          <a:p>
            <a:pPr algn="just">
              <a:spcBef>
                <a:spcPts val="0"/>
              </a:spcBef>
              <a:buNone/>
            </a:pPr>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98</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74547"/>
            <a:ext cx="4968552" cy="618149"/>
          </a:xfrm>
        </p:spPr>
        <p:txBody>
          <a:bodyPr/>
          <a:lstStyle/>
          <a:p>
            <a:r>
              <a:rPr lang="en-US" sz="4000" b="1" dirty="0" smtClean="0">
                <a:solidFill>
                  <a:srgbClr val="7030A0"/>
                </a:solidFill>
                <a:latin typeface="Cambria" panose="02040503050406030204" pitchFamily="18" charset="0"/>
                <a:ea typeface="Cambria" panose="02040503050406030204" pitchFamily="18" charset="0"/>
              </a:rPr>
              <a:t/>
            </a:r>
            <a:br>
              <a:rPr lang="en-US" sz="4000" b="1" dirty="0" smtClean="0">
                <a:solidFill>
                  <a:srgbClr val="7030A0"/>
                </a:solidFill>
                <a:latin typeface="Cambria" panose="02040503050406030204" pitchFamily="18" charset="0"/>
                <a:ea typeface="Cambria" panose="02040503050406030204" pitchFamily="18" charset="0"/>
              </a:rPr>
            </a:br>
            <a:r>
              <a:rPr lang="en-US" sz="4000" b="1" dirty="0" smtClean="0">
                <a:solidFill>
                  <a:srgbClr val="7030A0"/>
                </a:solidFill>
                <a:latin typeface="Cambria" panose="02040503050406030204" pitchFamily="18" charset="0"/>
                <a:ea typeface="Cambria" panose="02040503050406030204" pitchFamily="18" charset="0"/>
              </a:rPr>
              <a:t/>
            </a:r>
            <a:br>
              <a:rPr lang="en-US" sz="4000" b="1" dirty="0" smtClean="0">
                <a:solidFill>
                  <a:srgbClr val="7030A0"/>
                </a:solidFill>
                <a:latin typeface="Cambria" panose="02040503050406030204" pitchFamily="18" charset="0"/>
                <a:ea typeface="Cambria" panose="02040503050406030204" pitchFamily="18" charset="0"/>
              </a:rPr>
            </a:br>
            <a:r>
              <a:rPr lang="en-US" sz="4000" b="1" dirty="0" smtClean="0">
                <a:solidFill>
                  <a:srgbClr val="7030A0"/>
                </a:solidFill>
                <a:latin typeface="Cambria" panose="02040503050406030204" pitchFamily="18" charset="0"/>
                <a:ea typeface="Cambria" panose="02040503050406030204" pitchFamily="18" charset="0"/>
              </a:rPr>
              <a:t>JSP </a:t>
            </a:r>
            <a:r>
              <a:rPr lang="en-US" sz="4000" b="1" dirty="0" err="1" smtClean="0">
                <a:solidFill>
                  <a:srgbClr val="7030A0"/>
                </a:solidFill>
                <a:latin typeface="Cambria" panose="02040503050406030204" pitchFamily="18" charset="0"/>
                <a:ea typeface="Cambria" panose="02040503050406030204" pitchFamily="18" charset="0"/>
              </a:rPr>
              <a:t>Taglib</a:t>
            </a:r>
            <a:r>
              <a:rPr lang="en-US" sz="4000" b="1" dirty="0" smtClean="0">
                <a:solidFill>
                  <a:srgbClr val="7030A0"/>
                </a:solidFill>
                <a:latin typeface="Cambria" panose="02040503050406030204" pitchFamily="18" charset="0"/>
                <a:ea typeface="Cambria" panose="02040503050406030204" pitchFamily="18" charset="0"/>
              </a:rPr>
              <a:t> directive</a:t>
            </a:r>
            <a:br>
              <a:rPr lang="en-US" sz="4000" b="1" dirty="0" smtClean="0">
                <a:solidFill>
                  <a:srgbClr val="7030A0"/>
                </a:solidFill>
                <a:latin typeface="Cambria" panose="02040503050406030204" pitchFamily="18" charset="0"/>
                <a:ea typeface="Cambria" panose="02040503050406030204" pitchFamily="18" charset="0"/>
              </a:rPr>
            </a:br>
            <a:r>
              <a:rPr lang="en-GB" sz="4000" b="1" dirty="0" smtClean="0">
                <a:solidFill>
                  <a:srgbClr val="7030A0"/>
                </a:solidFill>
                <a:latin typeface="Cambria" panose="02040503050406030204" pitchFamily="18" charset="0"/>
                <a:ea typeface="Cambria" panose="02040503050406030204" pitchFamily="18" charset="0"/>
              </a:rPr>
              <a:t/>
            </a:r>
            <a:br>
              <a:rPr lang="en-GB" sz="4000" b="1" dirty="0" smtClean="0">
                <a:solidFill>
                  <a:srgbClr val="7030A0"/>
                </a:solidFill>
                <a:latin typeface="Cambria" panose="02040503050406030204" pitchFamily="18" charset="0"/>
                <a:ea typeface="Cambria" panose="02040503050406030204" pitchFamily="18" charset="0"/>
              </a:rPr>
            </a:br>
            <a:endParaRPr lang="en-US" sz="4000" b="1" dirty="0">
              <a:solidFill>
                <a:srgbClr val="7030A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79376" y="692696"/>
            <a:ext cx="11233248" cy="4968551"/>
          </a:xfrm>
        </p:spPr>
        <p:txBody>
          <a:bodyPr/>
          <a:lstStyle/>
          <a:p>
            <a:pPr algn="just">
              <a:lnSpc>
                <a:spcPct val="100000"/>
              </a:lnSpc>
              <a:spcBef>
                <a:spcPts val="0"/>
              </a:spcBef>
            </a:pPr>
            <a:r>
              <a:rPr lang="en-US" sz="1800" dirty="0" smtClean="0">
                <a:latin typeface="Cambria" panose="02040503050406030204" pitchFamily="18" charset="0"/>
                <a:ea typeface="Cambria" panose="02040503050406030204" pitchFamily="18" charset="0"/>
              </a:rPr>
              <a:t> </a:t>
            </a:r>
            <a:r>
              <a:rPr lang="en-GB" sz="2000" dirty="0" smtClean="0">
                <a:latin typeface="Cambria" panose="02040503050406030204" pitchFamily="18" charset="0"/>
                <a:ea typeface="Cambria" panose="02040503050406030204" pitchFamily="18" charset="0"/>
              </a:rPr>
              <a:t>The JSP </a:t>
            </a:r>
            <a:r>
              <a:rPr lang="en-GB" sz="2000" dirty="0" err="1" smtClean="0">
                <a:latin typeface="Cambria" panose="02040503050406030204" pitchFamily="18" charset="0"/>
                <a:ea typeface="Cambria" panose="02040503050406030204" pitchFamily="18" charset="0"/>
              </a:rPr>
              <a:t>taglib</a:t>
            </a:r>
            <a:r>
              <a:rPr lang="en-GB" sz="2000" dirty="0" smtClean="0">
                <a:latin typeface="Cambria" panose="02040503050406030204" pitchFamily="18" charset="0"/>
                <a:ea typeface="Cambria" panose="02040503050406030204" pitchFamily="18" charset="0"/>
              </a:rPr>
              <a:t> directive is used to define a tag library that defines many tags. We use the TLD (Tag Library Descriptor) file to define the tags. In the custom tag section, we will use this tag, so it will be better to learn it in custom tag.</a:t>
            </a:r>
          </a:p>
          <a:p>
            <a:pPr algn="just">
              <a:lnSpc>
                <a:spcPct val="100000"/>
              </a:lnSpc>
              <a:spcBef>
                <a:spcPts val="0"/>
              </a:spcBef>
            </a:pPr>
            <a:r>
              <a:rPr lang="en-GB" sz="2000" dirty="0" smtClean="0">
                <a:latin typeface="Cambria" panose="02040503050406030204" pitchFamily="18" charset="0"/>
                <a:ea typeface="Cambria" panose="02040503050406030204" pitchFamily="18" charset="0"/>
              </a:rPr>
              <a:t>Syntax JSP </a:t>
            </a:r>
            <a:r>
              <a:rPr lang="en-GB" sz="2000" dirty="0" err="1" smtClean="0">
                <a:latin typeface="Cambria" panose="02040503050406030204" pitchFamily="18" charset="0"/>
                <a:ea typeface="Cambria" panose="02040503050406030204" pitchFamily="18" charset="0"/>
              </a:rPr>
              <a:t>Taglib</a:t>
            </a:r>
            <a:r>
              <a:rPr lang="en-GB" sz="2000" dirty="0" smtClean="0">
                <a:latin typeface="Cambria" panose="02040503050406030204" pitchFamily="18" charset="0"/>
                <a:ea typeface="Cambria" panose="02040503050406030204" pitchFamily="18" charset="0"/>
              </a:rPr>
              <a:t> directive</a:t>
            </a:r>
          </a:p>
          <a:p>
            <a:pPr marL="0" indent="0" algn="just">
              <a:lnSpc>
                <a:spcPct val="100000"/>
              </a:lnSpc>
              <a:spcBef>
                <a:spcPts val="0"/>
              </a:spcBef>
              <a:buNone/>
            </a:pPr>
            <a:r>
              <a:rPr lang="en-GB" sz="1800" b="1" dirty="0" smtClean="0">
                <a:latin typeface="Cambria" panose="02040503050406030204" pitchFamily="18" charset="0"/>
                <a:ea typeface="Cambria" panose="02040503050406030204" pitchFamily="18" charset="0"/>
              </a:rPr>
              <a:t>	&lt;%@ taglib uri="uriofthetaglibrary" prefix="prefixoftaglibrary" %&gt;  </a:t>
            </a:r>
          </a:p>
          <a:p>
            <a:pPr algn="just">
              <a:lnSpc>
                <a:spcPct val="100000"/>
              </a:lnSpc>
              <a:spcBef>
                <a:spcPts val="0"/>
              </a:spcBef>
            </a:pPr>
            <a:r>
              <a:rPr lang="en-GB" sz="2000" dirty="0" smtClean="0">
                <a:latin typeface="Cambria" panose="02040503050406030204" pitchFamily="18" charset="0"/>
                <a:ea typeface="Cambria" panose="02040503050406030204" pitchFamily="18" charset="0"/>
              </a:rPr>
              <a:t>Example of JSP Taglib directive:</a:t>
            </a:r>
          </a:p>
          <a:p>
            <a:pPr algn="just">
              <a:lnSpc>
                <a:spcPct val="100000"/>
              </a:lnSpc>
              <a:spcBef>
                <a:spcPts val="0"/>
              </a:spcBef>
            </a:pPr>
            <a:r>
              <a:rPr lang="en-GB" sz="2000" dirty="0" smtClean="0">
                <a:latin typeface="Cambria" panose="02040503050406030204" pitchFamily="18" charset="0"/>
                <a:ea typeface="Cambria" panose="02040503050406030204" pitchFamily="18" charset="0"/>
              </a:rPr>
              <a:t>In this example, we are using our tag named </a:t>
            </a:r>
            <a:r>
              <a:rPr lang="en-GB" sz="2000" dirty="0" err="1" smtClean="0">
                <a:latin typeface="Cambria" panose="02040503050406030204" pitchFamily="18" charset="0"/>
                <a:ea typeface="Cambria" panose="02040503050406030204" pitchFamily="18" charset="0"/>
              </a:rPr>
              <a:t>currentDate</a:t>
            </a:r>
            <a:r>
              <a:rPr lang="en-GB" sz="2000" dirty="0" smtClean="0">
                <a:latin typeface="Cambria" panose="02040503050406030204" pitchFamily="18" charset="0"/>
                <a:ea typeface="Cambria" panose="02040503050406030204" pitchFamily="18" charset="0"/>
              </a:rPr>
              <a:t>. To use this tag we must specify the taglib directive, so the container may get information about the tag.</a:t>
            </a:r>
          </a:p>
          <a:p>
            <a:pPr algn="just">
              <a:lnSpc>
                <a:spcPct val="100000"/>
              </a:lnSpc>
              <a:spcBef>
                <a:spcPts val="0"/>
              </a:spcBef>
              <a:buNone/>
            </a:pPr>
            <a:r>
              <a:rPr lang="en-GB" sz="2000" dirty="0" smtClean="0">
                <a:latin typeface="Cambria" panose="02040503050406030204" pitchFamily="18" charset="0"/>
                <a:ea typeface="Cambria" panose="02040503050406030204" pitchFamily="18" charset="0"/>
              </a:rPr>
              <a:t>&lt;html&gt;  </a:t>
            </a:r>
          </a:p>
          <a:p>
            <a:pPr algn="just">
              <a:lnSpc>
                <a:spcPct val="100000"/>
              </a:lnSpc>
              <a:spcBef>
                <a:spcPts val="0"/>
              </a:spcBef>
              <a:buNone/>
            </a:pPr>
            <a:r>
              <a:rPr lang="en-GB" sz="2000" dirty="0" smtClean="0">
                <a:latin typeface="Cambria" panose="02040503050406030204" pitchFamily="18" charset="0"/>
                <a:ea typeface="Cambria" panose="02040503050406030204" pitchFamily="18" charset="0"/>
              </a:rPr>
              <a:t>	&lt;body&gt;    </a:t>
            </a:r>
          </a:p>
          <a:p>
            <a:pPr algn="just">
              <a:lnSpc>
                <a:spcPct val="100000"/>
              </a:lnSpc>
              <a:spcBef>
                <a:spcPts val="0"/>
              </a:spcBef>
              <a:buNone/>
            </a:pPr>
            <a:r>
              <a:rPr lang="en-GB" sz="2000" dirty="0" smtClean="0">
                <a:latin typeface="Cambria" panose="02040503050406030204" pitchFamily="18" charset="0"/>
                <a:ea typeface="Cambria" panose="02040503050406030204" pitchFamily="18" charset="0"/>
              </a:rPr>
              <a:t>		&lt;%@ taglib uri="http://www.xyz.com/tags" prefix="mytag" %&gt;    </a:t>
            </a:r>
          </a:p>
          <a:p>
            <a:pPr algn="just">
              <a:lnSpc>
                <a:spcPct val="100000"/>
              </a:lnSpc>
              <a:spcBef>
                <a:spcPts val="0"/>
              </a:spcBef>
              <a:buNone/>
            </a:pPr>
            <a:r>
              <a:rPr lang="en-GB" sz="2000" dirty="0" smtClean="0">
                <a:latin typeface="Cambria" panose="02040503050406030204" pitchFamily="18" charset="0"/>
                <a:ea typeface="Cambria" panose="02040503050406030204" pitchFamily="18" charset="0"/>
              </a:rPr>
              <a:t>		&lt;mytag:currentDate/&gt;    </a:t>
            </a:r>
          </a:p>
          <a:p>
            <a:pPr algn="just">
              <a:lnSpc>
                <a:spcPct val="100000"/>
              </a:lnSpc>
              <a:spcBef>
                <a:spcPts val="0"/>
              </a:spcBef>
              <a:buNone/>
            </a:pPr>
            <a:r>
              <a:rPr lang="en-GB" sz="2000" dirty="0" smtClean="0">
                <a:latin typeface="Cambria" panose="02040503050406030204" pitchFamily="18" charset="0"/>
                <a:ea typeface="Cambria" panose="02040503050406030204" pitchFamily="18" charset="0"/>
              </a:rPr>
              <a:t>	&lt;/body&gt;  </a:t>
            </a:r>
          </a:p>
          <a:p>
            <a:pPr algn="just">
              <a:lnSpc>
                <a:spcPct val="100000"/>
              </a:lnSpc>
              <a:spcBef>
                <a:spcPts val="0"/>
              </a:spcBef>
              <a:buNone/>
            </a:pPr>
            <a:r>
              <a:rPr lang="en-GB" sz="2000" dirty="0" smtClean="0">
                <a:latin typeface="Cambria" panose="02040503050406030204" pitchFamily="18" charset="0"/>
                <a:ea typeface="Cambria" panose="02040503050406030204" pitchFamily="18" charset="0"/>
              </a:rPr>
              <a:t>&lt;/html&gt;  </a:t>
            </a:r>
          </a:p>
          <a:p>
            <a:pPr algn="just">
              <a:lnSpc>
                <a:spcPct val="100000"/>
              </a:lnSpc>
              <a:spcBef>
                <a:spcPts val="0"/>
              </a:spcBef>
              <a:buNone/>
            </a:pPr>
            <a:endParaRPr lang="en-US" sz="20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99</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6336704" cy="596302"/>
          </a:xfrm>
        </p:spPr>
        <p:txBody>
          <a:bodyPr/>
          <a:lstStyle/>
          <a:p>
            <a:pPr algn="just"/>
            <a:r>
              <a:rPr lang="en-US" sz="3600" b="1" dirty="0" smtClean="0">
                <a:solidFill>
                  <a:schemeClr val="accent5"/>
                </a:solidFill>
                <a:latin typeface="Cambria" panose="02040503050406030204" pitchFamily="18" charset="0"/>
                <a:ea typeface="Cambria" panose="02040503050406030204" pitchFamily="18" charset="0"/>
              </a:rPr>
              <a:t>Exception Handling in JSP</a:t>
            </a:r>
            <a:endParaRPr lang="en-US" sz="36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263352" y="596303"/>
            <a:ext cx="11449272" cy="4488882"/>
          </a:xfrm>
        </p:spPr>
        <p:txBody>
          <a:bodyPr/>
          <a:lstStyle/>
          <a:p>
            <a:pPr algn="just"/>
            <a:r>
              <a:rPr lang="en-GB" sz="2200" dirty="0" smtClean="0">
                <a:latin typeface="Cambria" panose="02040503050406030204" pitchFamily="18" charset="0"/>
                <a:ea typeface="Cambria" panose="02040503050406030204" pitchFamily="18" charset="0"/>
              </a:rPr>
              <a:t>The exception is normally an object that is thrown at runtime. Exception Handling is the process to handle the runtime errors. The exceptions may occur at any time in your web application. So handling exceptions is a safer side for the web developer. In JSP, there are two ways to perform exception handling:</a:t>
            </a:r>
          </a:p>
          <a:p>
            <a:pPr marL="514350" indent="-514350" algn="just">
              <a:buFont typeface="+mj-lt"/>
              <a:buAutoNum type="arabicPeriod"/>
            </a:pPr>
            <a:r>
              <a:rPr lang="en-GB" sz="2400" dirty="0" smtClean="0">
                <a:latin typeface="Cambria" panose="02040503050406030204" pitchFamily="18" charset="0"/>
                <a:ea typeface="Cambria" panose="02040503050406030204" pitchFamily="18" charset="0"/>
              </a:rPr>
              <a:t>By </a:t>
            </a:r>
            <a:r>
              <a:rPr lang="en-GB" sz="2400" b="1" dirty="0" err="1" smtClean="0">
                <a:latin typeface="Cambria" panose="02040503050406030204" pitchFamily="18" charset="0"/>
                <a:ea typeface="Cambria" panose="02040503050406030204" pitchFamily="18" charset="0"/>
              </a:rPr>
              <a:t>errorPage</a:t>
            </a:r>
            <a:r>
              <a:rPr lang="en-GB" sz="2400" dirty="0" smtClean="0">
                <a:latin typeface="Cambria" panose="02040503050406030204" pitchFamily="18" charset="0"/>
                <a:ea typeface="Cambria" panose="02040503050406030204" pitchFamily="18" charset="0"/>
              </a:rPr>
              <a:t> and </a:t>
            </a:r>
            <a:r>
              <a:rPr lang="en-GB" sz="2400" b="1" dirty="0" err="1" smtClean="0">
                <a:latin typeface="Cambria" panose="02040503050406030204" pitchFamily="18" charset="0"/>
                <a:ea typeface="Cambria" panose="02040503050406030204" pitchFamily="18" charset="0"/>
              </a:rPr>
              <a:t>isErrorPage</a:t>
            </a:r>
            <a:r>
              <a:rPr lang="en-GB" sz="2400" dirty="0" smtClean="0">
                <a:latin typeface="Cambria" panose="02040503050406030204" pitchFamily="18" charset="0"/>
                <a:ea typeface="Cambria" panose="02040503050406030204" pitchFamily="18" charset="0"/>
              </a:rPr>
              <a:t> attributes of page directive</a:t>
            </a:r>
          </a:p>
          <a:p>
            <a:pPr marL="514350" indent="-514350" algn="just">
              <a:buFont typeface="+mj-lt"/>
              <a:buAutoNum type="arabicPeriod"/>
            </a:pPr>
            <a:r>
              <a:rPr lang="en-GB" sz="2400" dirty="0" smtClean="0">
                <a:latin typeface="Cambria" panose="02040503050406030204" pitchFamily="18" charset="0"/>
                <a:ea typeface="Cambria" panose="02040503050406030204" pitchFamily="18" charset="0"/>
              </a:rPr>
              <a:t>By </a:t>
            </a:r>
            <a:r>
              <a:rPr lang="en-GB" sz="2400" b="1" dirty="0" smtClean="0">
                <a:latin typeface="Cambria" panose="02040503050406030204" pitchFamily="18" charset="0"/>
                <a:ea typeface="Cambria" panose="02040503050406030204" pitchFamily="18" charset="0"/>
              </a:rPr>
              <a:t>&lt;error-page&gt;</a:t>
            </a:r>
            <a:r>
              <a:rPr lang="en-GB" sz="2400" dirty="0" smtClean="0">
                <a:latin typeface="Cambria" panose="02040503050406030204" pitchFamily="18" charset="0"/>
                <a:ea typeface="Cambria" panose="02040503050406030204" pitchFamily="18" charset="0"/>
              </a:rPr>
              <a:t> element in web.xml file</a:t>
            </a:r>
          </a:p>
          <a:p>
            <a:pPr algn="just">
              <a:spcBef>
                <a:spcPts val="0"/>
              </a:spcBef>
              <a:buNone/>
            </a:pPr>
            <a:r>
              <a:rPr lang="en-GB" sz="2000" b="1" dirty="0" smtClean="0">
                <a:latin typeface="Cambria" panose="02040503050406030204" pitchFamily="18" charset="0"/>
                <a:ea typeface="Cambria" panose="02040503050406030204" pitchFamily="18" charset="0"/>
              </a:rPr>
              <a:t>Example of exception handling in JSP by the elements of page directive: </a:t>
            </a:r>
          </a:p>
          <a:p>
            <a:pPr algn="just">
              <a:spcBef>
                <a:spcPts val="0"/>
              </a:spcBef>
              <a:buNone/>
            </a:pPr>
            <a:r>
              <a:rPr lang="en-GB" sz="2000" dirty="0" smtClean="0">
                <a:latin typeface="Cambria" panose="02040503050406030204" pitchFamily="18" charset="0"/>
                <a:ea typeface="Cambria" panose="02040503050406030204" pitchFamily="18" charset="0"/>
              </a:rPr>
              <a:t>In this case, you must define and create a page to handle the exceptions, as in the error.jsp page. The pages where exception may occur, define the errorPage attribute of page directive, as in the process.jsp page.</a:t>
            </a:r>
          </a:p>
          <a:p>
            <a:pPr algn="just">
              <a:spcBef>
                <a:spcPts val="0"/>
              </a:spcBef>
              <a:buNone/>
            </a:pPr>
            <a:r>
              <a:rPr lang="en-GB" sz="2000" b="1" dirty="0" smtClean="0">
                <a:latin typeface="Cambria" panose="02040503050406030204" pitchFamily="18" charset="0"/>
                <a:ea typeface="Cambria" panose="02040503050406030204" pitchFamily="18" charset="0"/>
              </a:rPr>
              <a:t>There are 3 files:</a:t>
            </a:r>
          </a:p>
          <a:p>
            <a:pPr algn="just">
              <a:spcBef>
                <a:spcPts val="0"/>
              </a:spcBef>
              <a:buNone/>
            </a:pPr>
            <a:r>
              <a:rPr lang="en-GB" sz="2000" dirty="0" smtClean="0">
                <a:latin typeface="Cambria" panose="02040503050406030204" pitchFamily="18" charset="0"/>
                <a:ea typeface="Cambria" panose="02040503050406030204" pitchFamily="18" charset="0"/>
              </a:rPr>
              <a:t>index.jsp for input values</a:t>
            </a:r>
          </a:p>
          <a:p>
            <a:pPr algn="just">
              <a:spcBef>
                <a:spcPts val="0"/>
              </a:spcBef>
              <a:buNone/>
            </a:pPr>
            <a:r>
              <a:rPr lang="en-GB" sz="2000" dirty="0" smtClean="0">
                <a:latin typeface="Cambria" panose="02040503050406030204" pitchFamily="18" charset="0"/>
                <a:ea typeface="Cambria" panose="02040503050406030204" pitchFamily="18" charset="0"/>
              </a:rPr>
              <a:t>process.jsp for dividing the two numbers and displaying the result</a:t>
            </a:r>
          </a:p>
          <a:p>
            <a:pPr algn="just">
              <a:spcBef>
                <a:spcPts val="0"/>
              </a:spcBef>
              <a:buNone/>
            </a:pPr>
            <a:r>
              <a:rPr lang="en-GB" sz="2000" dirty="0" smtClean="0">
                <a:latin typeface="Cambria" panose="02040503050406030204" pitchFamily="18" charset="0"/>
                <a:ea typeface="Cambria" panose="02040503050406030204" pitchFamily="18" charset="0"/>
              </a:rPr>
              <a:t>error.jsp for handling the exception</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100</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824192" cy="596302"/>
          </a:xfrm>
        </p:spPr>
        <p:txBody>
          <a:bodyPr/>
          <a:lstStyle/>
          <a:p>
            <a:pPr algn="just"/>
            <a:r>
              <a:rPr lang="en-US" sz="3600" b="1" dirty="0" smtClean="0">
                <a:solidFill>
                  <a:schemeClr val="accent5"/>
                </a:solidFill>
                <a:latin typeface="Cambria" panose="02040503050406030204" pitchFamily="18" charset="0"/>
                <a:ea typeface="Cambria" panose="02040503050406030204" pitchFamily="18" charset="0"/>
              </a:rPr>
              <a:t>Exception Handling in JSP </a:t>
            </a:r>
            <a:r>
              <a:rPr lang="en-US" sz="2400" b="1" dirty="0" smtClean="0">
                <a:solidFill>
                  <a:schemeClr val="accent5"/>
                </a:solidFill>
                <a:latin typeface="Cambria" panose="02040503050406030204" pitchFamily="18" charset="0"/>
                <a:ea typeface="Cambria" panose="02040503050406030204" pitchFamily="18" charset="0"/>
              </a:rPr>
              <a:t>(contd...)</a:t>
            </a:r>
            <a:endParaRPr lang="en-US" sz="36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263352" y="577864"/>
            <a:ext cx="6624736" cy="4891103"/>
          </a:xfrm>
        </p:spPr>
        <p:txBody>
          <a:bodyPr/>
          <a:lstStyle/>
          <a:p>
            <a:pPr algn="just">
              <a:spcBef>
                <a:spcPts val="0"/>
              </a:spcBef>
              <a:buNone/>
            </a:pPr>
            <a:r>
              <a:rPr lang="en-GB" sz="2000" b="1" dirty="0" smtClean="0">
                <a:latin typeface="Cambria" panose="02040503050406030204" pitchFamily="18" charset="0"/>
                <a:ea typeface="Cambria" panose="02040503050406030204" pitchFamily="18" charset="0"/>
              </a:rPr>
              <a:t>index.jsp</a:t>
            </a:r>
          </a:p>
          <a:p>
            <a:pPr algn="just">
              <a:spcBef>
                <a:spcPts val="0"/>
              </a:spcBef>
              <a:buNone/>
            </a:pPr>
            <a:r>
              <a:rPr lang="en-GB" sz="2000" dirty="0" smtClean="0">
                <a:latin typeface="Cambria" panose="02040503050406030204" pitchFamily="18" charset="0"/>
                <a:ea typeface="Cambria" panose="02040503050406030204" pitchFamily="18" charset="0"/>
              </a:rPr>
              <a:t>&lt;form action="process.jsp"&gt;  </a:t>
            </a:r>
          </a:p>
          <a:p>
            <a:pPr algn="just">
              <a:spcBef>
                <a:spcPts val="0"/>
              </a:spcBef>
              <a:buNone/>
            </a:pPr>
            <a:r>
              <a:rPr lang="en-GB" sz="2000" dirty="0" smtClean="0">
                <a:latin typeface="Cambria" panose="02040503050406030204" pitchFamily="18" charset="0"/>
                <a:ea typeface="Cambria" panose="02040503050406030204" pitchFamily="18" charset="0"/>
              </a:rPr>
              <a:t>No1:&lt;input type="text" name="n1" /&gt;&lt;</a:t>
            </a:r>
            <a:r>
              <a:rPr lang="en-GB" sz="2000" dirty="0" err="1" smtClean="0">
                <a:latin typeface="Cambria" panose="02040503050406030204" pitchFamily="18" charset="0"/>
                <a:ea typeface="Cambria" panose="02040503050406030204" pitchFamily="18" charset="0"/>
              </a:rPr>
              <a:t>br</a:t>
            </a:r>
            <a:r>
              <a:rPr lang="en-GB" sz="2000" dirty="0" smtClean="0">
                <a:latin typeface="Cambria" panose="02040503050406030204" pitchFamily="18" charset="0"/>
                <a:ea typeface="Cambria" panose="02040503050406030204" pitchFamily="18" charset="0"/>
              </a:rPr>
              <a:t>/&gt;&lt;</a:t>
            </a:r>
            <a:r>
              <a:rPr lang="en-GB" sz="2000" dirty="0" err="1" smtClean="0">
                <a:latin typeface="Cambria" panose="02040503050406030204" pitchFamily="18" charset="0"/>
                <a:ea typeface="Cambria" panose="02040503050406030204" pitchFamily="18" charset="0"/>
              </a:rPr>
              <a:t>br</a:t>
            </a:r>
            <a:r>
              <a:rPr lang="en-GB" sz="2000" dirty="0" smtClean="0">
                <a:latin typeface="Cambria" panose="02040503050406030204" pitchFamily="18" charset="0"/>
                <a:ea typeface="Cambria" panose="02040503050406030204" pitchFamily="18" charset="0"/>
              </a:rPr>
              <a:t>/&gt;  </a:t>
            </a:r>
          </a:p>
          <a:p>
            <a:pPr algn="just">
              <a:spcBef>
                <a:spcPts val="0"/>
              </a:spcBef>
              <a:buNone/>
            </a:pPr>
            <a:r>
              <a:rPr lang="en-GB" sz="2000" dirty="0" smtClean="0">
                <a:latin typeface="Cambria" panose="02040503050406030204" pitchFamily="18" charset="0"/>
                <a:ea typeface="Cambria" panose="02040503050406030204" pitchFamily="18" charset="0"/>
              </a:rPr>
              <a:t>No1:&lt;input type="text" name="n2" /&gt;&lt;</a:t>
            </a:r>
            <a:r>
              <a:rPr lang="en-GB" sz="2000" dirty="0" err="1" smtClean="0">
                <a:latin typeface="Cambria" panose="02040503050406030204" pitchFamily="18" charset="0"/>
                <a:ea typeface="Cambria" panose="02040503050406030204" pitchFamily="18" charset="0"/>
              </a:rPr>
              <a:t>br</a:t>
            </a:r>
            <a:r>
              <a:rPr lang="en-GB" sz="2000" dirty="0" smtClean="0">
                <a:latin typeface="Cambria" panose="02040503050406030204" pitchFamily="18" charset="0"/>
                <a:ea typeface="Cambria" panose="02040503050406030204" pitchFamily="18" charset="0"/>
              </a:rPr>
              <a:t>/&gt;&lt;</a:t>
            </a:r>
            <a:r>
              <a:rPr lang="en-GB" sz="2000" dirty="0" err="1" smtClean="0">
                <a:latin typeface="Cambria" panose="02040503050406030204" pitchFamily="18" charset="0"/>
                <a:ea typeface="Cambria" panose="02040503050406030204" pitchFamily="18" charset="0"/>
              </a:rPr>
              <a:t>br</a:t>
            </a:r>
            <a:r>
              <a:rPr lang="en-GB" sz="2000" dirty="0" smtClean="0">
                <a:latin typeface="Cambria" panose="02040503050406030204" pitchFamily="18" charset="0"/>
                <a:ea typeface="Cambria" panose="02040503050406030204" pitchFamily="18" charset="0"/>
              </a:rPr>
              <a:t>/&gt;  </a:t>
            </a:r>
          </a:p>
          <a:p>
            <a:pPr algn="just">
              <a:spcBef>
                <a:spcPts val="0"/>
              </a:spcBef>
              <a:buNone/>
            </a:pPr>
            <a:r>
              <a:rPr lang="en-GB" sz="2000" dirty="0" smtClean="0">
                <a:latin typeface="Cambria" panose="02040503050406030204" pitchFamily="18" charset="0"/>
                <a:ea typeface="Cambria" panose="02040503050406030204" pitchFamily="18" charset="0"/>
              </a:rPr>
              <a:t>&lt;input type="submit" value="divide"/&gt;  </a:t>
            </a:r>
          </a:p>
          <a:p>
            <a:pPr algn="just">
              <a:spcBef>
                <a:spcPts val="0"/>
              </a:spcBef>
              <a:buNone/>
            </a:pPr>
            <a:r>
              <a:rPr lang="en-GB" sz="2000" dirty="0" smtClean="0">
                <a:latin typeface="Cambria" panose="02040503050406030204" pitchFamily="18" charset="0"/>
                <a:ea typeface="Cambria" panose="02040503050406030204" pitchFamily="18" charset="0"/>
              </a:rPr>
              <a:t>&lt;/form&gt;  </a:t>
            </a:r>
          </a:p>
          <a:p>
            <a:pPr algn="just">
              <a:spcBef>
                <a:spcPts val="0"/>
              </a:spcBef>
              <a:buNone/>
            </a:pPr>
            <a:endParaRPr lang="en-GB" sz="2000" dirty="0" smtClean="0">
              <a:latin typeface="Cambria" panose="02040503050406030204" pitchFamily="18" charset="0"/>
              <a:ea typeface="Cambria" panose="02040503050406030204" pitchFamily="18" charset="0"/>
            </a:endParaRPr>
          </a:p>
          <a:p>
            <a:pPr algn="just">
              <a:spcBef>
                <a:spcPts val="0"/>
              </a:spcBef>
              <a:buNone/>
            </a:pPr>
            <a:r>
              <a:rPr lang="en-GB" sz="2000" b="1" dirty="0" smtClean="0">
                <a:latin typeface="Cambria" panose="02040503050406030204" pitchFamily="18" charset="0"/>
                <a:ea typeface="Cambria" panose="02040503050406030204" pitchFamily="18" charset="0"/>
              </a:rPr>
              <a:t>process.jsp</a:t>
            </a:r>
          </a:p>
          <a:p>
            <a:pPr algn="just">
              <a:spcBef>
                <a:spcPts val="0"/>
              </a:spcBef>
              <a:buNone/>
            </a:pPr>
            <a:r>
              <a:rPr lang="en-GB" sz="2000" dirty="0" smtClean="0">
                <a:latin typeface="Cambria" panose="02040503050406030204" pitchFamily="18" charset="0"/>
                <a:ea typeface="Cambria" panose="02040503050406030204" pitchFamily="18" charset="0"/>
              </a:rPr>
              <a:t>&lt;%@ page </a:t>
            </a:r>
            <a:r>
              <a:rPr lang="en-GB" sz="2000" dirty="0" err="1" smtClean="0">
                <a:latin typeface="Cambria" panose="02040503050406030204" pitchFamily="18" charset="0"/>
                <a:ea typeface="Cambria" panose="02040503050406030204" pitchFamily="18" charset="0"/>
              </a:rPr>
              <a:t>errorPage</a:t>
            </a:r>
            <a:r>
              <a:rPr lang="en-GB" sz="2000" dirty="0" smtClean="0">
                <a:latin typeface="Cambria" panose="02040503050406030204" pitchFamily="18" charset="0"/>
                <a:ea typeface="Cambria" panose="02040503050406030204" pitchFamily="18" charset="0"/>
              </a:rPr>
              <a:t>="error.jsp" %&gt;  </a:t>
            </a:r>
          </a:p>
          <a:p>
            <a:pPr algn="just">
              <a:spcBef>
                <a:spcPts val="0"/>
              </a:spcBef>
              <a:buNone/>
            </a:pPr>
            <a:r>
              <a:rPr lang="en-GB" sz="2000" dirty="0" smtClean="0">
                <a:latin typeface="Cambria" panose="02040503050406030204" pitchFamily="18" charset="0"/>
                <a:ea typeface="Cambria" panose="02040503050406030204" pitchFamily="18" charset="0"/>
              </a:rPr>
              <a:t>&lt;%    </a:t>
            </a:r>
          </a:p>
          <a:p>
            <a:pPr algn="just">
              <a:spcBef>
                <a:spcPts val="0"/>
              </a:spcBef>
              <a:buNone/>
            </a:pPr>
            <a:r>
              <a:rPr lang="en-GB" sz="2000" dirty="0" smtClean="0">
                <a:latin typeface="Cambria" panose="02040503050406030204" pitchFamily="18" charset="0"/>
                <a:ea typeface="Cambria" panose="02040503050406030204" pitchFamily="18" charset="0"/>
              </a:rPr>
              <a:t>String num1=</a:t>
            </a:r>
            <a:r>
              <a:rPr lang="en-GB" sz="2000" dirty="0" err="1" smtClean="0">
                <a:latin typeface="Cambria" panose="02040503050406030204" pitchFamily="18" charset="0"/>
                <a:ea typeface="Cambria" panose="02040503050406030204" pitchFamily="18" charset="0"/>
              </a:rPr>
              <a:t>request.getParameter</a:t>
            </a:r>
            <a:r>
              <a:rPr lang="en-GB" sz="2000" dirty="0" smtClean="0">
                <a:latin typeface="Cambria" panose="02040503050406030204" pitchFamily="18" charset="0"/>
                <a:ea typeface="Cambria" panose="02040503050406030204" pitchFamily="18" charset="0"/>
              </a:rPr>
              <a:t>("n1");  </a:t>
            </a:r>
          </a:p>
          <a:p>
            <a:pPr algn="just">
              <a:spcBef>
                <a:spcPts val="0"/>
              </a:spcBef>
              <a:buNone/>
            </a:pPr>
            <a:r>
              <a:rPr lang="en-GB" sz="2000" dirty="0" smtClean="0">
                <a:latin typeface="Cambria" panose="02040503050406030204" pitchFamily="18" charset="0"/>
                <a:ea typeface="Cambria" panose="02040503050406030204" pitchFamily="18" charset="0"/>
              </a:rPr>
              <a:t>String num2=request.getParameter("n2");    </a:t>
            </a:r>
          </a:p>
          <a:p>
            <a:pPr algn="just">
              <a:spcBef>
                <a:spcPts val="0"/>
              </a:spcBef>
              <a:buNone/>
            </a:pPr>
            <a:r>
              <a:rPr lang="en-GB" sz="2000" b="1" dirty="0" err="1" smtClean="0">
                <a:latin typeface="Cambria" panose="02040503050406030204" pitchFamily="18" charset="0"/>
                <a:ea typeface="Cambria" panose="02040503050406030204" pitchFamily="18" charset="0"/>
              </a:rPr>
              <a:t>int</a:t>
            </a:r>
            <a:r>
              <a:rPr lang="en-GB" sz="2000" dirty="0" smtClean="0">
                <a:latin typeface="Cambria" panose="02040503050406030204" pitchFamily="18" charset="0"/>
                <a:ea typeface="Cambria" panose="02040503050406030204" pitchFamily="18" charset="0"/>
              </a:rPr>
              <a:t> a=</a:t>
            </a:r>
            <a:r>
              <a:rPr lang="en-GB" sz="2000" dirty="0" err="1" smtClean="0">
                <a:latin typeface="Cambria" panose="02040503050406030204" pitchFamily="18" charset="0"/>
                <a:ea typeface="Cambria" panose="02040503050406030204" pitchFamily="18" charset="0"/>
              </a:rPr>
              <a:t>Integer.parseInt</a:t>
            </a:r>
            <a:r>
              <a:rPr lang="en-GB" sz="2000" dirty="0" smtClean="0">
                <a:latin typeface="Cambria" panose="02040503050406030204" pitchFamily="18" charset="0"/>
                <a:ea typeface="Cambria" panose="02040503050406030204" pitchFamily="18" charset="0"/>
              </a:rPr>
              <a:t>(num1);  </a:t>
            </a:r>
          </a:p>
          <a:p>
            <a:pPr algn="just">
              <a:spcBef>
                <a:spcPts val="0"/>
              </a:spcBef>
              <a:buNone/>
            </a:pPr>
            <a:r>
              <a:rPr lang="en-GB" sz="2000" b="1" dirty="0" err="1" smtClean="0">
                <a:latin typeface="Cambria" panose="02040503050406030204" pitchFamily="18" charset="0"/>
                <a:ea typeface="Cambria" panose="02040503050406030204" pitchFamily="18" charset="0"/>
              </a:rPr>
              <a:t>int</a:t>
            </a:r>
            <a:r>
              <a:rPr lang="en-GB" sz="2000" dirty="0" smtClean="0">
                <a:latin typeface="Cambria" panose="02040503050406030204" pitchFamily="18" charset="0"/>
                <a:ea typeface="Cambria" panose="02040503050406030204" pitchFamily="18" charset="0"/>
              </a:rPr>
              <a:t> b=</a:t>
            </a:r>
            <a:r>
              <a:rPr lang="en-GB" sz="2000" dirty="0" err="1" smtClean="0">
                <a:latin typeface="Cambria" panose="02040503050406030204" pitchFamily="18" charset="0"/>
                <a:ea typeface="Cambria" panose="02040503050406030204" pitchFamily="18" charset="0"/>
              </a:rPr>
              <a:t>Integer.parseInt</a:t>
            </a:r>
            <a:r>
              <a:rPr lang="en-GB" sz="2000" dirty="0" smtClean="0">
                <a:latin typeface="Cambria" panose="02040503050406030204" pitchFamily="18" charset="0"/>
                <a:ea typeface="Cambria" panose="02040503050406030204" pitchFamily="18" charset="0"/>
              </a:rPr>
              <a:t>(num2);  </a:t>
            </a:r>
          </a:p>
          <a:p>
            <a:pPr algn="just">
              <a:spcBef>
                <a:spcPts val="0"/>
              </a:spcBef>
              <a:buNone/>
            </a:pPr>
            <a:r>
              <a:rPr lang="en-GB" sz="2000" b="1" dirty="0" err="1" smtClean="0">
                <a:latin typeface="Cambria" panose="02040503050406030204" pitchFamily="18" charset="0"/>
                <a:ea typeface="Cambria" panose="02040503050406030204" pitchFamily="18" charset="0"/>
              </a:rPr>
              <a:t>int</a:t>
            </a:r>
            <a:r>
              <a:rPr lang="en-GB" sz="2000" dirty="0" smtClean="0">
                <a:latin typeface="Cambria" panose="02040503050406030204" pitchFamily="18" charset="0"/>
                <a:ea typeface="Cambria" panose="02040503050406030204" pitchFamily="18" charset="0"/>
              </a:rPr>
              <a:t> c=a/b;  </a:t>
            </a:r>
          </a:p>
          <a:p>
            <a:pPr algn="just">
              <a:spcBef>
                <a:spcPts val="0"/>
              </a:spcBef>
              <a:buNone/>
            </a:pPr>
            <a:r>
              <a:rPr lang="en-GB" sz="2000" dirty="0" smtClean="0">
                <a:latin typeface="Cambria" panose="02040503050406030204" pitchFamily="18" charset="0"/>
                <a:ea typeface="Cambria" panose="02040503050406030204" pitchFamily="18" charset="0"/>
              </a:rPr>
              <a:t>out.print("division of numbers is: "+c);    </a:t>
            </a:r>
          </a:p>
          <a:p>
            <a:pPr algn="just">
              <a:spcBef>
                <a:spcPts val="0"/>
              </a:spcBef>
              <a:buNone/>
            </a:pPr>
            <a:r>
              <a:rPr lang="en-GB" sz="2000" dirty="0" smtClean="0">
                <a:latin typeface="Cambria" panose="02040503050406030204" pitchFamily="18" charset="0"/>
                <a:ea typeface="Cambria" panose="02040503050406030204" pitchFamily="18" charset="0"/>
              </a:rPr>
              <a:t>%&gt;  </a:t>
            </a:r>
          </a:p>
          <a:p>
            <a:pPr algn="just">
              <a:spcBef>
                <a:spcPts val="0"/>
              </a:spcBef>
              <a:buNone/>
            </a:pPr>
            <a:endParaRPr lang="en-US" sz="20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101</a:t>
            </a:fld>
            <a:endParaRPr lang="en-US" altLang="en-US">
              <a:latin typeface="Cambria" panose="02040503050406030204" pitchFamily="18" charset="0"/>
              <a:ea typeface="Cambria" panose="02040503050406030204" pitchFamily="18" charset="0"/>
            </a:endParaRPr>
          </a:p>
        </p:txBody>
      </p:sp>
      <p:sp>
        <p:nvSpPr>
          <p:cNvPr id="5" name="Rectangle 4"/>
          <p:cNvSpPr/>
          <p:nvPr/>
        </p:nvSpPr>
        <p:spPr>
          <a:xfrm>
            <a:off x="7104112" y="1269090"/>
            <a:ext cx="4897760" cy="1754326"/>
          </a:xfrm>
          <a:prstGeom prst="rect">
            <a:avLst/>
          </a:prstGeom>
        </p:spPr>
        <p:txBody>
          <a:bodyPr wrap="square">
            <a:spAutoFit/>
          </a:bodyPr>
          <a:lstStyle/>
          <a:p>
            <a:pPr algn="just">
              <a:spcBef>
                <a:spcPts val="0"/>
              </a:spcBef>
              <a:buNone/>
            </a:pPr>
            <a:r>
              <a:rPr lang="en-GB" b="1" dirty="0">
                <a:latin typeface="Cambria" panose="02040503050406030204" pitchFamily="18" charset="0"/>
                <a:ea typeface="Cambria" panose="02040503050406030204" pitchFamily="18" charset="0"/>
              </a:rPr>
              <a:t>error.jsp</a:t>
            </a:r>
          </a:p>
          <a:p>
            <a:pPr algn="just">
              <a:spcBef>
                <a:spcPts val="0"/>
              </a:spcBef>
              <a:buNone/>
            </a:pPr>
            <a:r>
              <a:rPr lang="en-GB" dirty="0">
                <a:latin typeface="Cambria" panose="02040503050406030204" pitchFamily="18" charset="0"/>
                <a:ea typeface="Cambria" panose="02040503050406030204" pitchFamily="18" charset="0"/>
              </a:rPr>
              <a:t>&lt;%@ page isErrorPage="true" %&gt;  </a:t>
            </a:r>
          </a:p>
          <a:p>
            <a:pPr algn="just">
              <a:spcBef>
                <a:spcPts val="0"/>
              </a:spcBef>
              <a:buNone/>
            </a:pPr>
            <a:r>
              <a:rPr lang="en-GB" dirty="0">
                <a:latin typeface="Cambria" panose="02040503050406030204" pitchFamily="18" charset="0"/>
                <a:ea typeface="Cambria" panose="02040503050406030204" pitchFamily="18" charset="0"/>
              </a:rPr>
              <a:t>  </a:t>
            </a:r>
          </a:p>
          <a:p>
            <a:pPr algn="just">
              <a:spcBef>
                <a:spcPts val="0"/>
              </a:spcBef>
              <a:buNone/>
            </a:pPr>
            <a:r>
              <a:rPr lang="en-GB" dirty="0">
                <a:latin typeface="Cambria" panose="02040503050406030204" pitchFamily="18" charset="0"/>
                <a:ea typeface="Cambria" panose="02040503050406030204" pitchFamily="18" charset="0"/>
              </a:rPr>
              <a:t>&lt;h3&gt;Sorry an exception occured!&lt;/h3&gt;  </a:t>
            </a:r>
          </a:p>
          <a:p>
            <a:pPr algn="just">
              <a:spcBef>
                <a:spcPts val="0"/>
              </a:spcBef>
              <a:buNone/>
            </a:pPr>
            <a:r>
              <a:rPr lang="en-GB" dirty="0">
                <a:latin typeface="Cambria" panose="02040503050406030204" pitchFamily="18" charset="0"/>
                <a:ea typeface="Cambria" panose="02040503050406030204" pitchFamily="18" charset="0"/>
              </a:rPr>
              <a:t>  </a:t>
            </a:r>
          </a:p>
          <a:p>
            <a:pPr algn="just">
              <a:spcBef>
                <a:spcPts val="0"/>
              </a:spcBef>
              <a:buNone/>
            </a:pPr>
            <a:r>
              <a:rPr lang="en-GB" dirty="0">
                <a:latin typeface="Cambria" panose="02040503050406030204" pitchFamily="18" charset="0"/>
                <a:ea typeface="Cambria" panose="02040503050406030204" pitchFamily="18" charset="0"/>
              </a:rPr>
              <a:t>Exception is: &lt;%= exception %&gt;  </a:t>
            </a:r>
          </a:p>
        </p:txBody>
      </p:sp>
    </p:spTree>
    <p:extLst>
      <p:ext uri="{BB962C8B-B14F-4D97-AF65-F5344CB8AC3E}">
        <p14:creationId xmlns:p14="http://schemas.microsoft.com/office/powerpoint/2010/main" val="35973260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7176120" cy="596302"/>
          </a:xfrm>
        </p:spPr>
        <p:txBody>
          <a:bodyPr/>
          <a:lstStyle/>
          <a:p>
            <a:pPr algn="just"/>
            <a:r>
              <a:rPr lang="en-US" sz="3600" b="1" dirty="0" smtClean="0">
                <a:solidFill>
                  <a:schemeClr val="accent5"/>
                </a:solidFill>
                <a:latin typeface="Cambria" panose="02040503050406030204" pitchFamily="18" charset="0"/>
                <a:ea typeface="Cambria" panose="02040503050406030204" pitchFamily="18" charset="0"/>
              </a:rPr>
              <a:t>Exception Handling in JSP </a:t>
            </a:r>
            <a:r>
              <a:rPr lang="en-US" sz="2400" b="1" dirty="0" smtClean="0">
                <a:solidFill>
                  <a:schemeClr val="accent5"/>
                </a:solidFill>
                <a:latin typeface="Cambria" panose="02040503050406030204" pitchFamily="18" charset="0"/>
                <a:ea typeface="Cambria" panose="02040503050406030204" pitchFamily="18" charset="0"/>
              </a:rPr>
              <a:t>(contd...)</a:t>
            </a:r>
            <a:endParaRPr lang="en-US" sz="36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263352" y="507291"/>
            <a:ext cx="11521280" cy="3336753"/>
          </a:xfrm>
        </p:spPr>
        <p:txBody>
          <a:bodyPr/>
          <a:lstStyle/>
          <a:p>
            <a:pPr marL="0" indent="0" algn="just">
              <a:buNone/>
            </a:pPr>
            <a:r>
              <a:rPr lang="en-GB" sz="2400" b="1" dirty="0" smtClean="0">
                <a:latin typeface="Cambria" panose="02040503050406030204" pitchFamily="18" charset="0"/>
                <a:ea typeface="Cambria" panose="02040503050406030204" pitchFamily="18" charset="0"/>
              </a:rPr>
              <a:t>2. By &lt;error-page&gt; element in web.xml file</a:t>
            </a:r>
          </a:p>
          <a:p>
            <a:pPr algn="just">
              <a:spcBef>
                <a:spcPts val="0"/>
              </a:spcBef>
              <a:buNone/>
            </a:pPr>
            <a:r>
              <a:rPr lang="en-US" sz="2000" dirty="0">
                <a:latin typeface="Cambria" panose="02040503050406030204" pitchFamily="18" charset="0"/>
                <a:ea typeface="Cambria" panose="02040503050406030204" pitchFamily="18" charset="0"/>
              </a:rPr>
              <a:t>This approach is better because you don't need to specify the errorPage attribute in each jsp page. Specifying the single entry in the web.xml file will handle the exception. In this case, either specify exception-type or error-code with the location element</a:t>
            </a:r>
            <a:r>
              <a:rPr lang="en-US" sz="2000" dirty="0" smtClean="0">
                <a:latin typeface="Cambria" panose="02040503050406030204" pitchFamily="18" charset="0"/>
                <a:ea typeface="Cambria" panose="02040503050406030204" pitchFamily="18" charset="0"/>
              </a:rPr>
              <a:t>.</a:t>
            </a:r>
          </a:p>
          <a:p>
            <a:pPr marL="0" indent="0" algn="just">
              <a:buNone/>
            </a:pPr>
            <a:r>
              <a:rPr lang="en-US" sz="2000" b="1" dirty="0">
                <a:latin typeface="Cambria" panose="02040503050406030204" pitchFamily="18" charset="0"/>
                <a:ea typeface="Cambria" panose="02040503050406030204" pitchFamily="18" charset="0"/>
              </a:rPr>
              <a:t>There are 4 files:</a:t>
            </a:r>
          </a:p>
          <a:p>
            <a:pPr algn="just"/>
            <a:r>
              <a:rPr lang="en-US" sz="2000" dirty="0">
                <a:latin typeface="Cambria" panose="02040503050406030204" pitchFamily="18" charset="0"/>
                <a:ea typeface="Cambria" panose="02040503050406030204" pitchFamily="18" charset="0"/>
              </a:rPr>
              <a:t>web.xml file for specifying the error-page element</a:t>
            </a:r>
          </a:p>
          <a:p>
            <a:pPr algn="just"/>
            <a:r>
              <a:rPr lang="en-US" sz="2000" dirty="0">
                <a:latin typeface="Cambria" panose="02040503050406030204" pitchFamily="18" charset="0"/>
                <a:ea typeface="Cambria" panose="02040503050406030204" pitchFamily="18" charset="0"/>
              </a:rPr>
              <a:t>index.jsp for input values</a:t>
            </a:r>
          </a:p>
          <a:p>
            <a:pPr algn="just"/>
            <a:r>
              <a:rPr lang="en-US" sz="2000" dirty="0">
                <a:latin typeface="Cambria" panose="02040503050406030204" pitchFamily="18" charset="0"/>
                <a:ea typeface="Cambria" panose="02040503050406030204" pitchFamily="18" charset="0"/>
              </a:rPr>
              <a:t>process.jsp for dividing the two numbers and displaying the result</a:t>
            </a:r>
          </a:p>
          <a:p>
            <a:pPr algn="just"/>
            <a:r>
              <a:rPr lang="en-US" sz="2000" dirty="0">
                <a:latin typeface="Cambria" panose="02040503050406030204" pitchFamily="18" charset="0"/>
                <a:ea typeface="Cambria" panose="02040503050406030204" pitchFamily="18" charset="0"/>
              </a:rPr>
              <a:t>error.jsp for displaying the exception</a:t>
            </a:r>
          </a:p>
          <a:p>
            <a:pPr algn="just">
              <a:spcBef>
                <a:spcPts val="0"/>
              </a:spcBef>
              <a:buNone/>
            </a:pPr>
            <a:endParaRPr lang="en-GB" sz="2200" dirty="0" smtClean="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102</a:t>
            </a:fld>
            <a:endParaRPr lang="en-US" altLang="en-US">
              <a:latin typeface="Cambria" panose="02040503050406030204" pitchFamily="18" charset="0"/>
              <a:ea typeface="Cambria" panose="02040503050406030204" pitchFamily="18" charset="0"/>
            </a:endParaRPr>
          </a:p>
        </p:txBody>
      </p:sp>
      <p:sp>
        <p:nvSpPr>
          <p:cNvPr id="5" name="Rectangle 4"/>
          <p:cNvSpPr/>
          <p:nvPr/>
        </p:nvSpPr>
        <p:spPr>
          <a:xfrm>
            <a:off x="263352" y="3745351"/>
            <a:ext cx="7056784" cy="1754326"/>
          </a:xfrm>
          <a:prstGeom prst="rect">
            <a:avLst/>
          </a:prstGeom>
        </p:spPr>
        <p:txBody>
          <a:bodyPr wrap="square">
            <a:spAutoFit/>
          </a:bodyPr>
          <a:lstStyle/>
          <a:p>
            <a:r>
              <a:rPr lang="en-US" b="1" dirty="0">
                <a:latin typeface="Cambria" panose="02040503050406030204" pitchFamily="18" charset="0"/>
                <a:ea typeface="Cambria" panose="02040503050406030204" pitchFamily="18" charset="0"/>
              </a:rPr>
              <a:t>&lt;web-app&gt;  </a:t>
            </a:r>
          </a:p>
          <a:p>
            <a:r>
              <a:rPr lang="en-US" b="1" dirty="0">
                <a:latin typeface="Cambria" panose="02040503050406030204" pitchFamily="18" charset="0"/>
                <a:ea typeface="Cambria" panose="02040503050406030204" pitchFamily="18" charset="0"/>
              </a:rPr>
              <a:t> &lt;error-page&gt;  </a:t>
            </a:r>
          </a:p>
          <a:p>
            <a:r>
              <a:rPr lang="en-US" b="1" dirty="0" smtClean="0">
                <a:latin typeface="Cambria" panose="02040503050406030204" pitchFamily="18" charset="0"/>
                <a:ea typeface="Cambria" panose="02040503050406030204" pitchFamily="18" charset="0"/>
              </a:rPr>
              <a:t> 	&lt;</a:t>
            </a:r>
            <a:r>
              <a:rPr lang="en-US" b="1" dirty="0">
                <a:latin typeface="Cambria" panose="02040503050406030204" pitchFamily="18" charset="0"/>
                <a:ea typeface="Cambria" panose="02040503050406030204" pitchFamily="18" charset="0"/>
              </a:rPr>
              <a:t>exception-type&gt;java.lang.Exception&lt;/exception-type&gt;  </a:t>
            </a:r>
            <a:endParaRPr lang="en-US" b="1" dirty="0" smtClean="0">
              <a:latin typeface="Cambria" panose="02040503050406030204" pitchFamily="18" charset="0"/>
              <a:ea typeface="Cambria" panose="02040503050406030204" pitchFamily="18" charset="0"/>
            </a:endParaRPr>
          </a:p>
          <a:p>
            <a:r>
              <a:rPr lang="en-US" b="1" dirty="0" smtClean="0">
                <a:latin typeface="Cambria" panose="02040503050406030204" pitchFamily="18" charset="0"/>
                <a:ea typeface="Cambria" panose="02040503050406030204" pitchFamily="18" charset="0"/>
              </a:rPr>
              <a:t>	 &lt;location&gt;/error.jsp&lt;/location&gt;  </a:t>
            </a:r>
          </a:p>
          <a:p>
            <a:r>
              <a:rPr lang="en-US" b="1" dirty="0">
                <a:latin typeface="Cambria" panose="02040503050406030204" pitchFamily="18" charset="0"/>
                <a:ea typeface="Cambria" panose="02040503050406030204" pitchFamily="18" charset="0"/>
              </a:rPr>
              <a:t>  &lt;/error-page&gt;  </a:t>
            </a:r>
          </a:p>
          <a:p>
            <a:r>
              <a:rPr lang="en-US" b="1" dirty="0">
                <a:latin typeface="Cambria" panose="02040503050406030204" pitchFamily="18" charset="0"/>
                <a:ea typeface="Cambria" panose="02040503050406030204" pitchFamily="18" charset="0"/>
              </a:rPr>
              <a:t>  </a:t>
            </a:r>
            <a:r>
              <a:rPr lang="en-US" b="1" dirty="0" smtClean="0">
                <a:latin typeface="Cambria" panose="02040503050406030204" pitchFamily="18" charset="0"/>
                <a:ea typeface="Cambria" panose="02040503050406030204" pitchFamily="18" charset="0"/>
              </a:rPr>
              <a:t>&lt;/</a:t>
            </a:r>
            <a:r>
              <a:rPr lang="en-US" b="1" dirty="0">
                <a:latin typeface="Cambria" panose="02040503050406030204" pitchFamily="18" charset="0"/>
                <a:ea typeface="Cambria" panose="02040503050406030204" pitchFamily="18" charset="0"/>
              </a:rPr>
              <a:t>web-app&gt;  </a:t>
            </a:r>
          </a:p>
        </p:txBody>
      </p:sp>
      <p:sp>
        <p:nvSpPr>
          <p:cNvPr id="6" name="Rectangle 5"/>
          <p:cNvSpPr/>
          <p:nvPr/>
        </p:nvSpPr>
        <p:spPr>
          <a:xfrm>
            <a:off x="7415200" y="3468352"/>
            <a:ext cx="3744416" cy="1754326"/>
          </a:xfrm>
          <a:prstGeom prst="rect">
            <a:avLst/>
          </a:prstGeom>
        </p:spPr>
        <p:txBody>
          <a:bodyPr wrap="square">
            <a:spAutoFit/>
          </a:bodyPr>
          <a:lstStyle/>
          <a:p>
            <a:r>
              <a:rPr lang="en-US" b="1" dirty="0">
                <a:latin typeface="Cambria" panose="02040503050406030204" pitchFamily="18" charset="0"/>
                <a:ea typeface="Cambria" panose="02040503050406030204" pitchFamily="18" charset="0"/>
              </a:rPr>
              <a:t>&lt;web-app&gt;  </a:t>
            </a:r>
          </a:p>
          <a:p>
            <a:r>
              <a:rPr lang="en-US" b="1" dirty="0">
                <a:latin typeface="Cambria" panose="02040503050406030204" pitchFamily="18" charset="0"/>
                <a:ea typeface="Cambria" panose="02040503050406030204" pitchFamily="18" charset="0"/>
              </a:rPr>
              <a:t>  &lt;error-page&gt;  </a:t>
            </a:r>
          </a:p>
          <a:p>
            <a:r>
              <a:rPr lang="en-US" b="1" dirty="0">
                <a:latin typeface="Cambria" panose="02040503050406030204" pitchFamily="18" charset="0"/>
                <a:ea typeface="Cambria" panose="02040503050406030204" pitchFamily="18" charset="0"/>
              </a:rPr>
              <a:t>  &lt;error-code&gt;500&lt;/error-code&gt;  </a:t>
            </a:r>
          </a:p>
          <a:p>
            <a:r>
              <a:rPr lang="en-US" b="1" dirty="0">
                <a:latin typeface="Cambria" panose="02040503050406030204" pitchFamily="18" charset="0"/>
                <a:ea typeface="Cambria" panose="02040503050406030204" pitchFamily="18" charset="0"/>
              </a:rPr>
              <a:t>  &lt;location&gt;/error.jsp&lt;/location&gt; </a:t>
            </a:r>
          </a:p>
          <a:p>
            <a:r>
              <a:rPr lang="en-US" b="1" dirty="0">
                <a:latin typeface="Cambria" panose="02040503050406030204" pitchFamily="18" charset="0"/>
                <a:ea typeface="Cambria" panose="02040503050406030204" pitchFamily="18" charset="0"/>
              </a:rPr>
              <a:t>  &lt;/error-page&gt;     </a:t>
            </a:r>
          </a:p>
          <a:p>
            <a:r>
              <a:rPr lang="en-US" b="1" dirty="0">
                <a:latin typeface="Cambria" panose="02040503050406030204" pitchFamily="18" charset="0"/>
                <a:ea typeface="Cambria" panose="02040503050406030204" pitchFamily="18" charset="0"/>
              </a:rPr>
              <a:t>&lt;/web-app&gt;  </a:t>
            </a:r>
          </a:p>
        </p:txBody>
      </p:sp>
    </p:spTree>
    <p:extLst>
      <p:ext uri="{BB962C8B-B14F-4D97-AF65-F5344CB8AC3E}">
        <p14:creationId xmlns:p14="http://schemas.microsoft.com/office/powerpoint/2010/main" val="3879357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p:bldP spid="6" grpId="0"/>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3889648" cy="527034"/>
          </a:xfrm>
        </p:spPr>
        <p:txBody>
          <a:bodyPr/>
          <a:lstStyle/>
          <a:p>
            <a:r>
              <a:rPr lang="en-US" sz="3600" b="1" dirty="0" smtClean="0">
                <a:solidFill>
                  <a:schemeClr val="accent5"/>
                </a:solidFill>
                <a:latin typeface="Cambria" panose="02040503050406030204" pitchFamily="18" charset="0"/>
                <a:ea typeface="Cambria" panose="02040503050406030204" pitchFamily="18" charset="0"/>
              </a:rPr>
              <a:t>JSP Action Tags</a:t>
            </a:r>
            <a:endParaRPr lang="en-US" sz="36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191344" y="512647"/>
            <a:ext cx="11737304" cy="1101766"/>
          </a:xfrm>
        </p:spPr>
        <p:txBody>
          <a:bodyPr/>
          <a:lstStyle/>
          <a:p>
            <a:pPr algn="just">
              <a:buFont typeface="Wingdings" panose="05000000000000000000" pitchFamily="2" charset="2"/>
              <a:buChar char="Ø"/>
            </a:pPr>
            <a:r>
              <a:rPr lang="en-GB" sz="2000" dirty="0" smtClean="0">
                <a:latin typeface="Cambria" panose="02040503050406030204" pitchFamily="18" charset="0"/>
                <a:ea typeface="Cambria" panose="02040503050406030204" pitchFamily="18" charset="0"/>
              </a:rPr>
              <a:t>JSP action tags are used to perform some specific tasks.</a:t>
            </a:r>
          </a:p>
          <a:p>
            <a:pPr algn="just">
              <a:buFont typeface="Wingdings" panose="05000000000000000000" pitchFamily="2" charset="2"/>
              <a:buChar char="Ø"/>
            </a:pPr>
            <a:r>
              <a:rPr lang="en-GB" sz="2000" dirty="0" smtClean="0">
                <a:latin typeface="Cambria" panose="02040503050406030204" pitchFamily="18" charset="0"/>
                <a:ea typeface="Cambria" panose="02040503050406030204" pitchFamily="18" charset="0"/>
              </a:rPr>
              <a:t>The action tags are used to control the flow between pages and to use Java Bean. The JSP action tags are given below:</a:t>
            </a:r>
            <a:endParaRPr lang="en-US" sz="20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103</a:t>
            </a:fld>
            <a:endParaRPr lang="en-US" altLang="en-US">
              <a:latin typeface="Cambria" panose="02040503050406030204" pitchFamily="18" charset="0"/>
              <a:ea typeface="Cambria" panose="02040503050406030204" pitchFamily="18" charset="0"/>
            </a:endParaRPr>
          </a:p>
        </p:txBody>
      </p:sp>
      <p:graphicFrame>
        <p:nvGraphicFramePr>
          <p:cNvPr id="5" name="Table 4"/>
          <p:cNvGraphicFramePr>
            <a:graphicFrameLocks noGrp="1"/>
          </p:cNvGraphicFramePr>
          <p:nvPr>
            <p:extLst>
              <p:ext uri="{D42A27DB-BD31-4B8C-83A1-F6EECF244321}">
                <p14:modId xmlns:p14="http://schemas.microsoft.com/office/powerpoint/2010/main" val="137637547"/>
              </p:ext>
            </p:extLst>
          </p:nvPr>
        </p:nvGraphicFramePr>
        <p:xfrm>
          <a:off x="947428" y="1614413"/>
          <a:ext cx="10225136" cy="3960440"/>
        </p:xfrm>
        <a:graphic>
          <a:graphicData uri="http://schemas.openxmlformats.org/drawingml/2006/table">
            <a:tbl>
              <a:tblPr firstRow="1" bandRow="1">
                <a:tableStyleId>{5C22544A-7EE6-4342-B048-85BDC9FD1C3A}</a:tableStyleId>
              </a:tblPr>
              <a:tblGrid>
                <a:gridCol w="1932309"/>
                <a:gridCol w="8292827"/>
              </a:tblGrid>
              <a:tr h="442525">
                <a:tc>
                  <a:txBody>
                    <a:bodyPr/>
                    <a:lstStyle/>
                    <a:p>
                      <a:pPr algn="l" fontAlgn="t"/>
                      <a:r>
                        <a:rPr lang="en-US" dirty="0" smtClean="0">
                          <a:solidFill>
                            <a:srgbClr val="000000"/>
                          </a:solidFill>
                          <a:latin typeface="Cambria" panose="02040503050406030204" pitchFamily="18" charset="0"/>
                          <a:ea typeface="Cambria" panose="02040503050406030204" pitchFamily="18" charset="0"/>
                        </a:rPr>
                        <a:t>JSP </a:t>
                      </a:r>
                      <a:r>
                        <a:rPr lang="en-US" dirty="0">
                          <a:solidFill>
                            <a:srgbClr val="000000"/>
                          </a:solidFill>
                          <a:latin typeface="Cambria" panose="02040503050406030204" pitchFamily="18" charset="0"/>
                          <a:ea typeface="Cambria" panose="02040503050406030204" pitchFamily="18" charset="0"/>
                        </a:rPr>
                        <a:t>Action Tags</a:t>
                      </a:r>
                    </a:p>
                  </a:txBody>
                  <a:tcPr marL="114300" marR="114300" marT="114300" marB="114300"/>
                </a:tc>
                <a:tc>
                  <a:txBody>
                    <a:bodyPr/>
                    <a:lstStyle/>
                    <a:p>
                      <a:pPr algn="l" fontAlgn="t"/>
                      <a:r>
                        <a:rPr lang="en-US">
                          <a:solidFill>
                            <a:srgbClr val="000000"/>
                          </a:solidFill>
                          <a:latin typeface="Cambria" panose="02040503050406030204" pitchFamily="18" charset="0"/>
                          <a:ea typeface="Cambria" panose="02040503050406030204" pitchFamily="18" charset="0"/>
                        </a:rPr>
                        <a:t>Description</a:t>
                      </a:r>
                    </a:p>
                  </a:txBody>
                  <a:tcPr marL="114300" marR="114300" marT="114300" marB="114300"/>
                </a:tc>
              </a:tr>
              <a:tr h="375476">
                <a:tc>
                  <a:txBody>
                    <a:bodyPr/>
                    <a:lstStyle/>
                    <a:p>
                      <a:pPr algn="just" fontAlgn="t"/>
                      <a:r>
                        <a:rPr lang="en-US">
                          <a:solidFill>
                            <a:srgbClr val="333333"/>
                          </a:solidFill>
                          <a:latin typeface="Cambria" panose="02040503050406030204" pitchFamily="18" charset="0"/>
                          <a:ea typeface="Cambria" panose="02040503050406030204" pitchFamily="18" charset="0"/>
                        </a:rPr>
                        <a:t>jsp:forward</a:t>
                      </a:r>
                    </a:p>
                  </a:txBody>
                  <a:tcPr marL="76200" marR="76200" marT="76200" marB="76200"/>
                </a:tc>
                <a:tc>
                  <a:txBody>
                    <a:bodyPr/>
                    <a:lstStyle/>
                    <a:p>
                      <a:pPr algn="just" fontAlgn="t"/>
                      <a:r>
                        <a:rPr lang="en-GB" dirty="0">
                          <a:solidFill>
                            <a:srgbClr val="333333"/>
                          </a:solidFill>
                          <a:latin typeface="Cambria" panose="02040503050406030204" pitchFamily="18" charset="0"/>
                          <a:ea typeface="Cambria" panose="02040503050406030204" pitchFamily="18" charset="0"/>
                        </a:rPr>
                        <a:t>forwards the request and response to another resource.</a:t>
                      </a:r>
                    </a:p>
                  </a:txBody>
                  <a:tcPr marL="76200" marR="76200" marT="76200" marB="76200"/>
                </a:tc>
              </a:tr>
              <a:tr h="375476">
                <a:tc>
                  <a:txBody>
                    <a:bodyPr/>
                    <a:lstStyle/>
                    <a:p>
                      <a:pPr algn="just" fontAlgn="t"/>
                      <a:r>
                        <a:rPr lang="en-US">
                          <a:solidFill>
                            <a:srgbClr val="333333"/>
                          </a:solidFill>
                          <a:latin typeface="Cambria" panose="02040503050406030204" pitchFamily="18" charset="0"/>
                          <a:ea typeface="Cambria" panose="02040503050406030204" pitchFamily="18" charset="0"/>
                        </a:rPr>
                        <a:t>jsp:include</a:t>
                      </a:r>
                    </a:p>
                  </a:txBody>
                  <a:tcPr marL="76200" marR="76200" marT="76200" marB="76200"/>
                </a:tc>
                <a:tc>
                  <a:txBody>
                    <a:bodyPr/>
                    <a:lstStyle/>
                    <a:p>
                      <a:pPr algn="just" fontAlgn="t"/>
                      <a:r>
                        <a:rPr lang="en-US">
                          <a:solidFill>
                            <a:srgbClr val="333333"/>
                          </a:solidFill>
                          <a:latin typeface="Cambria" panose="02040503050406030204" pitchFamily="18" charset="0"/>
                          <a:ea typeface="Cambria" panose="02040503050406030204" pitchFamily="18" charset="0"/>
                        </a:rPr>
                        <a:t>includes another resource.</a:t>
                      </a:r>
                    </a:p>
                  </a:txBody>
                  <a:tcPr marL="76200" marR="76200" marT="76200" marB="76200"/>
                </a:tc>
              </a:tr>
              <a:tr h="375476">
                <a:tc>
                  <a:txBody>
                    <a:bodyPr/>
                    <a:lstStyle/>
                    <a:p>
                      <a:pPr algn="just" fontAlgn="t"/>
                      <a:r>
                        <a:rPr lang="en-US">
                          <a:solidFill>
                            <a:srgbClr val="333333"/>
                          </a:solidFill>
                          <a:latin typeface="Cambria" panose="02040503050406030204" pitchFamily="18" charset="0"/>
                          <a:ea typeface="Cambria" panose="02040503050406030204" pitchFamily="18" charset="0"/>
                        </a:rPr>
                        <a:t>jsp:useBean</a:t>
                      </a:r>
                    </a:p>
                  </a:txBody>
                  <a:tcPr marL="76200" marR="76200" marT="76200" marB="76200"/>
                </a:tc>
                <a:tc>
                  <a:txBody>
                    <a:bodyPr/>
                    <a:lstStyle/>
                    <a:p>
                      <a:pPr algn="just" fontAlgn="t"/>
                      <a:r>
                        <a:rPr lang="en-GB">
                          <a:solidFill>
                            <a:srgbClr val="333333"/>
                          </a:solidFill>
                          <a:latin typeface="Cambria" panose="02040503050406030204" pitchFamily="18" charset="0"/>
                          <a:ea typeface="Cambria" panose="02040503050406030204" pitchFamily="18" charset="0"/>
                        </a:rPr>
                        <a:t>creates or locates bean object.</a:t>
                      </a:r>
                    </a:p>
                  </a:txBody>
                  <a:tcPr marL="76200" marR="76200" marT="76200" marB="76200"/>
                </a:tc>
              </a:tr>
              <a:tr h="375476">
                <a:tc>
                  <a:txBody>
                    <a:bodyPr/>
                    <a:lstStyle/>
                    <a:p>
                      <a:pPr algn="just" fontAlgn="t"/>
                      <a:r>
                        <a:rPr lang="en-US">
                          <a:solidFill>
                            <a:srgbClr val="333333"/>
                          </a:solidFill>
                          <a:latin typeface="Cambria" panose="02040503050406030204" pitchFamily="18" charset="0"/>
                          <a:ea typeface="Cambria" panose="02040503050406030204" pitchFamily="18" charset="0"/>
                        </a:rPr>
                        <a:t>jsp:setProperty</a:t>
                      </a:r>
                    </a:p>
                  </a:txBody>
                  <a:tcPr marL="76200" marR="76200" marT="76200" marB="76200"/>
                </a:tc>
                <a:tc>
                  <a:txBody>
                    <a:bodyPr/>
                    <a:lstStyle/>
                    <a:p>
                      <a:pPr algn="just" fontAlgn="t"/>
                      <a:r>
                        <a:rPr lang="en-GB">
                          <a:solidFill>
                            <a:srgbClr val="333333"/>
                          </a:solidFill>
                          <a:latin typeface="Cambria" panose="02040503050406030204" pitchFamily="18" charset="0"/>
                          <a:ea typeface="Cambria" panose="02040503050406030204" pitchFamily="18" charset="0"/>
                        </a:rPr>
                        <a:t>sets the value of property in bean object.</a:t>
                      </a:r>
                    </a:p>
                  </a:txBody>
                  <a:tcPr marL="76200" marR="76200" marT="76200" marB="76200"/>
                </a:tc>
              </a:tr>
              <a:tr h="375476">
                <a:tc>
                  <a:txBody>
                    <a:bodyPr/>
                    <a:lstStyle/>
                    <a:p>
                      <a:pPr algn="just" fontAlgn="t"/>
                      <a:r>
                        <a:rPr lang="en-US">
                          <a:solidFill>
                            <a:srgbClr val="333333"/>
                          </a:solidFill>
                          <a:latin typeface="Cambria" panose="02040503050406030204" pitchFamily="18" charset="0"/>
                          <a:ea typeface="Cambria" panose="02040503050406030204" pitchFamily="18" charset="0"/>
                        </a:rPr>
                        <a:t>jsp:getProperty</a:t>
                      </a:r>
                    </a:p>
                  </a:txBody>
                  <a:tcPr marL="76200" marR="76200" marT="76200" marB="76200"/>
                </a:tc>
                <a:tc>
                  <a:txBody>
                    <a:bodyPr/>
                    <a:lstStyle/>
                    <a:p>
                      <a:pPr algn="just" fontAlgn="t"/>
                      <a:r>
                        <a:rPr lang="en-GB">
                          <a:solidFill>
                            <a:srgbClr val="333333"/>
                          </a:solidFill>
                          <a:latin typeface="Cambria" panose="02040503050406030204" pitchFamily="18" charset="0"/>
                          <a:ea typeface="Cambria" panose="02040503050406030204" pitchFamily="18" charset="0"/>
                        </a:rPr>
                        <a:t>prints the value of property of the bean.</a:t>
                      </a:r>
                    </a:p>
                  </a:txBody>
                  <a:tcPr marL="76200" marR="76200" marT="76200" marB="76200"/>
                </a:tc>
              </a:tr>
              <a:tr h="375476">
                <a:tc>
                  <a:txBody>
                    <a:bodyPr/>
                    <a:lstStyle/>
                    <a:p>
                      <a:pPr algn="just" fontAlgn="t"/>
                      <a:r>
                        <a:rPr lang="en-US" dirty="0">
                          <a:solidFill>
                            <a:srgbClr val="333333"/>
                          </a:solidFill>
                          <a:latin typeface="Cambria" panose="02040503050406030204" pitchFamily="18" charset="0"/>
                          <a:ea typeface="Cambria" panose="02040503050406030204" pitchFamily="18" charset="0"/>
                        </a:rPr>
                        <a:t>jsp:plugin</a:t>
                      </a:r>
                    </a:p>
                  </a:txBody>
                  <a:tcPr marL="76200" marR="76200" marT="76200" marB="76200"/>
                </a:tc>
                <a:tc>
                  <a:txBody>
                    <a:bodyPr/>
                    <a:lstStyle/>
                    <a:p>
                      <a:pPr algn="just" fontAlgn="t"/>
                      <a:r>
                        <a:rPr lang="en-GB">
                          <a:solidFill>
                            <a:srgbClr val="333333"/>
                          </a:solidFill>
                          <a:latin typeface="Cambria" panose="02040503050406030204" pitchFamily="18" charset="0"/>
                          <a:ea typeface="Cambria" panose="02040503050406030204" pitchFamily="18" charset="0"/>
                        </a:rPr>
                        <a:t>embeds another components such as applet.</a:t>
                      </a:r>
                    </a:p>
                  </a:txBody>
                  <a:tcPr marL="76200" marR="76200" marT="76200" marB="76200"/>
                </a:tc>
              </a:tr>
              <a:tr h="465152">
                <a:tc>
                  <a:txBody>
                    <a:bodyPr/>
                    <a:lstStyle/>
                    <a:p>
                      <a:pPr algn="just" fontAlgn="t"/>
                      <a:r>
                        <a:rPr lang="en-US" dirty="0">
                          <a:solidFill>
                            <a:srgbClr val="333333"/>
                          </a:solidFill>
                          <a:latin typeface="Cambria" panose="02040503050406030204" pitchFamily="18" charset="0"/>
                          <a:ea typeface="Cambria" panose="02040503050406030204" pitchFamily="18" charset="0"/>
                        </a:rPr>
                        <a:t>jsp:param</a:t>
                      </a:r>
                    </a:p>
                  </a:txBody>
                  <a:tcPr marL="76200" marR="76200" marT="76200" marB="76200"/>
                </a:tc>
                <a:tc>
                  <a:txBody>
                    <a:bodyPr/>
                    <a:lstStyle/>
                    <a:p>
                      <a:pPr algn="just" fontAlgn="t"/>
                      <a:r>
                        <a:rPr lang="en-GB" dirty="0">
                          <a:solidFill>
                            <a:srgbClr val="333333"/>
                          </a:solidFill>
                          <a:latin typeface="Cambria" panose="02040503050406030204" pitchFamily="18" charset="0"/>
                          <a:ea typeface="Cambria" panose="02040503050406030204" pitchFamily="18" charset="0"/>
                        </a:rPr>
                        <a:t>sets the parameter value. It is used in forward and include mostly.</a:t>
                      </a:r>
                    </a:p>
                  </a:txBody>
                  <a:tcPr marL="76200" marR="76200" marT="76200" marB="76200"/>
                </a:tc>
              </a:tr>
              <a:tr h="432048">
                <a:tc>
                  <a:txBody>
                    <a:bodyPr/>
                    <a:lstStyle/>
                    <a:p>
                      <a:pPr algn="just" fontAlgn="t"/>
                      <a:r>
                        <a:rPr lang="en-US" dirty="0">
                          <a:solidFill>
                            <a:srgbClr val="333333"/>
                          </a:solidFill>
                          <a:latin typeface="Cambria" panose="02040503050406030204" pitchFamily="18" charset="0"/>
                          <a:ea typeface="Cambria" panose="02040503050406030204" pitchFamily="18" charset="0"/>
                        </a:rPr>
                        <a:t>jsp:fallback</a:t>
                      </a:r>
                    </a:p>
                  </a:txBody>
                  <a:tcPr marL="76200" marR="76200" marT="76200" marB="76200"/>
                </a:tc>
                <a:tc>
                  <a:txBody>
                    <a:bodyPr/>
                    <a:lstStyle/>
                    <a:p>
                      <a:pPr algn="just" fontAlgn="t"/>
                      <a:r>
                        <a:rPr lang="en-GB" dirty="0">
                          <a:solidFill>
                            <a:srgbClr val="333333"/>
                          </a:solidFill>
                          <a:latin typeface="Cambria" panose="02040503050406030204" pitchFamily="18" charset="0"/>
                          <a:ea typeface="Cambria" panose="02040503050406030204" pitchFamily="18" charset="0"/>
                        </a:rPr>
                        <a:t>can be used to print the </a:t>
                      </a:r>
                      <a:r>
                        <a:rPr lang="en-GB" dirty="0" smtClean="0">
                          <a:solidFill>
                            <a:srgbClr val="333333"/>
                          </a:solidFill>
                          <a:latin typeface="Cambria" panose="02040503050406030204" pitchFamily="18" charset="0"/>
                          <a:ea typeface="Cambria" panose="02040503050406030204" pitchFamily="18" charset="0"/>
                        </a:rPr>
                        <a:t>message, </a:t>
                      </a:r>
                      <a:r>
                        <a:rPr lang="en-GB" dirty="0">
                          <a:solidFill>
                            <a:srgbClr val="333333"/>
                          </a:solidFill>
                          <a:latin typeface="Cambria" panose="02040503050406030204" pitchFamily="18" charset="0"/>
                          <a:ea typeface="Cambria" panose="02040503050406030204" pitchFamily="18" charset="0"/>
                        </a:rPr>
                        <a:t>if plugin is working. It is used in jsp</a:t>
                      </a:r>
                      <a:r>
                        <a:rPr lang="en-GB" dirty="0" smtClean="0">
                          <a:solidFill>
                            <a:srgbClr val="333333"/>
                          </a:solidFill>
                          <a:latin typeface="Cambria" panose="02040503050406030204" pitchFamily="18" charset="0"/>
                          <a:ea typeface="Cambria" panose="02040503050406030204" pitchFamily="18" charset="0"/>
                        </a:rPr>
                        <a:t>: plugin</a:t>
                      </a:r>
                      <a:r>
                        <a:rPr lang="en-GB" dirty="0">
                          <a:solidFill>
                            <a:srgbClr val="333333"/>
                          </a:solidFill>
                          <a:latin typeface="Cambria" panose="02040503050406030204" pitchFamily="18" charset="0"/>
                          <a:ea typeface="Cambria" panose="02040503050406030204" pitchFamily="18" charset="0"/>
                        </a:rPr>
                        <a:t>.</a:t>
                      </a:r>
                    </a:p>
                  </a:txBody>
                  <a:tcPr marL="76200" marR="76200" marT="76200" marB="76200"/>
                </a:tc>
              </a:tr>
            </a:tbl>
          </a:graphicData>
        </a:graphic>
      </p:graphicFrame>
    </p:spTree>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9653"/>
            <a:ext cx="6121896" cy="471587"/>
          </a:xfrm>
        </p:spPr>
        <p:txBody>
          <a:bodyPr/>
          <a:lstStyle/>
          <a:p>
            <a:r>
              <a:rPr lang="en-US" sz="4000" b="1" dirty="0" err="1" smtClean="0">
                <a:solidFill>
                  <a:schemeClr val="accent5"/>
                </a:solidFill>
                <a:latin typeface="Cambria" panose="02040503050406030204" pitchFamily="18" charset="0"/>
                <a:ea typeface="Cambria" panose="02040503050406030204" pitchFamily="18" charset="0"/>
              </a:rPr>
              <a:t>jsp:forward</a:t>
            </a:r>
            <a:r>
              <a:rPr lang="en-US" sz="4000" b="1" dirty="0" smtClean="0">
                <a:solidFill>
                  <a:schemeClr val="accent5"/>
                </a:solidFill>
                <a:latin typeface="Cambria" panose="02040503050406030204" pitchFamily="18" charset="0"/>
                <a:ea typeface="Cambria" panose="02040503050406030204" pitchFamily="18" charset="0"/>
              </a:rPr>
              <a:t> action tag</a:t>
            </a:r>
            <a:endParaRPr lang="en-US" sz="40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79376" y="620688"/>
            <a:ext cx="11089232" cy="5033979"/>
          </a:xfrm>
        </p:spPr>
        <p:txBody>
          <a:bodyPr/>
          <a:lstStyle/>
          <a:p>
            <a:pPr algn="just">
              <a:spcBef>
                <a:spcPts val="0"/>
              </a:spcBef>
              <a:buNone/>
            </a:pPr>
            <a:r>
              <a:rPr lang="en-GB" sz="2000" dirty="0" smtClean="0">
                <a:latin typeface="Cambria" panose="02040503050406030204" pitchFamily="18" charset="0"/>
                <a:ea typeface="Cambria" panose="02040503050406030204" pitchFamily="18" charset="0"/>
              </a:rPr>
              <a:t>The </a:t>
            </a:r>
            <a:r>
              <a:rPr lang="en-GB" sz="2000" b="1" dirty="0" err="1" smtClean="0">
                <a:latin typeface="Cambria" panose="02040503050406030204" pitchFamily="18" charset="0"/>
                <a:ea typeface="Cambria" panose="02040503050406030204" pitchFamily="18" charset="0"/>
              </a:rPr>
              <a:t>jsp:forward</a:t>
            </a:r>
            <a:r>
              <a:rPr lang="en-GB" sz="2000" dirty="0" smtClean="0">
                <a:latin typeface="Cambria" panose="02040503050406030204" pitchFamily="18" charset="0"/>
                <a:ea typeface="Cambria" panose="02040503050406030204" pitchFamily="18" charset="0"/>
              </a:rPr>
              <a:t> action tag is used to forward the request to another resource it may be </a:t>
            </a:r>
            <a:r>
              <a:rPr lang="en-GB" sz="2000" dirty="0" err="1" smtClean="0">
                <a:latin typeface="Cambria" panose="02040503050406030204" pitchFamily="18" charset="0"/>
                <a:ea typeface="Cambria" panose="02040503050406030204" pitchFamily="18" charset="0"/>
              </a:rPr>
              <a:t>jsp</a:t>
            </a:r>
            <a:r>
              <a:rPr lang="en-GB" sz="2000" dirty="0" smtClean="0">
                <a:latin typeface="Cambria" panose="02040503050406030204" pitchFamily="18" charset="0"/>
                <a:ea typeface="Cambria" panose="02040503050406030204" pitchFamily="18" charset="0"/>
              </a:rPr>
              <a:t>, html or another resource.</a:t>
            </a:r>
          </a:p>
          <a:p>
            <a:pPr algn="just">
              <a:spcBef>
                <a:spcPts val="0"/>
              </a:spcBef>
              <a:buNone/>
            </a:pPr>
            <a:r>
              <a:rPr lang="en-US" sz="2000" b="1" dirty="0" smtClean="0">
                <a:latin typeface="Cambria" panose="02040503050406030204" pitchFamily="18" charset="0"/>
                <a:ea typeface="Cambria" panose="02040503050406030204" pitchFamily="18" charset="0"/>
              </a:rPr>
              <a:t>Syntax of </a:t>
            </a:r>
            <a:r>
              <a:rPr lang="en-US" sz="2000" b="1" dirty="0" err="1" smtClean="0">
                <a:latin typeface="Cambria" panose="02040503050406030204" pitchFamily="18" charset="0"/>
                <a:ea typeface="Cambria" panose="02040503050406030204" pitchFamily="18" charset="0"/>
              </a:rPr>
              <a:t>jsp:forward</a:t>
            </a:r>
            <a:r>
              <a:rPr lang="en-US" sz="2000" b="1" dirty="0" smtClean="0">
                <a:latin typeface="Cambria" panose="02040503050406030204" pitchFamily="18" charset="0"/>
                <a:ea typeface="Cambria" panose="02040503050406030204" pitchFamily="18" charset="0"/>
              </a:rPr>
              <a:t> action tag without parameter</a:t>
            </a:r>
          </a:p>
          <a:p>
            <a:pPr algn="just">
              <a:spcBef>
                <a:spcPts val="0"/>
              </a:spcBef>
              <a:buNone/>
            </a:pPr>
            <a:r>
              <a:rPr lang="en-US" sz="2000" dirty="0" smtClean="0">
                <a:latin typeface="Cambria" panose="02040503050406030204" pitchFamily="18" charset="0"/>
                <a:ea typeface="Cambria" panose="02040503050406030204" pitchFamily="18" charset="0"/>
              </a:rPr>
              <a:t>   &lt;jsp:forward page="relativeURL ” &gt;  </a:t>
            </a:r>
          </a:p>
          <a:p>
            <a:pPr algn="just">
              <a:spcBef>
                <a:spcPts val="0"/>
              </a:spcBef>
              <a:buNone/>
            </a:pPr>
            <a:r>
              <a:rPr lang="en-US" sz="2000" dirty="0" smtClean="0">
                <a:latin typeface="Cambria" panose="02040503050406030204" pitchFamily="18" charset="0"/>
                <a:ea typeface="Cambria" panose="02040503050406030204" pitchFamily="18" charset="0"/>
              </a:rPr>
              <a:t>	&lt;/</a:t>
            </a:r>
            <a:r>
              <a:rPr lang="en-US" sz="2000" dirty="0">
                <a:latin typeface="Cambria" panose="02040503050406030204" pitchFamily="18" charset="0"/>
                <a:ea typeface="Cambria" panose="02040503050406030204" pitchFamily="18" charset="0"/>
              </a:rPr>
              <a:t>jsp:forward&gt;  </a:t>
            </a:r>
            <a:endParaRPr lang="en-US" sz="2000" dirty="0" smtClean="0">
              <a:latin typeface="Cambria" panose="02040503050406030204" pitchFamily="18" charset="0"/>
              <a:ea typeface="Cambria" panose="02040503050406030204" pitchFamily="18" charset="0"/>
            </a:endParaRPr>
          </a:p>
          <a:p>
            <a:pPr algn="just">
              <a:spcBef>
                <a:spcPts val="0"/>
              </a:spcBef>
              <a:buNone/>
            </a:pPr>
            <a:r>
              <a:rPr lang="en-US" sz="2000" b="1" dirty="0" smtClean="0">
                <a:latin typeface="Cambria" panose="02040503050406030204" pitchFamily="18" charset="0"/>
                <a:ea typeface="Cambria" panose="02040503050406030204" pitchFamily="18" charset="0"/>
              </a:rPr>
              <a:t>Syntax of </a:t>
            </a:r>
            <a:r>
              <a:rPr lang="en-US" sz="2000" b="1" dirty="0" err="1" smtClean="0">
                <a:latin typeface="Cambria" panose="02040503050406030204" pitchFamily="18" charset="0"/>
                <a:ea typeface="Cambria" panose="02040503050406030204" pitchFamily="18" charset="0"/>
              </a:rPr>
              <a:t>jsp:forward</a:t>
            </a:r>
            <a:r>
              <a:rPr lang="en-US" sz="2000" b="1" dirty="0" smtClean="0">
                <a:latin typeface="Cambria" panose="02040503050406030204" pitchFamily="18" charset="0"/>
                <a:ea typeface="Cambria" panose="02040503050406030204" pitchFamily="18" charset="0"/>
              </a:rPr>
              <a:t> action tag with parameter</a:t>
            </a:r>
          </a:p>
          <a:p>
            <a:pPr algn="just">
              <a:spcBef>
                <a:spcPts val="0"/>
              </a:spcBef>
              <a:buNone/>
            </a:pPr>
            <a:r>
              <a:rPr lang="en-US" sz="2000" dirty="0" smtClean="0">
                <a:latin typeface="Cambria" panose="02040503050406030204" pitchFamily="18" charset="0"/>
                <a:ea typeface="Cambria" panose="02040503050406030204" pitchFamily="18" charset="0"/>
              </a:rPr>
              <a:t>   &lt;jsp:forward page="relativeURL &gt;  </a:t>
            </a:r>
          </a:p>
          <a:p>
            <a:pPr algn="just">
              <a:spcBef>
                <a:spcPts val="0"/>
              </a:spcBef>
              <a:buNone/>
            </a:pPr>
            <a:r>
              <a:rPr lang="en-US" sz="2000" dirty="0" smtClean="0">
                <a:latin typeface="Cambria" panose="02040503050406030204" pitchFamily="18" charset="0"/>
                <a:ea typeface="Cambria" panose="02040503050406030204" pitchFamily="18" charset="0"/>
              </a:rPr>
              <a:t>  	&lt;jsp:param name="parametername" value="parametervalue” /&gt;  </a:t>
            </a:r>
          </a:p>
          <a:p>
            <a:pPr algn="just">
              <a:spcBef>
                <a:spcPts val="0"/>
              </a:spcBef>
              <a:buNone/>
            </a:pPr>
            <a:r>
              <a:rPr lang="en-US" sz="2000" dirty="0" smtClean="0">
                <a:latin typeface="Cambria" panose="02040503050406030204" pitchFamily="18" charset="0"/>
                <a:ea typeface="Cambria" panose="02040503050406030204" pitchFamily="18" charset="0"/>
              </a:rPr>
              <a:t>	&lt;/jsp:forward&gt;  </a:t>
            </a:r>
          </a:p>
          <a:p>
            <a:pPr algn="just">
              <a:spcBef>
                <a:spcPts val="0"/>
              </a:spcBef>
              <a:buNone/>
            </a:pPr>
            <a:r>
              <a:rPr lang="en-US" sz="2400" b="1" dirty="0" smtClean="0">
                <a:solidFill>
                  <a:schemeClr val="accent5"/>
                </a:solidFill>
                <a:latin typeface="Cambria" panose="02040503050406030204" pitchFamily="18" charset="0"/>
                <a:ea typeface="Cambria" panose="02040503050406030204" pitchFamily="18" charset="0"/>
              </a:rPr>
              <a:t>index.jsp</a:t>
            </a:r>
            <a:r>
              <a:rPr lang="en-GB" sz="2400" b="1" dirty="0">
                <a:latin typeface="Cambria" panose="02040503050406030204" pitchFamily="18" charset="0"/>
                <a:ea typeface="Cambria" panose="02040503050406030204" pitchFamily="18" charset="0"/>
              </a:rPr>
              <a:t>Example of jsp:forward action tag without parameter</a:t>
            </a:r>
          </a:p>
          <a:p>
            <a:pPr algn="just">
              <a:spcBef>
                <a:spcPts val="0"/>
              </a:spcBef>
              <a:buNone/>
            </a:pPr>
            <a:endParaRPr lang="en-US" sz="2400" b="1" dirty="0" smtClean="0">
              <a:solidFill>
                <a:schemeClr val="accent5"/>
              </a:solidFill>
              <a:latin typeface="Cambria" panose="02040503050406030204" pitchFamily="18" charset="0"/>
              <a:ea typeface="Cambria" panose="02040503050406030204" pitchFamily="18" charset="0"/>
            </a:endParaRPr>
          </a:p>
          <a:p>
            <a:pPr algn="just">
              <a:spcBef>
                <a:spcPts val="0"/>
              </a:spcBef>
              <a:buNone/>
            </a:pPr>
            <a:r>
              <a:rPr lang="en-US" sz="2000" dirty="0" smtClean="0">
                <a:latin typeface="Cambria" panose="02040503050406030204" pitchFamily="18" charset="0"/>
                <a:ea typeface="Cambria" panose="02040503050406030204" pitchFamily="18" charset="0"/>
              </a:rPr>
              <a:t>&lt;html&gt;  </a:t>
            </a:r>
          </a:p>
          <a:p>
            <a:pPr algn="just">
              <a:spcBef>
                <a:spcPts val="0"/>
              </a:spcBef>
              <a:buNone/>
            </a:pPr>
            <a:r>
              <a:rPr lang="en-US" sz="2000" dirty="0" smtClean="0">
                <a:latin typeface="Cambria" panose="02040503050406030204" pitchFamily="18" charset="0"/>
                <a:ea typeface="Cambria" panose="02040503050406030204" pitchFamily="18" charset="0"/>
              </a:rPr>
              <a:t>&lt;body&gt;  </a:t>
            </a:r>
          </a:p>
          <a:p>
            <a:pPr algn="just">
              <a:spcBef>
                <a:spcPts val="0"/>
              </a:spcBef>
              <a:buNone/>
            </a:pPr>
            <a:r>
              <a:rPr lang="en-US" sz="2000" dirty="0" smtClean="0">
                <a:latin typeface="Cambria" panose="02040503050406030204" pitchFamily="18" charset="0"/>
                <a:ea typeface="Cambria" panose="02040503050406030204" pitchFamily="18" charset="0"/>
              </a:rPr>
              <a:t>&lt;h2&gt;</a:t>
            </a:r>
            <a:r>
              <a:rPr lang="en-US" sz="2000" b="1" dirty="0" smtClean="0">
                <a:latin typeface="Cambria" panose="02040503050406030204" pitchFamily="18" charset="0"/>
                <a:ea typeface="Cambria" panose="02040503050406030204" pitchFamily="18" charset="0"/>
              </a:rPr>
              <a:t>this</a:t>
            </a:r>
            <a:r>
              <a:rPr lang="en-US" sz="2000" dirty="0" smtClean="0">
                <a:latin typeface="Cambria" panose="02040503050406030204" pitchFamily="18" charset="0"/>
                <a:ea typeface="Cambria" panose="02040503050406030204" pitchFamily="18" charset="0"/>
              </a:rPr>
              <a:t> is index page&lt;/h2&gt;    </a:t>
            </a:r>
          </a:p>
          <a:p>
            <a:pPr algn="just">
              <a:spcBef>
                <a:spcPts val="0"/>
              </a:spcBef>
              <a:buNone/>
            </a:pPr>
            <a:r>
              <a:rPr lang="en-US" sz="2000" dirty="0" smtClean="0">
                <a:latin typeface="Cambria" panose="02040503050406030204" pitchFamily="18" charset="0"/>
                <a:ea typeface="Cambria" panose="02040503050406030204" pitchFamily="18" charset="0"/>
              </a:rPr>
              <a:t>&lt;jsp:forward page="printdate.jsp" /&gt;  </a:t>
            </a:r>
          </a:p>
          <a:p>
            <a:pPr algn="just">
              <a:spcBef>
                <a:spcPts val="0"/>
              </a:spcBef>
              <a:buNone/>
            </a:pPr>
            <a:r>
              <a:rPr lang="en-US" sz="2000" dirty="0" smtClean="0">
                <a:latin typeface="Cambria" panose="02040503050406030204" pitchFamily="18" charset="0"/>
                <a:ea typeface="Cambria" panose="02040503050406030204" pitchFamily="18" charset="0"/>
              </a:rPr>
              <a:t>&lt;/body&gt;  </a:t>
            </a:r>
          </a:p>
          <a:p>
            <a:pPr algn="just">
              <a:spcBef>
                <a:spcPts val="0"/>
              </a:spcBef>
              <a:buNone/>
            </a:pPr>
            <a:r>
              <a:rPr lang="en-US" sz="2000" dirty="0" smtClean="0">
                <a:latin typeface="Cambria" panose="02040503050406030204" pitchFamily="18" charset="0"/>
                <a:ea typeface="Cambria" panose="02040503050406030204" pitchFamily="18" charset="0"/>
              </a:rPr>
              <a:t>&lt;/html&gt; </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104</a:t>
            </a:fld>
            <a:endParaRPr lang="en-US" altLang="en-US">
              <a:latin typeface="Cambria" panose="02040503050406030204" pitchFamily="18" charset="0"/>
              <a:ea typeface="Cambria" panose="02040503050406030204" pitchFamily="18" charset="0"/>
            </a:endParaRPr>
          </a:p>
        </p:txBody>
      </p:sp>
      <p:sp>
        <p:nvSpPr>
          <p:cNvPr id="5" name="Rectangle 4"/>
          <p:cNvSpPr/>
          <p:nvPr/>
        </p:nvSpPr>
        <p:spPr>
          <a:xfrm>
            <a:off x="5562600" y="3356992"/>
            <a:ext cx="6096000" cy="2062103"/>
          </a:xfrm>
          <a:prstGeom prst="rect">
            <a:avLst/>
          </a:prstGeom>
        </p:spPr>
        <p:txBody>
          <a:bodyPr>
            <a:spAutoFit/>
          </a:bodyPr>
          <a:lstStyle/>
          <a:p>
            <a:pPr algn="just">
              <a:spcBef>
                <a:spcPts val="0"/>
              </a:spcBef>
              <a:buNone/>
            </a:pPr>
            <a:r>
              <a:rPr lang="en-US" sz="2000" b="1" dirty="0">
                <a:solidFill>
                  <a:schemeClr val="accent5"/>
                </a:solidFill>
                <a:latin typeface="Cambria" panose="02040503050406030204" pitchFamily="18" charset="0"/>
                <a:ea typeface="Cambria" panose="02040503050406030204" pitchFamily="18" charset="0"/>
              </a:rPr>
              <a:t>printdate.jsp</a:t>
            </a:r>
          </a:p>
          <a:p>
            <a:pPr algn="just">
              <a:spcBef>
                <a:spcPts val="0"/>
              </a:spcBef>
              <a:buNone/>
            </a:pPr>
            <a:r>
              <a:rPr lang="en-US" dirty="0">
                <a:latin typeface="Cambria" panose="02040503050406030204" pitchFamily="18" charset="0"/>
                <a:ea typeface="Cambria" panose="02040503050406030204" pitchFamily="18" charset="0"/>
              </a:rPr>
              <a:t>&lt;html&gt;  </a:t>
            </a:r>
          </a:p>
          <a:p>
            <a:pPr algn="just">
              <a:spcBef>
                <a:spcPts val="0"/>
              </a:spcBef>
              <a:buNone/>
            </a:pPr>
            <a:r>
              <a:rPr lang="en-US" dirty="0">
                <a:latin typeface="Cambria" panose="02040503050406030204" pitchFamily="18" charset="0"/>
                <a:ea typeface="Cambria" panose="02040503050406030204" pitchFamily="18" charset="0"/>
              </a:rPr>
              <a:t>&lt;body&gt;  </a:t>
            </a:r>
          </a:p>
          <a:p>
            <a:pPr algn="just">
              <a:spcBef>
                <a:spcPts val="0"/>
              </a:spcBef>
              <a:buNone/>
            </a:pPr>
            <a:r>
              <a:rPr lang="en-US" dirty="0">
                <a:latin typeface="Cambria" panose="02040503050406030204" pitchFamily="18" charset="0"/>
                <a:ea typeface="Cambria" panose="02040503050406030204" pitchFamily="18" charset="0"/>
              </a:rPr>
              <a:t>&lt;% out.print("Today is:"+java.util.Calendar.getInstance().getTime()); %&gt;  </a:t>
            </a:r>
          </a:p>
          <a:p>
            <a:pPr algn="just">
              <a:spcBef>
                <a:spcPts val="0"/>
              </a:spcBef>
              <a:buNone/>
            </a:pPr>
            <a:r>
              <a:rPr lang="en-US" dirty="0">
                <a:latin typeface="Cambria" panose="02040503050406030204" pitchFamily="18" charset="0"/>
                <a:ea typeface="Cambria" panose="02040503050406030204" pitchFamily="18" charset="0"/>
              </a:rPr>
              <a:t>&lt;/body&gt;  </a:t>
            </a:r>
          </a:p>
          <a:p>
            <a:pPr algn="just">
              <a:spcBef>
                <a:spcPts val="0"/>
              </a:spcBef>
              <a:buNone/>
            </a:pPr>
            <a:r>
              <a:rPr lang="en-US" dirty="0">
                <a:latin typeface="Cambria" panose="02040503050406030204" pitchFamily="18" charset="0"/>
                <a:ea typeface="Cambria" panose="02040503050406030204" pitchFamily="18" charset="0"/>
              </a:rPr>
              <a:t>&lt;/html&gt;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P spid="5" grpId="0"/>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802416" cy="471587"/>
          </a:xfrm>
        </p:spPr>
        <p:txBody>
          <a:bodyPr/>
          <a:lstStyle/>
          <a:p>
            <a:r>
              <a:rPr lang="en-US" sz="3600" b="1" dirty="0" smtClean="0">
                <a:solidFill>
                  <a:schemeClr val="accent5"/>
                </a:solidFill>
                <a:latin typeface="Cambria" panose="02040503050406030204" pitchFamily="18" charset="0"/>
                <a:ea typeface="Cambria" panose="02040503050406030204" pitchFamily="18" charset="0"/>
              </a:rPr>
              <a:t/>
            </a:r>
            <a:br>
              <a:rPr lang="en-US" sz="3600" b="1" dirty="0" smtClean="0">
                <a:solidFill>
                  <a:schemeClr val="accent5"/>
                </a:solidFill>
                <a:latin typeface="Cambria" panose="02040503050406030204" pitchFamily="18" charset="0"/>
                <a:ea typeface="Cambria" panose="02040503050406030204" pitchFamily="18" charset="0"/>
              </a:rPr>
            </a:br>
            <a:r>
              <a:rPr lang="en-US" sz="3600" b="1" dirty="0" smtClean="0">
                <a:solidFill>
                  <a:schemeClr val="accent5"/>
                </a:solidFill>
                <a:latin typeface="Cambria" panose="02040503050406030204" pitchFamily="18" charset="0"/>
                <a:ea typeface="Cambria" panose="02040503050406030204" pitchFamily="18" charset="0"/>
              </a:rPr>
              <a:t/>
            </a:r>
            <a:br>
              <a:rPr lang="en-US" sz="3600" b="1" dirty="0" smtClean="0">
                <a:solidFill>
                  <a:schemeClr val="accent5"/>
                </a:solidFill>
                <a:latin typeface="Cambria" panose="02040503050406030204" pitchFamily="18" charset="0"/>
                <a:ea typeface="Cambria" panose="02040503050406030204" pitchFamily="18" charset="0"/>
              </a:rPr>
            </a:br>
            <a:r>
              <a:rPr lang="en-US" sz="3600" b="1" dirty="0" smtClean="0">
                <a:solidFill>
                  <a:schemeClr val="accent5"/>
                </a:solidFill>
                <a:latin typeface="Cambria" panose="02040503050406030204" pitchFamily="18" charset="0"/>
                <a:ea typeface="Cambria" panose="02040503050406030204" pitchFamily="18" charset="0"/>
              </a:rPr>
              <a:t>Example of jsp: forward action tag with parameter</a:t>
            </a:r>
            <a:br>
              <a:rPr lang="en-US" sz="3600" b="1" dirty="0" smtClean="0">
                <a:solidFill>
                  <a:schemeClr val="accent5"/>
                </a:solidFill>
                <a:latin typeface="Cambria" panose="02040503050406030204" pitchFamily="18" charset="0"/>
                <a:ea typeface="Cambria" panose="02040503050406030204" pitchFamily="18" charset="0"/>
              </a:rPr>
            </a:br>
            <a:r>
              <a:rPr lang="en-US" sz="3600" b="1" dirty="0" smtClean="0">
                <a:solidFill>
                  <a:schemeClr val="accent5"/>
                </a:solidFill>
                <a:latin typeface="Cambria" panose="02040503050406030204" pitchFamily="18" charset="0"/>
                <a:ea typeface="Cambria" panose="02040503050406030204" pitchFamily="18" charset="0"/>
              </a:rPr>
              <a:t/>
            </a:r>
            <a:br>
              <a:rPr lang="en-US" sz="3600" b="1" dirty="0" smtClean="0">
                <a:solidFill>
                  <a:schemeClr val="accent5"/>
                </a:solidFill>
                <a:latin typeface="Cambria" panose="02040503050406030204" pitchFamily="18" charset="0"/>
                <a:ea typeface="Cambria" panose="02040503050406030204" pitchFamily="18" charset="0"/>
              </a:rPr>
            </a:br>
            <a:endParaRPr lang="en-US" sz="36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191344" y="620689"/>
            <a:ext cx="5544616" cy="4176464"/>
          </a:xfrm>
        </p:spPr>
        <p:txBody>
          <a:bodyPr/>
          <a:lstStyle/>
          <a:p>
            <a:pPr algn="just"/>
            <a:r>
              <a:rPr lang="en-US" sz="2000" dirty="0" smtClean="0">
                <a:latin typeface="Cambria" panose="02040503050406030204" pitchFamily="18" charset="0"/>
                <a:ea typeface="Cambria" panose="02040503050406030204" pitchFamily="18" charset="0"/>
              </a:rPr>
              <a:t>In this example, we are forwarding the request to the printdate.jsp file with parameter and printdate.jsp file prints the parameter value with date and time.</a:t>
            </a:r>
          </a:p>
          <a:p>
            <a:pPr algn="just"/>
            <a:r>
              <a:rPr lang="en-US" sz="2000" b="1" dirty="0" smtClean="0">
                <a:latin typeface="Cambria" panose="02040503050406030204" pitchFamily="18" charset="0"/>
                <a:ea typeface="Cambria" panose="02040503050406030204" pitchFamily="18" charset="0"/>
              </a:rPr>
              <a:t>index.jsp</a:t>
            </a:r>
          </a:p>
          <a:p>
            <a:pPr algn="just"/>
            <a:endParaRPr lang="en-US" sz="2000" dirty="0" smtClean="0">
              <a:latin typeface="Cambria" panose="02040503050406030204" pitchFamily="18" charset="0"/>
              <a:ea typeface="Cambria" panose="02040503050406030204" pitchFamily="18" charset="0"/>
            </a:endParaRPr>
          </a:p>
          <a:p>
            <a:pPr algn="just">
              <a:spcBef>
                <a:spcPts val="0"/>
              </a:spcBef>
              <a:buNone/>
            </a:pPr>
            <a:r>
              <a:rPr lang="en-US" sz="1800" dirty="0" smtClean="0">
                <a:latin typeface="Cambria" panose="02040503050406030204" pitchFamily="18" charset="0"/>
                <a:ea typeface="Cambria" panose="02040503050406030204" pitchFamily="18" charset="0"/>
              </a:rPr>
              <a:t>&lt;html&gt;  </a:t>
            </a:r>
          </a:p>
          <a:p>
            <a:pPr algn="just">
              <a:spcBef>
                <a:spcPts val="0"/>
              </a:spcBef>
              <a:buNone/>
            </a:pPr>
            <a:r>
              <a:rPr lang="en-US" sz="1800" dirty="0" smtClean="0">
                <a:latin typeface="Cambria" panose="02040503050406030204" pitchFamily="18" charset="0"/>
                <a:ea typeface="Cambria" panose="02040503050406030204" pitchFamily="18" charset="0"/>
              </a:rPr>
              <a:t>&lt;body&gt;  </a:t>
            </a:r>
          </a:p>
          <a:p>
            <a:pPr algn="just">
              <a:spcBef>
                <a:spcPts val="0"/>
              </a:spcBef>
              <a:buNone/>
            </a:pPr>
            <a:r>
              <a:rPr lang="en-US" sz="1800" dirty="0" smtClean="0">
                <a:latin typeface="Cambria" panose="02040503050406030204" pitchFamily="18" charset="0"/>
                <a:ea typeface="Cambria" panose="02040503050406030204" pitchFamily="18" charset="0"/>
              </a:rPr>
              <a:t>&lt;h2&gt;</a:t>
            </a:r>
            <a:r>
              <a:rPr lang="en-US" sz="1800" b="1" dirty="0" smtClean="0">
                <a:latin typeface="Cambria" panose="02040503050406030204" pitchFamily="18" charset="0"/>
                <a:ea typeface="Cambria" panose="02040503050406030204" pitchFamily="18" charset="0"/>
              </a:rPr>
              <a:t>this</a:t>
            </a:r>
            <a:r>
              <a:rPr lang="en-US" sz="1800" dirty="0" smtClean="0">
                <a:latin typeface="Cambria" panose="02040503050406030204" pitchFamily="18" charset="0"/>
                <a:ea typeface="Cambria" panose="02040503050406030204" pitchFamily="18" charset="0"/>
              </a:rPr>
              <a:t> is index page&lt;/h2&gt;  </a:t>
            </a:r>
          </a:p>
          <a:p>
            <a:pPr algn="just">
              <a:spcBef>
                <a:spcPts val="0"/>
              </a:spcBef>
              <a:buNone/>
            </a:pPr>
            <a:r>
              <a:rPr lang="en-US" sz="1800" dirty="0" smtClean="0">
                <a:latin typeface="Cambria" panose="02040503050406030204" pitchFamily="18" charset="0"/>
                <a:ea typeface="Cambria" panose="02040503050406030204" pitchFamily="18" charset="0"/>
              </a:rPr>
              <a:t>&lt;jsp: forward page="printdate.jsp" &gt;  </a:t>
            </a:r>
          </a:p>
          <a:p>
            <a:pPr algn="just">
              <a:spcBef>
                <a:spcPts val="0"/>
              </a:spcBef>
              <a:buNone/>
            </a:pPr>
            <a:r>
              <a:rPr lang="en-US" sz="1800" dirty="0" smtClean="0">
                <a:latin typeface="Cambria" panose="02040503050406030204" pitchFamily="18" charset="0"/>
                <a:ea typeface="Cambria" panose="02040503050406030204" pitchFamily="18" charset="0"/>
              </a:rPr>
              <a:t>&lt;jsp: param name="name" value=“xyz" /&gt; </a:t>
            </a:r>
          </a:p>
          <a:p>
            <a:pPr algn="just">
              <a:spcBef>
                <a:spcPts val="0"/>
              </a:spcBef>
              <a:buNone/>
            </a:pPr>
            <a:r>
              <a:rPr lang="en-US" sz="1800" dirty="0" smtClean="0">
                <a:latin typeface="Cambria" panose="02040503050406030204" pitchFamily="18" charset="0"/>
                <a:ea typeface="Cambria" panose="02040503050406030204" pitchFamily="18" charset="0"/>
              </a:rPr>
              <a:t>&lt;/jsp:forward&gt;    </a:t>
            </a:r>
          </a:p>
          <a:p>
            <a:pPr algn="just">
              <a:spcBef>
                <a:spcPts val="0"/>
              </a:spcBef>
              <a:buNone/>
            </a:pPr>
            <a:r>
              <a:rPr lang="en-US" sz="1800" dirty="0" smtClean="0">
                <a:latin typeface="Cambria" panose="02040503050406030204" pitchFamily="18" charset="0"/>
                <a:ea typeface="Cambria" panose="02040503050406030204" pitchFamily="18" charset="0"/>
              </a:rPr>
              <a:t>&lt;/body&gt;  </a:t>
            </a:r>
          </a:p>
          <a:p>
            <a:pPr algn="just">
              <a:spcBef>
                <a:spcPts val="0"/>
              </a:spcBef>
              <a:buNone/>
            </a:pPr>
            <a:r>
              <a:rPr lang="en-US" sz="1800" dirty="0" smtClean="0">
                <a:latin typeface="Cambria" panose="02040503050406030204" pitchFamily="18" charset="0"/>
                <a:ea typeface="Cambria" panose="02040503050406030204" pitchFamily="18" charset="0"/>
              </a:rPr>
              <a:t>&lt;/html&gt;  </a:t>
            </a:r>
          </a:p>
          <a:p>
            <a:pPr algn="just">
              <a:spcBef>
                <a:spcPts val="0"/>
              </a:spcBef>
              <a:buNone/>
            </a:pPr>
            <a:r>
              <a:rPr lang="en-GB" sz="2000" b="1" dirty="0" smtClean="0">
                <a:latin typeface="Cambria" panose="02040503050406030204" pitchFamily="18" charset="0"/>
                <a:ea typeface="Cambria" panose="02040503050406030204" pitchFamily="18" charset="0"/>
              </a:rPr>
              <a:t> </a:t>
            </a:r>
            <a:endParaRPr lang="en-GB" sz="2000" dirty="0" smtClean="0">
              <a:latin typeface="Cambria" panose="02040503050406030204" pitchFamily="18" charset="0"/>
              <a:ea typeface="Cambria" panose="02040503050406030204" pitchFamily="18" charset="0"/>
            </a:endParaRPr>
          </a:p>
          <a:p>
            <a:pPr algn="just">
              <a:spcBef>
                <a:spcPts val="0"/>
              </a:spcBef>
              <a:buNone/>
            </a:pPr>
            <a:endParaRPr lang="en-US" sz="2400" dirty="0" smtClean="0">
              <a:latin typeface="Cambria" panose="02040503050406030204" pitchFamily="18" charset="0"/>
              <a:ea typeface="Cambria" panose="02040503050406030204" pitchFamily="18" charset="0"/>
            </a:endParaRPr>
          </a:p>
          <a:p>
            <a:pPr algn="just"/>
            <a:endParaRPr lang="en-US" sz="24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105</a:t>
            </a:fld>
            <a:endParaRPr lang="en-US" altLang="en-US">
              <a:latin typeface="Cambria" panose="02040503050406030204" pitchFamily="18" charset="0"/>
              <a:ea typeface="Cambria" panose="02040503050406030204" pitchFamily="18" charset="0"/>
            </a:endParaRPr>
          </a:p>
        </p:txBody>
      </p:sp>
      <p:sp>
        <p:nvSpPr>
          <p:cNvPr id="5" name="Rectangle 4"/>
          <p:cNvSpPr/>
          <p:nvPr/>
        </p:nvSpPr>
        <p:spPr>
          <a:xfrm>
            <a:off x="6096000" y="1556792"/>
            <a:ext cx="5832648" cy="2339102"/>
          </a:xfrm>
          <a:prstGeom prst="rect">
            <a:avLst/>
          </a:prstGeom>
        </p:spPr>
        <p:txBody>
          <a:bodyPr wrap="square">
            <a:spAutoFit/>
          </a:bodyPr>
          <a:lstStyle/>
          <a:p>
            <a:pPr>
              <a:spcBef>
                <a:spcPts val="0"/>
              </a:spcBef>
              <a:buNone/>
            </a:pPr>
            <a:r>
              <a:rPr lang="en-US" sz="2000" b="1" dirty="0">
                <a:latin typeface="Cambria" panose="02040503050406030204" pitchFamily="18" charset="0"/>
                <a:ea typeface="Cambria" panose="02040503050406030204" pitchFamily="18" charset="0"/>
              </a:rPr>
              <a:t>printdate.jsp</a:t>
            </a:r>
          </a:p>
          <a:p>
            <a:pPr marL="0" indent="0">
              <a:spcBef>
                <a:spcPts val="0"/>
              </a:spcBef>
              <a:buNone/>
            </a:pPr>
            <a:r>
              <a:rPr lang="en-US" dirty="0" smtClean="0">
                <a:latin typeface="Cambria" panose="02040503050406030204" pitchFamily="18" charset="0"/>
                <a:ea typeface="Cambria" panose="02040503050406030204" pitchFamily="18" charset="0"/>
              </a:rPr>
              <a:t>&lt;</a:t>
            </a:r>
            <a:r>
              <a:rPr lang="en-US" dirty="0">
                <a:latin typeface="Cambria" panose="02040503050406030204" pitchFamily="18" charset="0"/>
                <a:ea typeface="Cambria" panose="02040503050406030204" pitchFamily="18" charset="0"/>
              </a:rPr>
              <a:t>html&gt;  </a:t>
            </a:r>
          </a:p>
          <a:p>
            <a:pPr marL="0" indent="0">
              <a:spcBef>
                <a:spcPts val="0"/>
              </a:spcBef>
              <a:buNone/>
            </a:pPr>
            <a:r>
              <a:rPr lang="en-US" dirty="0" smtClean="0">
                <a:latin typeface="Cambria" panose="02040503050406030204" pitchFamily="18" charset="0"/>
                <a:ea typeface="Cambria" panose="02040503050406030204" pitchFamily="18" charset="0"/>
              </a:rPr>
              <a:t>&lt;</a:t>
            </a:r>
            <a:r>
              <a:rPr lang="en-US" dirty="0">
                <a:latin typeface="Cambria" panose="02040503050406030204" pitchFamily="18" charset="0"/>
                <a:ea typeface="Cambria" panose="02040503050406030204" pitchFamily="18" charset="0"/>
              </a:rPr>
              <a:t>body&gt;  </a:t>
            </a:r>
          </a:p>
          <a:p>
            <a:pPr marL="0" indent="0">
              <a:spcBef>
                <a:spcPts val="0"/>
              </a:spcBef>
              <a:buNone/>
            </a:pPr>
            <a:r>
              <a:rPr lang="en-US" dirty="0" smtClean="0">
                <a:latin typeface="Cambria" panose="02040503050406030204" pitchFamily="18" charset="0"/>
                <a:ea typeface="Cambria" panose="02040503050406030204" pitchFamily="18" charset="0"/>
              </a:rPr>
              <a:t>&lt;%</a:t>
            </a:r>
            <a:r>
              <a:rPr lang="en-US" dirty="0">
                <a:latin typeface="Cambria" panose="02040503050406030204" pitchFamily="18" charset="0"/>
                <a:ea typeface="Cambria" panose="02040503050406030204" pitchFamily="18" charset="0"/>
              </a:rPr>
              <a:t> out.print("Today is:"+java.util.Calendar.getInstance().getTime()); %&gt;  </a:t>
            </a:r>
          </a:p>
          <a:p>
            <a:pPr marL="0" indent="0">
              <a:spcBef>
                <a:spcPts val="0"/>
              </a:spcBef>
              <a:buNone/>
            </a:pPr>
            <a:r>
              <a:rPr lang="en-US" dirty="0" smtClean="0">
                <a:latin typeface="Cambria" panose="02040503050406030204" pitchFamily="18" charset="0"/>
                <a:ea typeface="Cambria" panose="02040503050406030204" pitchFamily="18" charset="0"/>
              </a:rPr>
              <a:t>&lt;%=</a:t>
            </a:r>
            <a:r>
              <a:rPr lang="en-US" dirty="0">
                <a:latin typeface="Cambria" panose="02040503050406030204" pitchFamily="18" charset="0"/>
                <a:ea typeface="Cambria" panose="02040503050406030204" pitchFamily="18" charset="0"/>
              </a:rPr>
              <a:t> request.getParameter("name") %&gt;  </a:t>
            </a:r>
          </a:p>
          <a:p>
            <a:pPr marL="0" indent="0">
              <a:spcBef>
                <a:spcPts val="0"/>
              </a:spcBef>
              <a:buNone/>
            </a:pPr>
            <a:r>
              <a:rPr lang="en-US" dirty="0" smtClean="0">
                <a:latin typeface="Cambria" panose="02040503050406030204" pitchFamily="18" charset="0"/>
                <a:ea typeface="Cambria" panose="02040503050406030204" pitchFamily="18" charset="0"/>
              </a:rPr>
              <a:t>&lt;/</a:t>
            </a:r>
            <a:r>
              <a:rPr lang="en-US" dirty="0">
                <a:latin typeface="Cambria" panose="02040503050406030204" pitchFamily="18" charset="0"/>
                <a:ea typeface="Cambria" panose="02040503050406030204" pitchFamily="18" charset="0"/>
              </a:rPr>
              <a:t>body&gt;  </a:t>
            </a:r>
          </a:p>
          <a:p>
            <a:pPr marL="0" indent="0">
              <a:spcBef>
                <a:spcPts val="0"/>
              </a:spcBef>
              <a:buNone/>
            </a:pPr>
            <a:r>
              <a:rPr lang="en-US" dirty="0" smtClean="0">
                <a:latin typeface="Cambria" panose="02040503050406030204" pitchFamily="18" charset="0"/>
                <a:ea typeface="Cambria" panose="02040503050406030204" pitchFamily="18" charset="0"/>
              </a:rPr>
              <a:t>&lt;/</a:t>
            </a:r>
            <a:r>
              <a:rPr lang="en-US" dirty="0">
                <a:latin typeface="Cambria" panose="02040503050406030204" pitchFamily="18" charset="0"/>
                <a:ea typeface="Cambria" panose="02040503050406030204" pitchFamily="18" charset="0"/>
              </a:rPr>
              <a:t>htm&gt;  </a:t>
            </a:r>
          </a:p>
        </p:txBody>
      </p:sp>
    </p:spTree>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5041776" cy="527034"/>
          </a:xfrm>
        </p:spPr>
        <p:txBody>
          <a:bodyPr/>
          <a:lstStyle/>
          <a:p>
            <a:r>
              <a:rPr lang="en-US" sz="3600" b="1" dirty="0" smtClean="0">
                <a:solidFill>
                  <a:schemeClr val="accent5"/>
                </a:solidFill>
                <a:latin typeface="Cambria" panose="02040503050406030204" pitchFamily="18" charset="0"/>
                <a:ea typeface="Cambria" panose="02040503050406030204" pitchFamily="18" charset="0"/>
              </a:rPr>
              <a:t/>
            </a:r>
            <a:br>
              <a:rPr lang="en-US" sz="3600" b="1" dirty="0" smtClean="0">
                <a:solidFill>
                  <a:schemeClr val="accent5"/>
                </a:solidFill>
                <a:latin typeface="Cambria" panose="02040503050406030204" pitchFamily="18" charset="0"/>
                <a:ea typeface="Cambria" panose="02040503050406030204" pitchFamily="18" charset="0"/>
              </a:rPr>
            </a:br>
            <a:r>
              <a:rPr lang="en-US" sz="3600" b="1" dirty="0" smtClean="0">
                <a:solidFill>
                  <a:schemeClr val="accent5"/>
                </a:solidFill>
                <a:latin typeface="Cambria" panose="02040503050406030204" pitchFamily="18" charset="0"/>
                <a:ea typeface="Cambria" panose="02040503050406030204" pitchFamily="18" charset="0"/>
              </a:rPr>
              <a:t/>
            </a:r>
            <a:br>
              <a:rPr lang="en-US" sz="3600" b="1" dirty="0" smtClean="0">
                <a:solidFill>
                  <a:schemeClr val="accent5"/>
                </a:solidFill>
                <a:latin typeface="Cambria" panose="02040503050406030204" pitchFamily="18" charset="0"/>
                <a:ea typeface="Cambria" panose="02040503050406030204" pitchFamily="18" charset="0"/>
              </a:rPr>
            </a:br>
            <a:r>
              <a:rPr lang="en-US" sz="3600" b="1" dirty="0" err="1" smtClean="0">
                <a:solidFill>
                  <a:schemeClr val="accent5"/>
                </a:solidFill>
                <a:latin typeface="Cambria" panose="02040503050406030204" pitchFamily="18" charset="0"/>
                <a:ea typeface="Cambria" panose="02040503050406030204" pitchFamily="18" charset="0"/>
              </a:rPr>
              <a:t>jsp:include</a:t>
            </a:r>
            <a:r>
              <a:rPr lang="en-US" sz="3600" b="1" dirty="0" smtClean="0">
                <a:solidFill>
                  <a:schemeClr val="accent5"/>
                </a:solidFill>
                <a:latin typeface="Cambria" panose="02040503050406030204" pitchFamily="18" charset="0"/>
                <a:ea typeface="Cambria" panose="02040503050406030204" pitchFamily="18" charset="0"/>
              </a:rPr>
              <a:t> action tag</a:t>
            </a:r>
            <a:br>
              <a:rPr lang="en-US" sz="3600" b="1" dirty="0" smtClean="0">
                <a:solidFill>
                  <a:schemeClr val="accent5"/>
                </a:solidFill>
                <a:latin typeface="Cambria" panose="02040503050406030204" pitchFamily="18" charset="0"/>
                <a:ea typeface="Cambria" panose="02040503050406030204" pitchFamily="18" charset="0"/>
              </a:rPr>
            </a:br>
            <a:r>
              <a:rPr lang="en-US" sz="3600" b="1" dirty="0" smtClean="0">
                <a:solidFill>
                  <a:schemeClr val="accent5"/>
                </a:solidFill>
                <a:latin typeface="Cambria" panose="02040503050406030204" pitchFamily="18" charset="0"/>
                <a:ea typeface="Cambria" panose="02040503050406030204" pitchFamily="18" charset="0"/>
              </a:rPr>
              <a:t/>
            </a:r>
            <a:br>
              <a:rPr lang="en-US" sz="3600" b="1" dirty="0" smtClean="0">
                <a:solidFill>
                  <a:schemeClr val="accent5"/>
                </a:solidFill>
                <a:latin typeface="Cambria" panose="02040503050406030204" pitchFamily="18" charset="0"/>
                <a:ea typeface="Cambria" panose="02040503050406030204" pitchFamily="18" charset="0"/>
              </a:rPr>
            </a:br>
            <a:endParaRPr lang="en-US" sz="36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191344" y="527034"/>
            <a:ext cx="11809312" cy="5105417"/>
          </a:xfrm>
        </p:spPr>
        <p:txBody>
          <a:bodyPr/>
          <a:lstStyle/>
          <a:p>
            <a:pPr algn="just"/>
            <a:r>
              <a:rPr lang="en-GB" sz="2000" dirty="0" smtClean="0">
                <a:latin typeface="Cambria" panose="02040503050406030204" pitchFamily="18" charset="0"/>
                <a:ea typeface="Cambria" panose="02040503050406030204" pitchFamily="18" charset="0"/>
              </a:rPr>
              <a:t>The </a:t>
            </a:r>
            <a:r>
              <a:rPr lang="en-GB" sz="2000" b="1" dirty="0" err="1" smtClean="0">
                <a:latin typeface="Cambria" panose="02040503050406030204" pitchFamily="18" charset="0"/>
                <a:ea typeface="Cambria" panose="02040503050406030204" pitchFamily="18" charset="0"/>
              </a:rPr>
              <a:t>jsp:include</a:t>
            </a:r>
            <a:r>
              <a:rPr lang="en-GB" sz="2000" b="1" dirty="0" smtClean="0">
                <a:latin typeface="Cambria" panose="02040503050406030204" pitchFamily="18" charset="0"/>
                <a:ea typeface="Cambria" panose="02040503050406030204" pitchFamily="18" charset="0"/>
              </a:rPr>
              <a:t> action tag</a:t>
            </a:r>
            <a:r>
              <a:rPr lang="en-GB" sz="2000" dirty="0" smtClean="0">
                <a:latin typeface="Cambria" panose="02040503050406030204" pitchFamily="18" charset="0"/>
                <a:ea typeface="Cambria" panose="02040503050406030204" pitchFamily="18" charset="0"/>
              </a:rPr>
              <a:t> is used to include the content of another resource it may be </a:t>
            </a:r>
            <a:r>
              <a:rPr lang="en-GB" sz="2000" dirty="0" err="1" smtClean="0">
                <a:latin typeface="Cambria" panose="02040503050406030204" pitchFamily="18" charset="0"/>
                <a:ea typeface="Cambria" panose="02040503050406030204" pitchFamily="18" charset="0"/>
              </a:rPr>
              <a:t>jsp</a:t>
            </a:r>
            <a:r>
              <a:rPr lang="en-GB" sz="2000" dirty="0" smtClean="0">
                <a:latin typeface="Cambria" panose="02040503050406030204" pitchFamily="18" charset="0"/>
                <a:ea typeface="Cambria" panose="02040503050406030204" pitchFamily="18" charset="0"/>
              </a:rPr>
              <a:t>, html or </a:t>
            </a:r>
            <a:r>
              <a:rPr lang="en-GB" sz="2000" dirty="0" err="1" smtClean="0">
                <a:latin typeface="Cambria" panose="02040503050406030204" pitchFamily="18" charset="0"/>
                <a:ea typeface="Cambria" panose="02040503050406030204" pitchFamily="18" charset="0"/>
              </a:rPr>
              <a:t>servlet</a:t>
            </a:r>
            <a:r>
              <a:rPr lang="en-GB" sz="2000" dirty="0" smtClean="0">
                <a:latin typeface="Cambria" panose="02040503050406030204" pitchFamily="18" charset="0"/>
                <a:ea typeface="Cambria" panose="02040503050406030204" pitchFamily="18" charset="0"/>
              </a:rPr>
              <a:t>.</a:t>
            </a:r>
          </a:p>
          <a:p>
            <a:pPr algn="just"/>
            <a:r>
              <a:rPr lang="en-GB" sz="2000" dirty="0" smtClean="0">
                <a:latin typeface="Cambria" panose="02040503050406030204" pitchFamily="18" charset="0"/>
                <a:ea typeface="Cambria" panose="02040503050406030204" pitchFamily="18" charset="0"/>
              </a:rPr>
              <a:t>The jsp include action tag includes the resource at request time, so it is </a:t>
            </a:r>
            <a:r>
              <a:rPr lang="en-GB" sz="2000" b="1" dirty="0" smtClean="0">
                <a:latin typeface="Cambria" panose="02040503050406030204" pitchFamily="18" charset="0"/>
                <a:ea typeface="Cambria" panose="02040503050406030204" pitchFamily="18" charset="0"/>
              </a:rPr>
              <a:t>better for dynamic pages</a:t>
            </a:r>
            <a:r>
              <a:rPr lang="en-GB" sz="2000" dirty="0" smtClean="0">
                <a:latin typeface="Cambria" panose="02040503050406030204" pitchFamily="18" charset="0"/>
                <a:ea typeface="Cambria" panose="02040503050406030204" pitchFamily="18" charset="0"/>
              </a:rPr>
              <a:t> because there might be changes in future.</a:t>
            </a:r>
          </a:p>
          <a:p>
            <a:pPr algn="just"/>
            <a:r>
              <a:rPr lang="en-GB" sz="2000" dirty="0" smtClean="0">
                <a:latin typeface="Cambria" panose="02040503050406030204" pitchFamily="18" charset="0"/>
                <a:ea typeface="Cambria" panose="02040503050406030204" pitchFamily="18" charset="0"/>
              </a:rPr>
              <a:t>The jsp: include tag can be used to include static as well as dynamic pages.</a:t>
            </a:r>
          </a:p>
          <a:p>
            <a:pPr marL="0" indent="0" algn="just">
              <a:buNone/>
            </a:pPr>
            <a:r>
              <a:rPr lang="en-GB" sz="2000" b="1" dirty="0" smtClean="0">
                <a:latin typeface="Cambria" panose="02040503050406030204" pitchFamily="18" charset="0"/>
                <a:ea typeface="Cambria" panose="02040503050406030204" pitchFamily="18" charset="0"/>
              </a:rPr>
              <a:t>Advantage of </a:t>
            </a:r>
            <a:r>
              <a:rPr lang="en-GB" sz="2000" b="1" dirty="0" err="1" smtClean="0">
                <a:latin typeface="Cambria" panose="02040503050406030204" pitchFamily="18" charset="0"/>
                <a:ea typeface="Cambria" panose="02040503050406030204" pitchFamily="18" charset="0"/>
              </a:rPr>
              <a:t>jsp:include</a:t>
            </a:r>
            <a:r>
              <a:rPr lang="en-GB" sz="2000" b="1" dirty="0" smtClean="0">
                <a:latin typeface="Cambria" panose="02040503050406030204" pitchFamily="18" charset="0"/>
                <a:ea typeface="Cambria" panose="02040503050406030204" pitchFamily="18" charset="0"/>
              </a:rPr>
              <a:t> action tag</a:t>
            </a:r>
          </a:p>
          <a:p>
            <a:pPr algn="just"/>
            <a:r>
              <a:rPr lang="en-GB" sz="2000" b="1" dirty="0" smtClean="0">
                <a:latin typeface="Cambria" panose="02040503050406030204" pitchFamily="18" charset="0"/>
                <a:ea typeface="Cambria" panose="02040503050406030204" pitchFamily="18" charset="0"/>
              </a:rPr>
              <a:t>Code reusability</a:t>
            </a:r>
            <a:r>
              <a:rPr lang="en-GB" sz="2000" dirty="0" smtClean="0">
                <a:latin typeface="Cambria" panose="02040503050406030204" pitchFamily="18" charset="0"/>
                <a:ea typeface="Cambria" panose="02040503050406030204" pitchFamily="18" charset="0"/>
              </a:rPr>
              <a:t> : We can use a page many times such as including header and footer pages in all pages. So it saves a lot of time.</a:t>
            </a:r>
          </a:p>
          <a:p>
            <a:pPr marL="0" indent="0" algn="just">
              <a:buNone/>
            </a:pPr>
            <a:r>
              <a:rPr lang="en-US" sz="2000" b="1" dirty="0" smtClean="0">
                <a:latin typeface="Cambria" panose="02040503050406030204" pitchFamily="18" charset="0"/>
                <a:ea typeface="Cambria" panose="02040503050406030204" pitchFamily="18" charset="0"/>
              </a:rPr>
              <a:t>Syntax of jsp: include action tag without parameter</a:t>
            </a:r>
          </a:p>
          <a:p>
            <a:pPr marL="0" indent="0" algn="just">
              <a:buNone/>
            </a:pPr>
            <a:r>
              <a:rPr lang="en-US" sz="2000" dirty="0" smtClean="0">
                <a:latin typeface="Cambria" panose="02040503050406030204" pitchFamily="18" charset="0"/>
                <a:ea typeface="Cambria" panose="02040503050406030204" pitchFamily="18" charset="0"/>
              </a:rPr>
              <a:t>	&lt;jsp:include page="relativeURL ”&gt; </a:t>
            </a:r>
          </a:p>
          <a:p>
            <a:pPr marL="0" indent="0" algn="just">
              <a:buNone/>
            </a:pPr>
            <a:r>
              <a:rPr lang="en-US" sz="2000" dirty="0" smtClean="0">
                <a:latin typeface="Cambria" panose="02040503050406030204" pitchFamily="18" charset="0"/>
                <a:ea typeface="Cambria" panose="02040503050406030204" pitchFamily="18" charset="0"/>
              </a:rPr>
              <a:t>	&lt;/</a:t>
            </a:r>
            <a:r>
              <a:rPr lang="en-US" sz="2000" dirty="0">
                <a:latin typeface="Cambria" panose="02040503050406030204" pitchFamily="18" charset="0"/>
                <a:ea typeface="Cambria" panose="02040503050406030204" pitchFamily="18" charset="0"/>
              </a:rPr>
              <a:t>jsp:forward&gt;  </a:t>
            </a:r>
          </a:p>
          <a:p>
            <a:pPr algn="just">
              <a:spcBef>
                <a:spcPts val="0"/>
              </a:spcBef>
              <a:buNone/>
            </a:pPr>
            <a:r>
              <a:rPr lang="en-US" sz="2000" b="1" dirty="0" smtClean="0">
                <a:latin typeface="Cambria" panose="02040503050406030204" pitchFamily="18" charset="0"/>
                <a:ea typeface="Cambria" panose="02040503050406030204" pitchFamily="18" charset="0"/>
              </a:rPr>
              <a:t>Syntax of jsp:include action tag with parameter</a:t>
            </a:r>
          </a:p>
          <a:p>
            <a:pPr algn="just">
              <a:spcBef>
                <a:spcPts val="0"/>
              </a:spcBef>
              <a:buNone/>
            </a:pPr>
            <a:r>
              <a:rPr lang="en-US" sz="2000" dirty="0" smtClean="0">
                <a:latin typeface="Cambria" panose="02040503050406030204" pitchFamily="18" charset="0"/>
                <a:ea typeface="Cambria" panose="02040503050406030204" pitchFamily="18" charset="0"/>
              </a:rPr>
              <a:t>&lt;jsp:include page="relativeURL"&gt;  </a:t>
            </a:r>
          </a:p>
          <a:p>
            <a:pPr algn="just">
              <a:spcBef>
                <a:spcPts val="0"/>
              </a:spcBef>
              <a:buNone/>
            </a:pPr>
            <a:r>
              <a:rPr lang="en-US" sz="2000" dirty="0" smtClean="0">
                <a:latin typeface="Cambria" panose="02040503050406030204" pitchFamily="18" charset="0"/>
                <a:ea typeface="Cambria" panose="02040503050406030204" pitchFamily="18" charset="0"/>
              </a:rPr>
              <a:t>&lt;jsp:param name="parametername" value="parametervalue" /&gt;  </a:t>
            </a:r>
          </a:p>
          <a:p>
            <a:pPr algn="just">
              <a:spcBef>
                <a:spcPts val="0"/>
              </a:spcBef>
              <a:buNone/>
            </a:pPr>
            <a:r>
              <a:rPr lang="en-US" sz="2000" dirty="0" smtClean="0">
                <a:latin typeface="Cambria" panose="02040503050406030204" pitchFamily="18" charset="0"/>
                <a:ea typeface="Cambria" panose="02040503050406030204" pitchFamily="18" charset="0"/>
              </a:rPr>
              <a:t>&lt;/jsp:include&gt; </a:t>
            </a:r>
            <a:endParaRPr lang="en-GB" sz="2000" dirty="0" smtClean="0">
              <a:latin typeface="Cambria" panose="02040503050406030204" pitchFamily="18" charset="0"/>
              <a:ea typeface="Cambria" panose="02040503050406030204" pitchFamily="18" charset="0"/>
            </a:endParaRPr>
          </a:p>
          <a:p>
            <a:pPr algn="just"/>
            <a:endParaRPr lang="en-US" sz="20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z="1100" smtClean="0">
                <a:latin typeface="Cambria" panose="02040503050406030204" pitchFamily="18" charset="0"/>
                <a:ea typeface="Cambria" panose="02040503050406030204" pitchFamily="18" charset="0"/>
              </a:rPr>
              <a:pPr>
                <a:defRPr/>
              </a:pPr>
              <a:t>106</a:t>
            </a:fld>
            <a:endParaRPr lang="en-US" altLang="en-US" sz="1100">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6168008" cy="527034"/>
          </a:xfrm>
        </p:spPr>
        <p:txBody>
          <a:bodyPr/>
          <a:lstStyle/>
          <a:p>
            <a:r>
              <a:rPr lang="en-US" sz="3600" b="1" dirty="0" smtClean="0">
                <a:solidFill>
                  <a:schemeClr val="accent5"/>
                </a:solidFill>
                <a:latin typeface="Cambria" panose="02040503050406030204" pitchFamily="18" charset="0"/>
                <a:ea typeface="Cambria" panose="02040503050406030204" pitchFamily="18" charset="0"/>
              </a:rPr>
              <a:t/>
            </a:r>
            <a:br>
              <a:rPr lang="en-US" sz="3600" b="1" dirty="0" smtClean="0">
                <a:solidFill>
                  <a:schemeClr val="accent5"/>
                </a:solidFill>
                <a:latin typeface="Cambria" panose="02040503050406030204" pitchFamily="18" charset="0"/>
                <a:ea typeface="Cambria" panose="02040503050406030204" pitchFamily="18" charset="0"/>
              </a:rPr>
            </a:br>
            <a:r>
              <a:rPr lang="en-US" sz="3600" b="1" dirty="0" smtClean="0">
                <a:solidFill>
                  <a:schemeClr val="accent5"/>
                </a:solidFill>
                <a:latin typeface="Cambria" panose="02040503050406030204" pitchFamily="18" charset="0"/>
                <a:ea typeface="Cambria" panose="02040503050406030204" pitchFamily="18" charset="0"/>
              </a:rPr>
              <a:t/>
            </a:r>
            <a:br>
              <a:rPr lang="en-US" sz="3600" b="1" dirty="0" smtClean="0">
                <a:solidFill>
                  <a:schemeClr val="accent5"/>
                </a:solidFill>
                <a:latin typeface="Cambria" panose="02040503050406030204" pitchFamily="18" charset="0"/>
                <a:ea typeface="Cambria" panose="02040503050406030204" pitchFamily="18" charset="0"/>
              </a:rPr>
            </a:br>
            <a:r>
              <a:rPr lang="en-US" sz="3600" b="1" dirty="0" smtClean="0">
                <a:solidFill>
                  <a:schemeClr val="accent5"/>
                </a:solidFill>
                <a:latin typeface="Cambria" panose="02040503050406030204" pitchFamily="18" charset="0"/>
                <a:ea typeface="Cambria" panose="02040503050406030204" pitchFamily="18" charset="0"/>
              </a:rPr>
              <a:t>jsp:include action tag </a:t>
            </a:r>
            <a:r>
              <a:rPr lang="en-US" sz="2000" b="1" dirty="0" smtClean="0">
                <a:solidFill>
                  <a:schemeClr val="accent5"/>
                </a:solidFill>
                <a:latin typeface="Cambria" panose="02040503050406030204" pitchFamily="18" charset="0"/>
                <a:ea typeface="Cambria" panose="02040503050406030204" pitchFamily="18" charset="0"/>
              </a:rPr>
              <a:t>(contd...)</a:t>
            </a:r>
            <a:r>
              <a:rPr lang="en-US" sz="3600" b="1" dirty="0" smtClean="0">
                <a:solidFill>
                  <a:schemeClr val="accent5"/>
                </a:solidFill>
                <a:latin typeface="Cambria" panose="02040503050406030204" pitchFamily="18" charset="0"/>
                <a:ea typeface="Cambria" panose="02040503050406030204" pitchFamily="18" charset="0"/>
              </a:rPr>
              <a:t/>
            </a:r>
            <a:br>
              <a:rPr lang="en-US" sz="3600" b="1" dirty="0" smtClean="0">
                <a:solidFill>
                  <a:schemeClr val="accent5"/>
                </a:solidFill>
                <a:latin typeface="Cambria" panose="02040503050406030204" pitchFamily="18" charset="0"/>
                <a:ea typeface="Cambria" panose="02040503050406030204" pitchFamily="18" charset="0"/>
              </a:rPr>
            </a:br>
            <a:r>
              <a:rPr lang="en-US" sz="3600" b="1" dirty="0" smtClean="0">
                <a:solidFill>
                  <a:schemeClr val="accent5"/>
                </a:solidFill>
                <a:latin typeface="Cambria" panose="02040503050406030204" pitchFamily="18" charset="0"/>
                <a:ea typeface="Cambria" panose="02040503050406030204" pitchFamily="18" charset="0"/>
              </a:rPr>
              <a:t/>
            </a:r>
            <a:br>
              <a:rPr lang="en-US" sz="3600" b="1" dirty="0" smtClean="0">
                <a:solidFill>
                  <a:schemeClr val="accent5"/>
                </a:solidFill>
                <a:latin typeface="Cambria" panose="02040503050406030204" pitchFamily="18" charset="0"/>
                <a:ea typeface="Cambria" panose="02040503050406030204" pitchFamily="18" charset="0"/>
              </a:rPr>
            </a:br>
            <a:endParaRPr lang="en-US" sz="36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191344" y="527034"/>
            <a:ext cx="11809312" cy="3982085"/>
          </a:xfrm>
        </p:spPr>
        <p:txBody>
          <a:bodyPr/>
          <a:lstStyle/>
          <a:p>
            <a:pPr algn="just">
              <a:spcBef>
                <a:spcPts val="0"/>
              </a:spcBef>
              <a:buNone/>
            </a:pPr>
            <a:r>
              <a:rPr lang="en-US" sz="2000" b="1" dirty="0" smtClean="0">
                <a:latin typeface="Cambria" panose="02040503050406030204" pitchFamily="18" charset="0"/>
                <a:ea typeface="Cambria" panose="02040503050406030204" pitchFamily="18" charset="0"/>
              </a:rPr>
              <a:t>Example of jsp:include action tag without parameter</a:t>
            </a:r>
          </a:p>
          <a:p>
            <a:pPr algn="just">
              <a:spcBef>
                <a:spcPts val="0"/>
              </a:spcBef>
              <a:buNone/>
            </a:pPr>
            <a:endParaRPr lang="en-US" sz="2000" b="1" dirty="0" smtClean="0">
              <a:latin typeface="Cambria" panose="02040503050406030204" pitchFamily="18" charset="0"/>
              <a:ea typeface="Cambria" panose="02040503050406030204" pitchFamily="18" charset="0"/>
            </a:endParaRPr>
          </a:p>
          <a:p>
            <a:pPr algn="just">
              <a:spcBef>
                <a:spcPts val="0"/>
              </a:spcBef>
              <a:buNone/>
            </a:pPr>
            <a:r>
              <a:rPr lang="en-US" sz="2000" dirty="0" smtClean="0">
                <a:latin typeface="Cambria" panose="02040503050406030204" pitchFamily="18" charset="0"/>
                <a:ea typeface="Cambria" panose="02040503050406030204" pitchFamily="18" charset="0"/>
              </a:rPr>
              <a:t>In this example, index.jsp file includes the content of the printdate.jsp file.</a:t>
            </a:r>
          </a:p>
          <a:p>
            <a:pPr algn="just">
              <a:spcBef>
                <a:spcPts val="0"/>
              </a:spcBef>
              <a:buNone/>
            </a:pPr>
            <a:r>
              <a:rPr lang="en-US" sz="2000" i="1" dirty="0" smtClean="0">
                <a:latin typeface="Cambria" panose="02040503050406030204" pitchFamily="18" charset="0"/>
                <a:ea typeface="Cambria" panose="02040503050406030204" pitchFamily="18" charset="0"/>
              </a:rPr>
              <a:t>File: index.jsp</a:t>
            </a:r>
          </a:p>
          <a:p>
            <a:pPr algn="just">
              <a:spcBef>
                <a:spcPts val="0"/>
              </a:spcBef>
              <a:buNone/>
            </a:pPr>
            <a:r>
              <a:rPr lang="en-US" sz="2000" dirty="0" smtClean="0">
                <a:latin typeface="Cambria" panose="02040503050406030204" pitchFamily="18" charset="0"/>
                <a:ea typeface="Cambria" panose="02040503050406030204" pitchFamily="18" charset="0"/>
              </a:rPr>
              <a:t>&lt;h2&gt;</a:t>
            </a:r>
            <a:r>
              <a:rPr lang="en-US" sz="2000" b="1" dirty="0" smtClean="0">
                <a:latin typeface="Cambria" panose="02040503050406030204" pitchFamily="18" charset="0"/>
                <a:ea typeface="Cambria" panose="02040503050406030204" pitchFamily="18" charset="0"/>
              </a:rPr>
              <a:t>this</a:t>
            </a:r>
            <a:r>
              <a:rPr lang="en-US" sz="2000" dirty="0" smtClean="0">
                <a:latin typeface="Cambria" panose="02040503050406030204" pitchFamily="18" charset="0"/>
                <a:ea typeface="Cambria" panose="02040503050406030204" pitchFamily="18" charset="0"/>
              </a:rPr>
              <a:t> is index page&lt;/h2&gt;  </a:t>
            </a:r>
          </a:p>
          <a:p>
            <a:pPr algn="just">
              <a:spcBef>
                <a:spcPts val="0"/>
              </a:spcBef>
              <a:buNone/>
            </a:pPr>
            <a:r>
              <a:rPr lang="en-US" sz="2000" dirty="0" smtClean="0">
                <a:latin typeface="Cambria" panose="02040503050406030204" pitchFamily="18" charset="0"/>
                <a:ea typeface="Cambria" panose="02040503050406030204" pitchFamily="18" charset="0"/>
              </a:rPr>
              <a:t>  </a:t>
            </a:r>
          </a:p>
          <a:p>
            <a:pPr algn="just">
              <a:spcBef>
                <a:spcPts val="0"/>
              </a:spcBef>
              <a:buNone/>
            </a:pPr>
            <a:r>
              <a:rPr lang="en-US" sz="2000" dirty="0" smtClean="0">
                <a:latin typeface="Cambria" panose="02040503050406030204" pitchFamily="18" charset="0"/>
                <a:ea typeface="Cambria" panose="02040503050406030204" pitchFamily="18" charset="0"/>
              </a:rPr>
              <a:t>&lt;</a:t>
            </a:r>
            <a:r>
              <a:rPr lang="en-US" sz="2000" dirty="0" err="1" smtClean="0">
                <a:latin typeface="Cambria" panose="02040503050406030204" pitchFamily="18" charset="0"/>
                <a:ea typeface="Cambria" panose="02040503050406030204" pitchFamily="18" charset="0"/>
              </a:rPr>
              <a:t>jsp:include</a:t>
            </a:r>
            <a:r>
              <a:rPr lang="en-US" sz="2000" dirty="0" smtClean="0">
                <a:latin typeface="Cambria" panose="02040503050406030204" pitchFamily="18" charset="0"/>
                <a:ea typeface="Cambria" panose="02040503050406030204" pitchFamily="18" charset="0"/>
              </a:rPr>
              <a:t> page="printdate.jsp" /&gt;  </a:t>
            </a:r>
          </a:p>
          <a:p>
            <a:pPr algn="just">
              <a:spcBef>
                <a:spcPts val="0"/>
              </a:spcBef>
              <a:buNone/>
            </a:pPr>
            <a:r>
              <a:rPr lang="en-US" sz="2000" dirty="0" smtClean="0">
                <a:latin typeface="Cambria" panose="02040503050406030204" pitchFamily="18" charset="0"/>
                <a:ea typeface="Cambria" panose="02040503050406030204" pitchFamily="18" charset="0"/>
              </a:rPr>
              <a:t>  </a:t>
            </a:r>
          </a:p>
          <a:p>
            <a:pPr algn="just">
              <a:spcBef>
                <a:spcPts val="0"/>
              </a:spcBef>
              <a:buNone/>
            </a:pPr>
            <a:r>
              <a:rPr lang="en-US" sz="2000" dirty="0" smtClean="0">
                <a:latin typeface="Cambria" panose="02040503050406030204" pitchFamily="18" charset="0"/>
                <a:ea typeface="Cambria" panose="02040503050406030204" pitchFamily="18" charset="0"/>
              </a:rPr>
              <a:t>&lt;h2&gt;end section of index page&lt;/h2&gt;  </a:t>
            </a:r>
          </a:p>
          <a:p>
            <a:pPr algn="just">
              <a:spcBef>
                <a:spcPts val="0"/>
              </a:spcBef>
              <a:buNone/>
            </a:pPr>
            <a:endParaRPr lang="en-US" sz="2000" dirty="0" smtClean="0">
              <a:latin typeface="Cambria" panose="02040503050406030204" pitchFamily="18" charset="0"/>
              <a:ea typeface="Cambria" panose="02040503050406030204" pitchFamily="18" charset="0"/>
            </a:endParaRPr>
          </a:p>
          <a:p>
            <a:pPr algn="just">
              <a:spcBef>
                <a:spcPts val="0"/>
              </a:spcBef>
              <a:buNone/>
            </a:pPr>
            <a:r>
              <a:rPr lang="en-US" sz="2000" b="1" i="1" dirty="0" smtClean="0">
                <a:latin typeface="Cambria" panose="02040503050406030204" pitchFamily="18" charset="0"/>
                <a:ea typeface="Cambria" panose="02040503050406030204" pitchFamily="18" charset="0"/>
              </a:rPr>
              <a:t>File: printdate.jsp</a:t>
            </a:r>
          </a:p>
          <a:p>
            <a:pPr algn="just">
              <a:spcBef>
                <a:spcPts val="0"/>
              </a:spcBef>
              <a:buNone/>
            </a:pPr>
            <a:endParaRPr lang="en-US" sz="2000" i="1" dirty="0" smtClean="0">
              <a:latin typeface="Cambria" panose="02040503050406030204" pitchFamily="18" charset="0"/>
              <a:ea typeface="Cambria" panose="02040503050406030204" pitchFamily="18" charset="0"/>
            </a:endParaRPr>
          </a:p>
          <a:p>
            <a:pPr algn="just">
              <a:spcBef>
                <a:spcPts val="0"/>
              </a:spcBef>
              <a:buNone/>
            </a:pPr>
            <a:r>
              <a:rPr lang="en-US" sz="2000" dirty="0" smtClean="0">
                <a:latin typeface="Cambria" panose="02040503050406030204" pitchFamily="18" charset="0"/>
                <a:ea typeface="Cambria" panose="02040503050406030204" pitchFamily="18" charset="0"/>
              </a:rPr>
              <a:t>&lt;% </a:t>
            </a:r>
            <a:r>
              <a:rPr lang="en-US" sz="2000" dirty="0" err="1" smtClean="0">
                <a:latin typeface="Cambria" panose="02040503050406030204" pitchFamily="18" charset="0"/>
                <a:ea typeface="Cambria" panose="02040503050406030204" pitchFamily="18" charset="0"/>
              </a:rPr>
              <a:t>out.print</a:t>
            </a:r>
            <a:r>
              <a:rPr lang="en-US" sz="2000" dirty="0" smtClean="0">
                <a:latin typeface="Cambria" panose="02040503050406030204" pitchFamily="18" charset="0"/>
                <a:ea typeface="Cambria" panose="02040503050406030204" pitchFamily="18" charset="0"/>
              </a:rPr>
              <a:t>("Today is:"+</a:t>
            </a:r>
            <a:r>
              <a:rPr lang="en-US" sz="2000" dirty="0" err="1" smtClean="0">
                <a:latin typeface="Cambria" panose="02040503050406030204" pitchFamily="18" charset="0"/>
                <a:ea typeface="Cambria" panose="02040503050406030204" pitchFamily="18" charset="0"/>
              </a:rPr>
              <a:t>java.util.Calendar.getInstance</a:t>
            </a:r>
            <a:r>
              <a:rPr lang="en-US" sz="2000" dirty="0" smtClean="0">
                <a:latin typeface="Cambria" panose="02040503050406030204" pitchFamily="18" charset="0"/>
                <a:ea typeface="Cambria" panose="02040503050406030204" pitchFamily="18" charset="0"/>
              </a:rPr>
              <a:t>().</a:t>
            </a:r>
            <a:r>
              <a:rPr lang="en-US" sz="2000" dirty="0" err="1" smtClean="0">
                <a:latin typeface="Cambria" panose="02040503050406030204" pitchFamily="18" charset="0"/>
                <a:ea typeface="Cambria" panose="02040503050406030204" pitchFamily="18" charset="0"/>
              </a:rPr>
              <a:t>getTime</a:t>
            </a:r>
            <a:r>
              <a:rPr lang="en-US" sz="2000" dirty="0" smtClean="0">
                <a:latin typeface="Cambria" panose="02040503050406030204" pitchFamily="18" charset="0"/>
                <a:ea typeface="Cambria" panose="02040503050406030204" pitchFamily="18" charset="0"/>
              </a:rPr>
              <a:t>()); %&gt;  </a:t>
            </a:r>
          </a:p>
          <a:p>
            <a:pPr algn="just">
              <a:spcBef>
                <a:spcPts val="0"/>
              </a:spcBef>
              <a:buNone/>
            </a:pPr>
            <a:r>
              <a:rPr lang="en-US" sz="2000" dirty="0" smtClean="0">
                <a:latin typeface="Cambria" panose="02040503050406030204" pitchFamily="18" charset="0"/>
                <a:ea typeface="Cambria" panose="02040503050406030204" pitchFamily="18" charset="0"/>
              </a:rPr>
              <a:t> </a:t>
            </a:r>
          </a:p>
          <a:p>
            <a:pPr algn="just">
              <a:buNone/>
            </a:pPr>
            <a:endParaRPr lang="en-GB" sz="2000" dirty="0" smtClean="0">
              <a:latin typeface="Cambria" panose="02040503050406030204" pitchFamily="18" charset="0"/>
              <a:ea typeface="Cambria" panose="02040503050406030204" pitchFamily="18" charset="0"/>
            </a:endParaRPr>
          </a:p>
          <a:p>
            <a:pPr algn="just"/>
            <a:endParaRPr lang="en-GB" sz="2000" dirty="0" smtClean="0">
              <a:latin typeface="Cambria" panose="02040503050406030204" pitchFamily="18" charset="0"/>
              <a:ea typeface="Cambria" panose="02040503050406030204" pitchFamily="18" charset="0"/>
            </a:endParaRPr>
          </a:p>
          <a:p>
            <a:pPr algn="just"/>
            <a:endParaRPr lang="en-US" sz="20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z="1100" smtClean="0">
                <a:latin typeface="Cambria" panose="02040503050406030204" pitchFamily="18" charset="0"/>
                <a:ea typeface="Cambria" panose="02040503050406030204" pitchFamily="18" charset="0"/>
              </a:rPr>
              <a:pPr>
                <a:defRPr/>
              </a:pPr>
              <a:t>107</a:t>
            </a:fld>
            <a:endParaRPr lang="en-US" altLang="en-US" sz="110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865677086"/>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31685"/>
            <a:ext cx="3025552" cy="543595"/>
          </a:xfrm>
        </p:spPr>
        <p:txBody>
          <a:bodyPr/>
          <a:lstStyle/>
          <a:p>
            <a:r>
              <a:rPr lang="en-US" sz="4000" b="1" dirty="0" err="1" smtClean="0">
                <a:solidFill>
                  <a:srgbClr val="7030A0"/>
                </a:solidFill>
                <a:latin typeface="Cambria" panose="02040503050406030204" pitchFamily="18" charset="0"/>
                <a:ea typeface="Cambria" panose="02040503050406030204" pitchFamily="18" charset="0"/>
              </a:rPr>
              <a:t>JavaBean</a:t>
            </a:r>
            <a:endParaRPr lang="en-US" sz="4000" b="1" dirty="0">
              <a:solidFill>
                <a:srgbClr val="7030A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263352" y="573044"/>
            <a:ext cx="11593288" cy="4584148"/>
          </a:xfrm>
        </p:spPr>
        <p:txBody>
          <a:bodyPr/>
          <a:lstStyle/>
          <a:p>
            <a:pPr marL="0" indent="0" algn="just">
              <a:lnSpc>
                <a:spcPct val="100000"/>
              </a:lnSpc>
              <a:spcBef>
                <a:spcPts val="600"/>
              </a:spcBef>
              <a:buNone/>
            </a:pPr>
            <a:r>
              <a:rPr lang="en-GB" sz="1800" dirty="0" smtClean="0">
                <a:latin typeface="Cambria" panose="02040503050406030204" pitchFamily="18" charset="0"/>
                <a:ea typeface="Cambria" panose="02040503050406030204" pitchFamily="18" charset="0"/>
              </a:rPr>
              <a:t>A </a:t>
            </a:r>
            <a:r>
              <a:rPr lang="en-GB" sz="1800" dirty="0" err="1" smtClean="0">
                <a:latin typeface="Cambria" panose="02040503050406030204" pitchFamily="18" charset="0"/>
                <a:ea typeface="Cambria" panose="02040503050406030204" pitchFamily="18" charset="0"/>
              </a:rPr>
              <a:t>JavaBean</a:t>
            </a:r>
            <a:r>
              <a:rPr lang="en-GB" sz="1800" dirty="0" smtClean="0">
                <a:latin typeface="Cambria" panose="02040503050406030204" pitchFamily="18" charset="0"/>
                <a:ea typeface="Cambria" panose="02040503050406030204" pitchFamily="18" charset="0"/>
              </a:rPr>
              <a:t> is a Java class that should follow the following conventions:</a:t>
            </a:r>
          </a:p>
          <a:p>
            <a:pPr algn="just">
              <a:lnSpc>
                <a:spcPct val="100000"/>
              </a:lnSpc>
              <a:spcBef>
                <a:spcPts val="600"/>
              </a:spcBef>
            </a:pPr>
            <a:r>
              <a:rPr lang="en-GB" sz="1800" dirty="0" smtClean="0">
                <a:latin typeface="Cambria" panose="02040503050406030204" pitchFamily="18" charset="0"/>
                <a:ea typeface="Cambria" panose="02040503050406030204" pitchFamily="18" charset="0"/>
              </a:rPr>
              <a:t>It should have a no-argument constructor.</a:t>
            </a:r>
          </a:p>
          <a:p>
            <a:pPr algn="just">
              <a:lnSpc>
                <a:spcPct val="100000"/>
              </a:lnSpc>
              <a:spcBef>
                <a:spcPts val="600"/>
              </a:spcBef>
            </a:pPr>
            <a:r>
              <a:rPr lang="en-GB" sz="1800" dirty="0" smtClean="0">
                <a:latin typeface="Cambria" panose="02040503050406030204" pitchFamily="18" charset="0"/>
                <a:ea typeface="Cambria" panose="02040503050406030204" pitchFamily="18" charset="0"/>
              </a:rPr>
              <a:t>It should be </a:t>
            </a:r>
            <a:r>
              <a:rPr lang="en-GB" sz="1800" dirty="0" err="1" smtClean="0">
                <a:latin typeface="Cambria" panose="02040503050406030204" pitchFamily="18" charset="0"/>
                <a:ea typeface="Cambria" panose="02040503050406030204" pitchFamily="18" charset="0"/>
              </a:rPr>
              <a:t>Serializable</a:t>
            </a:r>
            <a:r>
              <a:rPr lang="en-GB" sz="1800" dirty="0" smtClean="0">
                <a:latin typeface="Cambria" panose="02040503050406030204" pitchFamily="18" charset="0"/>
                <a:ea typeface="Cambria" panose="02040503050406030204" pitchFamily="18" charset="0"/>
              </a:rPr>
              <a:t>.</a:t>
            </a:r>
          </a:p>
          <a:p>
            <a:pPr algn="just">
              <a:lnSpc>
                <a:spcPct val="100000"/>
              </a:lnSpc>
              <a:spcBef>
                <a:spcPts val="600"/>
              </a:spcBef>
            </a:pPr>
            <a:r>
              <a:rPr lang="en-GB" sz="1800" dirty="0" smtClean="0">
                <a:latin typeface="Cambria" panose="02040503050406030204" pitchFamily="18" charset="0"/>
                <a:ea typeface="Cambria" panose="02040503050406030204" pitchFamily="18" charset="0"/>
              </a:rPr>
              <a:t>It should provide methods to set and get the values of the properties, known as getter and setter methods.</a:t>
            </a:r>
          </a:p>
          <a:p>
            <a:pPr algn="just">
              <a:lnSpc>
                <a:spcPct val="100000"/>
              </a:lnSpc>
              <a:spcBef>
                <a:spcPts val="600"/>
              </a:spcBef>
            </a:pPr>
            <a:r>
              <a:rPr lang="en-GB" sz="1800" b="1" dirty="0" smtClean="0">
                <a:latin typeface="Cambria" panose="02040503050406030204" pitchFamily="18" charset="0"/>
                <a:ea typeface="Cambria" panose="02040503050406030204" pitchFamily="18" charset="0"/>
              </a:rPr>
              <a:t>Why use </a:t>
            </a:r>
            <a:r>
              <a:rPr lang="en-GB" sz="1800" b="1" dirty="0" err="1" smtClean="0">
                <a:latin typeface="Cambria" panose="02040503050406030204" pitchFamily="18" charset="0"/>
                <a:ea typeface="Cambria" panose="02040503050406030204" pitchFamily="18" charset="0"/>
              </a:rPr>
              <a:t>JavaBean</a:t>
            </a:r>
            <a:r>
              <a:rPr lang="en-GB" sz="1800" b="1" dirty="0" smtClean="0">
                <a:latin typeface="Cambria" panose="02040503050406030204" pitchFamily="18" charset="0"/>
                <a:ea typeface="Cambria" panose="02040503050406030204" pitchFamily="18" charset="0"/>
              </a:rPr>
              <a:t>?</a:t>
            </a:r>
          </a:p>
          <a:p>
            <a:pPr algn="just">
              <a:lnSpc>
                <a:spcPct val="100000"/>
              </a:lnSpc>
              <a:spcBef>
                <a:spcPts val="600"/>
              </a:spcBef>
            </a:pPr>
            <a:r>
              <a:rPr lang="en-GB" sz="1800" dirty="0" smtClean="0">
                <a:latin typeface="Cambria" panose="02040503050406030204" pitchFamily="18" charset="0"/>
                <a:ea typeface="Cambria" panose="02040503050406030204" pitchFamily="18" charset="0"/>
              </a:rPr>
              <a:t>It is a reusable software component. A bean encapsulates many objects into one object so that we can access this object from multiple places. Moreover, it provides easy maintenance.</a:t>
            </a:r>
          </a:p>
          <a:p>
            <a:pPr marL="0" indent="0" algn="just">
              <a:lnSpc>
                <a:spcPct val="100000"/>
              </a:lnSpc>
              <a:spcBef>
                <a:spcPts val="600"/>
              </a:spcBef>
              <a:buNone/>
            </a:pPr>
            <a:r>
              <a:rPr lang="en-GB" sz="1800" b="1" u="sng" dirty="0" smtClean="0">
                <a:latin typeface="Cambria" panose="02040503050406030204" pitchFamily="18" charset="0"/>
                <a:ea typeface="Cambria" panose="02040503050406030204" pitchFamily="18" charset="0"/>
              </a:rPr>
              <a:t>Advantages of </a:t>
            </a:r>
            <a:r>
              <a:rPr lang="en-GB" sz="1800" b="1" u="sng" dirty="0" err="1" smtClean="0">
                <a:latin typeface="Cambria" panose="02040503050406030204" pitchFamily="18" charset="0"/>
                <a:ea typeface="Cambria" panose="02040503050406030204" pitchFamily="18" charset="0"/>
              </a:rPr>
              <a:t>JavaBean</a:t>
            </a:r>
            <a:endParaRPr lang="en-GB" sz="1800" b="1" u="sng" dirty="0" smtClean="0">
              <a:latin typeface="Cambria" panose="02040503050406030204" pitchFamily="18" charset="0"/>
              <a:ea typeface="Cambria" panose="02040503050406030204" pitchFamily="18" charset="0"/>
            </a:endParaRPr>
          </a:p>
          <a:p>
            <a:pPr algn="just">
              <a:lnSpc>
                <a:spcPct val="100000"/>
              </a:lnSpc>
              <a:spcBef>
                <a:spcPts val="600"/>
              </a:spcBef>
            </a:pPr>
            <a:r>
              <a:rPr lang="en-GB" sz="1800" dirty="0" smtClean="0">
                <a:latin typeface="Cambria" panose="02040503050406030204" pitchFamily="18" charset="0"/>
                <a:ea typeface="Cambria" panose="02040503050406030204" pitchFamily="18" charset="0"/>
              </a:rPr>
              <a:t>The JavaBean properties and methods can be exposed to another application.</a:t>
            </a:r>
          </a:p>
          <a:p>
            <a:pPr algn="just">
              <a:lnSpc>
                <a:spcPct val="100000"/>
              </a:lnSpc>
              <a:spcBef>
                <a:spcPts val="600"/>
              </a:spcBef>
            </a:pPr>
            <a:r>
              <a:rPr lang="en-GB" sz="1800" dirty="0" smtClean="0">
                <a:latin typeface="Cambria" panose="02040503050406030204" pitchFamily="18" charset="0"/>
                <a:ea typeface="Cambria" panose="02040503050406030204" pitchFamily="18" charset="0"/>
              </a:rPr>
              <a:t>It provides an easiness to reuse the software components.</a:t>
            </a:r>
          </a:p>
          <a:p>
            <a:pPr marL="0" indent="0" algn="just">
              <a:lnSpc>
                <a:spcPct val="100000"/>
              </a:lnSpc>
              <a:spcBef>
                <a:spcPts val="600"/>
              </a:spcBef>
              <a:buNone/>
            </a:pPr>
            <a:r>
              <a:rPr lang="en-GB" sz="1800" b="1" u="sng" dirty="0" smtClean="0">
                <a:latin typeface="Cambria" panose="02040503050406030204" pitchFamily="18" charset="0"/>
                <a:ea typeface="Cambria" panose="02040503050406030204" pitchFamily="18" charset="0"/>
              </a:rPr>
              <a:t>Disadvantages of </a:t>
            </a:r>
            <a:r>
              <a:rPr lang="en-GB" sz="1800" b="1" u="sng" dirty="0" err="1" smtClean="0">
                <a:latin typeface="Cambria" panose="02040503050406030204" pitchFamily="18" charset="0"/>
                <a:ea typeface="Cambria" panose="02040503050406030204" pitchFamily="18" charset="0"/>
              </a:rPr>
              <a:t>JavaBean</a:t>
            </a:r>
            <a:endParaRPr lang="en-GB" sz="1800" b="1" u="sng" dirty="0" smtClean="0">
              <a:latin typeface="Cambria" panose="02040503050406030204" pitchFamily="18" charset="0"/>
              <a:ea typeface="Cambria" panose="02040503050406030204" pitchFamily="18" charset="0"/>
            </a:endParaRPr>
          </a:p>
          <a:p>
            <a:pPr algn="just">
              <a:lnSpc>
                <a:spcPct val="100000"/>
              </a:lnSpc>
              <a:spcBef>
                <a:spcPts val="600"/>
              </a:spcBef>
            </a:pPr>
            <a:r>
              <a:rPr lang="en-GB" sz="1800" dirty="0" smtClean="0">
                <a:latin typeface="Cambria" panose="02040503050406030204" pitchFamily="18" charset="0"/>
                <a:ea typeface="Cambria" panose="02040503050406030204" pitchFamily="18" charset="0"/>
              </a:rPr>
              <a:t>JavaBeans are mutable. So, it can't take advantages of immutable objects.</a:t>
            </a:r>
          </a:p>
          <a:p>
            <a:pPr algn="just">
              <a:lnSpc>
                <a:spcPct val="100000"/>
              </a:lnSpc>
              <a:spcBef>
                <a:spcPts val="600"/>
              </a:spcBef>
            </a:pPr>
            <a:r>
              <a:rPr lang="en-GB" sz="1800" dirty="0" smtClean="0">
                <a:latin typeface="Cambria" panose="02040503050406030204" pitchFamily="18" charset="0"/>
                <a:ea typeface="Cambria" panose="02040503050406030204" pitchFamily="18" charset="0"/>
              </a:rPr>
              <a:t>Creating the setter and getter method for each property separately.</a:t>
            </a:r>
          </a:p>
          <a:p>
            <a:pPr algn="just">
              <a:lnSpc>
                <a:spcPct val="100000"/>
              </a:lnSpc>
              <a:spcBef>
                <a:spcPts val="600"/>
              </a:spcBef>
            </a:pPr>
            <a:endParaRPr lang="en-US" sz="18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108</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41" y="31867"/>
            <a:ext cx="2665512" cy="471587"/>
          </a:xfrm>
        </p:spPr>
        <p:txBody>
          <a:bodyPr/>
          <a:lstStyle/>
          <a:p>
            <a:r>
              <a:rPr lang="en-GB" sz="4000" b="1" dirty="0" smtClean="0">
                <a:solidFill>
                  <a:srgbClr val="7030A0"/>
                </a:solidFill>
                <a:latin typeface="Cambria" panose="02040503050406030204" pitchFamily="18" charset="0"/>
                <a:ea typeface="Cambria" panose="02040503050406030204" pitchFamily="18" charset="0"/>
              </a:rPr>
              <a:t>Example</a:t>
            </a:r>
            <a:endParaRPr lang="en-US" sz="4000" b="1" dirty="0">
              <a:solidFill>
                <a:srgbClr val="7030A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2495600" y="66089"/>
            <a:ext cx="7632848" cy="5668800"/>
          </a:xfrm>
        </p:spPr>
        <p:txBody>
          <a:bodyPr/>
          <a:lstStyle/>
          <a:p>
            <a:pPr>
              <a:spcBef>
                <a:spcPts val="0"/>
              </a:spcBef>
              <a:buNone/>
            </a:pPr>
            <a:r>
              <a:rPr lang="en-US" sz="1800" dirty="0" smtClean="0">
                <a:latin typeface="Cambria" panose="02040503050406030204" pitchFamily="18" charset="0"/>
                <a:ea typeface="Cambria" panose="02040503050406030204" pitchFamily="18" charset="0"/>
              </a:rPr>
              <a:t>//Employee.java  </a:t>
            </a:r>
          </a:p>
          <a:p>
            <a:pPr>
              <a:spcBef>
                <a:spcPts val="0"/>
              </a:spcBef>
              <a:buNone/>
            </a:pPr>
            <a:r>
              <a:rPr lang="en-US" sz="1800" dirty="0" smtClean="0">
                <a:latin typeface="Cambria" panose="02040503050406030204" pitchFamily="18" charset="0"/>
                <a:ea typeface="Cambria" panose="02040503050406030204" pitchFamily="18" charset="0"/>
              </a:rPr>
              <a:t>  </a:t>
            </a:r>
          </a:p>
          <a:p>
            <a:pPr>
              <a:spcBef>
                <a:spcPts val="0"/>
              </a:spcBef>
              <a:buNone/>
            </a:pPr>
            <a:r>
              <a:rPr lang="en-US" sz="1800" b="1" dirty="0" smtClean="0">
                <a:latin typeface="Cambria" panose="02040503050406030204" pitchFamily="18" charset="0"/>
                <a:ea typeface="Cambria" panose="02040503050406030204" pitchFamily="18" charset="0"/>
              </a:rPr>
              <a:t>package</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mypack</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b="1" dirty="0" smtClean="0">
                <a:latin typeface="Cambria" panose="02040503050406030204" pitchFamily="18" charset="0"/>
                <a:ea typeface="Cambria" panose="02040503050406030204" pitchFamily="18" charset="0"/>
              </a:rPr>
              <a:t>public</a:t>
            </a: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class</a:t>
            </a:r>
            <a:r>
              <a:rPr lang="en-US" sz="1800" dirty="0" smtClean="0">
                <a:latin typeface="Cambria" panose="02040503050406030204" pitchFamily="18" charset="0"/>
                <a:ea typeface="Cambria" panose="02040503050406030204" pitchFamily="18" charset="0"/>
              </a:rPr>
              <a:t> Employee </a:t>
            </a:r>
            <a:r>
              <a:rPr lang="en-US" sz="1800" b="1" dirty="0" smtClean="0">
                <a:latin typeface="Cambria" panose="02040503050406030204" pitchFamily="18" charset="0"/>
                <a:ea typeface="Cambria" panose="02040503050406030204" pitchFamily="18" charset="0"/>
              </a:rPr>
              <a:t>implements</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java.io.Serializable</a:t>
            </a:r>
            <a:r>
              <a:rPr lang="en-US" sz="1800" dirty="0" smtClean="0">
                <a:latin typeface="Cambria" panose="02040503050406030204" pitchFamily="18" charset="0"/>
                <a:ea typeface="Cambria" panose="02040503050406030204" pitchFamily="18" charset="0"/>
              </a:rPr>
              <a:t>{  </a:t>
            </a:r>
          </a:p>
          <a:p>
            <a:pPr lvl="1">
              <a:spcBef>
                <a:spcPts val="0"/>
              </a:spcBef>
              <a:buNone/>
            </a:pPr>
            <a:r>
              <a:rPr lang="en-US" sz="1800" b="1" dirty="0" smtClean="0">
                <a:latin typeface="Cambria" panose="02040503050406030204" pitchFamily="18" charset="0"/>
                <a:ea typeface="Cambria" panose="02040503050406030204" pitchFamily="18" charset="0"/>
              </a:rPr>
              <a:t>private</a:t>
            </a:r>
            <a:r>
              <a:rPr lang="en-US" sz="1800" dirty="0" smtClean="0">
                <a:latin typeface="Cambria" panose="02040503050406030204" pitchFamily="18" charset="0"/>
                <a:ea typeface="Cambria" panose="02040503050406030204" pitchFamily="18" charset="0"/>
              </a:rPr>
              <a:t> </a:t>
            </a:r>
            <a:r>
              <a:rPr lang="en-US" sz="1800" b="1" dirty="0" err="1" smtClean="0">
                <a:latin typeface="Cambria" panose="02040503050406030204" pitchFamily="18" charset="0"/>
                <a:ea typeface="Cambria" panose="02040503050406030204" pitchFamily="18" charset="0"/>
              </a:rPr>
              <a:t>int</a:t>
            </a:r>
            <a:r>
              <a:rPr lang="en-US" sz="1800" dirty="0" smtClean="0">
                <a:latin typeface="Cambria" panose="02040503050406030204" pitchFamily="18" charset="0"/>
                <a:ea typeface="Cambria" panose="02040503050406030204" pitchFamily="18" charset="0"/>
              </a:rPr>
              <a:t> id;  </a:t>
            </a:r>
          </a:p>
          <a:p>
            <a:pPr lvl="1">
              <a:spcBef>
                <a:spcPts val="0"/>
              </a:spcBef>
              <a:buNone/>
            </a:pPr>
            <a:r>
              <a:rPr lang="en-US" sz="1800" b="1" dirty="0" smtClean="0">
                <a:latin typeface="Cambria" panose="02040503050406030204" pitchFamily="18" charset="0"/>
                <a:ea typeface="Cambria" panose="02040503050406030204" pitchFamily="18" charset="0"/>
              </a:rPr>
              <a:t>private</a:t>
            </a:r>
            <a:r>
              <a:rPr lang="en-US" sz="1800" dirty="0" smtClean="0">
                <a:latin typeface="Cambria" panose="02040503050406030204" pitchFamily="18" charset="0"/>
                <a:ea typeface="Cambria" panose="02040503050406030204" pitchFamily="18" charset="0"/>
              </a:rPr>
              <a:t> String name;  </a:t>
            </a:r>
          </a:p>
          <a:p>
            <a:pPr lvl="1">
              <a:spcBef>
                <a:spcPts val="0"/>
              </a:spcBef>
              <a:buNone/>
            </a:pPr>
            <a:r>
              <a:rPr lang="en-US" sz="1800" b="1" dirty="0" smtClean="0">
                <a:latin typeface="Cambria" panose="02040503050406030204" pitchFamily="18" charset="0"/>
                <a:ea typeface="Cambria" panose="02040503050406030204" pitchFamily="18" charset="0"/>
              </a:rPr>
              <a:t>public</a:t>
            </a:r>
            <a:r>
              <a:rPr lang="en-US" sz="1800" dirty="0" smtClean="0">
                <a:latin typeface="Cambria" panose="02040503050406030204" pitchFamily="18" charset="0"/>
                <a:ea typeface="Cambria" panose="02040503050406030204" pitchFamily="18" charset="0"/>
              </a:rPr>
              <a:t> Employee(){}  </a:t>
            </a:r>
          </a:p>
          <a:p>
            <a:pPr lvl="1">
              <a:spcBef>
                <a:spcPts val="0"/>
              </a:spcBef>
              <a:buNone/>
            </a:pPr>
            <a:r>
              <a:rPr lang="en-US" sz="1800" b="1" dirty="0" smtClean="0">
                <a:latin typeface="Cambria" panose="02040503050406030204" pitchFamily="18" charset="0"/>
                <a:ea typeface="Cambria" panose="02040503050406030204" pitchFamily="18" charset="0"/>
              </a:rPr>
              <a:t>public</a:t>
            </a: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void</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setId</a:t>
            </a:r>
            <a:r>
              <a:rPr lang="en-US" sz="1800" dirty="0" smtClean="0">
                <a:latin typeface="Cambria" panose="02040503050406030204" pitchFamily="18" charset="0"/>
                <a:ea typeface="Cambria" panose="02040503050406030204" pitchFamily="18" charset="0"/>
              </a:rPr>
              <a:t>(</a:t>
            </a:r>
            <a:r>
              <a:rPr lang="en-US" sz="1800" b="1" dirty="0" err="1" smtClean="0">
                <a:latin typeface="Cambria" panose="02040503050406030204" pitchFamily="18" charset="0"/>
                <a:ea typeface="Cambria" panose="02040503050406030204" pitchFamily="18" charset="0"/>
              </a:rPr>
              <a:t>int</a:t>
            </a:r>
            <a:r>
              <a:rPr lang="en-US" sz="1800" dirty="0" smtClean="0">
                <a:latin typeface="Cambria" panose="02040503050406030204" pitchFamily="18" charset="0"/>
                <a:ea typeface="Cambria" panose="02040503050406030204" pitchFamily="18" charset="0"/>
              </a:rPr>
              <a:t> id){</a:t>
            </a:r>
            <a:r>
              <a:rPr lang="en-US" sz="1800" b="1" dirty="0" smtClean="0">
                <a:latin typeface="Cambria" panose="02040503050406030204" pitchFamily="18" charset="0"/>
                <a:ea typeface="Cambria" panose="02040503050406030204" pitchFamily="18" charset="0"/>
              </a:rPr>
              <a:t>this</a:t>
            </a:r>
            <a:r>
              <a:rPr lang="en-US" sz="1800" dirty="0" smtClean="0">
                <a:latin typeface="Cambria" panose="02040503050406030204" pitchFamily="18" charset="0"/>
                <a:ea typeface="Cambria" panose="02040503050406030204" pitchFamily="18" charset="0"/>
              </a:rPr>
              <a:t>.id=id;}  </a:t>
            </a:r>
          </a:p>
          <a:p>
            <a:pPr lvl="1">
              <a:spcBef>
                <a:spcPts val="0"/>
              </a:spcBef>
              <a:buNone/>
            </a:pPr>
            <a:r>
              <a:rPr lang="en-US" sz="1800" b="1" dirty="0" smtClean="0">
                <a:latin typeface="Cambria" panose="02040503050406030204" pitchFamily="18" charset="0"/>
                <a:ea typeface="Cambria" panose="02040503050406030204" pitchFamily="18" charset="0"/>
              </a:rPr>
              <a:t>public</a:t>
            </a:r>
            <a:r>
              <a:rPr lang="en-US" sz="1800" dirty="0" smtClean="0">
                <a:latin typeface="Cambria" panose="02040503050406030204" pitchFamily="18" charset="0"/>
                <a:ea typeface="Cambria" panose="02040503050406030204" pitchFamily="18" charset="0"/>
              </a:rPr>
              <a:t> </a:t>
            </a:r>
            <a:r>
              <a:rPr lang="en-US" sz="1800" b="1" dirty="0" err="1" smtClean="0">
                <a:latin typeface="Cambria" panose="02040503050406030204" pitchFamily="18" charset="0"/>
                <a:ea typeface="Cambria" panose="02040503050406030204" pitchFamily="18" charset="0"/>
              </a:rPr>
              <a:t>int</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getId</a:t>
            </a:r>
            <a:r>
              <a:rPr lang="en-US" sz="1800" dirty="0" smtClean="0">
                <a:latin typeface="Cambria" panose="02040503050406030204" pitchFamily="18" charset="0"/>
                <a:ea typeface="Cambria" panose="02040503050406030204" pitchFamily="18" charset="0"/>
              </a:rPr>
              <a:t>(){</a:t>
            </a:r>
            <a:r>
              <a:rPr lang="en-US" sz="1800" b="1" dirty="0" smtClean="0">
                <a:latin typeface="Cambria" panose="02040503050406030204" pitchFamily="18" charset="0"/>
                <a:ea typeface="Cambria" panose="02040503050406030204" pitchFamily="18" charset="0"/>
              </a:rPr>
              <a:t>return</a:t>
            </a:r>
            <a:r>
              <a:rPr lang="en-US" sz="1800" dirty="0" smtClean="0">
                <a:latin typeface="Cambria" panose="02040503050406030204" pitchFamily="18" charset="0"/>
                <a:ea typeface="Cambria" panose="02040503050406030204" pitchFamily="18" charset="0"/>
              </a:rPr>
              <a:t> id;}  </a:t>
            </a:r>
          </a:p>
          <a:p>
            <a:pPr lvl="1">
              <a:spcBef>
                <a:spcPts val="0"/>
              </a:spcBef>
              <a:buNone/>
            </a:pPr>
            <a:r>
              <a:rPr lang="en-US" sz="1800" b="1" dirty="0" smtClean="0">
                <a:latin typeface="Cambria" panose="02040503050406030204" pitchFamily="18" charset="0"/>
                <a:ea typeface="Cambria" panose="02040503050406030204" pitchFamily="18" charset="0"/>
              </a:rPr>
              <a:t>public</a:t>
            </a: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void</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setName</a:t>
            </a:r>
            <a:r>
              <a:rPr lang="en-US" sz="1800" dirty="0" smtClean="0">
                <a:latin typeface="Cambria" panose="02040503050406030204" pitchFamily="18" charset="0"/>
                <a:ea typeface="Cambria" panose="02040503050406030204" pitchFamily="18" charset="0"/>
              </a:rPr>
              <a:t>(String name){</a:t>
            </a:r>
            <a:r>
              <a:rPr lang="en-US" sz="1800" b="1" dirty="0" smtClean="0">
                <a:latin typeface="Cambria" panose="02040503050406030204" pitchFamily="18" charset="0"/>
                <a:ea typeface="Cambria" panose="02040503050406030204" pitchFamily="18" charset="0"/>
              </a:rPr>
              <a:t>this</a:t>
            </a:r>
            <a:r>
              <a:rPr lang="en-US" sz="1800" dirty="0" smtClean="0">
                <a:latin typeface="Cambria" panose="02040503050406030204" pitchFamily="18" charset="0"/>
                <a:ea typeface="Cambria" panose="02040503050406030204" pitchFamily="18" charset="0"/>
              </a:rPr>
              <a:t>.name=name;}  </a:t>
            </a:r>
          </a:p>
          <a:p>
            <a:pPr lvl="1">
              <a:spcBef>
                <a:spcPts val="0"/>
              </a:spcBef>
              <a:buNone/>
            </a:pPr>
            <a:r>
              <a:rPr lang="en-US" sz="1800" b="1" dirty="0" smtClean="0">
                <a:latin typeface="Cambria" panose="02040503050406030204" pitchFamily="18" charset="0"/>
                <a:ea typeface="Cambria" panose="02040503050406030204" pitchFamily="18" charset="0"/>
              </a:rPr>
              <a:t>public</a:t>
            </a:r>
            <a:r>
              <a:rPr lang="en-US" sz="1800" dirty="0" smtClean="0">
                <a:latin typeface="Cambria" panose="02040503050406030204" pitchFamily="18" charset="0"/>
                <a:ea typeface="Cambria" panose="02040503050406030204" pitchFamily="18" charset="0"/>
              </a:rPr>
              <a:t> String </a:t>
            </a:r>
            <a:r>
              <a:rPr lang="en-US" sz="1800" dirty="0" err="1" smtClean="0">
                <a:latin typeface="Cambria" panose="02040503050406030204" pitchFamily="18" charset="0"/>
                <a:ea typeface="Cambria" panose="02040503050406030204" pitchFamily="18" charset="0"/>
              </a:rPr>
              <a:t>getName</a:t>
            </a:r>
            <a:r>
              <a:rPr lang="en-US" sz="1800" dirty="0" smtClean="0">
                <a:latin typeface="Cambria" panose="02040503050406030204" pitchFamily="18" charset="0"/>
                <a:ea typeface="Cambria" panose="02040503050406030204" pitchFamily="18" charset="0"/>
              </a:rPr>
              <a:t>(){</a:t>
            </a:r>
            <a:r>
              <a:rPr lang="en-US" sz="1800" b="1" dirty="0" smtClean="0">
                <a:latin typeface="Cambria" panose="02040503050406030204" pitchFamily="18" charset="0"/>
                <a:ea typeface="Cambria" panose="02040503050406030204" pitchFamily="18" charset="0"/>
              </a:rPr>
              <a:t>return</a:t>
            </a:r>
            <a:r>
              <a:rPr lang="en-US" sz="1800" dirty="0" smtClean="0">
                <a:latin typeface="Cambria" panose="02040503050406030204" pitchFamily="18" charset="0"/>
                <a:ea typeface="Cambria" panose="02040503050406030204" pitchFamily="18" charset="0"/>
              </a:rPr>
              <a:t> name;}  </a:t>
            </a:r>
          </a:p>
          <a:p>
            <a:pPr>
              <a:spcBef>
                <a:spcPts val="0"/>
              </a:spcBef>
              <a:buNone/>
            </a:pPr>
            <a:r>
              <a:rPr lang="en-US" sz="1800" dirty="0" smtClean="0">
                <a:latin typeface="Cambria" panose="02040503050406030204" pitchFamily="18" charset="0"/>
                <a:ea typeface="Cambria" panose="02040503050406030204" pitchFamily="18" charset="0"/>
              </a:rPr>
              <a:t>}  </a:t>
            </a:r>
          </a:p>
          <a:p>
            <a:r>
              <a:rPr lang="en-GB" sz="1800" dirty="0" smtClean="0">
                <a:latin typeface="Cambria" panose="02040503050406030204" pitchFamily="18" charset="0"/>
                <a:ea typeface="Cambria" panose="02040503050406030204" pitchFamily="18" charset="0"/>
              </a:rPr>
              <a:t>How to access the </a:t>
            </a:r>
            <a:r>
              <a:rPr lang="en-GB" sz="1800" dirty="0" err="1" smtClean="0">
                <a:latin typeface="Cambria" panose="02040503050406030204" pitchFamily="18" charset="0"/>
                <a:ea typeface="Cambria" panose="02040503050406030204" pitchFamily="18" charset="0"/>
              </a:rPr>
              <a:t>JavaBean</a:t>
            </a:r>
            <a:r>
              <a:rPr lang="en-GB" sz="1800" dirty="0" smtClean="0">
                <a:latin typeface="Cambria" panose="02040503050406030204" pitchFamily="18" charset="0"/>
                <a:ea typeface="Cambria" panose="02040503050406030204" pitchFamily="18" charset="0"/>
              </a:rPr>
              <a:t> class?</a:t>
            </a:r>
          </a:p>
          <a:p>
            <a:r>
              <a:rPr lang="en-GB" sz="1800" dirty="0" smtClean="0">
                <a:latin typeface="Cambria" panose="02040503050406030204" pitchFamily="18" charset="0"/>
                <a:ea typeface="Cambria" panose="02040503050406030204" pitchFamily="18" charset="0"/>
              </a:rPr>
              <a:t>To access the </a:t>
            </a:r>
            <a:r>
              <a:rPr lang="en-GB" sz="1800" dirty="0" err="1" smtClean="0">
                <a:latin typeface="Cambria" panose="02040503050406030204" pitchFamily="18" charset="0"/>
                <a:ea typeface="Cambria" panose="02040503050406030204" pitchFamily="18" charset="0"/>
              </a:rPr>
              <a:t>JavaBean</a:t>
            </a:r>
            <a:r>
              <a:rPr lang="en-GB" sz="1800" dirty="0" smtClean="0">
                <a:latin typeface="Cambria" panose="02040503050406030204" pitchFamily="18" charset="0"/>
                <a:ea typeface="Cambria" panose="02040503050406030204" pitchFamily="18" charset="0"/>
              </a:rPr>
              <a:t> class, we should use getter and setter methods.</a:t>
            </a:r>
          </a:p>
          <a:p>
            <a:pPr>
              <a:spcBef>
                <a:spcPts val="0"/>
              </a:spcBef>
              <a:buNone/>
            </a:pPr>
            <a:r>
              <a:rPr lang="en-GB" sz="1800" b="1" dirty="0" smtClean="0">
                <a:latin typeface="Cambria" panose="02040503050406030204" pitchFamily="18" charset="0"/>
                <a:ea typeface="Cambria" panose="02040503050406030204" pitchFamily="18" charset="0"/>
              </a:rPr>
              <a:t>package</a:t>
            </a:r>
            <a:r>
              <a:rPr lang="en-GB" sz="1800" dirty="0" smtClean="0">
                <a:latin typeface="Cambria" panose="02040503050406030204" pitchFamily="18" charset="0"/>
                <a:ea typeface="Cambria" panose="02040503050406030204" pitchFamily="18" charset="0"/>
              </a:rPr>
              <a:t> </a:t>
            </a:r>
            <a:r>
              <a:rPr lang="en-GB" sz="1800" dirty="0" err="1" smtClean="0">
                <a:latin typeface="Cambria" panose="02040503050406030204" pitchFamily="18" charset="0"/>
                <a:ea typeface="Cambria" panose="02040503050406030204" pitchFamily="18" charset="0"/>
              </a:rPr>
              <a:t>mypack</a:t>
            </a:r>
            <a:r>
              <a:rPr lang="en-GB" sz="1800" dirty="0" smtClean="0">
                <a:latin typeface="Cambria" panose="02040503050406030204" pitchFamily="18" charset="0"/>
                <a:ea typeface="Cambria" panose="02040503050406030204" pitchFamily="18" charset="0"/>
              </a:rPr>
              <a:t>;  </a:t>
            </a:r>
          </a:p>
          <a:p>
            <a:pPr>
              <a:spcBef>
                <a:spcPts val="0"/>
              </a:spcBef>
              <a:buNone/>
            </a:pPr>
            <a:r>
              <a:rPr lang="en-GB" sz="1800" b="1" dirty="0" smtClean="0">
                <a:latin typeface="Cambria" panose="02040503050406030204" pitchFamily="18" charset="0"/>
                <a:ea typeface="Cambria" panose="02040503050406030204" pitchFamily="18" charset="0"/>
              </a:rPr>
              <a:t>public</a:t>
            </a:r>
            <a:r>
              <a:rPr lang="en-GB" sz="1800" dirty="0" smtClean="0">
                <a:latin typeface="Cambria" panose="02040503050406030204" pitchFamily="18" charset="0"/>
                <a:ea typeface="Cambria" panose="02040503050406030204" pitchFamily="18" charset="0"/>
              </a:rPr>
              <a:t> </a:t>
            </a:r>
            <a:r>
              <a:rPr lang="en-GB" sz="1800" b="1" dirty="0" smtClean="0">
                <a:latin typeface="Cambria" panose="02040503050406030204" pitchFamily="18" charset="0"/>
                <a:ea typeface="Cambria" panose="02040503050406030204" pitchFamily="18" charset="0"/>
              </a:rPr>
              <a:t>class</a:t>
            </a:r>
            <a:r>
              <a:rPr lang="en-GB" sz="1800" dirty="0" smtClean="0">
                <a:latin typeface="Cambria" panose="02040503050406030204" pitchFamily="18" charset="0"/>
                <a:ea typeface="Cambria" panose="02040503050406030204" pitchFamily="18" charset="0"/>
              </a:rPr>
              <a:t> Test{  </a:t>
            </a:r>
          </a:p>
          <a:p>
            <a:pPr>
              <a:spcBef>
                <a:spcPts val="0"/>
              </a:spcBef>
              <a:buNone/>
            </a:pPr>
            <a:r>
              <a:rPr lang="en-GB" sz="1800" b="1" dirty="0" smtClean="0">
                <a:latin typeface="Cambria" panose="02040503050406030204" pitchFamily="18" charset="0"/>
                <a:ea typeface="Cambria" panose="02040503050406030204" pitchFamily="18" charset="0"/>
              </a:rPr>
              <a:t>public</a:t>
            </a:r>
            <a:r>
              <a:rPr lang="en-GB" sz="1800" dirty="0" smtClean="0">
                <a:latin typeface="Cambria" panose="02040503050406030204" pitchFamily="18" charset="0"/>
                <a:ea typeface="Cambria" panose="02040503050406030204" pitchFamily="18" charset="0"/>
              </a:rPr>
              <a:t> </a:t>
            </a:r>
            <a:r>
              <a:rPr lang="en-GB" sz="1800" b="1" dirty="0" smtClean="0">
                <a:latin typeface="Cambria" panose="02040503050406030204" pitchFamily="18" charset="0"/>
                <a:ea typeface="Cambria" panose="02040503050406030204" pitchFamily="18" charset="0"/>
              </a:rPr>
              <a:t>static</a:t>
            </a:r>
            <a:r>
              <a:rPr lang="en-GB" sz="1800" dirty="0" smtClean="0">
                <a:latin typeface="Cambria" panose="02040503050406030204" pitchFamily="18" charset="0"/>
                <a:ea typeface="Cambria" panose="02040503050406030204" pitchFamily="18" charset="0"/>
              </a:rPr>
              <a:t> </a:t>
            </a:r>
            <a:r>
              <a:rPr lang="en-GB" sz="1800" b="1" dirty="0" smtClean="0">
                <a:latin typeface="Cambria" panose="02040503050406030204" pitchFamily="18" charset="0"/>
                <a:ea typeface="Cambria" panose="02040503050406030204" pitchFamily="18" charset="0"/>
              </a:rPr>
              <a:t>void</a:t>
            </a:r>
            <a:r>
              <a:rPr lang="en-GB" sz="1800" dirty="0" smtClean="0">
                <a:latin typeface="Cambria" panose="02040503050406030204" pitchFamily="18" charset="0"/>
                <a:ea typeface="Cambria" panose="02040503050406030204" pitchFamily="18" charset="0"/>
              </a:rPr>
              <a:t> main(String </a:t>
            </a:r>
            <a:r>
              <a:rPr lang="en-GB" sz="1800" dirty="0" err="1" smtClean="0">
                <a:latin typeface="Cambria" panose="02040503050406030204" pitchFamily="18" charset="0"/>
                <a:ea typeface="Cambria" panose="02040503050406030204" pitchFamily="18" charset="0"/>
              </a:rPr>
              <a:t>args</a:t>
            </a:r>
            <a:r>
              <a:rPr lang="en-GB" sz="1800" dirty="0" smtClean="0">
                <a:latin typeface="Cambria" panose="02040503050406030204" pitchFamily="18" charset="0"/>
                <a:ea typeface="Cambria" panose="02040503050406030204" pitchFamily="18" charset="0"/>
              </a:rPr>
              <a:t>[]){  </a:t>
            </a:r>
          </a:p>
          <a:p>
            <a:pPr lvl="1">
              <a:spcBef>
                <a:spcPts val="0"/>
              </a:spcBef>
              <a:buNone/>
            </a:pPr>
            <a:r>
              <a:rPr lang="en-GB" sz="1800" dirty="0" smtClean="0">
                <a:latin typeface="Cambria" panose="02040503050406030204" pitchFamily="18" charset="0"/>
                <a:ea typeface="Cambria" panose="02040503050406030204" pitchFamily="18" charset="0"/>
              </a:rPr>
              <a:t>Employee e=</a:t>
            </a:r>
            <a:r>
              <a:rPr lang="en-GB" sz="1800" b="1" dirty="0" smtClean="0">
                <a:latin typeface="Cambria" panose="02040503050406030204" pitchFamily="18" charset="0"/>
                <a:ea typeface="Cambria" panose="02040503050406030204" pitchFamily="18" charset="0"/>
              </a:rPr>
              <a:t>new</a:t>
            </a:r>
            <a:r>
              <a:rPr lang="en-GB" sz="1800" dirty="0" smtClean="0">
                <a:latin typeface="Cambria" panose="02040503050406030204" pitchFamily="18" charset="0"/>
                <a:ea typeface="Cambria" panose="02040503050406030204" pitchFamily="18" charset="0"/>
              </a:rPr>
              <a:t> Employee();//object is created  </a:t>
            </a:r>
          </a:p>
          <a:p>
            <a:pPr lvl="1">
              <a:spcBef>
                <a:spcPts val="0"/>
              </a:spcBef>
              <a:buNone/>
            </a:pPr>
            <a:r>
              <a:rPr lang="en-GB" sz="1800" dirty="0" err="1" smtClean="0">
                <a:latin typeface="Cambria" panose="02040503050406030204" pitchFamily="18" charset="0"/>
                <a:ea typeface="Cambria" panose="02040503050406030204" pitchFamily="18" charset="0"/>
              </a:rPr>
              <a:t>e.setName</a:t>
            </a:r>
            <a:r>
              <a:rPr lang="en-GB" sz="1800" dirty="0" smtClean="0">
                <a:latin typeface="Cambria" panose="02040503050406030204" pitchFamily="18" charset="0"/>
                <a:ea typeface="Cambria" panose="02040503050406030204" pitchFamily="18" charset="0"/>
              </a:rPr>
              <a:t>("</a:t>
            </a:r>
            <a:r>
              <a:rPr lang="en-GB" sz="1800" dirty="0" err="1" smtClean="0">
                <a:latin typeface="Cambria" panose="02040503050406030204" pitchFamily="18" charset="0"/>
                <a:ea typeface="Cambria" panose="02040503050406030204" pitchFamily="18" charset="0"/>
              </a:rPr>
              <a:t>Arjun</a:t>
            </a:r>
            <a:r>
              <a:rPr lang="en-GB" sz="1800" dirty="0" smtClean="0">
                <a:latin typeface="Cambria" panose="02040503050406030204" pitchFamily="18" charset="0"/>
                <a:ea typeface="Cambria" panose="02040503050406030204" pitchFamily="18" charset="0"/>
              </a:rPr>
              <a:t>");//setting value to the object  </a:t>
            </a:r>
          </a:p>
          <a:p>
            <a:pPr lvl="1">
              <a:spcBef>
                <a:spcPts val="0"/>
              </a:spcBef>
              <a:buNone/>
            </a:pPr>
            <a:r>
              <a:rPr lang="en-GB" sz="1800" dirty="0" err="1" smtClean="0">
                <a:latin typeface="Cambria" panose="02040503050406030204" pitchFamily="18" charset="0"/>
                <a:ea typeface="Cambria" panose="02040503050406030204" pitchFamily="18" charset="0"/>
              </a:rPr>
              <a:t>System.out.println</a:t>
            </a:r>
            <a:r>
              <a:rPr lang="en-GB" sz="1800" dirty="0" smtClean="0">
                <a:latin typeface="Cambria" panose="02040503050406030204" pitchFamily="18" charset="0"/>
                <a:ea typeface="Cambria" panose="02040503050406030204" pitchFamily="18" charset="0"/>
              </a:rPr>
              <a:t>(</a:t>
            </a:r>
            <a:r>
              <a:rPr lang="en-GB" sz="1800" dirty="0" err="1" smtClean="0">
                <a:latin typeface="Cambria" panose="02040503050406030204" pitchFamily="18" charset="0"/>
                <a:ea typeface="Cambria" panose="02040503050406030204" pitchFamily="18" charset="0"/>
              </a:rPr>
              <a:t>e.getName</a:t>
            </a:r>
            <a:r>
              <a:rPr lang="en-GB" sz="1800" dirty="0" smtClean="0">
                <a:latin typeface="Cambria" panose="02040503050406030204" pitchFamily="18" charset="0"/>
                <a:ea typeface="Cambria" panose="02040503050406030204" pitchFamily="18" charset="0"/>
              </a:rPr>
              <a:t>());  </a:t>
            </a:r>
          </a:p>
          <a:p>
            <a:pPr>
              <a:spcBef>
                <a:spcPts val="0"/>
              </a:spcBef>
              <a:buNone/>
            </a:pPr>
            <a:r>
              <a:rPr lang="en-GB" sz="1800" dirty="0" smtClean="0">
                <a:latin typeface="Cambria" panose="02040503050406030204" pitchFamily="18" charset="0"/>
                <a:ea typeface="Cambria" panose="02040503050406030204" pitchFamily="18" charset="0"/>
              </a:rPr>
              <a:t>}}  </a:t>
            </a:r>
          </a:p>
          <a:p>
            <a:pPr>
              <a:spcBef>
                <a:spcPts val="0"/>
              </a:spcBef>
              <a:buNone/>
            </a:pPr>
            <a:endParaRPr lang="en-US" sz="1800" dirty="0" smtClean="0">
              <a:latin typeface="Cambria" panose="02040503050406030204" pitchFamily="18" charset="0"/>
              <a:ea typeface="Cambria" panose="02040503050406030204" pitchFamily="18" charset="0"/>
            </a:endParaRPr>
          </a:p>
          <a:p>
            <a:pPr>
              <a:spcBef>
                <a:spcPts val="0"/>
              </a:spcBef>
              <a:buNone/>
            </a:pPr>
            <a:endParaRPr lang="en-US" sz="18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109</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188640"/>
            <a:ext cx="5617840" cy="527034"/>
          </a:xfrm>
        </p:spPr>
        <p:txBody>
          <a:bodyPr/>
          <a:lstStyle/>
          <a:p>
            <a:r>
              <a:rPr lang="en-US" sz="4000" b="1" dirty="0" err="1" smtClean="0">
                <a:solidFill>
                  <a:srgbClr val="7030A0"/>
                </a:solidFill>
                <a:latin typeface="Cambria" panose="02040503050406030204" pitchFamily="18" charset="0"/>
                <a:ea typeface="Cambria" panose="02040503050406030204" pitchFamily="18" charset="0"/>
              </a:rPr>
              <a:t>jsp:useBean</a:t>
            </a:r>
            <a:r>
              <a:rPr lang="en-US" sz="4000" b="1" dirty="0" smtClean="0">
                <a:solidFill>
                  <a:srgbClr val="7030A0"/>
                </a:solidFill>
                <a:latin typeface="Cambria" panose="02040503050406030204" pitchFamily="18" charset="0"/>
                <a:ea typeface="Cambria" panose="02040503050406030204" pitchFamily="18" charset="0"/>
              </a:rPr>
              <a:t> action tag</a:t>
            </a:r>
            <a:endParaRPr lang="en-US" sz="4000" b="1" dirty="0">
              <a:solidFill>
                <a:srgbClr val="7030A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335360" y="908720"/>
            <a:ext cx="11233248" cy="3528391"/>
          </a:xfrm>
        </p:spPr>
        <p:txBody>
          <a:bodyPr/>
          <a:lstStyle/>
          <a:p>
            <a:pPr algn="just"/>
            <a:r>
              <a:rPr lang="en-GB" sz="2400" dirty="0" smtClean="0">
                <a:latin typeface="Cambria" panose="02040503050406030204" pitchFamily="18" charset="0"/>
                <a:ea typeface="Cambria" panose="02040503050406030204" pitchFamily="18" charset="0"/>
              </a:rPr>
              <a:t>The </a:t>
            </a:r>
            <a:r>
              <a:rPr lang="en-GB" sz="2400" dirty="0" err="1" smtClean="0">
                <a:latin typeface="Cambria" panose="02040503050406030204" pitchFamily="18" charset="0"/>
                <a:ea typeface="Cambria" panose="02040503050406030204" pitchFamily="18" charset="0"/>
              </a:rPr>
              <a:t>jsp:useBean</a:t>
            </a:r>
            <a:r>
              <a:rPr lang="en-GB" sz="2400" dirty="0" smtClean="0">
                <a:latin typeface="Cambria" panose="02040503050406030204" pitchFamily="18" charset="0"/>
                <a:ea typeface="Cambria" panose="02040503050406030204" pitchFamily="18" charset="0"/>
              </a:rPr>
              <a:t> action tag is used to locate or instantiate a bean class. If bean object of the Bean class is already created, it doesn't create the bean depending on the scope. But if object of bean is not created, it instantiates the bean.</a:t>
            </a:r>
          </a:p>
          <a:p>
            <a:pPr algn="just"/>
            <a:r>
              <a:rPr lang="en-GB" sz="2400" dirty="0" smtClean="0">
                <a:latin typeface="Cambria" panose="02040503050406030204" pitchFamily="18" charset="0"/>
                <a:ea typeface="Cambria" panose="02040503050406030204" pitchFamily="18" charset="0"/>
              </a:rPr>
              <a:t>Syntax of jsp:useBean action tag</a:t>
            </a:r>
          </a:p>
          <a:p>
            <a:pPr marL="0" indent="0" algn="just">
              <a:buNone/>
            </a:pPr>
            <a:endParaRPr lang="en-GB" sz="2400" dirty="0" smtClean="0">
              <a:latin typeface="Cambria" panose="02040503050406030204" pitchFamily="18" charset="0"/>
              <a:ea typeface="Cambria" panose="02040503050406030204" pitchFamily="18" charset="0"/>
            </a:endParaRPr>
          </a:p>
          <a:p>
            <a:pPr algn="just">
              <a:spcBef>
                <a:spcPts val="0"/>
              </a:spcBef>
              <a:buNone/>
            </a:pPr>
            <a:r>
              <a:rPr lang="en-GB" sz="2400" dirty="0" smtClean="0">
                <a:latin typeface="Cambria" panose="02040503050406030204" pitchFamily="18" charset="0"/>
                <a:ea typeface="Cambria" panose="02040503050406030204" pitchFamily="18" charset="0"/>
              </a:rPr>
              <a:t>&lt;jsp:useBean id= "instanceName" scope= "page | request | session | application"  </a:t>
            </a:r>
          </a:p>
          <a:p>
            <a:pPr algn="just">
              <a:spcBef>
                <a:spcPts val="0"/>
              </a:spcBef>
              <a:buNone/>
            </a:pPr>
            <a:r>
              <a:rPr lang="en-GB" sz="2400" dirty="0" smtClean="0">
                <a:latin typeface="Cambria" panose="02040503050406030204" pitchFamily="18" charset="0"/>
                <a:ea typeface="Cambria" panose="02040503050406030204" pitchFamily="18" charset="0"/>
              </a:rPr>
              <a:t> </a:t>
            </a:r>
          </a:p>
          <a:p>
            <a:pPr algn="just">
              <a:spcBef>
                <a:spcPts val="0"/>
              </a:spcBef>
              <a:buNone/>
            </a:pPr>
            <a:r>
              <a:rPr lang="en-GB" sz="2400" b="1" dirty="0" smtClean="0">
                <a:latin typeface="Cambria" panose="02040503050406030204" pitchFamily="18" charset="0"/>
                <a:ea typeface="Cambria" panose="02040503050406030204" pitchFamily="18" charset="0"/>
              </a:rPr>
              <a:t>class</a:t>
            </a:r>
            <a:r>
              <a:rPr lang="en-GB" sz="2400" dirty="0" smtClean="0">
                <a:latin typeface="Cambria" panose="02040503050406030204" pitchFamily="18" charset="0"/>
                <a:ea typeface="Cambria" panose="02040503050406030204" pitchFamily="18" charset="0"/>
              </a:rPr>
              <a:t>= "packageName.className" type= "packageName.className"  </a:t>
            </a:r>
          </a:p>
          <a:p>
            <a:pPr algn="just">
              <a:spcBef>
                <a:spcPts val="0"/>
              </a:spcBef>
              <a:buNone/>
            </a:pPr>
            <a:endParaRPr lang="en-GB" sz="2400" dirty="0" smtClean="0">
              <a:latin typeface="Cambria" panose="02040503050406030204" pitchFamily="18" charset="0"/>
              <a:ea typeface="Cambria" panose="02040503050406030204" pitchFamily="18" charset="0"/>
            </a:endParaRPr>
          </a:p>
          <a:p>
            <a:pPr algn="just">
              <a:spcBef>
                <a:spcPts val="0"/>
              </a:spcBef>
              <a:buNone/>
            </a:pPr>
            <a:r>
              <a:rPr lang="en-GB" sz="2400" dirty="0" smtClean="0">
                <a:latin typeface="Cambria" panose="02040503050406030204" pitchFamily="18" charset="0"/>
                <a:ea typeface="Cambria" panose="02040503050406030204" pitchFamily="18" charset="0"/>
              </a:rPr>
              <a:t>beanName="packageName.className" &gt;  </a:t>
            </a:r>
          </a:p>
          <a:p>
            <a:pPr algn="just">
              <a:spcBef>
                <a:spcPts val="0"/>
              </a:spcBef>
              <a:buNone/>
            </a:pPr>
            <a:endParaRPr lang="en-GB" sz="2400" dirty="0" smtClean="0">
              <a:latin typeface="Cambria" panose="02040503050406030204" pitchFamily="18" charset="0"/>
              <a:ea typeface="Cambria" panose="02040503050406030204" pitchFamily="18" charset="0"/>
            </a:endParaRPr>
          </a:p>
          <a:p>
            <a:pPr algn="just">
              <a:spcBef>
                <a:spcPts val="0"/>
              </a:spcBef>
              <a:buNone/>
            </a:pPr>
            <a:r>
              <a:rPr lang="en-GB" sz="2400" dirty="0" smtClean="0">
                <a:latin typeface="Cambria" panose="02040503050406030204" pitchFamily="18" charset="0"/>
                <a:ea typeface="Cambria" panose="02040503050406030204" pitchFamily="18" charset="0"/>
              </a:rPr>
              <a:t>&lt;/</a:t>
            </a:r>
            <a:r>
              <a:rPr lang="en-GB" sz="2400" dirty="0" err="1" smtClean="0">
                <a:latin typeface="Cambria" panose="02040503050406030204" pitchFamily="18" charset="0"/>
                <a:ea typeface="Cambria" panose="02040503050406030204" pitchFamily="18" charset="0"/>
              </a:rPr>
              <a:t>jsp:useBean</a:t>
            </a:r>
            <a:r>
              <a:rPr lang="en-GB" sz="2400" dirty="0" smtClean="0">
                <a:latin typeface="Cambria" panose="02040503050406030204" pitchFamily="18" charset="0"/>
                <a:ea typeface="Cambria" panose="02040503050406030204" pitchFamily="18" charset="0"/>
              </a:rPr>
              <a:t>&gt;  </a:t>
            </a:r>
          </a:p>
          <a:p>
            <a:pPr algn="just"/>
            <a:endParaRPr lang="en-US" sz="24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110</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188640"/>
            <a:ext cx="8282136" cy="471587"/>
          </a:xfrm>
        </p:spPr>
        <p:txBody>
          <a:bodyPr/>
          <a:lstStyle/>
          <a:p>
            <a:r>
              <a:rPr lang="en-GB" sz="4000" b="1" dirty="0" smtClean="0">
                <a:solidFill>
                  <a:srgbClr val="7030A0"/>
                </a:solidFill>
                <a:latin typeface="Cambria" panose="02040503050406030204" pitchFamily="18" charset="0"/>
                <a:ea typeface="Cambria" panose="02040503050406030204" pitchFamily="18" charset="0"/>
              </a:rPr>
              <a:t>example of jsp: useBean action tag</a:t>
            </a:r>
            <a:endParaRPr lang="en-GB" sz="4000" b="1" dirty="0">
              <a:solidFill>
                <a:srgbClr val="7030A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79376" y="764704"/>
            <a:ext cx="10513168" cy="4392488"/>
          </a:xfrm>
        </p:spPr>
        <p:txBody>
          <a:bodyPr/>
          <a:lstStyle/>
          <a:p>
            <a:r>
              <a:rPr lang="en-US" sz="2400" b="1" dirty="0" smtClean="0">
                <a:latin typeface="Cambria" panose="02040503050406030204" pitchFamily="18" charset="0"/>
                <a:ea typeface="Cambria" panose="02040503050406030204" pitchFamily="18" charset="0"/>
              </a:rPr>
              <a:t>Calculator.java (a simple Bean class)</a:t>
            </a:r>
          </a:p>
          <a:p>
            <a:pPr>
              <a:spcBef>
                <a:spcPts val="0"/>
              </a:spcBef>
              <a:buNone/>
            </a:pPr>
            <a:r>
              <a:rPr lang="en-US" sz="2400" b="1" dirty="0" smtClean="0">
                <a:latin typeface="Cambria" panose="02040503050406030204" pitchFamily="18" charset="0"/>
                <a:ea typeface="Cambria" panose="02040503050406030204" pitchFamily="18" charset="0"/>
              </a:rPr>
              <a:t>package</a:t>
            </a:r>
            <a:r>
              <a:rPr lang="en-US" sz="2400" dirty="0" smtClean="0">
                <a:latin typeface="Cambria" panose="02040503050406030204" pitchFamily="18" charset="0"/>
                <a:ea typeface="Cambria" panose="02040503050406030204" pitchFamily="18" charset="0"/>
              </a:rPr>
              <a:t> com.pu;  </a:t>
            </a:r>
          </a:p>
          <a:p>
            <a:pPr>
              <a:spcBef>
                <a:spcPts val="0"/>
              </a:spcBef>
              <a:buNone/>
            </a:pPr>
            <a:r>
              <a:rPr lang="en-US" sz="2400" b="1" dirty="0" smtClean="0">
                <a:latin typeface="Cambria" panose="02040503050406030204" pitchFamily="18" charset="0"/>
                <a:ea typeface="Cambria" panose="02040503050406030204" pitchFamily="18" charset="0"/>
              </a:rPr>
              <a:t>public</a:t>
            </a:r>
            <a:r>
              <a:rPr lang="en-US" sz="2400" dirty="0" smtClean="0">
                <a:latin typeface="Cambria" panose="02040503050406030204" pitchFamily="18" charset="0"/>
                <a:ea typeface="Cambria" panose="02040503050406030204" pitchFamily="18" charset="0"/>
              </a:rPr>
              <a:t> </a:t>
            </a:r>
            <a:r>
              <a:rPr lang="en-US" sz="2400" b="1" dirty="0" smtClean="0">
                <a:latin typeface="Cambria" panose="02040503050406030204" pitchFamily="18" charset="0"/>
                <a:ea typeface="Cambria" panose="02040503050406030204" pitchFamily="18" charset="0"/>
              </a:rPr>
              <a:t>class</a:t>
            </a:r>
            <a:r>
              <a:rPr lang="en-US" sz="2400" dirty="0" smtClean="0">
                <a:latin typeface="Cambria" panose="02040503050406030204" pitchFamily="18" charset="0"/>
                <a:ea typeface="Cambria" panose="02040503050406030204" pitchFamily="18" charset="0"/>
              </a:rPr>
              <a:t> Calculator{  	  </a:t>
            </a:r>
          </a:p>
          <a:p>
            <a:pPr>
              <a:spcBef>
                <a:spcPts val="0"/>
              </a:spcBef>
              <a:buNone/>
            </a:pPr>
            <a:r>
              <a:rPr lang="en-US" sz="2400" b="1" dirty="0" smtClean="0">
                <a:latin typeface="Cambria" panose="02040503050406030204" pitchFamily="18" charset="0"/>
                <a:ea typeface="Cambria" panose="02040503050406030204" pitchFamily="18" charset="0"/>
              </a:rPr>
              <a:t>	public</a:t>
            </a:r>
            <a:r>
              <a:rPr lang="en-US" sz="2400" dirty="0" smtClean="0">
                <a:latin typeface="Cambria" panose="02040503050406030204" pitchFamily="18" charset="0"/>
                <a:ea typeface="Cambria" panose="02040503050406030204" pitchFamily="18" charset="0"/>
              </a:rPr>
              <a:t> </a:t>
            </a:r>
            <a:r>
              <a:rPr lang="en-US" sz="2400" b="1" dirty="0" smtClean="0">
                <a:latin typeface="Cambria" panose="02040503050406030204" pitchFamily="18" charset="0"/>
                <a:ea typeface="Cambria" panose="02040503050406030204" pitchFamily="18" charset="0"/>
              </a:rPr>
              <a:t>int</a:t>
            </a:r>
            <a:r>
              <a:rPr lang="en-US" sz="2400" dirty="0" smtClean="0">
                <a:latin typeface="Cambria" panose="02040503050406030204" pitchFamily="18" charset="0"/>
                <a:ea typeface="Cambria" panose="02040503050406030204" pitchFamily="18" charset="0"/>
              </a:rPr>
              <a:t> cube(</a:t>
            </a:r>
            <a:r>
              <a:rPr lang="en-US" sz="2400" b="1" dirty="0" smtClean="0">
                <a:latin typeface="Cambria" panose="02040503050406030204" pitchFamily="18" charset="0"/>
                <a:ea typeface="Cambria" panose="02040503050406030204" pitchFamily="18" charset="0"/>
              </a:rPr>
              <a:t>int</a:t>
            </a:r>
            <a:r>
              <a:rPr lang="en-US" sz="2400" dirty="0" smtClean="0">
                <a:latin typeface="Cambria" panose="02040503050406030204" pitchFamily="18" charset="0"/>
                <a:ea typeface="Cambria" panose="02040503050406030204" pitchFamily="18" charset="0"/>
              </a:rPr>
              <a:t> n){</a:t>
            </a:r>
            <a:r>
              <a:rPr lang="en-US" sz="2400" b="1" dirty="0" smtClean="0">
                <a:latin typeface="Cambria" panose="02040503050406030204" pitchFamily="18" charset="0"/>
                <a:ea typeface="Cambria" panose="02040503050406030204" pitchFamily="18" charset="0"/>
              </a:rPr>
              <a:t>return</a:t>
            </a:r>
            <a:r>
              <a:rPr lang="en-US" sz="2400" dirty="0" smtClean="0">
                <a:latin typeface="Cambria" panose="02040503050406030204" pitchFamily="18" charset="0"/>
                <a:ea typeface="Cambria" panose="02040503050406030204" pitchFamily="18" charset="0"/>
              </a:rPr>
              <a:t> n*n*n;}    </a:t>
            </a:r>
          </a:p>
          <a:p>
            <a:pPr>
              <a:spcBef>
                <a:spcPts val="0"/>
              </a:spcBef>
              <a:buNone/>
            </a:pPr>
            <a:r>
              <a:rPr lang="en-US" sz="2400" dirty="0" smtClean="0">
                <a:latin typeface="Cambria" panose="02040503050406030204" pitchFamily="18" charset="0"/>
                <a:ea typeface="Cambria" panose="02040503050406030204" pitchFamily="18" charset="0"/>
              </a:rPr>
              <a:t>}  </a:t>
            </a:r>
          </a:p>
          <a:p>
            <a:r>
              <a:rPr lang="en-US" sz="2400" b="1" dirty="0" smtClean="0">
                <a:latin typeface="Cambria" panose="02040503050406030204" pitchFamily="18" charset="0"/>
                <a:ea typeface="Cambria" panose="02040503050406030204" pitchFamily="18" charset="0"/>
              </a:rPr>
              <a:t>index.jsp file</a:t>
            </a:r>
          </a:p>
          <a:p>
            <a:pPr>
              <a:spcBef>
                <a:spcPts val="0"/>
              </a:spcBef>
              <a:buNone/>
            </a:pPr>
            <a:r>
              <a:rPr lang="en-US" sz="2400" dirty="0" smtClean="0">
                <a:latin typeface="Cambria" panose="02040503050406030204" pitchFamily="18" charset="0"/>
                <a:ea typeface="Cambria" panose="02040503050406030204" pitchFamily="18" charset="0"/>
              </a:rPr>
              <a:t>&lt;jsp:useBean id="obj" </a:t>
            </a:r>
            <a:r>
              <a:rPr lang="en-US" sz="2400" b="1" dirty="0" smtClean="0">
                <a:latin typeface="Cambria" panose="02040503050406030204" pitchFamily="18" charset="0"/>
                <a:ea typeface="Cambria" panose="02040503050406030204" pitchFamily="18" charset="0"/>
              </a:rPr>
              <a:t>class</a:t>
            </a:r>
            <a:r>
              <a:rPr lang="en-US" sz="2400" dirty="0" smtClean="0">
                <a:latin typeface="Cambria" panose="02040503050406030204" pitchFamily="18" charset="0"/>
                <a:ea typeface="Cambria" panose="02040503050406030204" pitchFamily="18" charset="0"/>
              </a:rPr>
              <a:t>="com.pu.Calculator"/&gt;  </a:t>
            </a:r>
          </a:p>
          <a:p>
            <a:pPr>
              <a:spcBef>
                <a:spcPts val="0"/>
              </a:spcBef>
              <a:buNone/>
            </a:pPr>
            <a:r>
              <a:rPr lang="en-US" sz="2400" dirty="0" smtClean="0">
                <a:latin typeface="Cambria" panose="02040503050406030204" pitchFamily="18" charset="0"/>
                <a:ea typeface="Cambria" panose="02040503050406030204" pitchFamily="18" charset="0"/>
              </a:rPr>
              <a:t>  </a:t>
            </a:r>
          </a:p>
          <a:p>
            <a:pPr>
              <a:spcBef>
                <a:spcPts val="0"/>
              </a:spcBef>
              <a:buNone/>
            </a:pPr>
            <a:r>
              <a:rPr lang="en-US" sz="2400" dirty="0" smtClean="0">
                <a:latin typeface="Cambria" panose="02040503050406030204" pitchFamily="18" charset="0"/>
                <a:ea typeface="Cambria" panose="02040503050406030204" pitchFamily="18" charset="0"/>
              </a:rPr>
              <a:t>&lt;%  </a:t>
            </a:r>
          </a:p>
          <a:p>
            <a:pPr>
              <a:spcBef>
                <a:spcPts val="0"/>
              </a:spcBef>
              <a:buNone/>
            </a:pPr>
            <a:r>
              <a:rPr lang="en-US" sz="2400" b="1" dirty="0" err="1" smtClean="0">
                <a:latin typeface="Cambria" panose="02040503050406030204" pitchFamily="18" charset="0"/>
                <a:ea typeface="Cambria" panose="02040503050406030204" pitchFamily="18" charset="0"/>
              </a:rPr>
              <a:t>int</a:t>
            </a:r>
            <a:r>
              <a:rPr lang="en-US" sz="2400" dirty="0" smtClean="0">
                <a:latin typeface="Cambria" panose="02040503050406030204" pitchFamily="18" charset="0"/>
                <a:ea typeface="Cambria" panose="02040503050406030204" pitchFamily="18" charset="0"/>
              </a:rPr>
              <a:t> m=</a:t>
            </a:r>
            <a:r>
              <a:rPr lang="en-US" sz="2400" dirty="0" err="1" smtClean="0">
                <a:latin typeface="Cambria" panose="02040503050406030204" pitchFamily="18" charset="0"/>
                <a:ea typeface="Cambria" panose="02040503050406030204" pitchFamily="18" charset="0"/>
              </a:rPr>
              <a:t>obj.cube</a:t>
            </a:r>
            <a:r>
              <a:rPr lang="en-US" sz="2400" dirty="0" smtClean="0">
                <a:latin typeface="Cambria" panose="02040503050406030204" pitchFamily="18" charset="0"/>
                <a:ea typeface="Cambria" panose="02040503050406030204" pitchFamily="18" charset="0"/>
              </a:rPr>
              <a:t>(5);  </a:t>
            </a:r>
          </a:p>
          <a:p>
            <a:pPr>
              <a:spcBef>
                <a:spcPts val="0"/>
              </a:spcBef>
              <a:buNone/>
            </a:pPr>
            <a:r>
              <a:rPr lang="en-US" sz="2400" dirty="0" err="1" smtClean="0">
                <a:latin typeface="Cambria" panose="02040503050406030204" pitchFamily="18" charset="0"/>
                <a:ea typeface="Cambria" panose="02040503050406030204" pitchFamily="18" charset="0"/>
              </a:rPr>
              <a:t>out.print</a:t>
            </a:r>
            <a:r>
              <a:rPr lang="en-US" sz="2400" dirty="0" smtClean="0">
                <a:latin typeface="Cambria" panose="02040503050406030204" pitchFamily="18" charset="0"/>
                <a:ea typeface="Cambria" panose="02040503050406030204" pitchFamily="18" charset="0"/>
              </a:rPr>
              <a:t>("cube of 5 is "+m);  </a:t>
            </a:r>
          </a:p>
          <a:p>
            <a:pPr>
              <a:spcBef>
                <a:spcPts val="0"/>
              </a:spcBef>
              <a:buNone/>
            </a:pPr>
            <a:r>
              <a:rPr lang="en-US" sz="2400" dirty="0" smtClean="0">
                <a:latin typeface="Cambria" panose="02040503050406030204" pitchFamily="18" charset="0"/>
                <a:ea typeface="Cambria" panose="02040503050406030204" pitchFamily="18" charset="0"/>
              </a:rPr>
              <a:t>%&gt;  </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111</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344" y="188640"/>
            <a:ext cx="10298360" cy="471587"/>
          </a:xfrm>
        </p:spPr>
        <p:txBody>
          <a:bodyPr/>
          <a:lstStyle/>
          <a:p>
            <a:r>
              <a:rPr lang="en-GB" sz="3600" b="1" dirty="0" smtClean="0">
                <a:solidFill>
                  <a:srgbClr val="7030A0"/>
                </a:solidFill>
                <a:latin typeface="Cambria" panose="02040503050406030204" pitchFamily="18" charset="0"/>
                <a:ea typeface="Cambria" panose="02040503050406030204" pitchFamily="18" charset="0"/>
              </a:rPr>
              <a:t>jsp: setProperty and jsp: getProperty action tags</a:t>
            </a:r>
            <a:endParaRPr lang="en-GB" sz="3600" b="1" dirty="0">
              <a:solidFill>
                <a:srgbClr val="7030A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551384" y="908720"/>
            <a:ext cx="11161240" cy="4680520"/>
          </a:xfrm>
        </p:spPr>
        <p:txBody>
          <a:bodyPr/>
          <a:lstStyle/>
          <a:p>
            <a:pPr algn="just"/>
            <a:r>
              <a:rPr lang="en-US" sz="2000" dirty="0" smtClean="0">
                <a:latin typeface="Cambria" panose="02040503050406030204" pitchFamily="18" charset="0"/>
                <a:ea typeface="Cambria" panose="02040503050406030204" pitchFamily="18" charset="0"/>
              </a:rPr>
              <a:t>The </a:t>
            </a:r>
            <a:r>
              <a:rPr lang="en-US" sz="2000" dirty="0" err="1" smtClean="0">
                <a:latin typeface="Cambria" panose="02040503050406030204" pitchFamily="18" charset="0"/>
                <a:ea typeface="Cambria" panose="02040503050406030204" pitchFamily="18" charset="0"/>
              </a:rPr>
              <a:t>setProperty</a:t>
            </a:r>
            <a:r>
              <a:rPr lang="en-US" sz="2000" dirty="0" smtClean="0">
                <a:latin typeface="Cambria" panose="02040503050406030204" pitchFamily="18" charset="0"/>
                <a:ea typeface="Cambria" panose="02040503050406030204" pitchFamily="18" charset="0"/>
              </a:rPr>
              <a:t> and </a:t>
            </a:r>
            <a:r>
              <a:rPr lang="en-US" sz="2000" dirty="0" err="1" smtClean="0">
                <a:latin typeface="Cambria" panose="02040503050406030204" pitchFamily="18" charset="0"/>
                <a:ea typeface="Cambria" panose="02040503050406030204" pitchFamily="18" charset="0"/>
              </a:rPr>
              <a:t>getProperty</a:t>
            </a:r>
            <a:r>
              <a:rPr lang="en-US" sz="2000" dirty="0" smtClean="0">
                <a:latin typeface="Cambria" panose="02040503050406030204" pitchFamily="18" charset="0"/>
                <a:ea typeface="Cambria" panose="02040503050406030204" pitchFamily="18" charset="0"/>
              </a:rPr>
              <a:t> action tags are used for developing web application with Java Bean. In web development, bean class is mostly used because it is a reusable software component that represents data.</a:t>
            </a:r>
          </a:p>
          <a:p>
            <a:pPr algn="just"/>
            <a:r>
              <a:rPr lang="en-US" sz="2000" dirty="0" smtClean="0">
                <a:latin typeface="Cambria" panose="02040503050406030204" pitchFamily="18" charset="0"/>
                <a:ea typeface="Cambria" panose="02040503050406030204" pitchFamily="18" charset="0"/>
              </a:rPr>
              <a:t>The jsp: setProperty action tag sets a property value or values in a bean using the setter method.</a:t>
            </a:r>
          </a:p>
          <a:p>
            <a:pPr algn="just"/>
            <a:r>
              <a:rPr lang="en-US" sz="2000" b="1" dirty="0" smtClean="0">
                <a:latin typeface="Cambria" panose="02040503050406030204" pitchFamily="18" charset="0"/>
                <a:ea typeface="Cambria" panose="02040503050406030204" pitchFamily="18" charset="0"/>
              </a:rPr>
              <a:t>Syntax of jsp: setProperty action tag</a:t>
            </a:r>
          </a:p>
          <a:p>
            <a:pPr algn="just">
              <a:buNone/>
            </a:pPr>
            <a:r>
              <a:rPr lang="en-US" sz="2000" dirty="0" smtClean="0">
                <a:latin typeface="Cambria" panose="02040503050406030204" pitchFamily="18" charset="0"/>
                <a:ea typeface="Cambria" panose="02040503050406030204" pitchFamily="18" charset="0"/>
              </a:rPr>
              <a:t>&lt;</a:t>
            </a:r>
            <a:r>
              <a:rPr lang="en-US" sz="2000" dirty="0" err="1" smtClean="0">
                <a:latin typeface="Cambria" panose="02040503050406030204" pitchFamily="18" charset="0"/>
                <a:ea typeface="Cambria" panose="02040503050406030204" pitchFamily="18" charset="0"/>
              </a:rPr>
              <a:t>jsp:setProperty</a:t>
            </a:r>
            <a:r>
              <a:rPr lang="en-US" sz="2000" dirty="0" smtClean="0">
                <a:latin typeface="Cambria" panose="02040503050406030204" pitchFamily="18" charset="0"/>
                <a:ea typeface="Cambria" panose="02040503050406030204" pitchFamily="18" charset="0"/>
              </a:rPr>
              <a:t> name="</a:t>
            </a:r>
            <a:r>
              <a:rPr lang="en-US" sz="2000" dirty="0" err="1" smtClean="0">
                <a:latin typeface="Cambria" panose="02040503050406030204" pitchFamily="18" charset="0"/>
                <a:ea typeface="Cambria" panose="02040503050406030204" pitchFamily="18" charset="0"/>
              </a:rPr>
              <a:t>instanceOfBean</a:t>
            </a:r>
            <a:r>
              <a:rPr lang="en-US" sz="2000" dirty="0" smtClean="0">
                <a:latin typeface="Cambria" panose="02040503050406030204" pitchFamily="18" charset="0"/>
                <a:ea typeface="Cambria" panose="02040503050406030204" pitchFamily="18" charset="0"/>
              </a:rPr>
              <a:t>" property= "*"   |   </a:t>
            </a:r>
          </a:p>
          <a:p>
            <a:pPr algn="just">
              <a:buNone/>
            </a:pPr>
            <a:r>
              <a:rPr lang="en-US" sz="2000" dirty="0" smtClean="0">
                <a:latin typeface="Cambria" panose="02040503050406030204" pitchFamily="18" charset="0"/>
                <a:ea typeface="Cambria" panose="02040503050406030204" pitchFamily="18" charset="0"/>
              </a:rPr>
              <a:t>property="</a:t>
            </a:r>
            <a:r>
              <a:rPr lang="en-US" sz="2000" dirty="0" err="1" smtClean="0">
                <a:latin typeface="Cambria" panose="02040503050406030204" pitchFamily="18" charset="0"/>
                <a:ea typeface="Cambria" panose="02040503050406030204" pitchFamily="18" charset="0"/>
              </a:rPr>
              <a:t>propertyName</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param</a:t>
            </a:r>
            <a:r>
              <a:rPr lang="en-US" sz="2000" dirty="0" smtClean="0">
                <a:latin typeface="Cambria" panose="02040503050406030204" pitchFamily="18" charset="0"/>
                <a:ea typeface="Cambria" panose="02040503050406030204" pitchFamily="18" charset="0"/>
              </a:rPr>
              <a:t>="</a:t>
            </a:r>
            <a:r>
              <a:rPr lang="en-US" sz="2000" dirty="0" err="1" smtClean="0">
                <a:latin typeface="Cambria" panose="02040503050406030204" pitchFamily="18" charset="0"/>
                <a:ea typeface="Cambria" panose="02040503050406030204" pitchFamily="18" charset="0"/>
              </a:rPr>
              <a:t>parameterName</a:t>
            </a:r>
            <a:r>
              <a:rPr lang="en-US" sz="2000" dirty="0" smtClean="0">
                <a:latin typeface="Cambria" panose="02040503050406030204" pitchFamily="18" charset="0"/>
                <a:ea typeface="Cambria" panose="02040503050406030204" pitchFamily="18" charset="0"/>
              </a:rPr>
              <a:t>"  |   </a:t>
            </a:r>
          </a:p>
          <a:p>
            <a:pPr algn="just">
              <a:buNone/>
            </a:pPr>
            <a:r>
              <a:rPr lang="en-US" sz="2000" dirty="0" smtClean="0">
                <a:latin typeface="Cambria" panose="02040503050406030204" pitchFamily="18" charset="0"/>
                <a:ea typeface="Cambria" panose="02040503050406030204" pitchFamily="18" charset="0"/>
              </a:rPr>
              <a:t>property="propertyName" value="{ string}"  /&gt;</a:t>
            </a:r>
            <a:r>
              <a:rPr lang="en-US" dirty="0" smtClean="0">
                <a:latin typeface="Cambria" panose="02040503050406030204" pitchFamily="18" charset="0"/>
                <a:ea typeface="Cambria" panose="02040503050406030204" pitchFamily="18" charset="0"/>
              </a:rPr>
              <a:t>  </a:t>
            </a:r>
          </a:p>
          <a:p>
            <a:pPr algn="just">
              <a:buNone/>
            </a:pPr>
            <a:r>
              <a:rPr lang="en-US" sz="2000" b="1" dirty="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	</a:t>
            </a:r>
            <a:r>
              <a:rPr lang="en-US" sz="2000" b="1" dirty="0">
                <a:latin typeface="Cambria" panose="02040503050406030204" pitchFamily="18" charset="0"/>
                <a:ea typeface="Cambria" panose="02040503050406030204" pitchFamily="18" charset="0"/>
              </a:rPr>
              <a:t>&lt;jsp:setProperty name="bean" property="*" /&gt;  </a:t>
            </a:r>
          </a:p>
          <a:p>
            <a:pPr algn="just">
              <a:buNone/>
            </a:pPr>
            <a:r>
              <a:rPr lang="en-US" sz="2000" b="1" dirty="0" smtClean="0">
                <a:latin typeface="Cambria" panose="02040503050406030204" pitchFamily="18" charset="0"/>
                <a:ea typeface="Cambria" panose="02040503050406030204" pitchFamily="18" charset="0"/>
              </a:rPr>
              <a:t>Syntax </a:t>
            </a:r>
            <a:r>
              <a:rPr lang="en-US" sz="2000" b="1" dirty="0">
                <a:latin typeface="Cambria" panose="02040503050406030204" pitchFamily="18" charset="0"/>
                <a:ea typeface="Cambria" panose="02040503050406030204" pitchFamily="18" charset="0"/>
              </a:rPr>
              <a:t>of jsp: setProperty action tag</a:t>
            </a:r>
          </a:p>
          <a:p>
            <a:pPr algn="just">
              <a:buNone/>
            </a:pPr>
            <a:r>
              <a:rPr lang="en-US" sz="2000" dirty="0" smtClean="0">
                <a:latin typeface="Cambria" panose="02040503050406030204" pitchFamily="18" charset="0"/>
                <a:ea typeface="Cambria" panose="02040503050406030204" pitchFamily="18" charset="0"/>
              </a:rPr>
              <a:t>	&lt;</a:t>
            </a:r>
            <a:r>
              <a:rPr lang="en-US" sz="2000" dirty="0">
                <a:latin typeface="Cambria" panose="02040503050406030204" pitchFamily="18" charset="0"/>
                <a:ea typeface="Cambria" panose="02040503050406030204" pitchFamily="18" charset="0"/>
              </a:rPr>
              <a:t>jsp:getProperty name="instanceOfBean" property="propertyName" /&gt;</a:t>
            </a:r>
          </a:p>
          <a:p>
            <a:pPr algn="just">
              <a:buNone/>
            </a:pPr>
            <a:r>
              <a:rPr lang="en-US" sz="2000" dirty="0" smtClean="0">
                <a:latin typeface="Cambria" panose="02040503050406030204" pitchFamily="18" charset="0"/>
                <a:ea typeface="Cambria" panose="02040503050406030204" pitchFamily="18" charset="0"/>
              </a:rPr>
              <a:t>		</a:t>
            </a:r>
            <a:r>
              <a:rPr lang="en-US" sz="2000" b="1" dirty="0">
                <a:latin typeface="Cambria" panose="02040503050406030204" pitchFamily="18" charset="0"/>
                <a:ea typeface="Cambria" panose="02040503050406030204" pitchFamily="18" charset="0"/>
              </a:rPr>
              <a:t>&lt;jsp:getProperty name="obj" property="name" /&gt; </a:t>
            </a:r>
            <a:endParaRPr lang="en-US" sz="2000" b="1" dirty="0" smtClean="0">
              <a:latin typeface="Cambria" panose="02040503050406030204" pitchFamily="18" charset="0"/>
              <a:ea typeface="Cambria" panose="02040503050406030204" pitchFamily="18" charset="0"/>
            </a:endParaRPr>
          </a:p>
          <a:p>
            <a:pPr algn="just"/>
            <a:endParaRPr lang="en-US" sz="20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112</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112" y="20379"/>
            <a:ext cx="8426152" cy="598472"/>
          </a:xfrm>
        </p:spPr>
        <p:txBody>
          <a:bodyPr/>
          <a:lstStyle/>
          <a:p>
            <a:pPr algn="just"/>
            <a:r>
              <a:rPr lang="en-GB" sz="3600" b="1" dirty="0" smtClean="0">
                <a:latin typeface="Cambria" panose="02040503050406030204" pitchFamily="18" charset="0"/>
                <a:ea typeface="Cambria" panose="02040503050406030204" pitchFamily="18" charset="0"/>
              </a:rPr>
              <a:t/>
            </a:r>
            <a:br>
              <a:rPr lang="en-GB" sz="3600" b="1" dirty="0" smtClean="0">
                <a:latin typeface="Cambria" panose="02040503050406030204" pitchFamily="18" charset="0"/>
                <a:ea typeface="Cambria" panose="02040503050406030204" pitchFamily="18" charset="0"/>
              </a:rPr>
            </a:br>
            <a:r>
              <a:rPr lang="en-GB" sz="3600" b="1" dirty="0" smtClean="0">
                <a:latin typeface="Cambria" panose="02040503050406030204" pitchFamily="18" charset="0"/>
                <a:ea typeface="Cambria" panose="02040503050406030204" pitchFamily="18" charset="0"/>
              </a:rPr>
              <a:t>Example of bean development in JSP</a:t>
            </a:r>
            <a:r>
              <a:rPr lang="en-US" sz="3600" b="1" dirty="0" smtClean="0">
                <a:latin typeface="Cambria" panose="02040503050406030204" pitchFamily="18" charset="0"/>
                <a:ea typeface="Cambria" panose="02040503050406030204" pitchFamily="18" charset="0"/>
              </a:rPr>
              <a:t/>
            </a:r>
            <a:br>
              <a:rPr lang="en-US" sz="3600" b="1" dirty="0" smtClean="0">
                <a:latin typeface="Cambria" panose="02040503050406030204" pitchFamily="18" charset="0"/>
                <a:ea typeface="Cambria" panose="02040503050406030204" pitchFamily="18" charset="0"/>
              </a:rPr>
            </a:br>
            <a:endParaRPr lang="en-US" sz="3600" b="1"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2567608" y="485149"/>
            <a:ext cx="8208912" cy="5320115"/>
          </a:xfrm>
        </p:spPr>
        <p:txBody>
          <a:bodyPr/>
          <a:lstStyle/>
          <a:p>
            <a:pPr>
              <a:spcBef>
                <a:spcPts val="0"/>
              </a:spcBef>
              <a:buNone/>
            </a:pPr>
            <a:r>
              <a:rPr lang="en-US" sz="1900" b="1" u="sng" dirty="0" smtClean="0">
                <a:latin typeface="Cambria" panose="02040503050406030204" pitchFamily="18" charset="0"/>
                <a:ea typeface="Cambria" panose="02040503050406030204" pitchFamily="18" charset="0"/>
              </a:rPr>
              <a:t>index.html</a:t>
            </a:r>
          </a:p>
          <a:p>
            <a:pPr>
              <a:spcBef>
                <a:spcPts val="0"/>
              </a:spcBef>
              <a:buNone/>
            </a:pPr>
            <a:r>
              <a:rPr lang="en-US" sz="1900" dirty="0" smtClean="0">
                <a:latin typeface="Cambria" panose="02040503050406030204" pitchFamily="18" charset="0"/>
                <a:ea typeface="Cambria" panose="02040503050406030204" pitchFamily="18" charset="0"/>
              </a:rPr>
              <a:t>&lt;form action="process.jsp" method="post"&gt;  </a:t>
            </a:r>
          </a:p>
          <a:p>
            <a:pPr>
              <a:spcBef>
                <a:spcPts val="0"/>
              </a:spcBef>
              <a:buNone/>
            </a:pPr>
            <a:r>
              <a:rPr lang="en-US" sz="1900" dirty="0" smtClean="0">
                <a:latin typeface="Cambria" panose="02040503050406030204" pitchFamily="18" charset="0"/>
                <a:ea typeface="Cambria" panose="02040503050406030204" pitchFamily="18" charset="0"/>
              </a:rPr>
              <a:t>Name:&lt;input type="text" name="name"&gt;&lt;</a:t>
            </a:r>
            <a:r>
              <a:rPr lang="en-US" sz="1900" dirty="0" err="1" smtClean="0">
                <a:latin typeface="Cambria" panose="02040503050406030204" pitchFamily="18" charset="0"/>
                <a:ea typeface="Cambria" panose="02040503050406030204" pitchFamily="18" charset="0"/>
              </a:rPr>
              <a:t>br</a:t>
            </a:r>
            <a:r>
              <a:rPr lang="en-US" sz="1900" dirty="0" smtClean="0">
                <a:latin typeface="Cambria" panose="02040503050406030204" pitchFamily="18" charset="0"/>
                <a:ea typeface="Cambria" panose="02040503050406030204" pitchFamily="18" charset="0"/>
              </a:rPr>
              <a:t>&gt;  </a:t>
            </a:r>
          </a:p>
          <a:p>
            <a:pPr>
              <a:spcBef>
                <a:spcPts val="0"/>
              </a:spcBef>
              <a:buNone/>
            </a:pPr>
            <a:r>
              <a:rPr lang="en-US" sz="1900" dirty="0" smtClean="0">
                <a:latin typeface="Cambria" panose="02040503050406030204" pitchFamily="18" charset="0"/>
                <a:ea typeface="Cambria" panose="02040503050406030204" pitchFamily="18" charset="0"/>
              </a:rPr>
              <a:t>Password:&lt;input type="password" name="password"&gt;&lt;</a:t>
            </a:r>
            <a:r>
              <a:rPr lang="en-US" sz="1900" dirty="0" err="1" smtClean="0">
                <a:latin typeface="Cambria" panose="02040503050406030204" pitchFamily="18" charset="0"/>
                <a:ea typeface="Cambria" panose="02040503050406030204" pitchFamily="18" charset="0"/>
              </a:rPr>
              <a:t>br</a:t>
            </a:r>
            <a:r>
              <a:rPr lang="en-US" sz="1900" dirty="0" smtClean="0">
                <a:latin typeface="Cambria" panose="02040503050406030204" pitchFamily="18" charset="0"/>
                <a:ea typeface="Cambria" panose="02040503050406030204" pitchFamily="18" charset="0"/>
              </a:rPr>
              <a:t>&gt;  </a:t>
            </a:r>
          </a:p>
          <a:p>
            <a:pPr>
              <a:spcBef>
                <a:spcPts val="0"/>
              </a:spcBef>
              <a:buNone/>
            </a:pPr>
            <a:r>
              <a:rPr lang="en-US" sz="1900" dirty="0" smtClean="0">
                <a:latin typeface="Cambria" panose="02040503050406030204" pitchFamily="18" charset="0"/>
                <a:ea typeface="Cambria" panose="02040503050406030204" pitchFamily="18" charset="0"/>
              </a:rPr>
              <a:t>Email:&lt;input type="text" name="email"&gt;&lt;</a:t>
            </a:r>
            <a:r>
              <a:rPr lang="en-US" sz="1900" dirty="0" err="1" smtClean="0">
                <a:latin typeface="Cambria" panose="02040503050406030204" pitchFamily="18" charset="0"/>
                <a:ea typeface="Cambria" panose="02040503050406030204" pitchFamily="18" charset="0"/>
              </a:rPr>
              <a:t>br</a:t>
            </a:r>
            <a:r>
              <a:rPr lang="en-US" sz="1900" dirty="0" smtClean="0">
                <a:latin typeface="Cambria" panose="02040503050406030204" pitchFamily="18" charset="0"/>
                <a:ea typeface="Cambria" panose="02040503050406030204" pitchFamily="18" charset="0"/>
              </a:rPr>
              <a:t>&gt;  </a:t>
            </a:r>
          </a:p>
          <a:p>
            <a:pPr>
              <a:spcBef>
                <a:spcPts val="0"/>
              </a:spcBef>
              <a:buNone/>
            </a:pPr>
            <a:r>
              <a:rPr lang="en-US" sz="1900" dirty="0" smtClean="0">
                <a:latin typeface="Cambria" panose="02040503050406030204" pitchFamily="18" charset="0"/>
                <a:ea typeface="Cambria" panose="02040503050406030204" pitchFamily="18" charset="0"/>
              </a:rPr>
              <a:t>&lt;input type="submit" value="register"&gt;  </a:t>
            </a:r>
          </a:p>
          <a:p>
            <a:pPr>
              <a:spcBef>
                <a:spcPts val="0"/>
              </a:spcBef>
              <a:buNone/>
            </a:pPr>
            <a:r>
              <a:rPr lang="en-US" sz="1900" dirty="0" smtClean="0">
                <a:latin typeface="Cambria" panose="02040503050406030204" pitchFamily="18" charset="0"/>
                <a:ea typeface="Cambria" panose="02040503050406030204" pitchFamily="18" charset="0"/>
              </a:rPr>
              <a:t>&lt;/form&gt;  </a:t>
            </a:r>
          </a:p>
          <a:p>
            <a:pPr>
              <a:spcBef>
                <a:spcPts val="0"/>
              </a:spcBef>
              <a:buNone/>
            </a:pPr>
            <a:r>
              <a:rPr lang="en-US" sz="1900" b="1" u="sng" dirty="0" smtClean="0">
                <a:latin typeface="Cambria" panose="02040503050406030204" pitchFamily="18" charset="0"/>
                <a:ea typeface="Cambria" panose="02040503050406030204" pitchFamily="18" charset="0"/>
              </a:rPr>
              <a:t>process.jsp</a:t>
            </a:r>
          </a:p>
          <a:p>
            <a:pPr>
              <a:spcBef>
                <a:spcPts val="0"/>
              </a:spcBef>
              <a:buNone/>
            </a:pPr>
            <a:r>
              <a:rPr lang="en-US" sz="1900" dirty="0" smtClean="0">
                <a:latin typeface="Cambria" panose="02040503050406030204" pitchFamily="18" charset="0"/>
                <a:ea typeface="Cambria" panose="02040503050406030204" pitchFamily="18" charset="0"/>
              </a:rPr>
              <a:t>&lt;jsp:useBean id="u" </a:t>
            </a:r>
            <a:r>
              <a:rPr lang="en-US" sz="1900" b="1" dirty="0" smtClean="0">
                <a:latin typeface="Cambria" panose="02040503050406030204" pitchFamily="18" charset="0"/>
                <a:ea typeface="Cambria" panose="02040503050406030204" pitchFamily="18" charset="0"/>
              </a:rPr>
              <a:t>class</a:t>
            </a:r>
            <a:r>
              <a:rPr lang="en-US" sz="1900" dirty="0" smtClean="0">
                <a:latin typeface="Cambria" panose="02040503050406030204" pitchFamily="18" charset="0"/>
                <a:ea typeface="Cambria" panose="02040503050406030204" pitchFamily="18" charset="0"/>
              </a:rPr>
              <a:t>=“com.pu.User"&gt;&lt;/jsp:useBean&gt;  </a:t>
            </a:r>
          </a:p>
          <a:p>
            <a:pPr>
              <a:spcBef>
                <a:spcPts val="0"/>
              </a:spcBef>
              <a:buNone/>
            </a:pPr>
            <a:r>
              <a:rPr lang="en-US" sz="1900" dirty="0" smtClean="0">
                <a:latin typeface="Cambria" panose="02040503050406030204" pitchFamily="18" charset="0"/>
                <a:ea typeface="Cambria" panose="02040503050406030204" pitchFamily="18" charset="0"/>
              </a:rPr>
              <a:t>&lt;jsp:setProperty property="*" name="u"/&gt;    </a:t>
            </a:r>
          </a:p>
          <a:p>
            <a:pPr>
              <a:spcBef>
                <a:spcPts val="0"/>
              </a:spcBef>
              <a:buNone/>
            </a:pPr>
            <a:r>
              <a:rPr lang="en-US" sz="1900" dirty="0" smtClean="0">
                <a:latin typeface="Cambria" panose="02040503050406030204" pitchFamily="18" charset="0"/>
                <a:ea typeface="Cambria" panose="02040503050406030204" pitchFamily="18" charset="0"/>
              </a:rPr>
              <a:t>Record:&lt;</a:t>
            </a:r>
            <a:r>
              <a:rPr lang="en-US" sz="1900" dirty="0" err="1" smtClean="0">
                <a:latin typeface="Cambria" panose="02040503050406030204" pitchFamily="18" charset="0"/>
                <a:ea typeface="Cambria" panose="02040503050406030204" pitchFamily="18" charset="0"/>
              </a:rPr>
              <a:t>br</a:t>
            </a:r>
            <a:r>
              <a:rPr lang="en-US" sz="1900" dirty="0" smtClean="0">
                <a:latin typeface="Cambria" panose="02040503050406030204" pitchFamily="18" charset="0"/>
                <a:ea typeface="Cambria" panose="02040503050406030204" pitchFamily="18" charset="0"/>
              </a:rPr>
              <a:t>&gt;  </a:t>
            </a:r>
          </a:p>
          <a:p>
            <a:pPr>
              <a:spcBef>
                <a:spcPts val="0"/>
              </a:spcBef>
              <a:buNone/>
            </a:pPr>
            <a:r>
              <a:rPr lang="en-US" sz="1900" dirty="0" smtClean="0">
                <a:latin typeface="Cambria" panose="02040503050406030204" pitchFamily="18" charset="0"/>
                <a:ea typeface="Cambria" panose="02040503050406030204" pitchFamily="18" charset="0"/>
              </a:rPr>
              <a:t>&lt;</a:t>
            </a:r>
            <a:r>
              <a:rPr lang="en-US" sz="1900" dirty="0" err="1" smtClean="0">
                <a:latin typeface="Cambria" panose="02040503050406030204" pitchFamily="18" charset="0"/>
                <a:ea typeface="Cambria" panose="02040503050406030204" pitchFamily="18" charset="0"/>
              </a:rPr>
              <a:t>jsp:getProperty</a:t>
            </a:r>
            <a:r>
              <a:rPr lang="en-US" sz="1900" dirty="0" smtClean="0">
                <a:latin typeface="Cambria" panose="02040503050406030204" pitchFamily="18" charset="0"/>
                <a:ea typeface="Cambria" panose="02040503050406030204" pitchFamily="18" charset="0"/>
              </a:rPr>
              <a:t> property="name" name="u"/&gt;&lt;</a:t>
            </a:r>
            <a:r>
              <a:rPr lang="en-US" sz="1900" dirty="0" err="1" smtClean="0">
                <a:latin typeface="Cambria" panose="02040503050406030204" pitchFamily="18" charset="0"/>
                <a:ea typeface="Cambria" panose="02040503050406030204" pitchFamily="18" charset="0"/>
              </a:rPr>
              <a:t>br</a:t>
            </a:r>
            <a:r>
              <a:rPr lang="en-US" sz="1900" dirty="0" smtClean="0">
                <a:latin typeface="Cambria" panose="02040503050406030204" pitchFamily="18" charset="0"/>
                <a:ea typeface="Cambria" panose="02040503050406030204" pitchFamily="18" charset="0"/>
              </a:rPr>
              <a:t>&gt;  </a:t>
            </a:r>
          </a:p>
          <a:p>
            <a:pPr>
              <a:spcBef>
                <a:spcPts val="0"/>
              </a:spcBef>
              <a:buNone/>
            </a:pPr>
            <a:r>
              <a:rPr lang="en-US" sz="1900" dirty="0" smtClean="0">
                <a:latin typeface="Cambria" panose="02040503050406030204" pitchFamily="18" charset="0"/>
                <a:ea typeface="Cambria" panose="02040503050406030204" pitchFamily="18" charset="0"/>
              </a:rPr>
              <a:t>&lt;</a:t>
            </a:r>
            <a:r>
              <a:rPr lang="en-US" sz="1900" dirty="0" err="1" smtClean="0">
                <a:latin typeface="Cambria" panose="02040503050406030204" pitchFamily="18" charset="0"/>
                <a:ea typeface="Cambria" panose="02040503050406030204" pitchFamily="18" charset="0"/>
              </a:rPr>
              <a:t>jsp:getProperty</a:t>
            </a:r>
            <a:r>
              <a:rPr lang="en-US" sz="1900" dirty="0" smtClean="0">
                <a:latin typeface="Cambria" panose="02040503050406030204" pitchFamily="18" charset="0"/>
                <a:ea typeface="Cambria" panose="02040503050406030204" pitchFamily="18" charset="0"/>
              </a:rPr>
              <a:t> property="password" name="u"/&gt;&lt;</a:t>
            </a:r>
            <a:r>
              <a:rPr lang="en-US" sz="1900" dirty="0" err="1" smtClean="0">
                <a:latin typeface="Cambria" panose="02040503050406030204" pitchFamily="18" charset="0"/>
                <a:ea typeface="Cambria" panose="02040503050406030204" pitchFamily="18" charset="0"/>
              </a:rPr>
              <a:t>br</a:t>
            </a:r>
            <a:r>
              <a:rPr lang="en-US" sz="1900" dirty="0" smtClean="0">
                <a:latin typeface="Cambria" panose="02040503050406030204" pitchFamily="18" charset="0"/>
                <a:ea typeface="Cambria" panose="02040503050406030204" pitchFamily="18" charset="0"/>
              </a:rPr>
              <a:t>&gt;  </a:t>
            </a:r>
          </a:p>
          <a:p>
            <a:pPr>
              <a:spcBef>
                <a:spcPts val="0"/>
              </a:spcBef>
              <a:buNone/>
            </a:pPr>
            <a:r>
              <a:rPr lang="en-US" sz="1900" dirty="0" smtClean="0">
                <a:latin typeface="Cambria" panose="02040503050406030204" pitchFamily="18" charset="0"/>
                <a:ea typeface="Cambria" panose="02040503050406030204" pitchFamily="18" charset="0"/>
              </a:rPr>
              <a:t>&lt;</a:t>
            </a:r>
            <a:r>
              <a:rPr lang="en-US" sz="1900" dirty="0" err="1" smtClean="0">
                <a:latin typeface="Cambria" panose="02040503050406030204" pitchFamily="18" charset="0"/>
                <a:ea typeface="Cambria" panose="02040503050406030204" pitchFamily="18" charset="0"/>
              </a:rPr>
              <a:t>jsp:getProperty</a:t>
            </a:r>
            <a:r>
              <a:rPr lang="en-US" sz="1900" dirty="0" smtClean="0">
                <a:latin typeface="Cambria" panose="02040503050406030204" pitchFamily="18" charset="0"/>
                <a:ea typeface="Cambria" panose="02040503050406030204" pitchFamily="18" charset="0"/>
              </a:rPr>
              <a:t> property="email" name="u" /&gt;&lt;</a:t>
            </a:r>
            <a:r>
              <a:rPr lang="en-US" sz="1900" dirty="0" err="1" smtClean="0">
                <a:latin typeface="Cambria" panose="02040503050406030204" pitchFamily="18" charset="0"/>
                <a:ea typeface="Cambria" panose="02040503050406030204" pitchFamily="18" charset="0"/>
              </a:rPr>
              <a:t>br</a:t>
            </a:r>
            <a:r>
              <a:rPr lang="en-US" sz="1900" dirty="0" smtClean="0">
                <a:latin typeface="Cambria" panose="02040503050406030204" pitchFamily="18" charset="0"/>
                <a:ea typeface="Cambria" panose="02040503050406030204" pitchFamily="18" charset="0"/>
              </a:rPr>
              <a:t>&gt;  </a:t>
            </a:r>
          </a:p>
          <a:p>
            <a:pPr>
              <a:spcBef>
                <a:spcPts val="0"/>
              </a:spcBef>
              <a:buNone/>
            </a:pPr>
            <a:r>
              <a:rPr lang="en-US" sz="1900" b="1" u="sng" dirty="0" smtClean="0">
                <a:latin typeface="Cambria" panose="02040503050406030204" pitchFamily="18" charset="0"/>
                <a:ea typeface="Cambria" panose="02040503050406030204" pitchFamily="18" charset="0"/>
              </a:rPr>
              <a:t>User.java</a:t>
            </a:r>
          </a:p>
          <a:p>
            <a:pPr>
              <a:spcBef>
                <a:spcPts val="0"/>
              </a:spcBef>
              <a:buNone/>
            </a:pPr>
            <a:r>
              <a:rPr lang="en-US" sz="1900" b="1" dirty="0" smtClean="0">
                <a:latin typeface="Cambria" panose="02040503050406030204" pitchFamily="18" charset="0"/>
                <a:ea typeface="Cambria" panose="02040503050406030204" pitchFamily="18" charset="0"/>
              </a:rPr>
              <a:t>package</a:t>
            </a:r>
            <a:r>
              <a:rPr lang="en-US" sz="1900" dirty="0" smtClean="0">
                <a:latin typeface="Cambria" panose="02040503050406030204" pitchFamily="18" charset="0"/>
                <a:ea typeface="Cambria" panose="02040503050406030204" pitchFamily="18" charset="0"/>
              </a:rPr>
              <a:t> </a:t>
            </a:r>
            <a:r>
              <a:rPr lang="en-US" sz="1900" dirty="0" err="1" smtClean="0">
                <a:latin typeface="Cambria" panose="02040503050406030204" pitchFamily="18" charset="0"/>
                <a:ea typeface="Cambria" panose="02040503050406030204" pitchFamily="18" charset="0"/>
              </a:rPr>
              <a:t>org.sssit</a:t>
            </a:r>
            <a:r>
              <a:rPr lang="en-US" sz="1900" dirty="0" smtClean="0">
                <a:latin typeface="Cambria" panose="02040503050406030204" pitchFamily="18" charset="0"/>
                <a:ea typeface="Cambria" panose="02040503050406030204" pitchFamily="18" charset="0"/>
              </a:rPr>
              <a:t>;  </a:t>
            </a:r>
          </a:p>
          <a:p>
            <a:pPr>
              <a:spcBef>
                <a:spcPts val="0"/>
              </a:spcBef>
              <a:buNone/>
            </a:pPr>
            <a:r>
              <a:rPr lang="en-US" sz="1900" b="1" dirty="0" smtClean="0">
                <a:latin typeface="Cambria" panose="02040503050406030204" pitchFamily="18" charset="0"/>
                <a:ea typeface="Cambria" panose="02040503050406030204" pitchFamily="18" charset="0"/>
              </a:rPr>
              <a:t>public</a:t>
            </a:r>
            <a:r>
              <a:rPr lang="en-US" sz="1900" dirty="0" smtClean="0">
                <a:latin typeface="Cambria" panose="02040503050406030204" pitchFamily="18" charset="0"/>
                <a:ea typeface="Cambria" panose="02040503050406030204" pitchFamily="18" charset="0"/>
              </a:rPr>
              <a:t> </a:t>
            </a:r>
            <a:r>
              <a:rPr lang="en-US" sz="1900" b="1" dirty="0" smtClean="0">
                <a:latin typeface="Cambria" panose="02040503050406030204" pitchFamily="18" charset="0"/>
                <a:ea typeface="Cambria" panose="02040503050406030204" pitchFamily="18" charset="0"/>
              </a:rPr>
              <a:t>class</a:t>
            </a:r>
            <a:r>
              <a:rPr lang="en-US" sz="1900" dirty="0" smtClean="0">
                <a:latin typeface="Cambria" panose="02040503050406030204" pitchFamily="18" charset="0"/>
                <a:ea typeface="Cambria" panose="02040503050406030204" pitchFamily="18" charset="0"/>
              </a:rPr>
              <a:t> User {  </a:t>
            </a:r>
          </a:p>
          <a:p>
            <a:pPr>
              <a:spcBef>
                <a:spcPts val="0"/>
              </a:spcBef>
              <a:buNone/>
            </a:pPr>
            <a:r>
              <a:rPr lang="en-US" sz="1900" b="1" dirty="0" smtClean="0">
                <a:latin typeface="Cambria" panose="02040503050406030204" pitchFamily="18" charset="0"/>
                <a:ea typeface="Cambria" panose="02040503050406030204" pitchFamily="18" charset="0"/>
              </a:rPr>
              <a:t>private</a:t>
            </a:r>
            <a:r>
              <a:rPr lang="en-US" sz="1900" dirty="0" smtClean="0">
                <a:latin typeface="Cambria" panose="02040503050406030204" pitchFamily="18" charset="0"/>
                <a:ea typeface="Cambria" panose="02040503050406030204" pitchFamily="18" charset="0"/>
              </a:rPr>
              <a:t> String </a:t>
            </a:r>
            <a:r>
              <a:rPr lang="en-US" sz="1900" dirty="0" err="1" smtClean="0">
                <a:latin typeface="Cambria" panose="02040503050406030204" pitchFamily="18" charset="0"/>
                <a:ea typeface="Cambria" panose="02040503050406030204" pitchFamily="18" charset="0"/>
              </a:rPr>
              <a:t>name,password,email</a:t>
            </a:r>
            <a:r>
              <a:rPr lang="en-US" sz="1900" dirty="0" smtClean="0">
                <a:latin typeface="Cambria" panose="02040503050406030204" pitchFamily="18" charset="0"/>
                <a:ea typeface="Cambria" panose="02040503050406030204" pitchFamily="18" charset="0"/>
              </a:rPr>
              <a:t>;  </a:t>
            </a:r>
          </a:p>
          <a:p>
            <a:pPr>
              <a:spcBef>
                <a:spcPts val="0"/>
              </a:spcBef>
              <a:buNone/>
            </a:pPr>
            <a:r>
              <a:rPr lang="en-US" sz="1900" dirty="0" smtClean="0">
                <a:latin typeface="Cambria" panose="02040503050406030204" pitchFamily="18" charset="0"/>
                <a:ea typeface="Cambria" panose="02040503050406030204" pitchFamily="18" charset="0"/>
              </a:rPr>
              <a:t>//setters and getters  </a:t>
            </a:r>
          </a:p>
          <a:p>
            <a:pPr>
              <a:spcBef>
                <a:spcPts val="0"/>
              </a:spcBef>
              <a:buNone/>
            </a:pPr>
            <a:r>
              <a:rPr lang="en-US" sz="1900" dirty="0" smtClean="0">
                <a:latin typeface="Cambria" panose="02040503050406030204" pitchFamily="18" charset="0"/>
                <a:ea typeface="Cambria" panose="02040503050406030204" pitchFamily="18" charset="0"/>
              </a:rPr>
              <a:t>}  </a:t>
            </a:r>
          </a:p>
          <a:p>
            <a:endParaRPr lang="en-US" sz="19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113</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2900"/>
            <a:ext cx="10515600" cy="563545"/>
          </a:xfrm>
        </p:spPr>
        <p:txBody>
          <a:bodyPr/>
          <a:lstStyle/>
          <a:p>
            <a:r>
              <a:rPr lang="en-US" sz="4000" b="1" dirty="0" smtClean="0">
                <a:solidFill>
                  <a:schemeClr val="accent5"/>
                </a:solidFill>
                <a:latin typeface="Cambria" panose="02040503050406030204" pitchFamily="18" charset="0"/>
                <a:ea typeface="Cambria" panose="02040503050406030204" pitchFamily="18" charset="0"/>
              </a:rPr>
              <a:t/>
            </a:r>
            <a:br>
              <a:rPr lang="en-US" sz="4000" b="1" dirty="0" smtClean="0">
                <a:solidFill>
                  <a:schemeClr val="accent5"/>
                </a:solidFill>
                <a:latin typeface="Cambria" panose="02040503050406030204" pitchFamily="18" charset="0"/>
                <a:ea typeface="Cambria" panose="02040503050406030204" pitchFamily="18" charset="0"/>
              </a:rPr>
            </a:br>
            <a:r>
              <a:rPr lang="en-US" sz="4000" b="1" dirty="0" smtClean="0">
                <a:solidFill>
                  <a:schemeClr val="accent5"/>
                </a:solidFill>
                <a:latin typeface="Cambria" panose="02040503050406030204" pitchFamily="18" charset="0"/>
                <a:ea typeface="Cambria" panose="02040503050406030204" pitchFamily="18" charset="0"/>
              </a:rPr>
              <a:t>MVC</a:t>
            </a:r>
            <a:br>
              <a:rPr lang="en-US" sz="4000" b="1" dirty="0" smtClean="0">
                <a:solidFill>
                  <a:schemeClr val="accent5"/>
                </a:solidFill>
                <a:latin typeface="Cambria" panose="02040503050406030204" pitchFamily="18" charset="0"/>
                <a:ea typeface="Cambria" panose="02040503050406030204" pitchFamily="18" charset="0"/>
              </a:rPr>
            </a:br>
            <a:endParaRPr lang="en-US" sz="40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335360" y="666497"/>
            <a:ext cx="11449272" cy="4202663"/>
          </a:xfrm>
        </p:spPr>
        <p:txBody>
          <a:bodyPr/>
          <a:lstStyle/>
          <a:p>
            <a:pPr algn="just"/>
            <a:r>
              <a:rPr lang="en-GB" sz="2400" b="1" dirty="0" smtClean="0">
                <a:latin typeface="Cambria" panose="02040503050406030204" pitchFamily="18" charset="0"/>
                <a:ea typeface="Cambria" panose="02040503050406030204" pitchFamily="18" charset="0"/>
              </a:rPr>
              <a:t>MVC</a:t>
            </a:r>
            <a:r>
              <a:rPr lang="en-GB" sz="2400" dirty="0" smtClean="0">
                <a:latin typeface="Cambria" panose="02040503050406030204" pitchFamily="18" charset="0"/>
                <a:ea typeface="Cambria" panose="02040503050406030204" pitchFamily="18" charset="0"/>
              </a:rPr>
              <a:t> stands for Model View and Controller. It is a </a:t>
            </a:r>
            <a:r>
              <a:rPr lang="en-GB" sz="2400" b="1" dirty="0" smtClean="0">
                <a:latin typeface="Cambria" panose="02040503050406030204" pitchFamily="18" charset="0"/>
                <a:ea typeface="Cambria" panose="02040503050406030204" pitchFamily="18" charset="0"/>
              </a:rPr>
              <a:t>design pattern</a:t>
            </a:r>
            <a:r>
              <a:rPr lang="en-GB" sz="2400" dirty="0" smtClean="0">
                <a:latin typeface="Cambria" panose="02040503050406030204" pitchFamily="18" charset="0"/>
                <a:ea typeface="Cambria" panose="02040503050406030204" pitchFamily="18" charset="0"/>
              </a:rPr>
              <a:t> that separates the business logic, presentation logic and data.</a:t>
            </a:r>
          </a:p>
          <a:p>
            <a:pPr algn="just"/>
            <a:r>
              <a:rPr lang="en-GB" sz="2400" b="1" dirty="0" smtClean="0">
                <a:latin typeface="Cambria" panose="02040503050406030204" pitchFamily="18" charset="0"/>
                <a:ea typeface="Cambria" panose="02040503050406030204" pitchFamily="18" charset="0"/>
              </a:rPr>
              <a:t>Controller</a:t>
            </a:r>
            <a:r>
              <a:rPr lang="en-GB" sz="2400" dirty="0" smtClean="0">
                <a:latin typeface="Cambria" panose="02040503050406030204" pitchFamily="18" charset="0"/>
                <a:ea typeface="Cambria" panose="02040503050406030204" pitchFamily="18" charset="0"/>
              </a:rPr>
              <a:t> acts as an interface between View and Model. Controller intercepts all the incoming requests.</a:t>
            </a:r>
          </a:p>
          <a:p>
            <a:pPr algn="just"/>
            <a:r>
              <a:rPr lang="en-GB" sz="2400" b="1" dirty="0" smtClean="0">
                <a:latin typeface="Cambria" panose="02040503050406030204" pitchFamily="18" charset="0"/>
                <a:ea typeface="Cambria" panose="02040503050406030204" pitchFamily="18" charset="0"/>
              </a:rPr>
              <a:t>Model</a:t>
            </a:r>
            <a:r>
              <a:rPr lang="en-GB" sz="2400" dirty="0" smtClean="0">
                <a:latin typeface="Cambria" panose="02040503050406030204" pitchFamily="18" charset="0"/>
                <a:ea typeface="Cambria" panose="02040503050406030204" pitchFamily="18" charset="0"/>
              </a:rPr>
              <a:t> represents the state of the application i.e. data. It can also have business logic.</a:t>
            </a:r>
          </a:p>
          <a:p>
            <a:pPr algn="just"/>
            <a:r>
              <a:rPr lang="en-GB" sz="2400" b="1" dirty="0" smtClean="0">
                <a:latin typeface="Cambria" panose="02040503050406030204" pitchFamily="18" charset="0"/>
                <a:ea typeface="Cambria" panose="02040503050406030204" pitchFamily="18" charset="0"/>
              </a:rPr>
              <a:t>View</a:t>
            </a:r>
            <a:r>
              <a:rPr lang="en-GB" sz="2400" dirty="0" smtClean="0">
                <a:latin typeface="Cambria" panose="02040503050406030204" pitchFamily="18" charset="0"/>
                <a:ea typeface="Cambria" panose="02040503050406030204" pitchFamily="18" charset="0"/>
              </a:rPr>
              <a:t> represents the Presentation i.e. UI(User Interface).</a:t>
            </a:r>
          </a:p>
          <a:p>
            <a:pPr algn="just"/>
            <a:r>
              <a:rPr lang="en-GB" sz="2400" dirty="0" smtClean="0">
                <a:latin typeface="Cambria" panose="02040503050406030204" pitchFamily="18" charset="0"/>
                <a:ea typeface="Cambria" panose="02040503050406030204" pitchFamily="18" charset="0"/>
              </a:rPr>
              <a:t>Advantage of MVC</a:t>
            </a:r>
          </a:p>
          <a:p>
            <a:pPr marL="514350" indent="-514350" algn="just">
              <a:buFont typeface="+mj-lt"/>
              <a:buAutoNum type="arabicPeriod"/>
            </a:pPr>
            <a:r>
              <a:rPr lang="en-GB" sz="2400" dirty="0" smtClean="0">
                <a:latin typeface="Cambria" panose="02040503050406030204" pitchFamily="18" charset="0"/>
                <a:ea typeface="Cambria" panose="02040503050406030204" pitchFamily="18" charset="0"/>
              </a:rPr>
              <a:t>Navigation Control is centralized</a:t>
            </a:r>
          </a:p>
          <a:p>
            <a:pPr marL="514350" indent="-514350" algn="just">
              <a:buFont typeface="+mj-lt"/>
              <a:buAutoNum type="arabicPeriod"/>
            </a:pPr>
            <a:r>
              <a:rPr lang="en-GB" sz="2400" dirty="0" smtClean="0">
                <a:latin typeface="Cambria" panose="02040503050406030204" pitchFamily="18" charset="0"/>
                <a:ea typeface="Cambria" panose="02040503050406030204" pitchFamily="18" charset="0"/>
              </a:rPr>
              <a:t>Easy to maintain the large application</a:t>
            </a:r>
            <a:endParaRPr lang="en-GB" sz="24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114</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782" y="49353"/>
            <a:ext cx="5545832" cy="615603"/>
          </a:xfrm>
        </p:spPr>
        <p:txBody>
          <a:bodyPr/>
          <a:lstStyle/>
          <a:p>
            <a:r>
              <a:rPr lang="en-GB" sz="4000" b="1" dirty="0" smtClean="0">
                <a:solidFill>
                  <a:schemeClr val="accent5"/>
                </a:solidFill>
                <a:latin typeface="Cambria" panose="02040503050406030204" pitchFamily="18" charset="0"/>
                <a:ea typeface="Cambria" panose="02040503050406030204" pitchFamily="18" charset="0"/>
              </a:rPr>
              <a:t>Model 1 Architecture</a:t>
            </a:r>
            <a:endParaRPr lang="en-US" sz="4000" b="1" dirty="0">
              <a:solidFill>
                <a:schemeClr val="accent5"/>
              </a:solidFill>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115</a:t>
            </a:fld>
            <a:endParaRPr lang="en-US" altLang="en-US">
              <a:latin typeface="Cambria" panose="02040503050406030204" pitchFamily="18" charset="0"/>
              <a:ea typeface="Cambria" panose="02040503050406030204" pitchFamily="18" charset="0"/>
            </a:endParaRPr>
          </a:p>
        </p:txBody>
      </p:sp>
      <p:pic>
        <p:nvPicPr>
          <p:cNvPr id="5" name="Content Placeholder 4" descr="model 1 architecture"/>
          <p:cNvPicPr>
            <a:picLocks noGrp="1"/>
          </p:cNvPicPr>
          <p:nvPr>
            <p:ph idx="1"/>
          </p:nvPr>
        </p:nvPicPr>
        <p:blipFill>
          <a:blip r:embed="rId2"/>
          <a:srcRect/>
          <a:stretch>
            <a:fillRect/>
          </a:stretch>
        </p:blipFill>
        <p:spPr bwMode="auto">
          <a:xfrm>
            <a:off x="407368" y="850319"/>
            <a:ext cx="4629150" cy="1571625"/>
          </a:xfrm>
          <a:prstGeom prst="rect">
            <a:avLst/>
          </a:prstGeom>
          <a:noFill/>
          <a:ln w="9525">
            <a:noFill/>
            <a:miter lim="800000"/>
            <a:headEnd/>
            <a:tailEnd/>
          </a:ln>
        </p:spPr>
      </p:pic>
      <p:sp>
        <p:nvSpPr>
          <p:cNvPr id="6" name="Rectangle 5"/>
          <p:cNvSpPr/>
          <p:nvPr/>
        </p:nvSpPr>
        <p:spPr>
          <a:xfrm>
            <a:off x="5735960" y="922516"/>
            <a:ext cx="6168008" cy="1200329"/>
          </a:xfrm>
          <a:prstGeom prst="rect">
            <a:avLst/>
          </a:prstGeom>
        </p:spPr>
        <p:txBody>
          <a:bodyPr wrap="square">
            <a:spAutoFit/>
          </a:bodyPr>
          <a:lstStyle/>
          <a:p>
            <a:pPr marL="342900" indent="-342900" algn="just">
              <a:buFont typeface="+mj-lt"/>
              <a:buAutoNum type="arabicPeriod"/>
            </a:pPr>
            <a:r>
              <a:rPr lang="en-GB" dirty="0" smtClean="0">
                <a:latin typeface="Cambria" panose="02040503050406030204" pitchFamily="18" charset="0"/>
                <a:ea typeface="Cambria" panose="02040503050406030204" pitchFamily="18" charset="0"/>
              </a:rPr>
              <a:t>Browser sends request for the JSP page</a:t>
            </a:r>
          </a:p>
          <a:p>
            <a:pPr marL="342900" indent="-342900" algn="just">
              <a:buFont typeface="+mj-lt"/>
              <a:buAutoNum type="arabicPeriod"/>
            </a:pPr>
            <a:r>
              <a:rPr lang="en-GB" dirty="0" smtClean="0">
                <a:latin typeface="Cambria" panose="02040503050406030204" pitchFamily="18" charset="0"/>
                <a:ea typeface="Cambria" panose="02040503050406030204" pitchFamily="18" charset="0"/>
              </a:rPr>
              <a:t>JSP accesses Java Bean and invokes business logic</a:t>
            </a:r>
          </a:p>
          <a:p>
            <a:pPr marL="342900" indent="-342900" algn="just">
              <a:buFont typeface="+mj-lt"/>
              <a:buAutoNum type="arabicPeriod"/>
            </a:pPr>
            <a:r>
              <a:rPr lang="en-GB" dirty="0" smtClean="0">
                <a:latin typeface="Cambria" panose="02040503050406030204" pitchFamily="18" charset="0"/>
                <a:ea typeface="Cambria" panose="02040503050406030204" pitchFamily="18" charset="0"/>
              </a:rPr>
              <a:t>Java Bean connects to the database and get/save data</a:t>
            </a:r>
          </a:p>
          <a:p>
            <a:pPr marL="342900" indent="-342900" algn="just">
              <a:buFont typeface="+mj-lt"/>
              <a:buAutoNum type="arabicPeriod"/>
            </a:pPr>
            <a:r>
              <a:rPr lang="en-GB" dirty="0" smtClean="0">
                <a:latin typeface="Cambria" panose="02040503050406030204" pitchFamily="18" charset="0"/>
                <a:ea typeface="Cambria" panose="02040503050406030204" pitchFamily="18" charset="0"/>
              </a:rPr>
              <a:t>Response is sent to the browser which is generated by JSP</a:t>
            </a:r>
            <a:endParaRPr lang="en-GB" dirty="0">
              <a:latin typeface="Cambria" panose="02040503050406030204" pitchFamily="18" charset="0"/>
              <a:ea typeface="Cambria" panose="02040503050406030204" pitchFamily="18" charset="0"/>
            </a:endParaRPr>
          </a:p>
        </p:txBody>
      </p:sp>
      <p:sp>
        <p:nvSpPr>
          <p:cNvPr id="7" name="Rectangle 6"/>
          <p:cNvSpPr/>
          <p:nvPr/>
        </p:nvSpPr>
        <p:spPr>
          <a:xfrm>
            <a:off x="558757" y="2924944"/>
            <a:ext cx="4499881" cy="646331"/>
          </a:xfrm>
          <a:prstGeom prst="rect">
            <a:avLst/>
          </a:prstGeom>
        </p:spPr>
        <p:txBody>
          <a:bodyPr wrap="square">
            <a:spAutoFit/>
          </a:bodyPr>
          <a:lstStyle/>
          <a:p>
            <a:r>
              <a:rPr lang="en-GB" dirty="0" smtClean="0">
                <a:latin typeface="Cambria" panose="02040503050406030204" pitchFamily="18" charset="0"/>
                <a:ea typeface="Cambria" panose="02040503050406030204" pitchFamily="18" charset="0"/>
              </a:rPr>
              <a:t>Advantage of Model 1 Architecture</a:t>
            </a:r>
          </a:p>
          <a:p>
            <a:r>
              <a:rPr lang="en-GB" dirty="0" smtClean="0">
                <a:latin typeface="Cambria" panose="02040503050406030204" pitchFamily="18" charset="0"/>
                <a:ea typeface="Cambria" panose="02040503050406030204" pitchFamily="18" charset="0"/>
              </a:rPr>
              <a:t>Easy and Quick to develop web application</a:t>
            </a:r>
            <a:endParaRPr lang="en-GB" dirty="0">
              <a:latin typeface="Cambria" panose="02040503050406030204" pitchFamily="18" charset="0"/>
              <a:ea typeface="Cambria" panose="02040503050406030204" pitchFamily="18" charset="0"/>
            </a:endParaRPr>
          </a:p>
        </p:txBody>
      </p:sp>
      <p:sp>
        <p:nvSpPr>
          <p:cNvPr id="8" name="Rectangle 7"/>
          <p:cNvSpPr/>
          <p:nvPr/>
        </p:nvSpPr>
        <p:spPr>
          <a:xfrm>
            <a:off x="5478252" y="2453320"/>
            <a:ext cx="6264696" cy="2585323"/>
          </a:xfrm>
          <a:prstGeom prst="rect">
            <a:avLst/>
          </a:prstGeom>
        </p:spPr>
        <p:txBody>
          <a:bodyPr wrap="square">
            <a:spAutoFit/>
          </a:bodyPr>
          <a:lstStyle/>
          <a:p>
            <a:pPr algn="just"/>
            <a:r>
              <a:rPr lang="en-GB" dirty="0" smtClean="0">
                <a:latin typeface="Cambria" panose="02040503050406030204" pitchFamily="18" charset="0"/>
                <a:ea typeface="Cambria" panose="02040503050406030204" pitchFamily="18" charset="0"/>
              </a:rPr>
              <a:t>Disadvantage of Model 1 Architecture</a:t>
            </a:r>
          </a:p>
          <a:p>
            <a:pPr algn="just"/>
            <a:r>
              <a:rPr lang="en-GB" b="1" dirty="0" smtClean="0">
                <a:latin typeface="Cambria" panose="02040503050406030204" pitchFamily="18" charset="0"/>
                <a:ea typeface="Cambria" panose="02040503050406030204" pitchFamily="18" charset="0"/>
              </a:rPr>
              <a:t>Navigation control is decentralized</a:t>
            </a:r>
            <a:r>
              <a:rPr lang="en-GB" dirty="0" smtClean="0">
                <a:latin typeface="Cambria" panose="02040503050406030204" pitchFamily="18" charset="0"/>
                <a:ea typeface="Cambria" panose="02040503050406030204" pitchFamily="18" charset="0"/>
              </a:rPr>
              <a:t> since every page contains the logic to determine the next page. If JSP page name is changed that is referred by other pages, we need to change it in all the pages that leads to the maintenance problem.</a:t>
            </a:r>
          </a:p>
          <a:p>
            <a:pPr algn="just"/>
            <a:r>
              <a:rPr lang="en-GB" b="1" dirty="0" smtClean="0">
                <a:latin typeface="Cambria" panose="02040503050406030204" pitchFamily="18" charset="0"/>
                <a:ea typeface="Cambria" panose="02040503050406030204" pitchFamily="18" charset="0"/>
              </a:rPr>
              <a:t>Time consuming</a:t>
            </a:r>
            <a:r>
              <a:rPr lang="en-GB" dirty="0" smtClean="0">
                <a:latin typeface="Cambria" panose="02040503050406030204" pitchFamily="18" charset="0"/>
                <a:ea typeface="Cambria" panose="02040503050406030204" pitchFamily="18" charset="0"/>
              </a:rPr>
              <a:t> You need to spend more time to develop custom tags in JSP. So that we don't need to use </a:t>
            </a:r>
            <a:r>
              <a:rPr lang="en-GB" dirty="0" err="1" smtClean="0">
                <a:latin typeface="Cambria" panose="02040503050406030204" pitchFamily="18" charset="0"/>
                <a:ea typeface="Cambria" panose="02040503050406030204" pitchFamily="18" charset="0"/>
              </a:rPr>
              <a:t>scriptlet</a:t>
            </a:r>
            <a:r>
              <a:rPr lang="en-GB" dirty="0" smtClean="0">
                <a:latin typeface="Cambria" panose="02040503050406030204" pitchFamily="18" charset="0"/>
                <a:ea typeface="Cambria" panose="02040503050406030204" pitchFamily="18" charset="0"/>
              </a:rPr>
              <a:t> tag.</a:t>
            </a:r>
          </a:p>
          <a:p>
            <a:pPr algn="just"/>
            <a:r>
              <a:rPr lang="en-GB" b="1" dirty="0" smtClean="0">
                <a:latin typeface="Cambria" panose="02040503050406030204" pitchFamily="18" charset="0"/>
                <a:ea typeface="Cambria" panose="02040503050406030204" pitchFamily="18" charset="0"/>
              </a:rPr>
              <a:t>Hard to extend</a:t>
            </a:r>
            <a:r>
              <a:rPr lang="en-GB" dirty="0" smtClean="0">
                <a:latin typeface="Cambria" panose="02040503050406030204" pitchFamily="18" charset="0"/>
                <a:ea typeface="Cambria" panose="02040503050406030204" pitchFamily="18" charset="0"/>
              </a:rPr>
              <a:t> It is better for small applications but not for large applications.</a:t>
            </a:r>
            <a:endParaRPr lang="en-GB"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345402691"/>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383" y="13133"/>
            <a:ext cx="6193904" cy="589805"/>
          </a:xfrm>
        </p:spPr>
        <p:txBody>
          <a:bodyPr/>
          <a:lstStyle/>
          <a:p>
            <a:r>
              <a:rPr lang="en-GB" sz="4000" b="1" dirty="0" smtClean="0">
                <a:solidFill>
                  <a:schemeClr val="accent5"/>
                </a:solidFill>
                <a:latin typeface="Cambria" panose="02040503050406030204" pitchFamily="18" charset="0"/>
                <a:ea typeface="Cambria" panose="02040503050406030204" pitchFamily="18" charset="0"/>
              </a:rPr>
              <a:t>(Model 2) Architecture</a:t>
            </a:r>
            <a:endParaRPr lang="en-US" sz="4000" b="1" dirty="0">
              <a:solidFill>
                <a:schemeClr val="accent5"/>
              </a:solidFill>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116</a:t>
            </a:fld>
            <a:endParaRPr lang="en-US" altLang="en-US">
              <a:latin typeface="Cambria" panose="02040503050406030204" pitchFamily="18" charset="0"/>
              <a:ea typeface="Cambria" panose="02040503050406030204" pitchFamily="18" charset="0"/>
            </a:endParaRPr>
          </a:p>
        </p:txBody>
      </p:sp>
      <p:pic>
        <p:nvPicPr>
          <p:cNvPr id="5" name="Content Placeholder 4" descr="mvc architecture"/>
          <p:cNvPicPr>
            <a:picLocks noGrp="1"/>
          </p:cNvPicPr>
          <p:nvPr>
            <p:ph idx="1"/>
          </p:nvPr>
        </p:nvPicPr>
        <p:blipFill>
          <a:blip r:embed="rId2"/>
          <a:srcRect/>
          <a:stretch>
            <a:fillRect/>
          </a:stretch>
        </p:blipFill>
        <p:spPr bwMode="auto">
          <a:xfrm>
            <a:off x="6456040" y="686941"/>
            <a:ext cx="5133975" cy="2886075"/>
          </a:xfrm>
          <a:prstGeom prst="rect">
            <a:avLst/>
          </a:prstGeom>
          <a:noFill/>
          <a:ln w="9525">
            <a:noFill/>
            <a:miter lim="800000"/>
            <a:headEnd/>
            <a:tailEnd/>
          </a:ln>
        </p:spPr>
      </p:pic>
      <p:sp>
        <p:nvSpPr>
          <p:cNvPr id="6" name="Rectangle 5"/>
          <p:cNvSpPr/>
          <p:nvPr/>
        </p:nvSpPr>
        <p:spPr>
          <a:xfrm>
            <a:off x="159660" y="844202"/>
            <a:ext cx="6096000" cy="2308324"/>
          </a:xfrm>
          <a:prstGeom prst="rect">
            <a:avLst/>
          </a:prstGeom>
        </p:spPr>
        <p:txBody>
          <a:bodyPr>
            <a:spAutoFit/>
          </a:bodyPr>
          <a:lstStyle/>
          <a:p>
            <a:pPr algn="just"/>
            <a:r>
              <a:rPr lang="en-GB" b="1" dirty="0" smtClean="0">
                <a:latin typeface="Cambria" panose="02040503050406030204" pitchFamily="18" charset="0"/>
                <a:ea typeface="Cambria" panose="02040503050406030204" pitchFamily="18" charset="0"/>
              </a:rPr>
              <a:t>Model</a:t>
            </a:r>
            <a:r>
              <a:rPr lang="en-GB" dirty="0" smtClean="0">
                <a:latin typeface="Cambria" panose="02040503050406030204" pitchFamily="18" charset="0"/>
                <a:ea typeface="Cambria" panose="02040503050406030204" pitchFamily="18" charset="0"/>
              </a:rPr>
              <a:t> The model represents the state (data) and business logic of the application.</a:t>
            </a:r>
          </a:p>
          <a:p>
            <a:pPr algn="just"/>
            <a:r>
              <a:rPr lang="en-GB" b="1" dirty="0" smtClean="0">
                <a:latin typeface="Cambria" panose="02040503050406030204" pitchFamily="18" charset="0"/>
                <a:ea typeface="Cambria" panose="02040503050406030204" pitchFamily="18" charset="0"/>
              </a:rPr>
              <a:t>View</a:t>
            </a:r>
            <a:r>
              <a:rPr lang="en-GB" dirty="0" smtClean="0">
                <a:latin typeface="Cambria" panose="02040503050406030204" pitchFamily="18" charset="0"/>
                <a:ea typeface="Cambria" panose="02040503050406030204" pitchFamily="18" charset="0"/>
              </a:rPr>
              <a:t> The view module is responsible to display data i.e. it represents the presentation.</a:t>
            </a:r>
          </a:p>
          <a:p>
            <a:pPr algn="just"/>
            <a:r>
              <a:rPr lang="en-GB" b="1" dirty="0" smtClean="0">
                <a:latin typeface="Cambria" panose="02040503050406030204" pitchFamily="18" charset="0"/>
                <a:ea typeface="Cambria" panose="02040503050406030204" pitchFamily="18" charset="0"/>
              </a:rPr>
              <a:t>Controller</a:t>
            </a:r>
            <a:r>
              <a:rPr lang="en-GB" dirty="0" smtClean="0">
                <a:latin typeface="Cambria" panose="02040503050406030204" pitchFamily="18" charset="0"/>
                <a:ea typeface="Cambria" panose="02040503050406030204" pitchFamily="18" charset="0"/>
              </a:rPr>
              <a:t> The controller module acts as an interface between view and model. It intercepts all the requests i.e. receives input and commands to Model / View to change accordingly.</a:t>
            </a:r>
            <a:endParaRPr lang="en-GB" dirty="0">
              <a:latin typeface="Cambria" panose="02040503050406030204" pitchFamily="18" charset="0"/>
              <a:ea typeface="Cambria" panose="02040503050406030204" pitchFamily="18" charset="0"/>
            </a:endParaRPr>
          </a:p>
        </p:txBody>
      </p:sp>
      <p:sp>
        <p:nvSpPr>
          <p:cNvPr id="7" name="Rectangle 6"/>
          <p:cNvSpPr/>
          <p:nvPr/>
        </p:nvSpPr>
        <p:spPr>
          <a:xfrm>
            <a:off x="159660" y="3270593"/>
            <a:ext cx="6096000" cy="1754326"/>
          </a:xfrm>
          <a:prstGeom prst="rect">
            <a:avLst/>
          </a:prstGeom>
        </p:spPr>
        <p:txBody>
          <a:bodyPr>
            <a:spAutoFit/>
          </a:bodyPr>
          <a:lstStyle/>
          <a:p>
            <a:r>
              <a:rPr lang="en-GB" dirty="0" smtClean="0">
                <a:latin typeface="Cambria" panose="02040503050406030204" pitchFamily="18" charset="0"/>
                <a:ea typeface="Cambria" panose="02040503050406030204" pitchFamily="18" charset="0"/>
              </a:rPr>
              <a:t>Advantage of Model 2 (MVC) Architecture</a:t>
            </a:r>
          </a:p>
          <a:p>
            <a:r>
              <a:rPr lang="en-GB" b="1" dirty="0" smtClean="0">
                <a:latin typeface="Cambria" panose="02040503050406030204" pitchFamily="18" charset="0"/>
                <a:ea typeface="Cambria" panose="02040503050406030204" pitchFamily="18" charset="0"/>
              </a:rPr>
              <a:t>Navigation control is centralized</a:t>
            </a:r>
            <a:r>
              <a:rPr lang="en-GB" dirty="0" smtClean="0">
                <a:latin typeface="Cambria" panose="02040503050406030204" pitchFamily="18" charset="0"/>
                <a:ea typeface="Cambria" panose="02040503050406030204" pitchFamily="18" charset="0"/>
              </a:rPr>
              <a:t> Now only controller contains the logic to determine the next page.</a:t>
            </a:r>
          </a:p>
          <a:p>
            <a:r>
              <a:rPr lang="en-GB" b="1" dirty="0" smtClean="0">
                <a:latin typeface="Cambria" panose="02040503050406030204" pitchFamily="18" charset="0"/>
                <a:ea typeface="Cambria" panose="02040503050406030204" pitchFamily="18" charset="0"/>
              </a:rPr>
              <a:t>Easy to maintain</a:t>
            </a:r>
            <a:endParaRPr lang="en-GB" dirty="0" smtClean="0">
              <a:latin typeface="Cambria" panose="02040503050406030204" pitchFamily="18" charset="0"/>
              <a:ea typeface="Cambria" panose="02040503050406030204" pitchFamily="18" charset="0"/>
            </a:endParaRPr>
          </a:p>
          <a:p>
            <a:r>
              <a:rPr lang="en-GB" b="1" dirty="0" smtClean="0">
                <a:latin typeface="Cambria" panose="02040503050406030204" pitchFamily="18" charset="0"/>
                <a:ea typeface="Cambria" panose="02040503050406030204" pitchFamily="18" charset="0"/>
              </a:rPr>
              <a:t>Easy to extend</a:t>
            </a:r>
            <a:endParaRPr lang="en-GB" dirty="0" smtClean="0">
              <a:latin typeface="Cambria" panose="02040503050406030204" pitchFamily="18" charset="0"/>
              <a:ea typeface="Cambria" panose="02040503050406030204" pitchFamily="18" charset="0"/>
            </a:endParaRPr>
          </a:p>
          <a:p>
            <a:r>
              <a:rPr lang="en-GB" b="1" dirty="0" smtClean="0">
                <a:latin typeface="Cambria" panose="02040503050406030204" pitchFamily="18" charset="0"/>
                <a:ea typeface="Cambria" panose="02040503050406030204" pitchFamily="18" charset="0"/>
              </a:rPr>
              <a:t>Easy to test</a:t>
            </a:r>
            <a:endParaRPr lang="en-GB" dirty="0" smtClean="0">
              <a:latin typeface="Cambria" panose="02040503050406030204" pitchFamily="18" charset="0"/>
              <a:ea typeface="Cambria" panose="02040503050406030204" pitchFamily="18" charset="0"/>
            </a:endParaRPr>
          </a:p>
        </p:txBody>
      </p:sp>
      <p:sp>
        <p:nvSpPr>
          <p:cNvPr id="8" name="Rectangle 7"/>
          <p:cNvSpPr/>
          <p:nvPr/>
        </p:nvSpPr>
        <p:spPr>
          <a:xfrm>
            <a:off x="5807968" y="3730277"/>
            <a:ext cx="6096000" cy="1200329"/>
          </a:xfrm>
          <a:prstGeom prst="rect">
            <a:avLst/>
          </a:prstGeom>
        </p:spPr>
        <p:txBody>
          <a:bodyPr wrap="square">
            <a:spAutoFit/>
          </a:bodyPr>
          <a:lstStyle/>
          <a:p>
            <a:pPr algn="just"/>
            <a:r>
              <a:rPr lang="en-GB" dirty="0" smtClean="0">
                <a:latin typeface="Cambria" panose="02040503050406030204" pitchFamily="18" charset="0"/>
                <a:ea typeface="Cambria" panose="02040503050406030204" pitchFamily="18" charset="0"/>
              </a:rPr>
              <a:t>Disadvantage of Model 2 (MVC) Architecture</a:t>
            </a:r>
          </a:p>
          <a:p>
            <a:pPr algn="just"/>
            <a:r>
              <a:rPr lang="en-GB" dirty="0" smtClean="0">
                <a:latin typeface="Cambria" panose="02040503050406030204" pitchFamily="18" charset="0"/>
                <a:ea typeface="Cambria" panose="02040503050406030204" pitchFamily="18" charset="0"/>
              </a:rPr>
              <a:t>We need to write the controller code self. If we change the controller code, we need to recompile the class and redeploy the application.</a:t>
            </a:r>
            <a:endParaRPr lang="en-GB" dirty="0">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989027705"/>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29379"/>
            <a:ext cx="4968552" cy="663318"/>
          </a:xfrm>
        </p:spPr>
        <p:txBody>
          <a:bodyPr/>
          <a:lstStyle/>
          <a:p>
            <a:r>
              <a:rPr lang="en-US" sz="4000" b="1" dirty="0" smtClean="0">
                <a:solidFill>
                  <a:srgbClr val="7030A0"/>
                </a:solidFill>
                <a:latin typeface="Cambria" panose="02040503050406030204" pitchFamily="18" charset="0"/>
                <a:ea typeface="Cambria" panose="02040503050406030204" pitchFamily="18" charset="0"/>
              </a:rPr>
              <a:t>MVC Example</a:t>
            </a:r>
            <a:endParaRPr lang="en-US" sz="4000" b="1" dirty="0">
              <a:solidFill>
                <a:srgbClr val="7030A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335360" y="908721"/>
            <a:ext cx="11018440" cy="3600400"/>
          </a:xfrm>
        </p:spPr>
        <p:txBody>
          <a:bodyPr/>
          <a:lstStyle/>
          <a:p>
            <a:pPr algn="just"/>
            <a:r>
              <a:rPr lang="en-GB" dirty="0" smtClean="0">
                <a:latin typeface="Cambria" panose="02040503050406030204" pitchFamily="18" charset="0"/>
                <a:ea typeface="Cambria" panose="02040503050406030204" pitchFamily="18" charset="0"/>
              </a:rPr>
              <a:t>In this example, we are using </a:t>
            </a:r>
            <a:r>
              <a:rPr lang="en-GB" dirty="0" err="1" smtClean="0">
                <a:latin typeface="Cambria" panose="02040503050406030204" pitchFamily="18" charset="0"/>
                <a:ea typeface="Cambria" panose="02040503050406030204" pitchFamily="18" charset="0"/>
              </a:rPr>
              <a:t>servlet</a:t>
            </a:r>
            <a:r>
              <a:rPr lang="en-GB" dirty="0" smtClean="0">
                <a:latin typeface="Cambria" panose="02040503050406030204" pitchFamily="18" charset="0"/>
                <a:ea typeface="Cambria" panose="02040503050406030204" pitchFamily="18" charset="0"/>
              </a:rPr>
              <a:t> as a controller, </a:t>
            </a:r>
            <a:r>
              <a:rPr lang="en-GB" dirty="0" err="1" smtClean="0">
                <a:latin typeface="Cambria" panose="02040503050406030204" pitchFamily="18" charset="0"/>
                <a:ea typeface="Cambria" panose="02040503050406030204" pitchFamily="18" charset="0"/>
              </a:rPr>
              <a:t>jsp</a:t>
            </a:r>
            <a:r>
              <a:rPr lang="en-GB" dirty="0" smtClean="0">
                <a:latin typeface="Cambria" panose="02040503050406030204" pitchFamily="18" charset="0"/>
                <a:ea typeface="Cambria" panose="02040503050406030204" pitchFamily="18" charset="0"/>
              </a:rPr>
              <a:t> as a view component, Java Bean class as a model.</a:t>
            </a:r>
          </a:p>
          <a:p>
            <a:pPr algn="just"/>
            <a:r>
              <a:rPr lang="en-GB" dirty="0" smtClean="0">
                <a:latin typeface="Cambria" panose="02040503050406030204" pitchFamily="18" charset="0"/>
                <a:ea typeface="Cambria" panose="02040503050406030204" pitchFamily="18" charset="0"/>
              </a:rPr>
              <a:t>In this example, we have created 5 pages:</a:t>
            </a:r>
          </a:p>
          <a:p>
            <a:pPr algn="just"/>
            <a:r>
              <a:rPr lang="en-GB" b="1" dirty="0" smtClean="0">
                <a:latin typeface="Cambria" panose="02040503050406030204" pitchFamily="18" charset="0"/>
                <a:ea typeface="Cambria" panose="02040503050406030204" pitchFamily="18" charset="0"/>
              </a:rPr>
              <a:t>index.jsp</a:t>
            </a:r>
            <a:r>
              <a:rPr lang="en-GB" dirty="0" smtClean="0">
                <a:latin typeface="Cambria" panose="02040503050406030204" pitchFamily="18" charset="0"/>
                <a:ea typeface="Cambria" panose="02040503050406030204" pitchFamily="18" charset="0"/>
              </a:rPr>
              <a:t> a page that gets input from the user.</a:t>
            </a:r>
          </a:p>
          <a:p>
            <a:pPr algn="just"/>
            <a:r>
              <a:rPr lang="en-GB" b="1" dirty="0" smtClean="0">
                <a:latin typeface="Cambria" panose="02040503050406030204" pitchFamily="18" charset="0"/>
                <a:ea typeface="Cambria" panose="02040503050406030204" pitchFamily="18" charset="0"/>
              </a:rPr>
              <a:t>ControllerServlet.java</a:t>
            </a:r>
            <a:r>
              <a:rPr lang="en-GB" dirty="0" smtClean="0">
                <a:latin typeface="Cambria" panose="02040503050406030204" pitchFamily="18" charset="0"/>
                <a:ea typeface="Cambria" panose="02040503050406030204" pitchFamily="18" charset="0"/>
              </a:rPr>
              <a:t> a </a:t>
            </a:r>
            <a:r>
              <a:rPr lang="en-GB" dirty="0" err="1" smtClean="0">
                <a:latin typeface="Cambria" panose="02040503050406030204" pitchFamily="18" charset="0"/>
                <a:ea typeface="Cambria" panose="02040503050406030204" pitchFamily="18" charset="0"/>
              </a:rPr>
              <a:t>servlet</a:t>
            </a:r>
            <a:r>
              <a:rPr lang="en-GB" dirty="0" smtClean="0">
                <a:latin typeface="Cambria" panose="02040503050406030204" pitchFamily="18" charset="0"/>
                <a:ea typeface="Cambria" panose="02040503050406030204" pitchFamily="18" charset="0"/>
              </a:rPr>
              <a:t> that acts as a controller.</a:t>
            </a:r>
          </a:p>
          <a:p>
            <a:pPr algn="just"/>
            <a:r>
              <a:rPr lang="en-GB" b="1" dirty="0" smtClean="0">
                <a:latin typeface="Cambria" panose="02040503050406030204" pitchFamily="18" charset="0"/>
                <a:ea typeface="Cambria" panose="02040503050406030204" pitchFamily="18" charset="0"/>
              </a:rPr>
              <a:t>login-success.jsp</a:t>
            </a:r>
            <a:r>
              <a:rPr lang="en-GB" dirty="0" smtClean="0">
                <a:latin typeface="Cambria" panose="02040503050406030204" pitchFamily="18" charset="0"/>
                <a:ea typeface="Cambria" panose="02040503050406030204" pitchFamily="18" charset="0"/>
              </a:rPr>
              <a:t> and </a:t>
            </a:r>
            <a:r>
              <a:rPr lang="en-GB" b="1" dirty="0" smtClean="0">
                <a:latin typeface="Cambria" panose="02040503050406030204" pitchFamily="18" charset="0"/>
                <a:ea typeface="Cambria" panose="02040503050406030204" pitchFamily="18" charset="0"/>
              </a:rPr>
              <a:t>login-error.jsp</a:t>
            </a:r>
            <a:r>
              <a:rPr lang="en-GB" dirty="0" smtClean="0">
                <a:latin typeface="Cambria" panose="02040503050406030204" pitchFamily="18" charset="0"/>
                <a:ea typeface="Cambria" panose="02040503050406030204" pitchFamily="18" charset="0"/>
              </a:rPr>
              <a:t> files acts as view components.</a:t>
            </a:r>
          </a:p>
          <a:p>
            <a:pPr algn="just"/>
            <a:r>
              <a:rPr lang="en-GB" b="1" dirty="0" smtClean="0">
                <a:latin typeface="Cambria" panose="02040503050406030204" pitchFamily="18" charset="0"/>
                <a:ea typeface="Cambria" panose="02040503050406030204" pitchFamily="18" charset="0"/>
              </a:rPr>
              <a:t>web.xml</a:t>
            </a:r>
            <a:r>
              <a:rPr lang="en-GB" dirty="0" smtClean="0">
                <a:latin typeface="Cambria" panose="02040503050406030204" pitchFamily="18" charset="0"/>
                <a:ea typeface="Cambria" panose="02040503050406030204" pitchFamily="18" charset="0"/>
              </a:rPr>
              <a:t> file for mapping the </a:t>
            </a:r>
            <a:r>
              <a:rPr lang="en-GB" dirty="0" err="1" smtClean="0">
                <a:latin typeface="Cambria" panose="02040503050406030204" pitchFamily="18" charset="0"/>
                <a:ea typeface="Cambria" panose="02040503050406030204" pitchFamily="18" charset="0"/>
              </a:rPr>
              <a:t>servlet</a:t>
            </a:r>
            <a:r>
              <a:rPr lang="en-GB" dirty="0" smtClean="0">
                <a:latin typeface="Cambria" panose="02040503050406030204" pitchFamily="18" charset="0"/>
                <a:ea typeface="Cambria" panose="02040503050406030204" pitchFamily="18" charset="0"/>
              </a:rPr>
              <a:t>.</a:t>
            </a:r>
          </a:p>
          <a:p>
            <a:pPr algn="just"/>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117</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77859"/>
          </a:xfrm>
        </p:spPr>
        <p:txBody>
          <a:bodyPr/>
          <a:lstStyle/>
          <a:p>
            <a:r>
              <a:rPr lang="en-US" b="1" dirty="0" smtClean="0">
                <a:latin typeface="Cambria" panose="02040503050406030204" pitchFamily="18" charset="0"/>
                <a:ea typeface="Cambria" panose="02040503050406030204" pitchFamily="18" charset="0"/>
              </a:rPr>
              <a:t> </a:t>
            </a:r>
            <a:r>
              <a:rPr lang="en-US" i="1" dirty="0" smtClean="0">
                <a:latin typeface="Cambria" panose="02040503050406030204" pitchFamily="18" charset="0"/>
                <a:ea typeface="Cambria" panose="02040503050406030204" pitchFamily="18" charset="0"/>
              </a:rPr>
              <a:t>File: index.jsp</a:t>
            </a:r>
            <a:endParaRPr lang="en-US" dirty="0">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838200" y="1142984"/>
            <a:ext cx="10515600" cy="5033979"/>
          </a:xfrm>
        </p:spPr>
        <p:txBody>
          <a:bodyPr/>
          <a:lstStyle/>
          <a:p>
            <a:pPr lvl="1">
              <a:buNone/>
            </a:pPr>
            <a:r>
              <a:rPr lang="en-US" dirty="0" smtClean="0">
                <a:latin typeface="Cambria" panose="02040503050406030204" pitchFamily="18" charset="0"/>
                <a:ea typeface="Cambria" panose="02040503050406030204" pitchFamily="18" charset="0"/>
              </a:rPr>
              <a:t>&lt;form action="</a:t>
            </a:r>
            <a:r>
              <a:rPr lang="en-US" dirty="0" err="1" smtClean="0">
                <a:latin typeface="Cambria" panose="02040503050406030204" pitchFamily="18" charset="0"/>
                <a:ea typeface="Cambria" panose="02040503050406030204" pitchFamily="18" charset="0"/>
              </a:rPr>
              <a:t>ControllerServlet</a:t>
            </a:r>
            <a:r>
              <a:rPr lang="en-US" dirty="0" smtClean="0">
                <a:latin typeface="Cambria" panose="02040503050406030204" pitchFamily="18" charset="0"/>
                <a:ea typeface="Cambria" panose="02040503050406030204" pitchFamily="18" charset="0"/>
              </a:rPr>
              <a:t>" method="post"&gt;  </a:t>
            </a:r>
          </a:p>
          <a:p>
            <a:pPr lvl="1">
              <a:buNone/>
            </a:pPr>
            <a:r>
              <a:rPr lang="en-US" dirty="0" smtClean="0">
                <a:latin typeface="Cambria" panose="02040503050406030204" pitchFamily="18" charset="0"/>
                <a:ea typeface="Cambria" panose="02040503050406030204" pitchFamily="18" charset="0"/>
              </a:rPr>
              <a:t>Name:&lt;input type="text" name="name"&gt;&lt;</a:t>
            </a:r>
            <a:r>
              <a:rPr lang="en-US" dirty="0" err="1" smtClean="0">
                <a:latin typeface="Cambria" panose="02040503050406030204" pitchFamily="18" charset="0"/>
                <a:ea typeface="Cambria" panose="02040503050406030204" pitchFamily="18" charset="0"/>
              </a:rPr>
              <a:t>br</a:t>
            </a:r>
            <a:r>
              <a:rPr lang="en-US" dirty="0" smtClean="0">
                <a:latin typeface="Cambria" panose="02040503050406030204" pitchFamily="18" charset="0"/>
                <a:ea typeface="Cambria" panose="02040503050406030204" pitchFamily="18" charset="0"/>
              </a:rPr>
              <a:t>&gt;  </a:t>
            </a:r>
          </a:p>
          <a:p>
            <a:pPr lvl="1">
              <a:buNone/>
            </a:pPr>
            <a:r>
              <a:rPr lang="en-US" dirty="0" smtClean="0">
                <a:latin typeface="Cambria" panose="02040503050406030204" pitchFamily="18" charset="0"/>
                <a:ea typeface="Cambria" panose="02040503050406030204" pitchFamily="18" charset="0"/>
              </a:rPr>
              <a:t>Password:&lt;input type="password" name="password"&gt;&lt;</a:t>
            </a:r>
            <a:r>
              <a:rPr lang="en-US" dirty="0" err="1" smtClean="0">
                <a:latin typeface="Cambria" panose="02040503050406030204" pitchFamily="18" charset="0"/>
                <a:ea typeface="Cambria" panose="02040503050406030204" pitchFamily="18" charset="0"/>
              </a:rPr>
              <a:t>br</a:t>
            </a:r>
            <a:r>
              <a:rPr lang="en-US" dirty="0" smtClean="0">
                <a:latin typeface="Cambria" panose="02040503050406030204" pitchFamily="18" charset="0"/>
                <a:ea typeface="Cambria" panose="02040503050406030204" pitchFamily="18" charset="0"/>
              </a:rPr>
              <a:t>&gt;  </a:t>
            </a:r>
          </a:p>
          <a:p>
            <a:pPr lvl="1">
              <a:buNone/>
            </a:pPr>
            <a:r>
              <a:rPr lang="en-US" dirty="0" smtClean="0">
                <a:latin typeface="Cambria" panose="02040503050406030204" pitchFamily="18" charset="0"/>
                <a:ea typeface="Cambria" panose="02040503050406030204" pitchFamily="18" charset="0"/>
              </a:rPr>
              <a:t>&lt;input type="submit" value="login"&gt;  </a:t>
            </a:r>
          </a:p>
          <a:p>
            <a:pPr lvl="1">
              <a:buNone/>
            </a:pPr>
            <a:r>
              <a:rPr lang="en-US" dirty="0" smtClean="0">
                <a:latin typeface="Cambria" panose="02040503050406030204" pitchFamily="18" charset="0"/>
                <a:ea typeface="Cambria" panose="02040503050406030204" pitchFamily="18" charset="0"/>
              </a:rPr>
              <a:t>&lt;/form&gt;  </a:t>
            </a:r>
          </a:p>
          <a:p>
            <a:endParaRPr lang="en-US"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118</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130" y="31685"/>
            <a:ext cx="5132766" cy="516995"/>
          </a:xfrm>
        </p:spPr>
        <p:txBody>
          <a:bodyPr/>
          <a:lstStyle/>
          <a:p>
            <a:r>
              <a:rPr lang="en-US" sz="3600" b="1" i="1" dirty="0" smtClean="0">
                <a:solidFill>
                  <a:schemeClr val="accent5"/>
                </a:solidFill>
                <a:latin typeface="Cambria" panose="02040503050406030204" pitchFamily="18" charset="0"/>
                <a:ea typeface="Cambria" panose="02040503050406030204" pitchFamily="18" charset="0"/>
              </a:rPr>
              <a:t>File: LoginBean.java</a:t>
            </a:r>
            <a:endParaRPr lang="en-US" sz="36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799856" y="164542"/>
            <a:ext cx="5256584" cy="5784738"/>
          </a:xfrm>
        </p:spPr>
        <p:txBody>
          <a:bodyPr/>
          <a:lstStyle/>
          <a:p>
            <a:pPr>
              <a:spcBef>
                <a:spcPts val="0"/>
              </a:spcBef>
              <a:buNone/>
            </a:pPr>
            <a:r>
              <a:rPr lang="en-US" sz="1800" b="1" dirty="0" smtClean="0">
                <a:latin typeface="Cambria" panose="02040503050406030204" pitchFamily="18" charset="0"/>
                <a:ea typeface="Cambria" panose="02040503050406030204" pitchFamily="18" charset="0"/>
              </a:rPr>
              <a:t>package</a:t>
            </a:r>
            <a:r>
              <a:rPr lang="en-US" sz="1800" dirty="0" smtClean="0">
                <a:latin typeface="Cambria" panose="02040503050406030204" pitchFamily="18" charset="0"/>
                <a:ea typeface="Cambria" panose="02040503050406030204" pitchFamily="18" charset="0"/>
              </a:rPr>
              <a:t> com.pu;  </a:t>
            </a:r>
          </a:p>
          <a:p>
            <a:pPr>
              <a:spcBef>
                <a:spcPts val="0"/>
              </a:spcBef>
              <a:buNone/>
            </a:pPr>
            <a:r>
              <a:rPr lang="en-US" sz="1800" b="1" dirty="0" smtClean="0">
                <a:latin typeface="Cambria" panose="02040503050406030204" pitchFamily="18" charset="0"/>
                <a:ea typeface="Cambria" panose="02040503050406030204" pitchFamily="18" charset="0"/>
              </a:rPr>
              <a:t>public</a:t>
            </a: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class</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LoginBean</a:t>
            </a:r>
            <a:r>
              <a:rPr lang="en-US" sz="1800" dirty="0" smtClean="0">
                <a:latin typeface="Cambria" panose="02040503050406030204" pitchFamily="18" charset="0"/>
                <a:ea typeface="Cambria" panose="02040503050406030204" pitchFamily="18" charset="0"/>
              </a:rPr>
              <a:t> {  </a:t>
            </a:r>
          </a:p>
          <a:p>
            <a:pPr>
              <a:spcBef>
                <a:spcPts val="0"/>
              </a:spcBef>
              <a:buNone/>
            </a:pPr>
            <a:r>
              <a:rPr lang="en-US" sz="1800" b="1" dirty="0" smtClean="0">
                <a:latin typeface="Cambria" panose="02040503050406030204" pitchFamily="18" charset="0"/>
                <a:ea typeface="Cambria" panose="02040503050406030204" pitchFamily="18" charset="0"/>
              </a:rPr>
              <a:t>private</a:t>
            </a:r>
            <a:r>
              <a:rPr lang="en-US" sz="1800" dirty="0" smtClean="0">
                <a:latin typeface="Cambria" panose="02040503050406030204" pitchFamily="18" charset="0"/>
                <a:ea typeface="Cambria" panose="02040503050406030204" pitchFamily="18" charset="0"/>
              </a:rPr>
              <a:t> String name, password;  </a:t>
            </a:r>
          </a:p>
          <a:p>
            <a:pPr>
              <a:spcBef>
                <a:spcPts val="0"/>
              </a:spcBef>
              <a:buNone/>
            </a:pPr>
            <a:r>
              <a:rPr lang="en-US" sz="1800" dirty="0" smtClean="0">
                <a:latin typeface="Cambria" panose="02040503050406030204" pitchFamily="18" charset="0"/>
                <a:ea typeface="Cambria" panose="02040503050406030204" pitchFamily="18" charset="0"/>
              </a:rPr>
              <a:t>  </a:t>
            </a:r>
          </a:p>
          <a:p>
            <a:pPr>
              <a:spcBef>
                <a:spcPts val="0"/>
              </a:spcBef>
              <a:buNone/>
            </a:pPr>
            <a:r>
              <a:rPr lang="en-US" sz="1800" b="1" dirty="0">
                <a:latin typeface="Cambria" panose="02040503050406030204" pitchFamily="18" charset="0"/>
                <a:ea typeface="Cambria" panose="02040503050406030204" pitchFamily="18" charset="0"/>
              </a:rPr>
              <a:t>public</a:t>
            </a:r>
            <a:r>
              <a:rPr lang="en-US" sz="1800" dirty="0">
                <a:latin typeface="Cambria" panose="02040503050406030204" pitchFamily="18" charset="0"/>
                <a:ea typeface="Cambria" panose="02040503050406030204" pitchFamily="18" charset="0"/>
              </a:rPr>
              <a:t> </a:t>
            </a:r>
            <a:r>
              <a:rPr lang="en-US" sz="1800" b="1" dirty="0">
                <a:latin typeface="Cambria" panose="02040503050406030204" pitchFamily="18" charset="0"/>
                <a:ea typeface="Cambria" panose="02040503050406030204" pitchFamily="18" charset="0"/>
              </a:rPr>
              <a:t>void</a:t>
            </a:r>
            <a:r>
              <a:rPr lang="en-US" sz="1800" dirty="0">
                <a:latin typeface="Cambria" panose="02040503050406030204" pitchFamily="18" charset="0"/>
                <a:ea typeface="Cambria" panose="02040503050406030204" pitchFamily="18" charset="0"/>
              </a:rPr>
              <a:t> setName(String name) {  </a:t>
            </a:r>
          </a:p>
          <a:p>
            <a:pPr>
              <a:spcBef>
                <a:spcPts val="0"/>
              </a:spcBef>
              <a:buNone/>
            </a:pPr>
            <a:r>
              <a:rPr lang="en-US" sz="1800" dirty="0">
                <a:latin typeface="Cambria" panose="02040503050406030204" pitchFamily="18" charset="0"/>
                <a:ea typeface="Cambria" panose="02040503050406030204" pitchFamily="18" charset="0"/>
              </a:rPr>
              <a:t>    </a:t>
            </a:r>
            <a:r>
              <a:rPr lang="en-US" sz="1800" b="1" dirty="0">
                <a:latin typeface="Cambria" panose="02040503050406030204" pitchFamily="18" charset="0"/>
                <a:ea typeface="Cambria" panose="02040503050406030204" pitchFamily="18" charset="0"/>
              </a:rPr>
              <a:t>this</a:t>
            </a:r>
            <a:r>
              <a:rPr lang="en-US" sz="1800" dirty="0">
                <a:latin typeface="Cambria" panose="02040503050406030204" pitchFamily="18" charset="0"/>
                <a:ea typeface="Cambria" panose="02040503050406030204" pitchFamily="18" charset="0"/>
              </a:rPr>
              <a:t>.name = name;  </a:t>
            </a:r>
          </a:p>
          <a:p>
            <a:pPr>
              <a:spcBef>
                <a:spcPts val="0"/>
              </a:spcBef>
              <a:buNone/>
            </a:pPr>
            <a:r>
              <a:rPr lang="en-US" sz="1800" dirty="0">
                <a:latin typeface="Cambria" panose="02040503050406030204" pitchFamily="18" charset="0"/>
                <a:ea typeface="Cambria" panose="02040503050406030204" pitchFamily="18" charset="0"/>
              </a:rPr>
              <a:t>}  </a:t>
            </a:r>
          </a:p>
          <a:p>
            <a:pPr>
              <a:spcBef>
                <a:spcPts val="0"/>
              </a:spcBef>
              <a:buNone/>
            </a:pPr>
            <a:r>
              <a:rPr lang="en-US" sz="1800" b="1" dirty="0" smtClean="0">
                <a:latin typeface="Cambria" panose="02040503050406030204" pitchFamily="18" charset="0"/>
                <a:ea typeface="Cambria" panose="02040503050406030204" pitchFamily="18" charset="0"/>
              </a:rPr>
              <a:t>public</a:t>
            </a:r>
            <a:r>
              <a:rPr lang="en-US" sz="1800" dirty="0" smtClean="0">
                <a:latin typeface="Cambria" panose="02040503050406030204" pitchFamily="18" charset="0"/>
                <a:ea typeface="Cambria" panose="02040503050406030204" pitchFamily="18" charset="0"/>
              </a:rPr>
              <a:t> String getName() {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return</a:t>
            </a:r>
            <a:r>
              <a:rPr lang="en-US" sz="1800" dirty="0" smtClean="0">
                <a:latin typeface="Cambria" panose="02040503050406030204" pitchFamily="18" charset="0"/>
                <a:ea typeface="Cambria" panose="02040503050406030204" pitchFamily="18" charset="0"/>
              </a:rPr>
              <a:t> name;  </a:t>
            </a:r>
          </a:p>
          <a:p>
            <a:pPr>
              <a:spcBef>
                <a:spcPts val="0"/>
              </a:spcBef>
              <a:buNone/>
            </a:pPr>
            <a:r>
              <a:rPr lang="en-US" sz="1800" dirty="0" smtClean="0">
                <a:latin typeface="Cambria" panose="02040503050406030204" pitchFamily="18" charset="0"/>
                <a:ea typeface="Cambria" panose="02040503050406030204" pitchFamily="18" charset="0"/>
              </a:rPr>
              <a:t>}  </a:t>
            </a:r>
          </a:p>
          <a:p>
            <a:pPr>
              <a:spcBef>
                <a:spcPts val="0"/>
              </a:spcBef>
              <a:buNone/>
            </a:pPr>
            <a:r>
              <a:rPr lang="en-US" sz="1800" b="1" dirty="0">
                <a:latin typeface="Cambria" panose="02040503050406030204" pitchFamily="18" charset="0"/>
                <a:ea typeface="Cambria" panose="02040503050406030204" pitchFamily="18" charset="0"/>
              </a:rPr>
              <a:t>public</a:t>
            </a:r>
            <a:r>
              <a:rPr lang="en-US" sz="1800" dirty="0">
                <a:latin typeface="Cambria" panose="02040503050406030204" pitchFamily="18" charset="0"/>
                <a:ea typeface="Cambria" panose="02040503050406030204" pitchFamily="18" charset="0"/>
              </a:rPr>
              <a:t> </a:t>
            </a:r>
            <a:r>
              <a:rPr lang="en-US" sz="1800" b="1" dirty="0">
                <a:latin typeface="Cambria" panose="02040503050406030204" pitchFamily="18" charset="0"/>
                <a:ea typeface="Cambria" panose="02040503050406030204" pitchFamily="18" charset="0"/>
              </a:rPr>
              <a:t>void</a:t>
            </a:r>
            <a:r>
              <a:rPr lang="en-US" sz="1800" dirty="0">
                <a:latin typeface="Cambria" panose="02040503050406030204" pitchFamily="18" charset="0"/>
                <a:ea typeface="Cambria" panose="02040503050406030204" pitchFamily="18" charset="0"/>
              </a:rPr>
              <a:t> setPassword(String password) {  </a:t>
            </a:r>
          </a:p>
          <a:p>
            <a:pPr>
              <a:spcBef>
                <a:spcPts val="0"/>
              </a:spcBef>
              <a:buNone/>
            </a:pPr>
            <a:r>
              <a:rPr lang="en-US" sz="1800" dirty="0">
                <a:latin typeface="Cambria" panose="02040503050406030204" pitchFamily="18" charset="0"/>
                <a:ea typeface="Cambria" panose="02040503050406030204" pitchFamily="18" charset="0"/>
              </a:rPr>
              <a:t>    </a:t>
            </a:r>
            <a:r>
              <a:rPr lang="en-US" sz="1800" b="1" dirty="0">
                <a:latin typeface="Cambria" panose="02040503050406030204" pitchFamily="18" charset="0"/>
                <a:ea typeface="Cambria" panose="02040503050406030204" pitchFamily="18" charset="0"/>
              </a:rPr>
              <a:t>this</a:t>
            </a:r>
            <a:r>
              <a:rPr lang="en-US" sz="1800" dirty="0">
                <a:latin typeface="Cambria" panose="02040503050406030204" pitchFamily="18" charset="0"/>
                <a:ea typeface="Cambria" panose="02040503050406030204" pitchFamily="18" charset="0"/>
              </a:rPr>
              <a:t>.password = password;  </a:t>
            </a:r>
          </a:p>
          <a:p>
            <a:pPr>
              <a:spcBef>
                <a:spcPts val="0"/>
              </a:spcBef>
              <a:buNone/>
            </a:pPr>
            <a:r>
              <a:rPr lang="en-US" sz="1800" dirty="0">
                <a:latin typeface="Cambria" panose="02040503050406030204" pitchFamily="18" charset="0"/>
                <a:ea typeface="Cambria" panose="02040503050406030204" pitchFamily="18" charset="0"/>
              </a:rPr>
              <a:t>}</a:t>
            </a:r>
            <a:endParaRPr lang="en-US" sz="1800" b="1" dirty="0" smtClean="0">
              <a:latin typeface="Cambria" panose="02040503050406030204" pitchFamily="18" charset="0"/>
              <a:ea typeface="Cambria" panose="02040503050406030204" pitchFamily="18" charset="0"/>
            </a:endParaRPr>
          </a:p>
          <a:p>
            <a:pPr>
              <a:spcBef>
                <a:spcPts val="0"/>
              </a:spcBef>
              <a:buNone/>
            </a:pPr>
            <a:r>
              <a:rPr lang="en-US" sz="1800" b="1" dirty="0" smtClean="0">
                <a:latin typeface="Cambria" panose="02040503050406030204" pitchFamily="18" charset="0"/>
                <a:ea typeface="Cambria" panose="02040503050406030204" pitchFamily="18" charset="0"/>
              </a:rPr>
              <a:t>public</a:t>
            </a:r>
            <a:r>
              <a:rPr lang="en-US" sz="1800" dirty="0" smtClean="0">
                <a:latin typeface="Cambria" panose="02040503050406030204" pitchFamily="18" charset="0"/>
                <a:ea typeface="Cambria" panose="02040503050406030204" pitchFamily="18" charset="0"/>
              </a:rPr>
              <a:t> String getPassword() {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return</a:t>
            </a:r>
            <a:r>
              <a:rPr lang="en-US" sz="1800" dirty="0" smtClean="0">
                <a:latin typeface="Cambria" panose="02040503050406030204" pitchFamily="18" charset="0"/>
                <a:ea typeface="Cambria" panose="02040503050406030204" pitchFamily="18" charset="0"/>
              </a:rPr>
              <a:t> password;  </a:t>
            </a:r>
          </a:p>
          <a:p>
            <a:pPr>
              <a:spcBef>
                <a:spcPts val="0"/>
              </a:spcBef>
              <a:buNone/>
            </a:pPr>
            <a:r>
              <a:rPr lang="en-US" sz="1800" dirty="0" smtClean="0">
                <a:latin typeface="Cambria" panose="02040503050406030204" pitchFamily="18" charset="0"/>
                <a:ea typeface="Cambria" panose="02040503050406030204" pitchFamily="18" charset="0"/>
              </a:rPr>
              <a:t>}    </a:t>
            </a:r>
          </a:p>
          <a:p>
            <a:pPr>
              <a:spcBef>
                <a:spcPts val="0"/>
              </a:spcBef>
              <a:buNone/>
            </a:pPr>
            <a:r>
              <a:rPr lang="en-US" sz="1800" b="1" dirty="0" smtClean="0">
                <a:latin typeface="Cambria" panose="02040503050406030204" pitchFamily="18" charset="0"/>
                <a:ea typeface="Cambria" panose="02040503050406030204" pitchFamily="18" charset="0"/>
              </a:rPr>
              <a:t>public</a:t>
            </a:r>
            <a:r>
              <a:rPr lang="en-US" sz="1800" dirty="0" smtClean="0">
                <a:latin typeface="Cambria" panose="02040503050406030204" pitchFamily="18" charset="0"/>
                <a:ea typeface="Cambria" panose="02040503050406030204" pitchFamily="18" charset="0"/>
              </a:rPr>
              <a:t> </a:t>
            </a:r>
            <a:r>
              <a:rPr lang="en-US" sz="1800" b="1" dirty="0" err="1" smtClean="0">
                <a:latin typeface="Cambria" panose="02040503050406030204" pitchFamily="18" charset="0"/>
                <a:ea typeface="Cambria" panose="02040503050406030204" pitchFamily="18" charset="0"/>
              </a:rPr>
              <a:t>boolean</a:t>
            </a:r>
            <a:r>
              <a:rPr lang="en-US" sz="1800" dirty="0" smtClean="0">
                <a:latin typeface="Cambria" panose="02040503050406030204" pitchFamily="18" charset="0"/>
                <a:ea typeface="Cambria" panose="02040503050406030204" pitchFamily="18" charset="0"/>
              </a:rPr>
              <a:t> validate(){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if</a:t>
            </a:r>
            <a:r>
              <a:rPr lang="en-US" sz="1800" dirty="0" smtClean="0">
                <a:latin typeface="Cambria" panose="02040503050406030204" pitchFamily="18" charset="0"/>
                <a:ea typeface="Cambria" panose="02040503050406030204" pitchFamily="18" charset="0"/>
              </a:rPr>
              <a:t>(password.equals("admin"))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return</a:t>
            </a: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true</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else</a:t>
            </a:r>
            <a:endParaRPr lang="en-US" sz="1800" dirty="0" smtClean="0">
              <a:latin typeface="Cambria" panose="02040503050406030204" pitchFamily="18" charset="0"/>
              <a:ea typeface="Cambria" panose="02040503050406030204" pitchFamily="18" charset="0"/>
            </a:endParaRPr>
          </a:p>
          <a:p>
            <a:pPr>
              <a:spcBef>
                <a:spcPts val="0"/>
              </a:spcBef>
              <a:buNone/>
            </a:pP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return</a:t>
            </a:r>
            <a:r>
              <a:rPr lang="en-US" sz="1800" dirty="0" smtClean="0">
                <a:latin typeface="Cambria" panose="02040503050406030204" pitchFamily="18" charset="0"/>
                <a:ea typeface="Cambria" panose="02040503050406030204" pitchFamily="18" charset="0"/>
              </a:rPr>
              <a:t> </a:t>
            </a:r>
            <a:r>
              <a:rPr lang="en-US" sz="1800" b="1" dirty="0" smtClean="0">
                <a:latin typeface="Cambria" panose="02040503050406030204" pitchFamily="18" charset="0"/>
                <a:ea typeface="Cambria" panose="02040503050406030204" pitchFamily="18" charset="0"/>
              </a:rPr>
              <a:t>false</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a:t>
            </a:r>
            <a:endParaRPr lang="en-US" sz="18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119</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344" y="0"/>
            <a:ext cx="6912768" cy="777859"/>
          </a:xfrm>
        </p:spPr>
        <p:txBody>
          <a:bodyPr/>
          <a:lstStyle/>
          <a:p>
            <a:r>
              <a:rPr lang="en-US" sz="4000" b="1" i="1" dirty="0" smtClean="0">
                <a:solidFill>
                  <a:srgbClr val="7030A0"/>
                </a:solidFill>
                <a:latin typeface="Cambria" panose="02040503050406030204" pitchFamily="18" charset="0"/>
                <a:ea typeface="Cambria" panose="02040503050406030204" pitchFamily="18" charset="0"/>
              </a:rPr>
              <a:t>File: </a:t>
            </a:r>
            <a:r>
              <a:rPr lang="en-US" sz="4000" b="1" i="1" dirty="0" err="1" smtClean="0">
                <a:solidFill>
                  <a:srgbClr val="7030A0"/>
                </a:solidFill>
                <a:latin typeface="Cambria" panose="02040503050406030204" pitchFamily="18" charset="0"/>
                <a:ea typeface="Cambria" panose="02040503050406030204" pitchFamily="18" charset="0"/>
              </a:rPr>
              <a:t>ControllerServlet</a:t>
            </a:r>
            <a:endParaRPr lang="en-US" sz="4000" b="1" dirty="0">
              <a:solidFill>
                <a:srgbClr val="7030A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695400" y="777859"/>
            <a:ext cx="10515600" cy="5033979"/>
          </a:xfrm>
        </p:spPr>
        <p:txBody>
          <a:bodyPr/>
          <a:lstStyle/>
          <a:p>
            <a:pPr>
              <a:spcBef>
                <a:spcPts val="0"/>
              </a:spcBef>
              <a:buNone/>
            </a:pPr>
            <a:r>
              <a:rPr lang="en-US" sz="2000" b="1" dirty="0" smtClean="0">
                <a:latin typeface="Cambria" panose="02040503050406030204" pitchFamily="18" charset="0"/>
                <a:ea typeface="Cambria" panose="02040503050406030204" pitchFamily="18" charset="0"/>
              </a:rPr>
              <a:t>package</a:t>
            </a:r>
            <a:r>
              <a:rPr lang="en-US" sz="2000" dirty="0" smtClean="0">
                <a:latin typeface="Cambria" panose="02040503050406030204" pitchFamily="18" charset="0"/>
                <a:ea typeface="Cambria" panose="02040503050406030204" pitchFamily="18" charset="0"/>
              </a:rPr>
              <a:t> com.pu;  </a:t>
            </a:r>
          </a:p>
          <a:p>
            <a:pPr>
              <a:spcBef>
                <a:spcPts val="0"/>
              </a:spcBef>
              <a:buNone/>
            </a:pPr>
            <a:r>
              <a:rPr lang="en-US" sz="2000" b="1" dirty="0" smtClean="0">
                <a:latin typeface="Cambria" panose="02040503050406030204" pitchFamily="18" charset="0"/>
                <a:ea typeface="Cambria" panose="02040503050406030204" pitchFamily="18" charset="0"/>
              </a:rPr>
              <a:t>import</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java.io.IOException</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b="1" dirty="0" smtClean="0">
                <a:latin typeface="Cambria" panose="02040503050406030204" pitchFamily="18" charset="0"/>
                <a:ea typeface="Cambria" panose="02040503050406030204" pitchFamily="18" charset="0"/>
              </a:rPr>
              <a:t>import</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java.io.PrintWriter</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b="1" dirty="0" smtClean="0">
                <a:latin typeface="Cambria" panose="02040503050406030204" pitchFamily="18" charset="0"/>
                <a:ea typeface="Cambria" panose="02040503050406030204" pitchFamily="18" charset="0"/>
              </a:rPr>
              <a:t>import</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javax.servlet.RequestDispatcher</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b="1" dirty="0" smtClean="0">
                <a:latin typeface="Cambria" panose="02040503050406030204" pitchFamily="18" charset="0"/>
                <a:ea typeface="Cambria" panose="02040503050406030204" pitchFamily="18" charset="0"/>
              </a:rPr>
              <a:t>import</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javax.servlet.ServletException</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b="1" dirty="0" smtClean="0">
                <a:latin typeface="Cambria" panose="02040503050406030204" pitchFamily="18" charset="0"/>
                <a:ea typeface="Cambria" panose="02040503050406030204" pitchFamily="18" charset="0"/>
              </a:rPr>
              <a:t>import</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javax.servlet.http.HttpServlet</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b="1" dirty="0" smtClean="0">
                <a:latin typeface="Cambria" panose="02040503050406030204" pitchFamily="18" charset="0"/>
                <a:ea typeface="Cambria" panose="02040503050406030204" pitchFamily="18" charset="0"/>
              </a:rPr>
              <a:t>import</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javax.servlet.http.HttpServletRequest</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b="1" dirty="0" smtClean="0">
                <a:latin typeface="Cambria" panose="02040503050406030204" pitchFamily="18" charset="0"/>
                <a:ea typeface="Cambria" panose="02040503050406030204" pitchFamily="18" charset="0"/>
              </a:rPr>
              <a:t>import</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javax.servlet.http.HttpServletResponse</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b="1" dirty="0" smtClean="0">
                <a:latin typeface="Cambria" panose="02040503050406030204" pitchFamily="18" charset="0"/>
                <a:ea typeface="Cambria" panose="02040503050406030204" pitchFamily="18" charset="0"/>
              </a:rPr>
              <a:t>public</a:t>
            </a: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class</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ControllerServlet</a:t>
            </a: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extends</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HttpServlet</a:t>
            </a:r>
            <a:r>
              <a:rPr lang="en-US" sz="2000" dirty="0" smtClean="0">
                <a:latin typeface="Cambria" panose="02040503050406030204" pitchFamily="18" charset="0"/>
                <a:ea typeface="Cambria" panose="02040503050406030204" pitchFamily="18" charset="0"/>
              </a:rPr>
              <a:t> {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protected</a:t>
            </a: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void</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doPost</a:t>
            </a:r>
            <a:r>
              <a:rPr lang="en-US" sz="2000" dirty="0" smtClean="0">
                <a:latin typeface="Cambria" panose="02040503050406030204" pitchFamily="18" charset="0"/>
                <a:ea typeface="Cambria" panose="02040503050406030204" pitchFamily="18" charset="0"/>
              </a:rPr>
              <a:t>(</a:t>
            </a:r>
            <a:r>
              <a:rPr lang="en-US" sz="2000" dirty="0" err="1" smtClean="0">
                <a:latin typeface="Cambria" panose="02040503050406030204" pitchFamily="18" charset="0"/>
                <a:ea typeface="Cambria" panose="02040503050406030204" pitchFamily="18" charset="0"/>
              </a:rPr>
              <a:t>HttpServletRequest</a:t>
            </a:r>
            <a:r>
              <a:rPr lang="en-US" sz="2000" dirty="0" smtClean="0">
                <a:latin typeface="Cambria" panose="02040503050406030204" pitchFamily="18" charset="0"/>
                <a:ea typeface="Cambria" panose="02040503050406030204" pitchFamily="18" charset="0"/>
              </a:rPr>
              <a:t> request, </a:t>
            </a:r>
            <a:r>
              <a:rPr lang="en-US" sz="2000" dirty="0" err="1" smtClean="0">
                <a:latin typeface="Cambria" panose="02040503050406030204" pitchFamily="18" charset="0"/>
                <a:ea typeface="Cambria" panose="02040503050406030204" pitchFamily="18" charset="0"/>
              </a:rPr>
              <a:t>HttpServletResponse</a:t>
            </a:r>
            <a:r>
              <a:rPr lang="en-US" sz="2000" dirty="0" smtClean="0">
                <a:latin typeface="Cambria" panose="02040503050406030204" pitchFamily="18" charset="0"/>
                <a:ea typeface="Cambria" panose="02040503050406030204" pitchFamily="18" charset="0"/>
              </a:rPr>
              <a:t> response)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throws</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ServletException</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IOException</a:t>
            </a:r>
            <a:r>
              <a:rPr lang="en-US" sz="2000" dirty="0" smtClean="0">
                <a:latin typeface="Cambria" panose="02040503050406030204" pitchFamily="18" charset="0"/>
                <a:ea typeface="Cambria" panose="02040503050406030204" pitchFamily="18" charset="0"/>
              </a:rPr>
              <a:t> {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response.setContentType</a:t>
            </a:r>
            <a:r>
              <a:rPr lang="en-US" sz="2000" dirty="0" smtClean="0">
                <a:latin typeface="Cambria" panose="02040503050406030204" pitchFamily="18" charset="0"/>
                <a:ea typeface="Cambria" panose="02040503050406030204" pitchFamily="18" charset="0"/>
              </a:rPr>
              <a:t>("text/html");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PrintWriter</a:t>
            </a:r>
            <a:r>
              <a:rPr lang="en-US" sz="2000" dirty="0" smtClean="0">
                <a:latin typeface="Cambria" panose="02040503050406030204" pitchFamily="18" charset="0"/>
                <a:ea typeface="Cambria" panose="02040503050406030204" pitchFamily="18" charset="0"/>
              </a:rPr>
              <a:t> out=</a:t>
            </a:r>
            <a:r>
              <a:rPr lang="en-US" sz="2000" dirty="0" err="1" smtClean="0">
                <a:latin typeface="Cambria" panose="02040503050406030204" pitchFamily="18" charset="0"/>
                <a:ea typeface="Cambria" panose="02040503050406030204" pitchFamily="18" charset="0"/>
              </a:rPr>
              <a:t>response.getWriter</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smtClean="0">
                <a:latin typeface="Cambria" panose="02040503050406030204" pitchFamily="18" charset="0"/>
                <a:ea typeface="Cambria" panose="02040503050406030204" pitchFamily="18" charset="0"/>
              </a:rPr>
              <a:t>        String name=</a:t>
            </a:r>
            <a:r>
              <a:rPr lang="en-US" sz="2000" dirty="0" err="1" smtClean="0">
                <a:latin typeface="Cambria" panose="02040503050406030204" pitchFamily="18" charset="0"/>
                <a:ea typeface="Cambria" panose="02040503050406030204" pitchFamily="18" charset="0"/>
              </a:rPr>
              <a:t>request.getParameter</a:t>
            </a:r>
            <a:r>
              <a:rPr lang="en-US" sz="2000" dirty="0" smtClean="0">
                <a:latin typeface="Cambria" panose="02040503050406030204" pitchFamily="18" charset="0"/>
                <a:ea typeface="Cambria" panose="02040503050406030204" pitchFamily="18" charset="0"/>
              </a:rPr>
              <a:t>("name");  </a:t>
            </a:r>
          </a:p>
          <a:p>
            <a:pPr>
              <a:spcBef>
                <a:spcPts val="0"/>
              </a:spcBef>
              <a:buNone/>
            </a:pPr>
            <a:r>
              <a:rPr lang="en-US" sz="2000" dirty="0" smtClean="0">
                <a:latin typeface="Cambria" panose="02040503050406030204" pitchFamily="18" charset="0"/>
                <a:ea typeface="Cambria" panose="02040503050406030204" pitchFamily="18" charset="0"/>
              </a:rPr>
              <a:t>        String password=</a:t>
            </a:r>
            <a:r>
              <a:rPr lang="en-US" sz="2000" dirty="0" err="1" smtClean="0">
                <a:latin typeface="Cambria" panose="02040503050406030204" pitchFamily="18" charset="0"/>
                <a:ea typeface="Cambria" panose="02040503050406030204" pitchFamily="18" charset="0"/>
              </a:rPr>
              <a:t>request.getParameter</a:t>
            </a:r>
            <a:r>
              <a:rPr lang="en-US" sz="2000" dirty="0" smtClean="0">
                <a:latin typeface="Cambria" panose="02040503050406030204" pitchFamily="18" charset="0"/>
                <a:ea typeface="Cambria" panose="02040503050406030204" pitchFamily="18" charset="0"/>
              </a:rPr>
              <a:t>("password");  </a:t>
            </a:r>
          </a:p>
          <a:p>
            <a:pPr>
              <a:spcBef>
                <a:spcPts val="0"/>
              </a:spcBef>
              <a:buNone/>
            </a:pP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smtClean="0">
                <a:latin typeface="Cambria" panose="02040503050406030204" pitchFamily="18" charset="0"/>
                <a:ea typeface="Cambria" panose="02040503050406030204" pitchFamily="18" charset="0"/>
              </a:rPr>
              <a:t>        </a:t>
            </a:r>
            <a:endParaRPr lang="en-US" sz="20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120</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344" y="0"/>
            <a:ext cx="10515600" cy="777859"/>
          </a:xfrm>
        </p:spPr>
        <p:txBody>
          <a:bodyPr/>
          <a:lstStyle/>
          <a:p>
            <a:r>
              <a:rPr lang="en-US" sz="4000" b="1" i="1" dirty="0" smtClean="0">
                <a:solidFill>
                  <a:srgbClr val="7030A0"/>
                </a:solidFill>
                <a:latin typeface="Cambria" panose="02040503050406030204" pitchFamily="18" charset="0"/>
                <a:ea typeface="Cambria" panose="02040503050406030204" pitchFamily="18" charset="0"/>
              </a:rPr>
              <a:t>File: </a:t>
            </a:r>
            <a:r>
              <a:rPr lang="en-US" sz="4000" b="1" i="1" dirty="0" err="1" smtClean="0">
                <a:solidFill>
                  <a:srgbClr val="7030A0"/>
                </a:solidFill>
                <a:latin typeface="Cambria" panose="02040503050406030204" pitchFamily="18" charset="0"/>
                <a:ea typeface="Cambria" panose="02040503050406030204" pitchFamily="18" charset="0"/>
              </a:rPr>
              <a:t>ControllerServlet</a:t>
            </a:r>
            <a:endParaRPr lang="en-US" sz="4000" b="1" dirty="0">
              <a:solidFill>
                <a:srgbClr val="7030A0"/>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767408" y="620688"/>
            <a:ext cx="9649072" cy="5578491"/>
          </a:xfrm>
        </p:spPr>
        <p:txBody>
          <a:bodyPr/>
          <a:lstStyle/>
          <a:p>
            <a:pPr>
              <a:spcBef>
                <a:spcPts val="0"/>
              </a:spcBef>
              <a:buNone/>
            </a:pPr>
            <a:r>
              <a:rPr lang="en-US" sz="2000" dirty="0">
                <a:latin typeface="Cambria" panose="02040503050406030204" pitchFamily="18" charset="0"/>
                <a:ea typeface="Cambria" panose="02040503050406030204" pitchFamily="18" charset="0"/>
              </a:rPr>
              <a:t> </a:t>
            </a:r>
            <a:r>
              <a:rPr lang="en-US" sz="2000" dirty="0" smtClean="0">
                <a:latin typeface="Cambria" panose="02040503050406030204" pitchFamily="18" charset="0"/>
                <a:ea typeface="Cambria" panose="02040503050406030204" pitchFamily="18" charset="0"/>
              </a:rPr>
              <a:t>      LoginBean bean=</a:t>
            </a:r>
            <a:r>
              <a:rPr lang="en-US" sz="2000" b="1" dirty="0" smtClean="0">
                <a:latin typeface="Cambria" panose="02040503050406030204" pitchFamily="18" charset="0"/>
                <a:ea typeface="Cambria" panose="02040503050406030204" pitchFamily="18" charset="0"/>
              </a:rPr>
              <a:t>new</a:t>
            </a:r>
            <a:r>
              <a:rPr lang="en-US" sz="2000" dirty="0" smtClean="0">
                <a:latin typeface="Cambria" panose="02040503050406030204" pitchFamily="18" charset="0"/>
                <a:ea typeface="Cambria" panose="02040503050406030204" pitchFamily="18" charset="0"/>
              </a:rPr>
              <a:t> LoginBean();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bean.setName</a:t>
            </a:r>
            <a:r>
              <a:rPr lang="en-US" sz="2000" dirty="0" smtClean="0">
                <a:latin typeface="Cambria" panose="02040503050406030204" pitchFamily="18" charset="0"/>
                <a:ea typeface="Cambria" panose="02040503050406030204" pitchFamily="18" charset="0"/>
              </a:rPr>
              <a:t>(name);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bean.setPassword</a:t>
            </a:r>
            <a:r>
              <a:rPr lang="en-US" sz="2000" dirty="0" smtClean="0">
                <a:latin typeface="Cambria" panose="02040503050406030204" pitchFamily="18" charset="0"/>
                <a:ea typeface="Cambria" panose="02040503050406030204" pitchFamily="18" charset="0"/>
              </a:rPr>
              <a:t>(password);  </a:t>
            </a:r>
          </a:p>
          <a:p>
            <a:pPr>
              <a:spcBef>
                <a:spcPts val="0"/>
              </a:spcBef>
              <a:buNone/>
            </a:pPr>
            <a:r>
              <a:rPr lang="en-US" sz="2000" dirty="0" smtClean="0">
                <a:latin typeface="Cambria" panose="02040503050406030204" pitchFamily="18" charset="0"/>
                <a:ea typeface="Cambria" panose="02040503050406030204" pitchFamily="18" charset="0"/>
              </a:rPr>
              <a:t>        request.setAttribute("bean",bean);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boolean</a:t>
            </a:r>
            <a:r>
              <a:rPr lang="en-US" sz="2000" dirty="0" smtClean="0">
                <a:latin typeface="Cambria" panose="02040503050406030204" pitchFamily="18" charset="0"/>
                <a:ea typeface="Cambria" panose="02040503050406030204" pitchFamily="18" charset="0"/>
              </a:rPr>
              <a:t> status=bean.validate();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if</a:t>
            </a:r>
            <a:r>
              <a:rPr lang="en-US" sz="2000" dirty="0" smtClean="0">
                <a:latin typeface="Cambria" panose="02040503050406030204" pitchFamily="18" charset="0"/>
                <a:ea typeface="Cambria" panose="02040503050406030204" pitchFamily="18" charset="0"/>
              </a:rPr>
              <a:t>(status){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RequestDispatcher</a:t>
            </a:r>
            <a:r>
              <a:rPr lang="en-US" sz="2000" dirty="0" smtClean="0">
                <a:latin typeface="Cambria" panose="02040503050406030204" pitchFamily="18" charset="0"/>
                <a:ea typeface="Cambria" panose="02040503050406030204" pitchFamily="18" charset="0"/>
              </a:rPr>
              <a:t> rd=</a:t>
            </a:r>
            <a:r>
              <a:rPr lang="en-US" sz="2000" dirty="0" err="1" smtClean="0">
                <a:latin typeface="Cambria" panose="02040503050406030204" pitchFamily="18" charset="0"/>
                <a:ea typeface="Cambria" panose="02040503050406030204" pitchFamily="18" charset="0"/>
              </a:rPr>
              <a:t>request.getRequestDispatcher</a:t>
            </a:r>
            <a:r>
              <a:rPr lang="en-US" sz="2000" dirty="0" smtClean="0">
                <a:latin typeface="Cambria" panose="02040503050406030204" pitchFamily="18" charset="0"/>
                <a:ea typeface="Cambria" panose="02040503050406030204" pitchFamily="18" charset="0"/>
              </a:rPr>
              <a:t>("login-success.jsp");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rd.forward</a:t>
            </a:r>
            <a:r>
              <a:rPr lang="en-US" sz="2000" dirty="0" smtClean="0">
                <a:latin typeface="Cambria" panose="02040503050406030204" pitchFamily="18" charset="0"/>
                <a:ea typeface="Cambria" panose="02040503050406030204" pitchFamily="18" charset="0"/>
              </a:rPr>
              <a:t>(request, response);  </a:t>
            </a:r>
          </a:p>
          <a:p>
            <a:pPr>
              <a:spcBef>
                <a:spcPts val="0"/>
              </a:spcBef>
              <a:buNone/>
            </a:pPr>
            <a:r>
              <a:rPr lang="en-US" sz="2000" dirty="0" smtClean="0">
                <a:latin typeface="Cambria" panose="02040503050406030204" pitchFamily="18" charset="0"/>
                <a:ea typeface="Cambria" panose="02040503050406030204" pitchFamily="18" charset="0"/>
              </a:rPr>
              <a:t>        }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else</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RequestDispatcher</a:t>
            </a:r>
            <a:r>
              <a:rPr lang="en-US" sz="2000" dirty="0" smtClean="0">
                <a:latin typeface="Cambria" panose="02040503050406030204" pitchFamily="18" charset="0"/>
                <a:ea typeface="Cambria" panose="02040503050406030204" pitchFamily="18" charset="0"/>
              </a:rPr>
              <a:t> rd=</a:t>
            </a:r>
            <a:r>
              <a:rPr lang="en-US" sz="2000" dirty="0" err="1" smtClean="0">
                <a:latin typeface="Cambria" panose="02040503050406030204" pitchFamily="18" charset="0"/>
                <a:ea typeface="Cambria" panose="02040503050406030204" pitchFamily="18" charset="0"/>
              </a:rPr>
              <a:t>request.getRequestDispatcher</a:t>
            </a:r>
            <a:r>
              <a:rPr lang="en-US" sz="2000" dirty="0" smtClean="0">
                <a:latin typeface="Cambria" panose="02040503050406030204" pitchFamily="18" charset="0"/>
                <a:ea typeface="Cambria" panose="02040503050406030204" pitchFamily="18" charset="0"/>
              </a:rPr>
              <a:t>("login-error.jsp");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rd.forward</a:t>
            </a:r>
            <a:r>
              <a:rPr lang="en-US" sz="2000" dirty="0" smtClean="0">
                <a:latin typeface="Cambria" panose="02040503050406030204" pitchFamily="18" charset="0"/>
                <a:ea typeface="Cambria" panose="02040503050406030204" pitchFamily="18" charset="0"/>
              </a:rPr>
              <a:t>(request, response);  </a:t>
            </a:r>
          </a:p>
          <a:p>
            <a:pPr>
              <a:spcBef>
                <a:spcPts val="0"/>
              </a:spcBef>
              <a:buNone/>
            </a:pPr>
            <a:r>
              <a:rPr lang="en-US" sz="2000" dirty="0" smtClean="0">
                <a:latin typeface="Cambria" panose="02040503050406030204" pitchFamily="18" charset="0"/>
                <a:ea typeface="Cambria" panose="02040503050406030204" pitchFamily="18" charset="0"/>
              </a:rPr>
              <a:t>        }        </a:t>
            </a:r>
          </a:p>
          <a:p>
            <a:pPr>
              <a:spcBef>
                <a:spcPts val="0"/>
              </a:spcBef>
              <a:buNone/>
            </a:pPr>
            <a:r>
              <a:rPr lang="en-US" sz="2000" dirty="0" smtClean="0">
                <a:latin typeface="Cambria" panose="02040503050406030204" pitchFamily="18" charset="0"/>
                <a:ea typeface="Cambria" panose="02040503050406030204" pitchFamily="18" charset="0"/>
              </a:rPr>
              <a:t>    }    </a:t>
            </a:r>
          </a:p>
          <a:p>
            <a:pPr>
              <a:spcBef>
                <a:spcPts val="0"/>
              </a:spcBef>
              <a:buNone/>
            </a:pPr>
            <a:r>
              <a:rPr lang="en-US" sz="2000" dirty="0" smtClean="0">
                <a:latin typeface="Cambria" panose="02040503050406030204" pitchFamily="18" charset="0"/>
                <a:ea typeface="Cambria" panose="02040503050406030204" pitchFamily="18" charset="0"/>
              </a:rPr>
              <a:t>    @Override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protected</a:t>
            </a: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void</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doGet</a:t>
            </a:r>
            <a:r>
              <a:rPr lang="en-US" sz="2000" dirty="0" smtClean="0">
                <a:latin typeface="Cambria" panose="02040503050406030204" pitchFamily="18" charset="0"/>
                <a:ea typeface="Cambria" panose="02040503050406030204" pitchFamily="18" charset="0"/>
              </a:rPr>
              <a:t>(</a:t>
            </a:r>
            <a:r>
              <a:rPr lang="en-US" sz="2000" dirty="0" err="1" smtClean="0">
                <a:latin typeface="Cambria" panose="02040503050406030204" pitchFamily="18" charset="0"/>
                <a:ea typeface="Cambria" panose="02040503050406030204" pitchFamily="18" charset="0"/>
              </a:rPr>
              <a:t>HttpServletRequest</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req</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HttpServletResponse</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resp</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throws</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ServletException</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IOException</a:t>
            </a:r>
            <a:r>
              <a:rPr lang="en-US" sz="2000" dirty="0" smtClean="0">
                <a:latin typeface="Cambria" panose="02040503050406030204" pitchFamily="18" charset="0"/>
                <a:ea typeface="Cambria" panose="02040503050406030204" pitchFamily="18" charset="0"/>
              </a:rPr>
              <a:t> {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doPost</a:t>
            </a:r>
            <a:r>
              <a:rPr lang="en-US" sz="2000" dirty="0" smtClean="0">
                <a:latin typeface="Cambria" panose="02040503050406030204" pitchFamily="18" charset="0"/>
                <a:ea typeface="Cambria" panose="02040503050406030204" pitchFamily="18" charset="0"/>
              </a:rPr>
              <a:t>(</a:t>
            </a:r>
            <a:r>
              <a:rPr lang="en-US" sz="2000" dirty="0" err="1" smtClean="0">
                <a:latin typeface="Cambria" panose="02040503050406030204" pitchFamily="18" charset="0"/>
                <a:ea typeface="Cambria" panose="02040503050406030204" pitchFamily="18" charset="0"/>
              </a:rPr>
              <a:t>req</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resp</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smtClean="0">
                <a:latin typeface="Cambria" panose="02040503050406030204" pitchFamily="18" charset="0"/>
                <a:ea typeface="Cambria" panose="02040503050406030204" pitchFamily="18" charset="0"/>
              </a:rPr>
              <a:t>    }  </a:t>
            </a:r>
          </a:p>
          <a:p>
            <a:pPr>
              <a:spcBef>
                <a:spcPts val="0"/>
              </a:spcBef>
              <a:buNone/>
            </a:pPr>
            <a:r>
              <a:rPr lang="en-US" sz="2000" dirty="0" smtClean="0">
                <a:latin typeface="Cambria" panose="02040503050406030204" pitchFamily="18" charset="0"/>
                <a:ea typeface="Cambria" panose="02040503050406030204" pitchFamily="18" charset="0"/>
              </a:rPr>
              <a:t>}  </a:t>
            </a:r>
            <a:endParaRPr lang="en-US" sz="20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121</a:t>
            </a:fld>
            <a:endParaRPr lang="en-US" altLang="en-US">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3866363918"/>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9336" y="50665"/>
            <a:ext cx="10515600" cy="634983"/>
          </a:xfrm>
        </p:spPr>
        <p:txBody>
          <a:bodyPr/>
          <a:lstStyle/>
          <a:p>
            <a:r>
              <a:rPr lang="en-US" sz="3600" b="1" i="1" dirty="0" smtClean="0">
                <a:solidFill>
                  <a:schemeClr val="accent5"/>
                </a:solidFill>
                <a:latin typeface="Cambria" panose="02040503050406030204" pitchFamily="18" charset="0"/>
                <a:ea typeface="Cambria" panose="02040503050406030204" pitchFamily="18" charset="0"/>
              </a:rPr>
              <a:t/>
            </a:r>
            <a:br>
              <a:rPr lang="en-US" sz="3600" b="1" i="1" dirty="0" smtClean="0">
                <a:solidFill>
                  <a:schemeClr val="accent5"/>
                </a:solidFill>
                <a:latin typeface="Cambria" panose="02040503050406030204" pitchFamily="18" charset="0"/>
                <a:ea typeface="Cambria" panose="02040503050406030204" pitchFamily="18" charset="0"/>
              </a:rPr>
            </a:br>
            <a:r>
              <a:rPr lang="en-US" sz="3600" b="1" i="1" dirty="0" smtClean="0">
                <a:solidFill>
                  <a:schemeClr val="accent5"/>
                </a:solidFill>
                <a:latin typeface="Cambria" panose="02040503050406030204" pitchFamily="18" charset="0"/>
                <a:ea typeface="Cambria" panose="02040503050406030204" pitchFamily="18" charset="0"/>
              </a:rPr>
              <a:t>File: login-success.jsp </a:t>
            </a:r>
            <a:r>
              <a:rPr lang="en-US" sz="3600" b="1" dirty="0" smtClean="0">
                <a:solidFill>
                  <a:schemeClr val="accent5"/>
                </a:solidFill>
                <a:latin typeface="Cambria" panose="02040503050406030204" pitchFamily="18" charset="0"/>
                <a:ea typeface="Cambria" panose="02040503050406030204" pitchFamily="18" charset="0"/>
              </a:rPr>
              <a:t/>
            </a:r>
            <a:br>
              <a:rPr lang="en-US" sz="3600" b="1" dirty="0" smtClean="0">
                <a:solidFill>
                  <a:schemeClr val="accent5"/>
                </a:solidFill>
                <a:latin typeface="Cambria" panose="02040503050406030204" pitchFamily="18" charset="0"/>
                <a:ea typeface="Cambria" panose="02040503050406030204" pitchFamily="18" charset="0"/>
              </a:rPr>
            </a:br>
            <a:endParaRPr lang="en-US" sz="36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838200" y="857233"/>
            <a:ext cx="10515600" cy="1923695"/>
          </a:xfrm>
        </p:spPr>
        <p:txBody>
          <a:bodyPr/>
          <a:lstStyle/>
          <a:p>
            <a:pPr algn="just">
              <a:spcBef>
                <a:spcPts val="0"/>
              </a:spcBef>
              <a:buNone/>
            </a:pPr>
            <a:r>
              <a:rPr lang="en-US" sz="2000" dirty="0" smtClean="0">
                <a:latin typeface="Cambria" panose="02040503050406030204" pitchFamily="18" charset="0"/>
                <a:ea typeface="Cambria" panose="02040503050406030204" pitchFamily="18" charset="0"/>
              </a:rPr>
              <a:t>&lt;%@page </a:t>
            </a:r>
            <a:r>
              <a:rPr lang="en-US" sz="2000" b="1" dirty="0" smtClean="0">
                <a:latin typeface="Cambria" panose="02040503050406030204" pitchFamily="18" charset="0"/>
                <a:ea typeface="Cambria" panose="02040503050406030204" pitchFamily="18" charset="0"/>
              </a:rPr>
              <a:t>import</a:t>
            </a:r>
            <a:r>
              <a:rPr lang="en-US" sz="2000" dirty="0" smtClean="0">
                <a:latin typeface="Cambria" panose="02040503050406030204" pitchFamily="18" charset="0"/>
                <a:ea typeface="Cambria" panose="02040503050406030204" pitchFamily="18" charset="0"/>
              </a:rPr>
              <a:t>="com.pu.LoginBean"%&gt;  </a:t>
            </a:r>
          </a:p>
          <a:p>
            <a:pPr algn="just">
              <a:spcBef>
                <a:spcPts val="0"/>
              </a:spcBef>
              <a:buNone/>
            </a:pPr>
            <a:r>
              <a:rPr lang="en-US" sz="2000" dirty="0" smtClean="0">
                <a:latin typeface="Cambria" panose="02040503050406030204" pitchFamily="18" charset="0"/>
                <a:ea typeface="Cambria" panose="02040503050406030204" pitchFamily="18" charset="0"/>
              </a:rPr>
              <a:t>  </a:t>
            </a:r>
          </a:p>
          <a:p>
            <a:pPr algn="just">
              <a:spcBef>
                <a:spcPts val="0"/>
              </a:spcBef>
              <a:buNone/>
            </a:pPr>
            <a:r>
              <a:rPr lang="en-US" sz="2000" dirty="0" smtClean="0">
                <a:latin typeface="Cambria" panose="02040503050406030204" pitchFamily="18" charset="0"/>
                <a:ea typeface="Cambria" panose="02040503050406030204" pitchFamily="18" charset="0"/>
              </a:rPr>
              <a:t>&lt;p&gt;You are successfully logged in!&lt;/p&gt;  </a:t>
            </a:r>
          </a:p>
          <a:p>
            <a:pPr algn="just">
              <a:spcBef>
                <a:spcPts val="0"/>
              </a:spcBef>
              <a:buNone/>
            </a:pPr>
            <a:r>
              <a:rPr lang="en-US" sz="2000" dirty="0" smtClean="0">
                <a:latin typeface="Cambria" panose="02040503050406030204" pitchFamily="18" charset="0"/>
                <a:ea typeface="Cambria" panose="02040503050406030204" pitchFamily="18" charset="0"/>
              </a:rPr>
              <a:t>&lt;%  </a:t>
            </a:r>
          </a:p>
          <a:p>
            <a:pPr algn="just">
              <a:spcBef>
                <a:spcPts val="0"/>
              </a:spcBef>
              <a:buNone/>
            </a:pPr>
            <a:r>
              <a:rPr lang="en-US" sz="2000" dirty="0" err="1" smtClean="0">
                <a:latin typeface="Cambria" panose="02040503050406030204" pitchFamily="18" charset="0"/>
                <a:ea typeface="Cambria" panose="02040503050406030204" pitchFamily="18" charset="0"/>
              </a:rPr>
              <a:t>LoginBean</a:t>
            </a:r>
            <a:r>
              <a:rPr lang="en-US" sz="2000" dirty="0" smtClean="0">
                <a:latin typeface="Cambria" panose="02040503050406030204" pitchFamily="18" charset="0"/>
                <a:ea typeface="Cambria" panose="02040503050406030204" pitchFamily="18" charset="0"/>
              </a:rPr>
              <a:t> bean=(</a:t>
            </a:r>
            <a:r>
              <a:rPr lang="en-US" sz="2000" dirty="0" err="1" smtClean="0">
                <a:latin typeface="Cambria" panose="02040503050406030204" pitchFamily="18" charset="0"/>
                <a:ea typeface="Cambria" panose="02040503050406030204" pitchFamily="18" charset="0"/>
              </a:rPr>
              <a:t>LoginBean</a:t>
            </a:r>
            <a:r>
              <a:rPr lang="en-US" sz="2000" dirty="0" smtClean="0">
                <a:latin typeface="Cambria" panose="02040503050406030204" pitchFamily="18" charset="0"/>
                <a:ea typeface="Cambria" panose="02040503050406030204" pitchFamily="18" charset="0"/>
              </a:rPr>
              <a:t>)</a:t>
            </a:r>
            <a:r>
              <a:rPr lang="en-US" sz="2000" dirty="0" err="1" smtClean="0">
                <a:latin typeface="Cambria" panose="02040503050406030204" pitchFamily="18" charset="0"/>
                <a:ea typeface="Cambria" panose="02040503050406030204" pitchFamily="18" charset="0"/>
              </a:rPr>
              <a:t>request.getAttribute</a:t>
            </a:r>
            <a:r>
              <a:rPr lang="en-US" sz="2000" dirty="0" smtClean="0">
                <a:latin typeface="Cambria" panose="02040503050406030204" pitchFamily="18" charset="0"/>
                <a:ea typeface="Cambria" panose="02040503050406030204" pitchFamily="18" charset="0"/>
              </a:rPr>
              <a:t>("bean");  </a:t>
            </a:r>
          </a:p>
          <a:p>
            <a:pPr algn="just">
              <a:spcBef>
                <a:spcPts val="0"/>
              </a:spcBef>
              <a:buNone/>
            </a:pPr>
            <a:r>
              <a:rPr lang="en-US" sz="2000" dirty="0" err="1" smtClean="0">
                <a:latin typeface="Cambria" panose="02040503050406030204" pitchFamily="18" charset="0"/>
                <a:ea typeface="Cambria" panose="02040503050406030204" pitchFamily="18" charset="0"/>
              </a:rPr>
              <a:t>out.print</a:t>
            </a:r>
            <a:r>
              <a:rPr lang="en-US" sz="2000" dirty="0" smtClean="0">
                <a:latin typeface="Cambria" panose="02040503050406030204" pitchFamily="18" charset="0"/>
                <a:ea typeface="Cambria" panose="02040503050406030204" pitchFamily="18" charset="0"/>
              </a:rPr>
              <a:t>("Welcome, "+</a:t>
            </a:r>
            <a:r>
              <a:rPr lang="en-US" sz="2000" dirty="0" err="1" smtClean="0">
                <a:latin typeface="Cambria" panose="02040503050406030204" pitchFamily="18" charset="0"/>
                <a:ea typeface="Cambria" panose="02040503050406030204" pitchFamily="18" charset="0"/>
              </a:rPr>
              <a:t>bean.getName</a:t>
            </a:r>
            <a:r>
              <a:rPr lang="en-US" sz="2000" dirty="0" smtClean="0">
                <a:latin typeface="Cambria" panose="02040503050406030204" pitchFamily="18" charset="0"/>
                <a:ea typeface="Cambria" panose="02040503050406030204" pitchFamily="18" charset="0"/>
              </a:rPr>
              <a:t>());  </a:t>
            </a:r>
          </a:p>
          <a:p>
            <a:pPr algn="just">
              <a:spcBef>
                <a:spcPts val="0"/>
              </a:spcBef>
              <a:buNone/>
            </a:pPr>
            <a:r>
              <a:rPr lang="en-US" sz="2000" dirty="0" smtClean="0">
                <a:latin typeface="Cambria" panose="02040503050406030204" pitchFamily="18" charset="0"/>
                <a:ea typeface="Cambria" panose="02040503050406030204" pitchFamily="18" charset="0"/>
              </a:rPr>
              <a:t>%&gt;  </a:t>
            </a:r>
          </a:p>
          <a:p>
            <a:pPr algn="just"/>
            <a:endParaRPr lang="en-US" sz="20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122</a:t>
            </a:fld>
            <a:endParaRPr lang="en-US" altLang="en-US">
              <a:latin typeface="Cambria" panose="02040503050406030204" pitchFamily="18" charset="0"/>
              <a:ea typeface="Cambria" panose="02040503050406030204" pitchFamily="18" charset="0"/>
            </a:endParaRPr>
          </a:p>
        </p:txBody>
      </p:sp>
      <p:sp>
        <p:nvSpPr>
          <p:cNvPr id="5" name="Title 1"/>
          <p:cNvSpPr txBox="1">
            <a:spLocks/>
          </p:cNvSpPr>
          <p:nvPr/>
        </p:nvSpPr>
        <p:spPr bwMode="auto">
          <a:xfrm>
            <a:off x="124218" y="2952513"/>
            <a:ext cx="4727848" cy="5486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l" rtl="0" fontAlgn="base">
              <a:lnSpc>
                <a:spcPct val="90000"/>
              </a:lnSpc>
              <a:spcBef>
                <a:spcPct val="0"/>
              </a:spcBef>
              <a:spcAft>
                <a:spcPct val="0"/>
              </a:spcAft>
              <a:defRPr sz="4400" kern="1200">
                <a:solidFill>
                  <a:schemeClr val="tx1"/>
                </a:solidFill>
                <a:latin typeface="+mj-lt"/>
                <a:ea typeface="+mj-ea"/>
                <a:cs typeface="+mj-cs"/>
              </a:defRPr>
            </a:lvl1pPr>
            <a:lvl2pPr algn="l" rtl="0" fontAlgn="base">
              <a:lnSpc>
                <a:spcPct val="90000"/>
              </a:lnSpc>
              <a:spcBef>
                <a:spcPct val="0"/>
              </a:spcBef>
              <a:spcAft>
                <a:spcPct val="0"/>
              </a:spcAft>
              <a:defRPr sz="4400">
                <a:solidFill>
                  <a:schemeClr val="tx1"/>
                </a:solidFill>
                <a:latin typeface="Calibri Light" panose="020F0302020204030204" pitchFamily="34" charset="0"/>
              </a:defRPr>
            </a:lvl2pPr>
            <a:lvl3pPr algn="l" rtl="0" fontAlgn="base">
              <a:lnSpc>
                <a:spcPct val="90000"/>
              </a:lnSpc>
              <a:spcBef>
                <a:spcPct val="0"/>
              </a:spcBef>
              <a:spcAft>
                <a:spcPct val="0"/>
              </a:spcAft>
              <a:defRPr sz="4400">
                <a:solidFill>
                  <a:schemeClr val="tx1"/>
                </a:solidFill>
                <a:latin typeface="Calibri Light" panose="020F0302020204030204" pitchFamily="34" charset="0"/>
              </a:defRPr>
            </a:lvl3pPr>
            <a:lvl4pPr algn="l" rtl="0" fontAlgn="base">
              <a:lnSpc>
                <a:spcPct val="90000"/>
              </a:lnSpc>
              <a:spcBef>
                <a:spcPct val="0"/>
              </a:spcBef>
              <a:spcAft>
                <a:spcPct val="0"/>
              </a:spcAft>
              <a:defRPr sz="4400">
                <a:solidFill>
                  <a:schemeClr val="tx1"/>
                </a:solidFill>
                <a:latin typeface="Calibri Light" panose="020F0302020204030204" pitchFamily="34" charset="0"/>
              </a:defRPr>
            </a:lvl4pPr>
            <a:lvl5pPr algn="l" rtl="0" fontAlgn="base">
              <a:lnSpc>
                <a:spcPct val="90000"/>
              </a:lnSpc>
              <a:spcBef>
                <a:spcPct val="0"/>
              </a:spcBef>
              <a:spcAft>
                <a:spcPct val="0"/>
              </a:spcAft>
              <a:defRPr sz="4400">
                <a:solidFill>
                  <a:schemeClr val="tx1"/>
                </a:solidFill>
                <a:latin typeface="Calibri Light" panose="020F0302020204030204" pitchFamily="34" charset="0"/>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defRPr>
            </a:lvl9pPr>
          </a:lstStyle>
          <a:p>
            <a:pPr eaLnBrk="1" hangingPunct="1"/>
            <a:r>
              <a:rPr lang="en-US" sz="3600" b="1" i="1" dirty="0" smtClean="0">
                <a:solidFill>
                  <a:schemeClr val="accent5"/>
                </a:solidFill>
                <a:latin typeface="Cambria" panose="02040503050406030204" pitchFamily="18" charset="0"/>
                <a:ea typeface="Cambria" panose="02040503050406030204" pitchFamily="18" charset="0"/>
              </a:rPr>
              <a:t>File: login-error.jsp</a:t>
            </a:r>
            <a:endParaRPr lang="en-US" sz="3600" b="1" dirty="0">
              <a:solidFill>
                <a:schemeClr val="accent5"/>
              </a:solidFill>
              <a:latin typeface="Cambria" panose="02040503050406030204" pitchFamily="18" charset="0"/>
              <a:ea typeface="Cambria" panose="02040503050406030204" pitchFamily="18" charset="0"/>
            </a:endParaRPr>
          </a:p>
        </p:txBody>
      </p:sp>
      <p:sp>
        <p:nvSpPr>
          <p:cNvPr id="6" name="Content Placeholder 2"/>
          <p:cNvSpPr txBox="1">
            <a:spLocks/>
          </p:cNvSpPr>
          <p:nvPr/>
        </p:nvSpPr>
        <p:spPr bwMode="auto">
          <a:xfrm>
            <a:off x="834189" y="3586969"/>
            <a:ext cx="10515600" cy="1348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228600" algn="l" rtl="0" fontAlgn="base">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fontAlgn="base">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fontAlgn="base">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fontAlgn="base">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eaLnBrk="1" hangingPunct="1">
              <a:buFont typeface="Arial" panose="020B0604020202020204" pitchFamily="34" charset="0"/>
              <a:buNone/>
            </a:pPr>
            <a:r>
              <a:rPr lang="en-US" sz="2000" smtClean="0">
                <a:latin typeface="Cambria" panose="02040503050406030204" pitchFamily="18" charset="0"/>
                <a:ea typeface="Cambria" panose="02040503050406030204" pitchFamily="18" charset="0"/>
              </a:rPr>
              <a:t>&lt;p&gt;Sorry! username or password error&lt;/p&gt;  </a:t>
            </a:r>
          </a:p>
          <a:p>
            <a:pPr eaLnBrk="1" hangingPunct="1">
              <a:buFont typeface="Arial" panose="020B0604020202020204" pitchFamily="34" charset="0"/>
              <a:buNone/>
            </a:pPr>
            <a:r>
              <a:rPr lang="en-US" sz="2000" smtClean="0">
                <a:latin typeface="Cambria" panose="02040503050406030204" pitchFamily="18" charset="0"/>
                <a:ea typeface="Cambria" panose="02040503050406030204" pitchFamily="18" charset="0"/>
              </a:rPr>
              <a:t>&lt;%@ include file="index.jsp" %&gt;  </a:t>
            </a:r>
          </a:p>
          <a:p>
            <a:pPr eaLnBrk="1" hangingPunct="1"/>
            <a:endParaRPr lang="en-US" sz="2000" dirty="0">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22" y="0"/>
            <a:ext cx="3745632" cy="455596"/>
          </a:xfrm>
        </p:spPr>
        <p:txBody>
          <a:bodyPr/>
          <a:lstStyle/>
          <a:p>
            <a:r>
              <a:rPr lang="en-US" sz="3600" b="1" i="1" dirty="0" smtClean="0">
                <a:solidFill>
                  <a:schemeClr val="accent5"/>
                </a:solidFill>
                <a:latin typeface="Cambria" panose="02040503050406030204" pitchFamily="18" charset="0"/>
                <a:ea typeface="Cambria" panose="02040503050406030204" pitchFamily="18" charset="0"/>
              </a:rPr>
              <a:t>File: web.xml </a:t>
            </a:r>
            <a:endParaRPr lang="en-US" sz="36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263352" y="455596"/>
            <a:ext cx="11305256" cy="5176855"/>
          </a:xfrm>
        </p:spPr>
        <p:txBody>
          <a:bodyPr/>
          <a:lstStyle/>
          <a:p>
            <a:pPr>
              <a:spcBef>
                <a:spcPts val="0"/>
              </a:spcBef>
              <a:buNone/>
            </a:pPr>
            <a:r>
              <a:rPr lang="en-US" sz="2000" b="1" dirty="0" smtClean="0">
                <a:latin typeface="Cambria" panose="02040503050406030204" pitchFamily="18" charset="0"/>
                <a:ea typeface="Cambria" panose="02040503050406030204" pitchFamily="18" charset="0"/>
              </a:rPr>
              <a:t>&lt;?xml</a:t>
            </a:r>
            <a:r>
              <a:rPr lang="en-US" sz="2000" dirty="0" smtClean="0">
                <a:latin typeface="Cambria" panose="02040503050406030204" pitchFamily="18" charset="0"/>
                <a:ea typeface="Cambria" panose="02040503050406030204" pitchFamily="18" charset="0"/>
              </a:rPr>
              <a:t> version="1.0" encoding="UTF-8"</a:t>
            </a:r>
            <a:r>
              <a:rPr lang="en-US" sz="2000" b="1" dirty="0" smtClean="0">
                <a:latin typeface="Cambria" panose="02040503050406030204" pitchFamily="18" charset="0"/>
                <a:ea typeface="Cambria" panose="02040503050406030204" pitchFamily="18" charset="0"/>
              </a:rPr>
              <a:t>?&gt;</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b="1" dirty="0" smtClean="0">
                <a:latin typeface="Cambria" panose="02040503050406030204" pitchFamily="18" charset="0"/>
                <a:ea typeface="Cambria" panose="02040503050406030204" pitchFamily="18" charset="0"/>
              </a:rPr>
              <a:t>&lt;web-app</a:t>
            </a:r>
            <a:r>
              <a:rPr lang="en-US" sz="2000" dirty="0" smtClean="0">
                <a:latin typeface="Cambria" panose="02040503050406030204" pitchFamily="18" charset="0"/>
                <a:ea typeface="Cambria" panose="02040503050406030204" pitchFamily="18" charset="0"/>
              </a:rPr>
              <a:t> </a:t>
            </a:r>
            <a:r>
              <a:rPr lang="en-US" sz="2000" dirty="0" err="1" smtClean="0">
                <a:latin typeface="Cambria" panose="02040503050406030204" pitchFamily="18" charset="0"/>
                <a:ea typeface="Cambria" panose="02040503050406030204" pitchFamily="18" charset="0"/>
              </a:rPr>
              <a:t>xmlns:xsi</a:t>
            </a:r>
            <a:r>
              <a:rPr lang="en-US" sz="2000" dirty="0" smtClean="0">
                <a:latin typeface="Cambria" panose="02040503050406030204" pitchFamily="18" charset="0"/>
                <a:ea typeface="Cambria" panose="02040503050406030204" pitchFamily="18" charset="0"/>
              </a:rPr>
              <a:t>="http://www.w3.org/2001/XMLSchema-instance"   </a:t>
            </a:r>
          </a:p>
          <a:p>
            <a:pPr>
              <a:spcBef>
                <a:spcPts val="0"/>
              </a:spcBef>
              <a:buNone/>
            </a:pPr>
            <a:r>
              <a:rPr lang="en-US" sz="2000" dirty="0" err="1" smtClean="0">
                <a:latin typeface="Cambria" panose="02040503050406030204" pitchFamily="18" charset="0"/>
                <a:ea typeface="Cambria" panose="02040503050406030204" pitchFamily="18" charset="0"/>
              </a:rPr>
              <a:t>xmlns</a:t>
            </a:r>
            <a:r>
              <a:rPr lang="en-US" sz="2000" dirty="0" smtClean="0">
                <a:latin typeface="Cambria" panose="02040503050406030204" pitchFamily="18" charset="0"/>
                <a:ea typeface="Cambria" panose="02040503050406030204" pitchFamily="18" charset="0"/>
              </a:rPr>
              <a:t>="http://java.sun.com/xml/ns/javaee" </a:t>
            </a:r>
            <a:r>
              <a:rPr lang="en-US" sz="2000" dirty="0" err="1" smtClean="0">
                <a:latin typeface="Cambria" panose="02040503050406030204" pitchFamily="18" charset="0"/>
                <a:ea typeface="Cambria" panose="02040503050406030204" pitchFamily="18" charset="0"/>
              </a:rPr>
              <a:t>xmlns:web</a:t>
            </a:r>
            <a:r>
              <a:rPr lang="en-US" sz="2000" dirty="0" smtClean="0">
                <a:latin typeface="Cambria" panose="02040503050406030204" pitchFamily="18" charset="0"/>
                <a:ea typeface="Cambria" panose="02040503050406030204" pitchFamily="18" charset="0"/>
              </a:rPr>
              <a:t>="http://java.sun.com/xml/ns/javaee/web-app_2_5.xsd"   </a:t>
            </a:r>
          </a:p>
          <a:p>
            <a:pPr>
              <a:spcBef>
                <a:spcPts val="0"/>
              </a:spcBef>
              <a:buNone/>
            </a:pPr>
            <a:r>
              <a:rPr lang="en-US" sz="2000" dirty="0" err="1" smtClean="0">
                <a:latin typeface="Cambria" panose="02040503050406030204" pitchFamily="18" charset="0"/>
                <a:ea typeface="Cambria" panose="02040503050406030204" pitchFamily="18" charset="0"/>
              </a:rPr>
              <a:t>xsi:schemaLocation</a:t>
            </a:r>
            <a:r>
              <a:rPr lang="en-US" sz="2000" dirty="0" smtClean="0">
                <a:latin typeface="Cambria" panose="02040503050406030204" pitchFamily="18" charset="0"/>
                <a:ea typeface="Cambria" panose="02040503050406030204" pitchFamily="18" charset="0"/>
              </a:rPr>
              <a:t>="http://java.sun.com/xml/ns/javaee http://java.sun.com/xml/ns/javaee/web-app_3_0.xsd"   </a:t>
            </a:r>
          </a:p>
          <a:p>
            <a:pPr>
              <a:spcBef>
                <a:spcPts val="0"/>
              </a:spcBef>
              <a:buNone/>
            </a:pPr>
            <a:r>
              <a:rPr lang="en-US" sz="2000" dirty="0" smtClean="0">
                <a:latin typeface="Cambria" panose="02040503050406030204" pitchFamily="18" charset="0"/>
                <a:ea typeface="Cambria" panose="02040503050406030204" pitchFamily="18" charset="0"/>
              </a:rPr>
              <a:t>id="</a:t>
            </a:r>
            <a:r>
              <a:rPr lang="en-US" sz="2000" dirty="0" err="1" smtClean="0">
                <a:latin typeface="Cambria" panose="02040503050406030204" pitchFamily="18" charset="0"/>
                <a:ea typeface="Cambria" panose="02040503050406030204" pitchFamily="18" charset="0"/>
              </a:rPr>
              <a:t>WebApp_ID</a:t>
            </a:r>
            <a:r>
              <a:rPr lang="en-US" sz="2000" dirty="0" smtClean="0">
                <a:latin typeface="Cambria" panose="02040503050406030204" pitchFamily="18" charset="0"/>
                <a:ea typeface="Cambria" panose="02040503050406030204" pitchFamily="18" charset="0"/>
              </a:rPr>
              <a:t>" version="3.0"</a:t>
            </a:r>
            <a:r>
              <a:rPr lang="en-US" sz="2000" b="1" dirty="0" smtClean="0">
                <a:latin typeface="Cambria" panose="02040503050406030204" pitchFamily="18" charset="0"/>
                <a:ea typeface="Cambria" panose="02040503050406030204" pitchFamily="18" charset="0"/>
              </a:rPr>
              <a:t>&gt;</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&lt;</a:t>
            </a:r>
            <a:r>
              <a:rPr lang="en-US" sz="2000" b="1" dirty="0" err="1" smtClean="0">
                <a:latin typeface="Cambria" panose="02040503050406030204" pitchFamily="18" charset="0"/>
                <a:ea typeface="Cambria" panose="02040503050406030204" pitchFamily="18" charset="0"/>
              </a:rPr>
              <a:t>servlet</a:t>
            </a:r>
            <a:r>
              <a:rPr lang="en-US" sz="2000" b="1" dirty="0" smtClean="0">
                <a:latin typeface="Cambria" panose="02040503050406030204" pitchFamily="18" charset="0"/>
                <a:ea typeface="Cambria" panose="02040503050406030204" pitchFamily="18" charset="0"/>
              </a:rPr>
              <a:t>&gt;</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&lt;</a:t>
            </a:r>
            <a:r>
              <a:rPr lang="en-US" sz="2000" b="1" dirty="0" err="1" smtClean="0">
                <a:latin typeface="Cambria" panose="02040503050406030204" pitchFamily="18" charset="0"/>
                <a:ea typeface="Cambria" panose="02040503050406030204" pitchFamily="18" charset="0"/>
              </a:rPr>
              <a:t>servlet</a:t>
            </a:r>
            <a:r>
              <a:rPr lang="en-US" sz="2000" b="1" dirty="0" smtClean="0">
                <a:latin typeface="Cambria" panose="02040503050406030204" pitchFamily="18" charset="0"/>
                <a:ea typeface="Cambria" panose="02040503050406030204" pitchFamily="18" charset="0"/>
              </a:rPr>
              <a:t>-name&gt;</a:t>
            </a:r>
            <a:r>
              <a:rPr lang="en-US" sz="2000" dirty="0" smtClean="0">
                <a:latin typeface="Cambria" panose="02040503050406030204" pitchFamily="18" charset="0"/>
                <a:ea typeface="Cambria" panose="02040503050406030204" pitchFamily="18" charset="0"/>
              </a:rPr>
              <a:t>s1</a:t>
            </a:r>
            <a:r>
              <a:rPr lang="en-US" sz="2000" b="1" dirty="0" smtClean="0">
                <a:latin typeface="Cambria" panose="02040503050406030204" pitchFamily="18" charset="0"/>
                <a:ea typeface="Cambria" panose="02040503050406030204" pitchFamily="18" charset="0"/>
              </a:rPr>
              <a:t>&lt;/</a:t>
            </a:r>
            <a:r>
              <a:rPr lang="en-US" sz="2000" b="1" dirty="0" err="1" smtClean="0">
                <a:latin typeface="Cambria" panose="02040503050406030204" pitchFamily="18" charset="0"/>
                <a:ea typeface="Cambria" panose="02040503050406030204" pitchFamily="18" charset="0"/>
              </a:rPr>
              <a:t>servlet</a:t>
            </a:r>
            <a:r>
              <a:rPr lang="en-US" sz="2000" b="1" dirty="0" smtClean="0">
                <a:latin typeface="Cambria" panose="02040503050406030204" pitchFamily="18" charset="0"/>
                <a:ea typeface="Cambria" panose="02040503050406030204" pitchFamily="18" charset="0"/>
              </a:rPr>
              <a:t>-name&gt;</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&lt;</a:t>
            </a:r>
            <a:r>
              <a:rPr lang="en-US" sz="2000" b="1" dirty="0" err="1" smtClean="0">
                <a:latin typeface="Cambria" panose="02040503050406030204" pitchFamily="18" charset="0"/>
                <a:ea typeface="Cambria" panose="02040503050406030204" pitchFamily="18" charset="0"/>
              </a:rPr>
              <a:t>servlet</a:t>
            </a:r>
            <a:r>
              <a:rPr lang="en-US" sz="2000" b="1" dirty="0" smtClean="0">
                <a:latin typeface="Cambria" panose="02040503050406030204" pitchFamily="18" charset="0"/>
                <a:ea typeface="Cambria" panose="02040503050406030204" pitchFamily="18" charset="0"/>
              </a:rPr>
              <a:t>-class&gt;</a:t>
            </a:r>
            <a:r>
              <a:rPr lang="en-US" sz="2000" dirty="0" err="1" smtClean="0">
                <a:latin typeface="Cambria" panose="02040503050406030204" pitchFamily="18" charset="0"/>
                <a:ea typeface="Cambria" panose="02040503050406030204" pitchFamily="18" charset="0"/>
              </a:rPr>
              <a:t>com.javatpoint.ControllerServlet</a:t>
            </a:r>
            <a:r>
              <a:rPr lang="en-US" sz="2000" b="1" dirty="0" smtClean="0">
                <a:latin typeface="Cambria" panose="02040503050406030204" pitchFamily="18" charset="0"/>
                <a:ea typeface="Cambria" panose="02040503050406030204" pitchFamily="18" charset="0"/>
              </a:rPr>
              <a:t>&lt;/</a:t>
            </a:r>
            <a:r>
              <a:rPr lang="en-US" sz="2000" b="1" dirty="0" err="1" smtClean="0">
                <a:latin typeface="Cambria" panose="02040503050406030204" pitchFamily="18" charset="0"/>
                <a:ea typeface="Cambria" panose="02040503050406030204" pitchFamily="18" charset="0"/>
              </a:rPr>
              <a:t>servlet</a:t>
            </a:r>
            <a:r>
              <a:rPr lang="en-US" sz="2000" b="1" dirty="0" smtClean="0">
                <a:latin typeface="Cambria" panose="02040503050406030204" pitchFamily="18" charset="0"/>
                <a:ea typeface="Cambria" panose="02040503050406030204" pitchFamily="18" charset="0"/>
              </a:rPr>
              <a:t>-class&gt;</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&lt;/</a:t>
            </a:r>
            <a:r>
              <a:rPr lang="en-US" sz="2000" b="1" dirty="0" err="1" smtClean="0">
                <a:latin typeface="Cambria" panose="02040503050406030204" pitchFamily="18" charset="0"/>
                <a:ea typeface="Cambria" panose="02040503050406030204" pitchFamily="18" charset="0"/>
              </a:rPr>
              <a:t>servlet</a:t>
            </a:r>
            <a:r>
              <a:rPr lang="en-US" sz="2000" b="1" dirty="0" smtClean="0">
                <a:latin typeface="Cambria" panose="02040503050406030204" pitchFamily="18" charset="0"/>
                <a:ea typeface="Cambria" panose="02040503050406030204" pitchFamily="18" charset="0"/>
              </a:rPr>
              <a:t>&gt;</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&lt;</a:t>
            </a:r>
            <a:r>
              <a:rPr lang="en-US" sz="2000" b="1" dirty="0" err="1" smtClean="0">
                <a:latin typeface="Cambria" panose="02040503050406030204" pitchFamily="18" charset="0"/>
                <a:ea typeface="Cambria" panose="02040503050406030204" pitchFamily="18" charset="0"/>
              </a:rPr>
              <a:t>servlet</a:t>
            </a:r>
            <a:r>
              <a:rPr lang="en-US" sz="2000" b="1" dirty="0" smtClean="0">
                <a:latin typeface="Cambria" panose="02040503050406030204" pitchFamily="18" charset="0"/>
                <a:ea typeface="Cambria" panose="02040503050406030204" pitchFamily="18" charset="0"/>
              </a:rPr>
              <a:t>-mapping&gt;</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&lt;</a:t>
            </a:r>
            <a:r>
              <a:rPr lang="en-US" sz="2000" b="1" dirty="0" err="1" smtClean="0">
                <a:latin typeface="Cambria" panose="02040503050406030204" pitchFamily="18" charset="0"/>
                <a:ea typeface="Cambria" panose="02040503050406030204" pitchFamily="18" charset="0"/>
              </a:rPr>
              <a:t>servlet</a:t>
            </a:r>
            <a:r>
              <a:rPr lang="en-US" sz="2000" b="1" dirty="0" smtClean="0">
                <a:latin typeface="Cambria" panose="02040503050406030204" pitchFamily="18" charset="0"/>
                <a:ea typeface="Cambria" panose="02040503050406030204" pitchFamily="18" charset="0"/>
              </a:rPr>
              <a:t>-name&gt;</a:t>
            </a:r>
            <a:r>
              <a:rPr lang="en-US" sz="2000" dirty="0" smtClean="0">
                <a:latin typeface="Cambria" panose="02040503050406030204" pitchFamily="18" charset="0"/>
                <a:ea typeface="Cambria" panose="02040503050406030204" pitchFamily="18" charset="0"/>
              </a:rPr>
              <a:t>s1</a:t>
            </a:r>
            <a:r>
              <a:rPr lang="en-US" sz="2000" b="1" dirty="0" smtClean="0">
                <a:latin typeface="Cambria" panose="02040503050406030204" pitchFamily="18" charset="0"/>
                <a:ea typeface="Cambria" panose="02040503050406030204" pitchFamily="18" charset="0"/>
              </a:rPr>
              <a:t>&lt;/</a:t>
            </a:r>
            <a:r>
              <a:rPr lang="en-US" sz="2000" b="1" dirty="0" err="1" smtClean="0">
                <a:latin typeface="Cambria" panose="02040503050406030204" pitchFamily="18" charset="0"/>
                <a:ea typeface="Cambria" panose="02040503050406030204" pitchFamily="18" charset="0"/>
              </a:rPr>
              <a:t>servlet</a:t>
            </a:r>
            <a:r>
              <a:rPr lang="en-US" sz="2000" b="1" dirty="0" smtClean="0">
                <a:latin typeface="Cambria" panose="02040503050406030204" pitchFamily="18" charset="0"/>
                <a:ea typeface="Cambria" panose="02040503050406030204" pitchFamily="18" charset="0"/>
              </a:rPr>
              <a:t>-name&gt;</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&lt;</a:t>
            </a:r>
            <a:r>
              <a:rPr lang="en-US" sz="2000" b="1" dirty="0" err="1" smtClean="0">
                <a:latin typeface="Cambria" panose="02040503050406030204" pitchFamily="18" charset="0"/>
                <a:ea typeface="Cambria" panose="02040503050406030204" pitchFamily="18" charset="0"/>
              </a:rPr>
              <a:t>url</a:t>
            </a:r>
            <a:r>
              <a:rPr lang="en-US" sz="2000" b="1" dirty="0" smtClean="0">
                <a:latin typeface="Cambria" panose="02040503050406030204" pitchFamily="18" charset="0"/>
                <a:ea typeface="Cambria" panose="02040503050406030204" pitchFamily="18" charset="0"/>
              </a:rPr>
              <a:t>-pattern&gt;</a:t>
            </a:r>
            <a:r>
              <a:rPr lang="en-US" sz="2000" dirty="0" smtClean="0">
                <a:latin typeface="Cambria" panose="02040503050406030204" pitchFamily="18" charset="0"/>
                <a:ea typeface="Cambria" panose="02040503050406030204" pitchFamily="18" charset="0"/>
              </a:rPr>
              <a:t>/</a:t>
            </a:r>
            <a:r>
              <a:rPr lang="en-US" sz="2000" dirty="0" err="1" smtClean="0">
                <a:latin typeface="Cambria" panose="02040503050406030204" pitchFamily="18" charset="0"/>
                <a:ea typeface="Cambria" panose="02040503050406030204" pitchFamily="18" charset="0"/>
              </a:rPr>
              <a:t>ControllerServlet</a:t>
            </a:r>
            <a:r>
              <a:rPr lang="en-US" sz="2000" b="1" dirty="0" smtClean="0">
                <a:latin typeface="Cambria" panose="02040503050406030204" pitchFamily="18" charset="0"/>
                <a:ea typeface="Cambria" panose="02040503050406030204" pitchFamily="18" charset="0"/>
              </a:rPr>
              <a:t>&lt;/</a:t>
            </a:r>
            <a:r>
              <a:rPr lang="en-US" sz="2000" b="1" dirty="0" err="1" smtClean="0">
                <a:latin typeface="Cambria" panose="02040503050406030204" pitchFamily="18" charset="0"/>
                <a:ea typeface="Cambria" panose="02040503050406030204" pitchFamily="18" charset="0"/>
              </a:rPr>
              <a:t>url</a:t>
            </a:r>
            <a:r>
              <a:rPr lang="en-US" sz="2000" b="1" dirty="0" smtClean="0">
                <a:latin typeface="Cambria" panose="02040503050406030204" pitchFamily="18" charset="0"/>
                <a:ea typeface="Cambria" panose="02040503050406030204" pitchFamily="18" charset="0"/>
              </a:rPr>
              <a:t>-pattern&gt;</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dirty="0" smtClean="0">
                <a:latin typeface="Cambria" panose="02040503050406030204" pitchFamily="18" charset="0"/>
                <a:ea typeface="Cambria" panose="02040503050406030204" pitchFamily="18" charset="0"/>
              </a:rPr>
              <a:t>  </a:t>
            </a:r>
            <a:r>
              <a:rPr lang="en-US" sz="2000" b="1" dirty="0" smtClean="0">
                <a:latin typeface="Cambria" panose="02040503050406030204" pitchFamily="18" charset="0"/>
                <a:ea typeface="Cambria" panose="02040503050406030204" pitchFamily="18" charset="0"/>
              </a:rPr>
              <a:t>&lt;/</a:t>
            </a:r>
            <a:r>
              <a:rPr lang="en-US" sz="2000" b="1" dirty="0" err="1" smtClean="0">
                <a:latin typeface="Cambria" panose="02040503050406030204" pitchFamily="18" charset="0"/>
                <a:ea typeface="Cambria" panose="02040503050406030204" pitchFamily="18" charset="0"/>
              </a:rPr>
              <a:t>servlet</a:t>
            </a:r>
            <a:r>
              <a:rPr lang="en-US" sz="2000" b="1" dirty="0" smtClean="0">
                <a:latin typeface="Cambria" panose="02040503050406030204" pitchFamily="18" charset="0"/>
                <a:ea typeface="Cambria" panose="02040503050406030204" pitchFamily="18" charset="0"/>
              </a:rPr>
              <a:t>-mapping&gt;</a:t>
            </a:r>
            <a:r>
              <a:rPr lang="en-US" sz="2000" dirty="0" smtClean="0">
                <a:latin typeface="Cambria" panose="02040503050406030204" pitchFamily="18" charset="0"/>
                <a:ea typeface="Cambria" panose="02040503050406030204" pitchFamily="18" charset="0"/>
              </a:rPr>
              <a:t>  </a:t>
            </a:r>
          </a:p>
          <a:p>
            <a:pPr>
              <a:spcBef>
                <a:spcPts val="0"/>
              </a:spcBef>
              <a:buNone/>
            </a:pPr>
            <a:r>
              <a:rPr lang="en-US" sz="2000" b="1" dirty="0" smtClean="0">
                <a:latin typeface="Cambria" panose="02040503050406030204" pitchFamily="18" charset="0"/>
                <a:ea typeface="Cambria" panose="02040503050406030204" pitchFamily="18" charset="0"/>
              </a:rPr>
              <a:t>&lt;/web-app&gt;</a:t>
            </a:r>
            <a:r>
              <a:rPr lang="en-US" sz="2000" dirty="0" smtClean="0">
                <a:latin typeface="Cambria" panose="02040503050406030204" pitchFamily="18" charset="0"/>
                <a:ea typeface="Cambria" panose="02040503050406030204" pitchFamily="18" charset="0"/>
              </a:rPr>
              <a:t>  </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123</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1344" y="222251"/>
            <a:ext cx="5760640" cy="542454"/>
          </a:xfrm>
        </p:spPr>
        <p:txBody>
          <a:bodyPr/>
          <a:lstStyle/>
          <a:p>
            <a:r>
              <a:rPr lang="en-US" sz="3600" b="1" dirty="0" smtClean="0">
                <a:solidFill>
                  <a:schemeClr val="accent5"/>
                </a:solidFill>
                <a:latin typeface="Cambria" panose="02040503050406030204" pitchFamily="18" charset="0"/>
                <a:ea typeface="Cambria" panose="02040503050406030204" pitchFamily="18" charset="0"/>
              </a:rPr>
              <a:t>MVC app with JDBC</a:t>
            </a:r>
            <a:endParaRPr lang="en-US" sz="36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335360" y="908720"/>
            <a:ext cx="11018440" cy="2304256"/>
          </a:xfrm>
        </p:spPr>
        <p:txBody>
          <a:bodyPr/>
          <a:lstStyle/>
          <a:p>
            <a:pPr algn="just"/>
            <a:r>
              <a:rPr lang="en-GB" sz="2400" dirty="0" smtClean="0">
                <a:latin typeface="Cambria" panose="02040503050406030204" pitchFamily="18" charset="0"/>
                <a:ea typeface="Cambria" panose="02040503050406030204" pitchFamily="18" charset="0"/>
              </a:rPr>
              <a:t>To implement a web application based on the MVC design pattern, we’ll create an </a:t>
            </a:r>
            <a:r>
              <a:rPr lang="en-GB" sz="2400" b="1" dirty="0" smtClean="0">
                <a:latin typeface="Cambria" panose="02040503050406030204" pitchFamily="18" charset="0"/>
                <a:ea typeface="Cambria" panose="02040503050406030204" pitchFamily="18" charset="0"/>
              </a:rPr>
              <a:t>Employee Registration</a:t>
            </a:r>
            <a:r>
              <a:rPr lang="en-GB" sz="2400" dirty="0" smtClean="0">
                <a:latin typeface="Cambria" panose="02040503050406030204" pitchFamily="18" charset="0"/>
                <a:ea typeface="Cambria" panose="02040503050406030204" pitchFamily="18" charset="0"/>
              </a:rPr>
              <a:t> module using </a:t>
            </a:r>
            <a:r>
              <a:rPr lang="en-GB" sz="2400" b="1" dirty="0" smtClean="0">
                <a:latin typeface="Cambria" panose="02040503050406030204" pitchFamily="18" charset="0"/>
                <a:ea typeface="Cambria" panose="02040503050406030204" pitchFamily="18" charset="0"/>
                <a:hlinkClick r:id="rId2"/>
              </a:rPr>
              <a:t>JSP</a:t>
            </a:r>
            <a:r>
              <a:rPr lang="en-GB" sz="2400" dirty="0" smtClean="0">
                <a:latin typeface="Cambria" panose="02040503050406030204" pitchFamily="18" charset="0"/>
                <a:ea typeface="Cambria" panose="02040503050406030204" pitchFamily="18" charset="0"/>
              </a:rPr>
              <a:t>,  </a:t>
            </a:r>
            <a:r>
              <a:rPr lang="en-GB" sz="2400" b="1" dirty="0" smtClean="0">
                <a:latin typeface="Cambria" panose="02040503050406030204" pitchFamily="18" charset="0"/>
                <a:ea typeface="Cambria" panose="02040503050406030204" pitchFamily="18" charset="0"/>
                <a:hlinkClick r:id="rId3"/>
              </a:rPr>
              <a:t>Servlet</a:t>
            </a:r>
            <a:r>
              <a:rPr lang="en-GB" sz="2400" dirty="0" smtClean="0">
                <a:latin typeface="Cambria" panose="02040503050406030204" pitchFamily="18" charset="0"/>
                <a:ea typeface="Cambria" panose="02040503050406030204" pitchFamily="18" charset="0"/>
              </a:rPr>
              <a:t>, </a:t>
            </a:r>
            <a:r>
              <a:rPr lang="en-GB" sz="2400" b="1" dirty="0" smtClean="0">
                <a:latin typeface="Cambria" panose="02040503050406030204" pitchFamily="18" charset="0"/>
                <a:ea typeface="Cambria" panose="02040503050406030204" pitchFamily="18" charset="0"/>
                <a:hlinkClick r:id="rId4"/>
              </a:rPr>
              <a:t>JDBC</a:t>
            </a:r>
            <a:r>
              <a:rPr lang="en-GB" sz="2400" dirty="0" smtClean="0">
                <a:latin typeface="Cambria" panose="02040503050406030204" pitchFamily="18" charset="0"/>
                <a:ea typeface="Cambria" panose="02040503050406030204" pitchFamily="18" charset="0"/>
              </a:rPr>
              <a:t>, and </a:t>
            </a:r>
            <a:r>
              <a:rPr lang="en-GB" sz="2400" b="1" dirty="0" smtClean="0">
                <a:latin typeface="Cambria" panose="02040503050406030204" pitchFamily="18" charset="0"/>
                <a:ea typeface="Cambria" panose="02040503050406030204" pitchFamily="18" charset="0"/>
                <a:hlinkClick r:id="rId4"/>
              </a:rPr>
              <a:t>MySQL</a:t>
            </a:r>
            <a:r>
              <a:rPr lang="en-GB" sz="2400" dirty="0" smtClean="0">
                <a:latin typeface="Cambria" panose="02040503050406030204" pitchFamily="18" charset="0"/>
                <a:ea typeface="Cambria" panose="02040503050406030204" pitchFamily="18" charset="0"/>
              </a:rPr>
              <a:t> database.</a:t>
            </a:r>
          </a:p>
          <a:p>
            <a:pPr algn="just"/>
            <a:r>
              <a:rPr lang="en-GB" sz="2400" dirty="0" err="1" smtClean="0">
                <a:latin typeface="Cambria" panose="02040503050406030204" pitchFamily="18" charset="0"/>
                <a:ea typeface="Cambria" panose="02040503050406030204" pitchFamily="18" charset="0"/>
              </a:rPr>
              <a:t>EmployeeServlet</a:t>
            </a:r>
            <a:r>
              <a:rPr lang="en-GB" sz="2400" dirty="0" smtClean="0">
                <a:latin typeface="Cambria" panose="02040503050406030204" pitchFamily="18" charset="0"/>
                <a:ea typeface="Cambria" panose="02040503050406030204" pitchFamily="18" charset="0"/>
              </a:rPr>
              <a:t> class will act as a </a:t>
            </a:r>
            <a:r>
              <a:rPr lang="en-GB" sz="2400" b="1" dirty="0" smtClean="0">
                <a:latin typeface="Cambria" panose="02040503050406030204" pitchFamily="18" charset="0"/>
                <a:ea typeface="Cambria" panose="02040503050406030204" pitchFamily="18" charset="0"/>
              </a:rPr>
              <a:t>Controller</a:t>
            </a:r>
            <a:r>
              <a:rPr lang="en-GB" sz="2400" dirty="0" smtClean="0">
                <a:latin typeface="Cambria" panose="02040503050406030204" pitchFamily="18" charset="0"/>
                <a:ea typeface="Cambria" panose="02040503050406030204" pitchFamily="18" charset="0"/>
              </a:rPr>
              <a:t>, and for the presentation layer, we’ll create employees.jsp page.</a:t>
            </a:r>
            <a:endParaRPr lang="en-US" sz="24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124</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48" y="7803"/>
            <a:ext cx="5444680" cy="612885"/>
          </a:xfrm>
        </p:spPr>
        <p:txBody>
          <a:bodyPr/>
          <a:lstStyle/>
          <a:p>
            <a:r>
              <a:rPr lang="en-US" sz="3600" b="1" dirty="0" smtClean="0">
                <a:solidFill>
                  <a:schemeClr val="accent5"/>
                </a:solidFill>
                <a:latin typeface="Cambria" panose="02040503050406030204" pitchFamily="18" charset="0"/>
                <a:ea typeface="Cambria" panose="02040503050406030204" pitchFamily="18" charset="0"/>
              </a:rPr>
              <a:t/>
            </a:r>
            <a:br>
              <a:rPr lang="en-US" sz="3600" b="1" dirty="0" smtClean="0">
                <a:solidFill>
                  <a:schemeClr val="accent5"/>
                </a:solidFill>
                <a:latin typeface="Cambria" panose="02040503050406030204" pitchFamily="18" charset="0"/>
                <a:ea typeface="Cambria" panose="02040503050406030204" pitchFamily="18" charset="0"/>
              </a:rPr>
            </a:br>
            <a:r>
              <a:rPr lang="en-US" sz="3600" b="1" dirty="0" smtClean="0">
                <a:solidFill>
                  <a:schemeClr val="accent5"/>
                </a:solidFill>
                <a:latin typeface="Cambria" panose="02040503050406030204" pitchFamily="18" charset="0"/>
                <a:ea typeface="Cambria" panose="02040503050406030204" pitchFamily="18" charset="0"/>
              </a:rPr>
              <a:t/>
            </a:r>
            <a:br>
              <a:rPr lang="en-US" sz="3600" b="1" dirty="0" smtClean="0">
                <a:solidFill>
                  <a:schemeClr val="accent5"/>
                </a:solidFill>
                <a:latin typeface="Cambria" panose="02040503050406030204" pitchFamily="18" charset="0"/>
                <a:ea typeface="Cambria" panose="02040503050406030204" pitchFamily="18" charset="0"/>
              </a:rPr>
            </a:br>
            <a:r>
              <a:rPr lang="en-US" sz="3600" b="1" dirty="0" err="1" smtClean="0">
                <a:solidFill>
                  <a:schemeClr val="accent5"/>
                </a:solidFill>
                <a:latin typeface="Cambria" panose="02040503050406030204" pitchFamily="18" charset="0"/>
                <a:ea typeface="Cambria" panose="02040503050406030204" pitchFamily="18" charset="0"/>
              </a:rPr>
              <a:t>MySQL</a:t>
            </a:r>
            <a:r>
              <a:rPr lang="en-US" sz="3600" b="1" dirty="0" smtClean="0">
                <a:solidFill>
                  <a:schemeClr val="accent5"/>
                </a:solidFill>
                <a:latin typeface="Cambria" panose="02040503050406030204" pitchFamily="18" charset="0"/>
                <a:ea typeface="Cambria" panose="02040503050406030204" pitchFamily="18" charset="0"/>
              </a:rPr>
              <a:t> Database Setup</a:t>
            </a:r>
            <a:br>
              <a:rPr lang="en-US" sz="3600" b="1" dirty="0" smtClean="0">
                <a:solidFill>
                  <a:schemeClr val="accent5"/>
                </a:solidFill>
                <a:latin typeface="Cambria" panose="02040503050406030204" pitchFamily="18" charset="0"/>
                <a:ea typeface="Cambria" panose="02040503050406030204" pitchFamily="18" charset="0"/>
              </a:rPr>
            </a:br>
            <a:r>
              <a:rPr lang="en-US" sz="3600" b="1" dirty="0" smtClean="0">
                <a:solidFill>
                  <a:schemeClr val="accent5"/>
                </a:solidFill>
                <a:latin typeface="Cambria" panose="02040503050406030204" pitchFamily="18" charset="0"/>
                <a:ea typeface="Cambria" panose="02040503050406030204" pitchFamily="18" charset="0"/>
              </a:rPr>
              <a:t/>
            </a:r>
            <a:br>
              <a:rPr lang="en-US" sz="3600" b="1" dirty="0" smtClean="0">
                <a:solidFill>
                  <a:schemeClr val="accent5"/>
                </a:solidFill>
                <a:latin typeface="Cambria" panose="02040503050406030204" pitchFamily="18" charset="0"/>
                <a:ea typeface="Cambria" panose="02040503050406030204" pitchFamily="18" charset="0"/>
              </a:rPr>
            </a:br>
            <a:endParaRPr lang="en-US" sz="36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263352" y="692697"/>
            <a:ext cx="11305256" cy="3528392"/>
          </a:xfrm>
        </p:spPr>
        <p:txBody>
          <a:bodyPr/>
          <a:lstStyle/>
          <a:p>
            <a:pPr algn="just"/>
            <a:r>
              <a:rPr lang="en-US" sz="2400" dirty="0" smtClean="0">
                <a:latin typeface="Cambria" panose="02040503050406030204" pitchFamily="18" charset="0"/>
                <a:ea typeface="Cambria" panose="02040503050406030204" pitchFamily="18" charset="0"/>
              </a:rPr>
              <a:t>Let's create a database named "</a:t>
            </a:r>
            <a:r>
              <a:rPr lang="en-US" sz="2400" dirty="0" err="1" smtClean="0">
                <a:latin typeface="Cambria" panose="02040503050406030204" pitchFamily="18" charset="0"/>
                <a:ea typeface="Cambria" panose="02040503050406030204" pitchFamily="18" charset="0"/>
              </a:rPr>
              <a:t>mysql_database</a:t>
            </a:r>
            <a:r>
              <a:rPr lang="en-US" sz="2400" dirty="0" smtClean="0">
                <a:latin typeface="Cambria" panose="02040503050406030204" pitchFamily="18" charset="0"/>
                <a:ea typeface="Cambria" panose="02040503050406030204" pitchFamily="18" charset="0"/>
              </a:rPr>
              <a:t>" in </a:t>
            </a:r>
            <a:r>
              <a:rPr lang="en-US" sz="2400" dirty="0" err="1" smtClean="0">
                <a:latin typeface="Cambria" panose="02040503050406030204" pitchFamily="18" charset="0"/>
                <a:ea typeface="Cambria" panose="02040503050406030204" pitchFamily="18" charset="0"/>
              </a:rPr>
              <a:t>MySQL</a:t>
            </a:r>
            <a:r>
              <a:rPr lang="en-US" sz="2400" dirty="0" smtClean="0">
                <a:latin typeface="Cambria" panose="02040503050406030204" pitchFamily="18" charset="0"/>
                <a:ea typeface="Cambria" panose="02040503050406030204" pitchFamily="18" charset="0"/>
              </a:rPr>
              <a:t>. Let's create an </a:t>
            </a:r>
            <a:r>
              <a:rPr lang="en-US" sz="2400" i="1" dirty="0" smtClean="0">
                <a:latin typeface="Cambria" panose="02040503050406030204" pitchFamily="18" charset="0"/>
                <a:ea typeface="Cambria" panose="02040503050406030204" pitchFamily="18" charset="0"/>
              </a:rPr>
              <a:t>employee</a:t>
            </a:r>
            <a:r>
              <a:rPr lang="en-US" sz="2400" dirty="0" smtClean="0">
                <a:latin typeface="Cambria" panose="02040503050406030204" pitchFamily="18" charset="0"/>
                <a:ea typeface="Cambria" panose="02040503050406030204" pitchFamily="18" charset="0"/>
              </a:rPr>
              <a:t> table using below DDL script:</a:t>
            </a:r>
          </a:p>
          <a:p>
            <a:pPr algn="just"/>
            <a:r>
              <a:rPr lang="en-US" sz="2400" dirty="0" smtClean="0">
                <a:latin typeface="Cambria" panose="02040503050406030204" pitchFamily="18" charset="0"/>
                <a:ea typeface="Cambria" panose="02040503050406030204" pitchFamily="18" charset="0"/>
              </a:rPr>
              <a:t>CREATE TABLE `employee` ( `id` </a:t>
            </a:r>
            <a:r>
              <a:rPr lang="en-US" sz="2400" dirty="0" err="1" smtClean="0">
                <a:latin typeface="Cambria" panose="02040503050406030204" pitchFamily="18" charset="0"/>
                <a:ea typeface="Cambria" panose="02040503050406030204" pitchFamily="18" charset="0"/>
              </a:rPr>
              <a:t>int</a:t>
            </a:r>
            <a:r>
              <a:rPr lang="en-US" sz="2400" dirty="0" smtClean="0">
                <a:latin typeface="Cambria" panose="02040503050406030204" pitchFamily="18" charset="0"/>
                <a:ea typeface="Cambria" panose="02040503050406030204" pitchFamily="18" charset="0"/>
              </a:rPr>
              <a:t>(3) NOT NULL, `</a:t>
            </a:r>
            <a:r>
              <a:rPr lang="en-US" sz="2400" dirty="0" err="1" smtClean="0">
                <a:latin typeface="Cambria" panose="02040503050406030204" pitchFamily="18" charset="0"/>
                <a:ea typeface="Cambria" panose="02040503050406030204" pitchFamily="18" charset="0"/>
              </a:rPr>
              <a:t>first_name</a:t>
            </a:r>
            <a:r>
              <a:rPr lang="en-US" sz="2400" dirty="0" smtClean="0">
                <a:latin typeface="Cambria" panose="02040503050406030204" pitchFamily="18" charset="0"/>
                <a:ea typeface="Cambria" panose="02040503050406030204" pitchFamily="18" charset="0"/>
              </a:rPr>
              <a:t>` </a:t>
            </a:r>
            <a:r>
              <a:rPr lang="en-US" sz="2400" dirty="0" err="1" smtClean="0">
                <a:latin typeface="Cambria" panose="02040503050406030204" pitchFamily="18" charset="0"/>
                <a:ea typeface="Cambria" panose="02040503050406030204" pitchFamily="18" charset="0"/>
              </a:rPr>
              <a:t>varchar</a:t>
            </a:r>
            <a:r>
              <a:rPr lang="en-US" sz="2400" dirty="0" smtClean="0">
                <a:latin typeface="Cambria" panose="02040503050406030204" pitchFamily="18" charset="0"/>
                <a:ea typeface="Cambria" panose="02040503050406030204" pitchFamily="18" charset="0"/>
              </a:rPr>
              <a:t>(20) DEFAULT NULL, `</a:t>
            </a:r>
            <a:r>
              <a:rPr lang="en-US" sz="2400" dirty="0" err="1" smtClean="0">
                <a:latin typeface="Cambria" panose="02040503050406030204" pitchFamily="18" charset="0"/>
                <a:ea typeface="Cambria" panose="02040503050406030204" pitchFamily="18" charset="0"/>
              </a:rPr>
              <a:t>last_name</a:t>
            </a:r>
            <a:r>
              <a:rPr lang="en-US" sz="2400" dirty="0" smtClean="0">
                <a:latin typeface="Cambria" panose="02040503050406030204" pitchFamily="18" charset="0"/>
                <a:ea typeface="Cambria" panose="02040503050406030204" pitchFamily="18" charset="0"/>
              </a:rPr>
              <a:t>` </a:t>
            </a:r>
            <a:r>
              <a:rPr lang="en-US" sz="2400" dirty="0" err="1" smtClean="0">
                <a:latin typeface="Cambria" panose="02040503050406030204" pitchFamily="18" charset="0"/>
                <a:ea typeface="Cambria" panose="02040503050406030204" pitchFamily="18" charset="0"/>
              </a:rPr>
              <a:t>varchar</a:t>
            </a:r>
            <a:r>
              <a:rPr lang="en-US" sz="2400" dirty="0" smtClean="0">
                <a:latin typeface="Cambria" panose="02040503050406030204" pitchFamily="18" charset="0"/>
                <a:ea typeface="Cambria" panose="02040503050406030204" pitchFamily="18" charset="0"/>
              </a:rPr>
              <a:t>(20) DEFAULT NULL, `username` </a:t>
            </a:r>
            <a:r>
              <a:rPr lang="en-US" sz="2400" dirty="0" err="1" smtClean="0">
                <a:latin typeface="Cambria" panose="02040503050406030204" pitchFamily="18" charset="0"/>
                <a:ea typeface="Cambria" panose="02040503050406030204" pitchFamily="18" charset="0"/>
              </a:rPr>
              <a:t>varchar</a:t>
            </a:r>
            <a:r>
              <a:rPr lang="en-US" sz="2400" dirty="0" smtClean="0">
                <a:latin typeface="Cambria" panose="02040503050406030204" pitchFamily="18" charset="0"/>
                <a:ea typeface="Cambria" panose="02040503050406030204" pitchFamily="18" charset="0"/>
              </a:rPr>
              <a:t>(250) DEFAULT NULL, `password` </a:t>
            </a:r>
            <a:r>
              <a:rPr lang="en-US" sz="2400" dirty="0" err="1" smtClean="0">
                <a:latin typeface="Cambria" panose="02040503050406030204" pitchFamily="18" charset="0"/>
                <a:ea typeface="Cambria" panose="02040503050406030204" pitchFamily="18" charset="0"/>
              </a:rPr>
              <a:t>varchar</a:t>
            </a:r>
            <a:r>
              <a:rPr lang="en-US" sz="2400" dirty="0" smtClean="0">
                <a:latin typeface="Cambria" panose="02040503050406030204" pitchFamily="18" charset="0"/>
                <a:ea typeface="Cambria" panose="02040503050406030204" pitchFamily="18" charset="0"/>
              </a:rPr>
              <a:t>(20) DEFAULT NULL, `address` </a:t>
            </a:r>
            <a:r>
              <a:rPr lang="en-US" sz="2400" dirty="0" err="1" smtClean="0">
                <a:latin typeface="Cambria" panose="02040503050406030204" pitchFamily="18" charset="0"/>
                <a:ea typeface="Cambria" panose="02040503050406030204" pitchFamily="18" charset="0"/>
              </a:rPr>
              <a:t>varchar</a:t>
            </a:r>
            <a:r>
              <a:rPr lang="en-US" sz="2400" dirty="0" smtClean="0">
                <a:latin typeface="Cambria" panose="02040503050406030204" pitchFamily="18" charset="0"/>
                <a:ea typeface="Cambria" panose="02040503050406030204" pitchFamily="18" charset="0"/>
              </a:rPr>
              <a:t>(45) DEFAULT NULL, `contact` </a:t>
            </a:r>
            <a:r>
              <a:rPr lang="en-US" sz="2400" dirty="0" err="1" smtClean="0">
                <a:latin typeface="Cambria" panose="02040503050406030204" pitchFamily="18" charset="0"/>
                <a:ea typeface="Cambria" panose="02040503050406030204" pitchFamily="18" charset="0"/>
              </a:rPr>
              <a:t>varchar</a:t>
            </a:r>
            <a:r>
              <a:rPr lang="en-US" sz="2400" dirty="0" smtClean="0">
                <a:latin typeface="Cambria" panose="02040503050406030204" pitchFamily="18" charset="0"/>
                <a:ea typeface="Cambria" panose="02040503050406030204" pitchFamily="18" charset="0"/>
              </a:rPr>
              <a:t>(45) DEFAULT NULL, PRIMARY KEY (`id`) </a:t>
            </a:r>
            <a:r>
              <a:rPr lang="en-US" sz="2400" smtClean="0">
                <a:latin typeface="Cambria" panose="02040503050406030204" pitchFamily="18" charset="0"/>
                <a:ea typeface="Cambria" panose="02040503050406030204" pitchFamily="18" charset="0"/>
              </a:rPr>
              <a:t>) ; </a:t>
            </a:r>
            <a:endParaRPr lang="en-US" sz="2400" dirty="0" smtClean="0">
              <a:latin typeface="Cambria" panose="02040503050406030204" pitchFamily="18" charset="0"/>
              <a:ea typeface="Cambria" panose="02040503050406030204" pitchFamily="18" charset="0"/>
            </a:endParaRPr>
          </a:p>
          <a:p>
            <a:pPr algn="just"/>
            <a:r>
              <a:rPr lang="en-US" sz="2400" dirty="0" smtClean="0">
                <a:latin typeface="Cambria" panose="02040503050406030204" pitchFamily="18" charset="0"/>
                <a:ea typeface="Cambria" panose="02040503050406030204" pitchFamily="18" charset="0"/>
              </a:rPr>
              <a:t>SELECT * FROM </a:t>
            </a:r>
            <a:r>
              <a:rPr lang="en-US" sz="2400" dirty="0" err="1" smtClean="0">
                <a:latin typeface="Cambria" panose="02040503050406030204" pitchFamily="18" charset="0"/>
                <a:ea typeface="Cambria" panose="02040503050406030204" pitchFamily="18" charset="0"/>
              </a:rPr>
              <a:t>mysql_database.employee</a:t>
            </a:r>
            <a:r>
              <a:rPr lang="en-US" sz="2400" dirty="0" smtClean="0">
                <a:latin typeface="Cambria" panose="02040503050406030204" pitchFamily="18" charset="0"/>
                <a:ea typeface="Cambria" panose="02040503050406030204" pitchFamily="18" charset="0"/>
              </a:rPr>
              <a:t>; </a:t>
            </a:r>
          </a:p>
          <a:p>
            <a:pPr algn="just">
              <a:buNone/>
            </a:pPr>
            <a:endParaRPr lang="en-US" sz="24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125</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7803"/>
            <a:ext cx="3601616" cy="471587"/>
          </a:xfrm>
        </p:spPr>
        <p:txBody>
          <a:bodyPr/>
          <a:lstStyle/>
          <a:p>
            <a:r>
              <a:rPr lang="en-US" sz="3600" b="1" dirty="0" smtClean="0">
                <a:solidFill>
                  <a:schemeClr val="accent5"/>
                </a:solidFill>
                <a:latin typeface="Cambria" panose="02040503050406030204" pitchFamily="18" charset="0"/>
                <a:ea typeface="Cambria" panose="02040503050406030204" pitchFamily="18" charset="0"/>
              </a:rPr>
              <a:t> Model Layer</a:t>
            </a:r>
            <a:endParaRPr lang="en-US" sz="3600"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153398" y="621522"/>
            <a:ext cx="3888432" cy="4351338"/>
          </a:xfrm>
        </p:spPr>
        <p:txBody>
          <a:bodyPr/>
          <a:lstStyle/>
          <a:p>
            <a:pPr algn="just"/>
            <a:r>
              <a:rPr lang="en-US" sz="1600" dirty="0" smtClean="0">
                <a:latin typeface="Cambria" panose="02040503050406030204" pitchFamily="18" charset="0"/>
                <a:ea typeface="Cambria" panose="02040503050406030204" pitchFamily="18" charset="0"/>
              </a:rPr>
              <a:t>Let's create the Employee class which will act as our </a:t>
            </a:r>
            <a:r>
              <a:rPr lang="en-US" sz="1600" b="1" dirty="0" smtClean="0">
                <a:latin typeface="Cambria" panose="02040503050406030204" pitchFamily="18" charset="0"/>
                <a:ea typeface="Cambria" panose="02040503050406030204" pitchFamily="18" charset="0"/>
              </a:rPr>
              <a:t>Model</a:t>
            </a:r>
            <a:r>
              <a:rPr lang="en-US" sz="1600" dirty="0" smtClean="0">
                <a:latin typeface="Cambria" panose="02040503050406030204" pitchFamily="18" charset="0"/>
                <a:ea typeface="Cambria" panose="02040503050406030204" pitchFamily="18" charset="0"/>
              </a:rPr>
              <a:t> class.</a:t>
            </a:r>
          </a:p>
          <a:p>
            <a:pPr algn="just"/>
            <a:r>
              <a:rPr lang="en-US" sz="1600" b="1" dirty="0" smtClean="0">
                <a:latin typeface="Cambria" panose="02040503050406030204" pitchFamily="18" charset="0"/>
                <a:ea typeface="Cambria" panose="02040503050406030204" pitchFamily="18" charset="0"/>
              </a:rPr>
              <a:t>Employee</a:t>
            </a:r>
          </a:p>
          <a:p>
            <a:pPr algn="just">
              <a:spcBef>
                <a:spcPts val="0"/>
              </a:spcBef>
              <a:buNone/>
            </a:pPr>
            <a:r>
              <a:rPr lang="en-US" sz="1600" dirty="0" smtClean="0">
                <a:latin typeface="Cambria" panose="02040503050406030204" pitchFamily="18" charset="0"/>
                <a:ea typeface="Cambria" panose="02040503050406030204" pitchFamily="18" charset="0"/>
              </a:rPr>
              <a:t>import java.io.Serializable; </a:t>
            </a:r>
          </a:p>
          <a:p>
            <a:pPr algn="just">
              <a:spcBef>
                <a:spcPts val="0"/>
              </a:spcBef>
              <a:buNone/>
            </a:pPr>
            <a:r>
              <a:rPr lang="en-US" sz="1600" dirty="0" smtClean="0">
                <a:latin typeface="Cambria" panose="02040503050406030204" pitchFamily="18" charset="0"/>
                <a:ea typeface="Cambria" panose="02040503050406030204" pitchFamily="18" charset="0"/>
              </a:rPr>
              <a:t>public class Employee { </a:t>
            </a:r>
          </a:p>
          <a:p>
            <a:pPr algn="just">
              <a:spcBef>
                <a:spcPts val="0"/>
              </a:spcBef>
              <a:buNone/>
            </a:pPr>
            <a:endParaRPr lang="en-US" sz="1600" dirty="0" smtClean="0">
              <a:latin typeface="Cambria" panose="02040503050406030204" pitchFamily="18" charset="0"/>
              <a:ea typeface="Cambria" panose="02040503050406030204" pitchFamily="18" charset="0"/>
            </a:endParaRPr>
          </a:p>
          <a:p>
            <a:pPr algn="just">
              <a:spcBef>
                <a:spcPts val="0"/>
              </a:spcBef>
              <a:buNone/>
            </a:pPr>
            <a:r>
              <a:rPr lang="en-US" sz="1600" dirty="0">
                <a:latin typeface="Cambria" panose="02040503050406030204" pitchFamily="18" charset="0"/>
                <a:ea typeface="Cambria" panose="02040503050406030204" pitchFamily="18" charset="0"/>
              </a:rPr>
              <a:t> </a:t>
            </a:r>
            <a:r>
              <a:rPr lang="en-US" sz="1600" dirty="0" smtClean="0">
                <a:latin typeface="Cambria" panose="02040503050406030204" pitchFamily="18" charset="0"/>
                <a:ea typeface="Cambria" panose="02040503050406030204" pitchFamily="18" charset="0"/>
              </a:rPr>
              <a:t>   private String firstName; </a:t>
            </a:r>
          </a:p>
          <a:p>
            <a:pPr algn="just">
              <a:spcBef>
                <a:spcPts val="0"/>
              </a:spcBef>
              <a:buNone/>
            </a:pPr>
            <a:r>
              <a:rPr lang="en-US" sz="1600" dirty="0" smtClean="0">
                <a:latin typeface="Cambria" panose="02040503050406030204" pitchFamily="18" charset="0"/>
                <a:ea typeface="Cambria" panose="02040503050406030204" pitchFamily="18" charset="0"/>
              </a:rPr>
              <a:t>    private String </a:t>
            </a:r>
            <a:r>
              <a:rPr lang="en-US" sz="1600" dirty="0" err="1" smtClean="0">
                <a:latin typeface="Cambria" panose="02040503050406030204" pitchFamily="18" charset="0"/>
                <a:ea typeface="Cambria" panose="02040503050406030204" pitchFamily="18" charset="0"/>
              </a:rPr>
              <a:t>lastName</a:t>
            </a:r>
            <a:r>
              <a:rPr lang="en-US" sz="1600" dirty="0" smtClean="0">
                <a:latin typeface="Cambria" panose="02040503050406030204" pitchFamily="18" charset="0"/>
                <a:ea typeface="Cambria" panose="02040503050406030204" pitchFamily="18" charset="0"/>
              </a:rPr>
              <a:t>; </a:t>
            </a:r>
          </a:p>
          <a:p>
            <a:pPr algn="just">
              <a:spcBef>
                <a:spcPts val="0"/>
              </a:spcBef>
              <a:buNone/>
            </a:pPr>
            <a:r>
              <a:rPr lang="en-US" sz="1600" dirty="0" smtClean="0">
                <a:latin typeface="Cambria" panose="02040503050406030204" pitchFamily="18" charset="0"/>
                <a:ea typeface="Cambria" panose="02040503050406030204" pitchFamily="18" charset="0"/>
              </a:rPr>
              <a:t>    private String username; </a:t>
            </a:r>
          </a:p>
          <a:p>
            <a:pPr algn="just">
              <a:spcBef>
                <a:spcPts val="0"/>
              </a:spcBef>
              <a:buNone/>
            </a:pPr>
            <a:r>
              <a:rPr lang="en-US" sz="1600" dirty="0" smtClean="0">
                <a:latin typeface="Cambria" panose="02040503050406030204" pitchFamily="18" charset="0"/>
                <a:ea typeface="Cambria" panose="02040503050406030204" pitchFamily="18" charset="0"/>
              </a:rPr>
              <a:t>    private String password; </a:t>
            </a:r>
          </a:p>
          <a:p>
            <a:pPr algn="just">
              <a:spcBef>
                <a:spcPts val="0"/>
              </a:spcBef>
              <a:buNone/>
            </a:pPr>
            <a:r>
              <a:rPr lang="en-US" sz="1600" dirty="0" smtClean="0">
                <a:latin typeface="Cambria" panose="02040503050406030204" pitchFamily="18" charset="0"/>
                <a:ea typeface="Cambria" panose="02040503050406030204" pitchFamily="18" charset="0"/>
              </a:rPr>
              <a:t>    private String address; </a:t>
            </a:r>
          </a:p>
          <a:p>
            <a:pPr algn="just">
              <a:spcBef>
                <a:spcPts val="0"/>
              </a:spcBef>
              <a:buNone/>
            </a:pPr>
            <a:r>
              <a:rPr lang="en-US" sz="1600" dirty="0" smtClean="0">
                <a:latin typeface="Cambria" panose="02040503050406030204" pitchFamily="18" charset="0"/>
                <a:ea typeface="Cambria" panose="02040503050406030204" pitchFamily="18" charset="0"/>
              </a:rPr>
              <a:t>    private String contact; </a:t>
            </a:r>
          </a:p>
          <a:p>
            <a:pPr algn="just">
              <a:spcBef>
                <a:spcPts val="0"/>
              </a:spcBef>
              <a:buNone/>
            </a:pPr>
            <a:r>
              <a:rPr lang="en-US" sz="1600" dirty="0" smtClean="0">
                <a:latin typeface="Cambria" panose="02040503050406030204" pitchFamily="18" charset="0"/>
                <a:ea typeface="Cambria" panose="02040503050406030204" pitchFamily="18" charset="0"/>
              </a:rPr>
              <a:t>    public String </a:t>
            </a:r>
            <a:r>
              <a:rPr lang="en-US" sz="1600" dirty="0" err="1" smtClean="0">
                <a:latin typeface="Cambria" panose="02040503050406030204" pitchFamily="18" charset="0"/>
                <a:ea typeface="Cambria" panose="02040503050406030204" pitchFamily="18" charset="0"/>
              </a:rPr>
              <a:t>getFirstName</a:t>
            </a:r>
            <a:r>
              <a:rPr lang="en-US" sz="1600" dirty="0" smtClean="0">
                <a:latin typeface="Cambria" panose="02040503050406030204" pitchFamily="18" charset="0"/>
                <a:ea typeface="Cambria" panose="02040503050406030204" pitchFamily="18" charset="0"/>
              </a:rPr>
              <a:t>() { </a:t>
            </a:r>
          </a:p>
          <a:p>
            <a:pPr algn="just">
              <a:spcBef>
                <a:spcPts val="0"/>
              </a:spcBef>
              <a:buNone/>
            </a:pPr>
            <a:r>
              <a:rPr lang="en-US" sz="1600" dirty="0" smtClean="0">
                <a:latin typeface="Cambria" panose="02040503050406030204" pitchFamily="18" charset="0"/>
                <a:ea typeface="Cambria" panose="02040503050406030204" pitchFamily="18" charset="0"/>
              </a:rPr>
              <a:t>        return </a:t>
            </a:r>
            <a:r>
              <a:rPr lang="en-US" sz="1600" dirty="0" err="1" smtClean="0">
                <a:latin typeface="Cambria" panose="02040503050406030204" pitchFamily="18" charset="0"/>
                <a:ea typeface="Cambria" panose="02040503050406030204" pitchFamily="18" charset="0"/>
              </a:rPr>
              <a:t>firstName</a:t>
            </a:r>
            <a:r>
              <a:rPr lang="en-US" sz="1600" dirty="0" smtClean="0">
                <a:latin typeface="Cambria" panose="02040503050406030204" pitchFamily="18" charset="0"/>
                <a:ea typeface="Cambria" panose="02040503050406030204" pitchFamily="18" charset="0"/>
              </a:rPr>
              <a:t>; </a:t>
            </a:r>
          </a:p>
          <a:p>
            <a:pPr algn="just">
              <a:spcBef>
                <a:spcPts val="0"/>
              </a:spcBef>
              <a:buNone/>
            </a:pPr>
            <a:r>
              <a:rPr lang="en-US" sz="1600" dirty="0" smtClean="0">
                <a:latin typeface="Cambria" panose="02040503050406030204" pitchFamily="18" charset="0"/>
                <a:ea typeface="Cambria" panose="02040503050406030204" pitchFamily="18" charset="0"/>
              </a:rPr>
              <a:t>    } </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126</a:t>
            </a:fld>
            <a:endParaRPr lang="en-US" altLang="en-US">
              <a:latin typeface="Cambria" panose="02040503050406030204" pitchFamily="18" charset="0"/>
              <a:ea typeface="Cambria" panose="02040503050406030204" pitchFamily="18" charset="0"/>
            </a:endParaRPr>
          </a:p>
        </p:txBody>
      </p:sp>
      <p:sp>
        <p:nvSpPr>
          <p:cNvPr id="5" name="Rectangle 4"/>
          <p:cNvSpPr/>
          <p:nvPr/>
        </p:nvSpPr>
        <p:spPr>
          <a:xfrm>
            <a:off x="4050432" y="200108"/>
            <a:ext cx="4560168" cy="5509200"/>
          </a:xfrm>
          <a:prstGeom prst="rect">
            <a:avLst/>
          </a:prstGeom>
        </p:spPr>
        <p:txBody>
          <a:bodyPr wrap="square">
            <a:spAutoFit/>
          </a:bodyPr>
          <a:lstStyle/>
          <a:p>
            <a:pPr algn="just">
              <a:spcBef>
                <a:spcPts val="0"/>
              </a:spcBef>
              <a:buNone/>
            </a:pPr>
            <a:r>
              <a:rPr lang="en-US" sz="1600" dirty="0">
                <a:latin typeface="Cambria" panose="02040503050406030204" pitchFamily="18" charset="0"/>
                <a:ea typeface="Cambria" panose="02040503050406030204" pitchFamily="18" charset="0"/>
              </a:rPr>
              <a:t> public void setFirstName(String firstName) { </a:t>
            </a:r>
          </a:p>
          <a:p>
            <a:pPr algn="just">
              <a:spcBef>
                <a:spcPts val="0"/>
              </a:spcBef>
              <a:buNone/>
            </a:pPr>
            <a:r>
              <a:rPr lang="en-US" sz="1600" dirty="0">
                <a:latin typeface="Cambria" panose="02040503050406030204" pitchFamily="18" charset="0"/>
                <a:ea typeface="Cambria" panose="02040503050406030204" pitchFamily="18" charset="0"/>
              </a:rPr>
              <a:t>       this.firstName = firstName; </a:t>
            </a:r>
          </a:p>
          <a:p>
            <a:pPr algn="just">
              <a:spcBef>
                <a:spcPts val="0"/>
              </a:spcBef>
              <a:buNone/>
            </a:pPr>
            <a:r>
              <a:rPr lang="en-US" sz="1600" dirty="0">
                <a:latin typeface="Cambria" panose="02040503050406030204" pitchFamily="18" charset="0"/>
                <a:ea typeface="Cambria" panose="02040503050406030204" pitchFamily="18" charset="0"/>
              </a:rPr>
              <a:t>    } </a:t>
            </a:r>
            <a:endParaRPr lang="en-US" sz="1600" dirty="0" smtClean="0">
              <a:latin typeface="Cambria" panose="02040503050406030204" pitchFamily="18" charset="0"/>
              <a:ea typeface="Cambria" panose="02040503050406030204" pitchFamily="18" charset="0"/>
            </a:endParaRPr>
          </a:p>
          <a:p>
            <a:pPr algn="just">
              <a:spcBef>
                <a:spcPts val="0"/>
              </a:spcBef>
              <a:buNone/>
            </a:pPr>
            <a:r>
              <a:rPr lang="en-US" sz="1600" dirty="0">
                <a:latin typeface="Cambria" panose="02040503050406030204" pitchFamily="18" charset="0"/>
                <a:ea typeface="Cambria" panose="02040503050406030204" pitchFamily="18" charset="0"/>
              </a:rPr>
              <a:t>public void setLastName(String lastName) { </a:t>
            </a:r>
          </a:p>
          <a:p>
            <a:pPr algn="just">
              <a:spcBef>
                <a:spcPts val="0"/>
              </a:spcBef>
              <a:buNone/>
            </a:pPr>
            <a:r>
              <a:rPr lang="en-US" sz="1600" dirty="0">
                <a:latin typeface="Cambria" panose="02040503050406030204" pitchFamily="18" charset="0"/>
                <a:ea typeface="Cambria" panose="02040503050406030204" pitchFamily="18" charset="0"/>
              </a:rPr>
              <a:t>        this.lastName = lastName; </a:t>
            </a:r>
          </a:p>
          <a:p>
            <a:pPr algn="just">
              <a:spcBef>
                <a:spcPts val="0"/>
              </a:spcBef>
              <a:buNone/>
            </a:pPr>
            <a:r>
              <a:rPr lang="en-US" sz="1600" dirty="0">
                <a:latin typeface="Cambria" panose="02040503050406030204" pitchFamily="18" charset="0"/>
                <a:ea typeface="Cambria" panose="02040503050406030204" pitchFamily="18" charset="0"/>
              </a:rPr>
              <a:t>     } </a:t>
            </a:r>
          </a:p>
          <a:p>
            <a:pPr algn="just">
              <a:spcBef>
                <a:spcPts val="0"/>
              </a:spcBef>
              <a:buNone/>
            </a:pPr>
            <a:r>
              <a:rPr lang="en-US" sz="1600" dirty="0" smtClean="0">
                <a:latin typeface="Cambria" panose="02040503050406030204" pitchFamily="18" charset="0"/>
                <a:ea typeface="Cambria" panose="02040503050406030204" pitchFamily="18" charset="0"/>
              </a:rPr>
              <a:t>    </a:t>
            </a:r>
            <a:r>
              <a:rPr lang="en-US" sz="1600" dirty="0">
                <a:latin typeface="Cambria" panose="02040503050406030204" pitchFamily="18" charset="0"/>
                <a:ea typeface="Cambria" panose="02040503050406030204" pitchFamily="18" charset="0"/>
              </a:rPr>
              <a:t>public String getLastName() { </a:t>
            </a:r>
          </a:p>
          <a:p>
            <a:pPr algn="just">
              <a:spcBef>
                <a:spcPts val="0"/>
              </a:spcBef>
              <a:buNone/>
            </a:pPr>
            <a:r>
              <a:rPr lang="en-US" sz="1600" dirty="0">
                <a:latin typeface="Cambria" panose="02040503050406030204" pitchFamily="18" charset="0"/>
                <a:ea typeface="Cambria" panose="02040503050406030204" pitchFamily="18" charset="0"/>
              </a:rPr>
              <a:t>        return lastName; </a:t>
            </a:r>
          </a:p>
          <a:p>
            <a:pPr algn="just">
              <a:spcBef>
                <a:spcPts val="0"/>
              </a:spcBef>
              <a:buNone/>
            </a:pPr>
            <a:r>
              <a:rPr lang="en-US" sz="1600" dirty="0">
                <a:latin typeface="Cambria" panose="02040503050406030204" pitchFamily="18" charset="0"/>
                <a:ea typeface="Cambria" panose="02040503050406030204" pitchFamily="18" charset="0"/>
              </a:rPr>
              <a:t>    } </a:t>
            </a:r>
            <a:endParaRPr lang="en-US" sz="1600" dirty="0" smtClean="0">
              <a:latin typeface="Cambria" panose="02040503050406030204" pitchFamily="18" charset="0"/>
              <a:ea typeface="Cambria" panose="02040503050406030204" pitchFamily="18" charset="0"/>
            </a:endParaRPr>
          </a:p>
          <a:p>
            <a:pPr algn="just">
              <a:spcBef>
                <a:spcPts val="0"/>
              </a:spcBef>
              <a:buNone/>
            </a:pPr>
            <a:r>
              <a:rPr lang="en-US" sz="1600" dirty="0">
                <a:latin typeface="Cambria" panose="02040503050406030204" pitchFamily="18" charset="0"/>
                <a:ea typeface="Cambria" panose="02040503050406030204" pitchFamily="18" charset="0"/>
              </a:rPr>
              <a:t> public void setUsername(String username) {  </a:t>
            </a:r>
          </a:p>
          <a:p>
            <a:pPr algn="just">
              <a:spcBef>
                <a:spcPts val="0"/>
              </a:spcBef>
              <a:buNone/>
            </a:pPr>
            <a:r>
              <a:rPr lang="en-US" sz="1600" dirty="0">
                <a:latin typeface="Cambria" panose="02040503050406030204" pitchFamily="18" charset="0"/>
                <a:ea typeface="Cambria" panose="02040503050406030204" pitchFamily="18" charset="0"/>
              </a:rPr>
              <a:t>         this.username = username; </a:t>
            </a:r>
          </a:p>
          <a:p>
            <a:pPr algn="just">
              <a:spcBef>
                <a:spcPts val="0"/>
              </a:spcBef>
              <a:buNone/>
            </a:pPr>
            <a:r>
              <a:rPr lang="en-US" sz="1600" dirty="0">
                <a:latin typeface="Cambria" panose="02040503050406030204" pitchFamily="18" charset="0"/>
                <a:ea typeface="Cambria" panose="02040503050406030204" pitchFamily="18" charset="0"/>
              </a:rPr>
              <a:t>     } </a:t>
            </a:r>
          </a:p>
          <a:p>
            <a:pPr algn="just">
              <a:spcBef>
                <a:spcPts val="0"/>
              </a:spcBef>
              <a:buNone/>
            </a:pPr>
            <a:r>
              <a:rPr lang="en-US" sz="1600" dirty="0" smtClean="0">
                <a:latin typeface="Cambria" panose="02040503050406030204" pitchFamily="18" charset="0"/>
                <a:ea typeface="Cambria" panose="02040503050406030204" pitchFamily="18" charset="0"/>
              </a:rPr>
              <a:t>public </a:t>
            </a:r>
            <a:r>
              <a:rPr lang="en-US" sz="1600" dirty="0">
                <a:latin typeface="Cambria" panose="02040503050406030204" pitchFamily="18" charset="0"/>
                <a:ea typeface="Cambria" panose="02040503050406030204" pitchFamily="18" charset="0"/>
              </a:rPr>
              <a:t>String getUsername() { </a:t>
            </a:r>
          </a:p>
          <a:p>
            <a:pPr algn="just">
              <a:spcBef>
                <a:spcPts val="0"/>
              </a:spcBef>
              <a:buNone/>
            </a:pPr>
            <a:r>
              <a:rPr lang="en-US" sz="1600" dirty="0">
                <a:latin typeface="Cambria" panose="02040503050406030204" pitchFamily="18" charset="0"/>
                <a:ea typeface="Cambria" panose="02040503050406030204" pitchFamily="18" charset="0"/>
              </a:rPr>
              <a:t>         return username; </a:t>
            </a:r>
          </a:p>
          <a:p>
            <a:pPr algn="just">
              <a:spcBef>
                <a:spcPts val="0"/>
              </a:spcBef>
              <a:buNone/>
            </a:pPr>
            <a:r>
              <a:rPr lang="en-US" sz="1600" dirty="0">
                <a:latin typeface="Cambria" panose="02040503050406030204" pitchFamily="18" charset="0"/>
                <a:ea typeface="Cambria" panose="02040503050406030204" pitchFamily="18" charset="0"/>
              </a:rPr>
              <a:t>     } </a:t>
            </a:r>
            <a:endParaRPr lang="en-US" sz="1600" dirty="0" smtClean="0">
              <a:latin typeface="Cambria" panose="02040503050406030204" pitchFamily="18" charset="0"/>
              <a:ea typeface="Cambria" panose="02040503050406030204" pitchFamily="18" charset="0"/>
            </a:endParaRPr>
          </a:p>
          <a:p>
            <a:pPr algn="just">
              <a:spcBef>
                <a:spcPts val="0"/>
              </a:spcBef>
              <a:buNone/>
            </a:pPr>
            <a:r>
              <a:rPr lang="en-US" sz="1600" dirty="0">
                <a:latin typeface="Cambria" panose="02040503050406030204" pitchFamily="18" charset="0"/>
                <a:ea typeface="Cambria" panose="02040503050406030204" pitchFamily="18" charset="0"/>
              </a:rPr>
              <a:t>public void setPassword(String password) {</a:t>
            </a:r>
          </a:p>
          <a:p>
            <a:pPr algn="just">
              <a:spcBef>
                <a:spcPts val="0"/>
              </a:spcBef>
              <a:buNone/>
            </a:pPr>
            <a:r>
              <a:rPr lang="en-US" sz="1600" dirty="0">
                <a:latin typeface="Cambria" panose="02040503050406030204" pitchFamily="18" charset="0"/>
                <a:ea typeface="Cambria" panose="02040503050406030204" pitchFamily="18" charset="0"/>
              </a:rPr>
              <a:t>           this.password = password; </a:t>
            </a:r>
          </a:p>
          <a:p>
            <a:pPr algn="just">
              <a:spcBef>
                <a:spcPts val="0"/>
              </a:spcBef>
              <a:buNone/>
            </a:pPr>
            <a:r>
              <a:rPr lang="en-US" sz="1600" dirty="0">
                <a:latin typeface="Cambria" panose="02040503050406030204" pitchFamily="18" charset="0"/>
                <a:ea typeface="Cambria" panose="02040503050406030204" pitchFamily="18" charset="0"/>
              </a:rPr>
              <a:t>      } </a:t>
            </a:r>
          </a:p>
          <a:p>
            <a:pPr algn="just">
              <a:spcBef>
                <a:spcPts val="0"/>
              </a:spcBef>
              <a:buNone/>
            </a:pPr>
            <a:r>
              <a:rPr lang="en-US" sz="1600" dirty="0" smtClean="0">
                <a:latin typeface="Cambria" panose="02040503050406030204" pitchFamily="18" charset="0"/>
                <a:ea typeface="Cambria" panose="02040503050406030204" pitchFamily="18" charset="0"/>
              </a:rPr>
              <a:t>public </a:t>
            </a:r>
            <a:r>
              <a:rPr lang="en-US" sz="1600" dirty="0">
                <a:latin typeface="Cambria" panose="02040503050406030204" pitchFamily="18" charset="0"/>
                <a:ea typeface="Cambria" panose="02040503050406030204" pitchFamily="18" charset="0"/>
              </a:rPr>
              <a:t>String getPassword() { </a:t>
            </a:r>
          </a:p>
          <a:p>
            <a:pPr algn="just">
              <a:spcBef>
                <a:spcPts val="0"/>
              </a:spcBef>
              <a:buNone/>
            </a:pPr>
            <a:r>
              <a:rPr lang="en-US" sz="1600" dirty="0">
                <a:latin typeface="Cambria" panose="02040503050406030204" pitchFamily="18" charset="0"/>
                <a:ea typeface="Cambria" panose="02040503050406030204" pitchFamily="18" charset="0"/>
              </a:rPr>
              <a:t>          return password; </a:t>
            </a:r>
          </a:p>
          <a:p>
            <a:pPr algn="just">
              <a:spcBef>
                <a:spcPts val="0"/>
              </a:spcBef>
              <a:buNone/>
            </a:pPr>
            <a:r>
              <a:rPr lang="en-US" sz="1600" dirty="0">
                <a:latin typeface="Cambria" panose="02040503050406030204" pitchFamily="18" charset="0"/>
                <a:ea typeface="Cambria" panose="02040503050406030204" pitchFamily="18" charset="0"/>
              </a:rPr>
              <a:t>      } </a:t>
            </a:r>
          </a:p>
          <a:p>
            <a:pPr algn="just">
              <a:spcBef>
                <a:spcPts val="0"/>
              </a:spcBef>
              <a:buNone/>
            </a:pPr>
            <a:r>
              <a:rPr lang="en-US" sz="1600" dirty="0">
                <a:latin typeface="Cambria" panose="02040503050406030204" pitchFamily="18" charset="0"/>
                <a:ea typeface="Cambria" panose="02040503050406030204" pitchFamily="18" charset="0"/>
              </a:rPr>
              <a:t>      </a:t>
            </a:r>
          </a:p>
        </p:txBody>
      </p:sp>
      <p:sp>
        <p:nvSpPr>
          <p:cNvPr id="6" name="Rectangle 5"/>
          <p:cNvSpPr/>
          <p:nvPr/>
        </p:nvSpPr>
        <p:spPr>
          <a:xfrm>
            <a:off x="8610600" y="673533"/>
            <a:ext cx="3383868" cy="4247317"/>
          </a:xfrm>
          <a:prstGeom prst="rect">
            <a:avLst/>
          </a:prstGeom>
        </p:spPr>
        <p:txBody>
          <a:bodyPr wrap="square">
            <a:spAutoFit/>
          </a:bodyPr>
          <a:lstStyle/>
          <a:p>
            <a:pPr algn="just">
              <a:spcBef>
                <a:spcPts val="0"/>
              </a:spcBef>
              <a:buNone/>
            </a:pPr>
            <a:r>
              <a:rPr lang="en-US" dirty="0">
                <a:latin typeface="Cambria" panose="02040503050406030204" pitchFamily="18" charset="0"/>
                <a:ea typeface="Cambria" panose="02040503050406030204" pitchFamily="18" charset="0"/>
              </a:rPr>
              <a:t>public void setAddress(String address) { </a:t>
            </a:r>
          </a:p>
          <a:p>
            <a:pPr algn="just">
              <a:spcBef>
                <a:spcPts val="0"/>
              </a:spcBef>
              <a:buNone/>
            </a:pPr>
            <a:r>
              <a:rPr lang="en-US" dirty="0">
                <a:latin typeface="Cambria" panose="02040503050406030204" pitchFamily="18" charset="0"/>
                <a:ea typeface="Cambria" panose="02040503050406030204" pitchFamily="18" charset="0"/>
              </a:rPr>
              <a:t>          this.address = address; </a:t>
            </a:r>
          </a:p>
          <a:p>
            <a:pPr algn="just">
              <a:spcBef>
                <a:spcPts val="0"/>
              </a:spcBef>
              <a:buNone/>
            </a:pPr>
            <a:r>
              <a:rPr lang="en-US" dirty="0">
                <a:latin typeface="Cambria" panose="02040503050406030204" pitchFamily="18" charset="0"/>
                <a:ea typeface="Cambria" panose="02040503050406030204" pitchFamily="18" charset="0"/>
              </a:rPr>
              <a:t>     } </a:t>
            </a:r>
          </a:p>
          <a:p>
            <a:pPr algn="just">
              <a:spcBef>
                <a:spcPts val="0"/>
              </a:spcBef>
              <a:buNone/>
            </a:pPr>
            <a:r>
              <a:rPr lang="en-US" dirty="0" smtClean="0">
                <a:latin typeface="Cambria" panose="02040503050406030204" pitchFamily="18" charset="0"/>
                <a:ea typeface="Cambria" panose="02040503050406030204" pitchFamily="18" charset="0"/>
              </a:rPr>
              <a:t>public </a:t>
            </a:r>
            <a:r>
              <a:rPr lang="en-US" dirty="0">
                <a:latin typeface="Cambria" panose="02040503050406030204" pitchFamily="18" charset="0"/>
                <a:ea typeface="Cambria" panose="02040503050406030204" pitchFamily="18" charset="0"/>
              </a:rPr>
              <a:t>String getAddress() { </a:t>
            </a:r>
          </a:p>
          <a:p>
            <a:pPr algn="just">
              <a:spcBef>
                <a:spcPts val="0"/>
              </a:spcBef>
              <a:buNone/>
            </a:pPr>
            <a:r>
              <a:rPr lang="en-US" dirty="0">
                <a:latin typeface="Cambria" panose="02040503050406030204" pitchFamily="18" charset="0"/>
                <a:ea typeface="Cambria" panose="02040503050406030204" pitchFamily="18" charset="0"/>
              </a:rPr>
              <a:t>          return address; </a:t>
            </a:r>
          </a:p>
          <a:p>
            <a:pPr algn="just">
              <a:spcBef>
                <a:spcPts val="0"/>
              </a:spcBef>
              <a:buNone/>
            </a:pPr>
            <a:r>
              <a:rPr lang="en-US" dirty="0">
                <a:latin typeface="Cambria" panose="02040503050406030204" pitchFamily="18" charset="0"/>
                <a:ea typeface="Cambria" panose="02040503050406030204" pitchFamily="18" charset="0"/>
              </a:rPr>
              <a:t>      } </a:t>
            </a:r>
            <a:endParaRPr lang="en-US" dirty="0" smtClean="0">
              <a:latin typeface="Cambria" panose="02040503050406030204" pitchFamily="18" charset="0"/>
              <a:ea typeface="Cambria" panose="02040503050406030204" pitchFamily="18" charset="0"/>
            </a:endParaRPr>
          </a:p>
          <a:p>
            <a:pPr algn="just">
              <a:spcBef>
                <a:spcPts val="0"/>
              </a:spcBef>
              <a:buNone/>
            </a:pPr>
            <a:r>
              <a:rPr lang="en-US" dirty="0">
                <a:latin typeface="Cambria" panose="02040503050406030204" pitchFamily="18" charset="0"/>
                <a:ea typeface="Cambria" panose="02040503050406030204" pitchFamily="18" charset="0"/>
              </a:rPr>
              <a:t>public void setContact(String contact) {</a:t>
            </a:r>
          </a:p>
          <a:p>
            <a:pPr algn="just">
              <a:spcBef>
                <a:spcPts val="0"/>
              </a:spcBef>
              <a:buNone/>
            </a:pPr>
            <a:r>
              <a:rPr lang="en-US" dirty="0">
                <a:latin typeface="Cambria" panose="02040503050406030204" pitchFamily="18" charset="0"/>
                <a:ea typeface="Cambria" panose="02040503050406030204" pitchFamily="18" charset="0"/>
              </a:rPr>
              <a:t>      this.contact = contact; </a:t>
            </a:r>
          </a:p>
          <a:p>
            <a:pPr algn="just">
              <a:spcBef>
                <a:spcPts val="0"/>
              </a:spcBef>
              <a:buNone/>
            </a:pPr>
            <a:r>
              <a:rPr lang="en-US" dirty="0">
                <a:latin typeface="Cambria" panose="02040503050406030204" pitchFamily="18" charset="0"/>
                <a:ea typeface="Cambria" panose="02040503050406030204" pitchFamily="18" charset="0"/>
              </a:rPr>
              <a:t>} </a:t>
            </a:r>
          </a:p>
          <a:p>
            <a:pPr algn="just">
              <a:spcBef>
                <a:spcPts val="0"/>
              </a:spcBef>
              <a:buNone/>
            </a:pPr>
            <a:r>
              <a:rPr lang="en-US" dirty="0" smtClean="0">
                <a:latin typeface="Cambria" panose="02040503050406030204" pitchFamily="18" charset="0"/>
                <a:ea typeface="Cambria" panose="02040503050406030204" pitchFamily="18" charset="0"/>
              </a:rPr>
              <a:t>public </a:t>
            </a:r>
            <a:r>
              <a:rPr lang="en-US" dirty="0">
                <a:latin typeface="Cambria" panose="02040503050406030204" pitchFamily="18" charset="0"/>
                <a:ea typeface="Cambria" panose="02040503050406030204" pitchFamily="18" charset="0"/>
              </a:rPr>
              <a:t>String getContact() { </a:t>
            </a:r>
          </a:p>
          <a:p>
            <a:pPr algn="just">
              <a:spcBef>
                <a:spcPts val="0"/>
              </a:spcBef>
              <a:buNone/>
            </a:pPr>
            <a:r>
              <a:rPr lang="en-US" dirty="0">
                <a:latin typeface="Cambria" panose="02040503050406030204" pitchFamily="18" charset="0"/>
                <a:ea typeface="Cambria" panose="02040503050406030204" pitchFamily="18" charset="0"/>
              </a:rPr>
              <a:t>          return contact; </a:t>
            </a:r>
          </a:p>
          <a:p>
            <a:pPr algn="just">
              <a:spcBef>
                <a:spcPts val="0"/>
              </a:spcBef>
              <a:buNone/>
            </a:pPr>
            <a:r>
              <a:rPr lang="en-US" dirty="0">
                <a:latin typeface="Cambria" panose="02040503050406030204" pitchFamily="18" charset="0"/>
                <a:ea typeface="Cambria" panose="02040503050406030204" pitchFamily="18" charset="0"/>
              </a:rPr>
              <a:t>     } </a:t>
            </a:r>
          </a:p>
          <a:p>
            <a:pPr algn="just">
              <a:spcBef>
                <a:spcPts val="0"/>
              </a:spcBef>
              <a:buNone/>
            </a:pPr>
            <a:r>
              <a:rPr lang="en-US" dirty="0" smtClean="0">
                <a:latin typeface="Cambria" panose="02040503050406030204" pitchFamily="18" charset="0"/>
                <a:ea typeface="Cambria" panose="02040503050406030204" pitchFamily="18" charset="0"/>
              </a:rPr>
              <a:t>}</a:t>
            </a:r>
            <a:endParaRPr lang="en-US" dirty="0">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3071664" cy="404664"/>
          </a:xfrm>
        </p:spPr>
        <p:txBody>
          <a:bodyPr/>
          <a:lstStyle/>
          <a:p>
            <a:r>
              <a:rPr lang="en-US" sz="3600" b="1" dirty="0" smtClean="0">
                <a:solidFill>
                  <a:schemeClr val="accent5"/>
                </a:solidFill>
                <a:latin typeface="Cambria" panose="02040503050406030204" pitchFamily="18" charset="0"/>
                <a:ea typeface="Cambria" panose="02040503050406030204" pitchFamily="18" charset="0"/>
              </a:rPr>
              <a:t/>
            </a:r>
            <a:br>
              <a:rPr lang="en-US" sz="3600" b="1" dirty="0" smtClean="0">
                <a:solidFill>
                  <a:schemeClr val="accent5"/>
                </a:solidFill>
                <a:latin typeface="Cambria" panose="02040503050406030204" pitchFamily="18" charset="0"/>
                <a:ea typeface="Cambria" panose="02040503050406030204" pitchFamily="18" charset="0"/>
              </a:rPr>
            </a:br>
            <a:r>
              <a:rPr lang="en-US" sz="3600" b="1" dirty="0" smtClean="0">
                <a:solidFill>
                  <a:schemeClr val="accent5"/>
                </a:solidFill>
                <a:latin typeface="Cambria" panose="02040503050406030204" pitchFamily="18" charset="0"/>
                <a:ea typeface="Cambria" panose="02040503050406030204" pitchFamily="18" charset="0"/>
              </a:rPr>
              <a:t/>
            </a:r>
            <a:br>
              <a:rPr lang="en-US" sz="3600" b="1" dirty="0" smtClean="0">
                <a:solidFill>
                  <a:schemeClr val="accent5"/>
                </a:solidFill>
                <a:latin typeface="Cambria" panose="02040503050406030204" pitchFamily="18" charset="0"/>
                <a:ea typeface="Cambria" panose="02040503050406030204" pitchFamily="18" charset="0"/>
              </a:rPr>
            </a:br>
            <a:r>
              <a:rPr lang="en-US" sz="3600" b="1" dirty="0" smtClean="0">
                <a:solidFill>
                  <a:schemeClr val="accent5"/>
                </a:solidFill>
                <a:latin typeface="Cambria" panose="02040503050406030204" pitchFamily="18" charset="0"/>
                <a:ea typeface="Cambria" panose="02040503050406030204" pitchFamily="18" charset="0"/>
              </a:rPr>
              <a:t>DAO Layer</a:t>
            </a:r>
            <a:br>
              <a:rPr lang="en-US" sz="3600" b="1" dirty="0" smtClean="0">
                <a:solidFill>
                  <a:schemeClr val="accent5"/>
                </a:solidFill>
                <a:latin typeface="Cambria" panose="02040503050406030204" pitchFamily="18" charset="0"/>
                <a:ea typeface="Cambria" panose="02040503050406030204" pitchFamily="18" charset="0"/>
              </a:rPr>
            </a:br>
            <a:r>
              <a:rPr lang="en-US" sz="3600" b="1" dirty="0" smtClean="0">
                <a:solidFill>
                  <a:schemeClr val="accent5"/>
                </a:solidFill>
                <a:latin typeface="Cambria" panose="02040503050406030204" pitchFamily="18" charset="0"/>
                <a:ea typeface="Cambria" panose="02040503050406030204" pitchFamily="18" charset="0"/>
              </a:rPr>
              <a:t/>
            </a:r>
            <a:br>
              <a:rPr lang="en-US" sz="3600" b="1" dirty="0" smtClean="0">
                <a:solidFill>
                  <a:schemeClr val="accent5"/>
                </a:solidFill>
                <a:latin typeface="Cambria" panose="02040503050406030204" pitchFamily="18" charset="0"/>
                <a:ea typeface="Cambria" panose="02040503050406030204" pitchFamily="18" charset="0"/>
              </a:rPr>
            </a:br>
            <a:endParaRPr lang="en-US" sz="36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191344" y="435080"/>
            <a:ext cx="11809312" cy="4866128"/>
          </a:xfrm>
        </p:spPr>
        <p:txBody>
          <a:bodyPr/>
          <a:lstStyle/>
          <a:p>
            <a:r>
              <a:rPr lang="en-US" sz="1800" b="1" dirty="0" smtClean="0">
                <a:latin typeface="Cambria" panose="02040503050406030204" pitchFamily="18" charset="0"/>
                <a:ea typeface="Cambria" panose="02040503050406030204" pitchFamily="18" charset="0"/>
              </a:rPr>
              <a:t>EmployeeDao.java</a:t>
            </a:r>
            <a:endParaRPr lang="en-US" sz="1800" dirty="0" smtClean="0">
              <a:latin typeface="Cambria" panose="02040503050406030204" pitchFamily="18" charset="0"/>
              <a:ea typeface="Cambria" panose="02040503050406030204" pitchFamily="18" charset="0"/>
            </a:endParaRPr>
          </a:p>
          <a:p>
            <a:r>
              <a:rPr lang="en-US" sz="1800" dirty="0" smtClean="0">
                <a:latin typeface="Cambria" panose="02040503050406030204" pitchFamily="18" charset="0"/>
                <a:ea typeface="Cambria" panose="02040503050406030204" pitchFamily="18" charset="0"/>
              </a:rPr>
              <a:t>Let's create </a:t>
            </a:r>
            <a:r>
              <a:rPr lang="en-US" sz="1800" i="1" dirty="0" err="1" smtClean="0">
                <a:latin typeface="Cambria" panose="02040503050406030204" pitchFamily="18" charset="0"/>
                <a:ea typeface="Cambria" panose="02040503050406030204" pitchFamily="18" charset="0"/>
              </a:rPr>
              <a:t>EmployeeDao</a:t>
            </a:r>
            <a:r>
              <a:rPr lang="en-US" sz="1800" dirty="0" smtClean="0">
                <a:latin typeface="Cambria" panose="02040503050406030204" pitchFamily="18" charset="0"/>
                <a:ea typeface="Cambria" panose="02040503050406030204" pitchFamily="18" charset="0"/>
              </a:rPr>
              <a:t> class that contains JDBC code to connect with the </a:t>
            </a:r>
            <a:r>
              <a:rPr lang="en-US" sz="1800" dirty="0" err="1" smtClean="0">
                <a:latin typeface="Cambria" panose="02040503050406030204" pitchFamily="18" charset="0"/>
                <a:ea typeface="Cambria" panose="02040503050406030204" pitchFamily="18" charset="0"/>
              </a:rPr>
              <a:t>MySQL</a:t>
            </a:r>
            <a:r>
              <a:rPr lang="en-US" sz="1800" dirty="0" smtClean="0">
                <a:latin typeface="Cambria" panose="02040503050406030204" pitchFamily="18" charset="0"/>
                <a:ea typeface="Cambria" panose="02040503050406030204" pitchFamily="18" charset="0"/>
              </a:rPr>
              <a:t> database. </a:t>
            </a:r>
          </a:p>
          <a:p>
            <a:r>
              <a:rPr lang="en-US" sz="1800" dirty="0" smtClean="0">
                <a:latin typeface="Cambria" panose="02040503050406030204" pitchFamily="18" charset="0"/>
                <a:ea typeface="Cambria" panose="02040503050406030204" pitchFamily="18" charset="0"/>
              </a:rPr>
              <a:t>Add the following code to an </a:t>
            </a:r>
            <a:r>
              <a:rPr lang="en-US" sz="1800" i="1" dirty="0" err="1" smtClean="0">
                <a:latin typeface="Cambria" panose="02040503050406030204" pitchFamily="18" charset="0"/>
                <a:ea typeface="Cambria" panose="02040503050406030204" pitchFamily="18" charset="0"/>
              </a:rPr>
              <a:t>EmployeeDao</a:t>
            </a:r>
            <a:r>
              <a:rPr lang="en-US" sz="1800" dirty="0" smtClean="0">
                <a:latin typeface="Cambria" panose="02040503050406030204" pitchFamily="18" charset="0"/>
                <a:ea typeface="Cambria" panose="02040503050406030204" pitchFamily="18" charset="0"/>
              </a:rPr>
              <a:t> class:</a:t>
            </a:r>
          </a:p>
          <a:p>
            <a:pPr>
              <a:spcBef>
                <a:spcPts val="0"/>
              </a:spcBef>
              <a:buNone/>
            </a:pP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import </a:t>
            </a:r>
            <a:r>
              <a:rPr lang="en-US" sz="1800" dirty="0" err="1" smtClean="0">
                <a:latin typeface="Cambria" panose="02040503050406030204" pitchFamily="18" charset="0"/>
                <a:ea typeface="Cambria" panose="02040503050406030204" pitchFamily="18" charset="0"/>
              </a:rPr>
              <a:t>java.sql.Connection</a:t>
            </a:r>
            <a:r>
              <a:rPr lang="en-US" sz="1800" dirty="0" smtClean="0">
                <a:latin typeface="Cambria" panose="02040503050406030204" pitchFamily="18" charset="0"/>
                <a:ea typeface="Cambria" panose="02040503050406030204" pitchFamily="18" charset="0"/>
              </a:rPr>
              <a:t>;</a:t>
            </a:r>
          </a:p>
          <a:p>
            <a:pPr>
              <a:spcBef>
                <a:spcPts val="0"/>
              </a:spcBef>
              <a:buNone/>
            </a:pPr>
            <a:r>
              <a:rPr lang="en-US" sz="1800" dirty="0" smtClean="0">
                <a:latin typeface="Cambria" panose="02040503050406030204" pitchFamily="18" charset="0"/>
                <a:ea typeface="Cambria" panose="02040503050406030204" pitchFamily="18" charset="0"/>
              </a:rPr>
              <a:t>import </a:t>
            </a:r>
            <a:r>
              <a:rPr lang="en-US" sz="1800" dirty="0" err="1" smtClean="0">
                <a:latin typeface="Cambria" panose="02040503050406030204" pitchFamily="18" charset="0"/>
                <a:ea typeface="Cambria" panose="02040503050406030204" pitchFamily="18" charset="0"/>
              </a:rPr>
              <a:t>java.sql.DriverManager</a:t>
            </a:r>
            <a:r>
              <a:rPr lang="en-US" sz="1800" dirty="0" smtClean="0">
                <a:latin typeface="Cambria" panose="02040503050406030204" pitchFamily="18" charset="0"/>
                <a:ea typeface="Cambria" panose="02040503050406030204" pitchFamily="18" charset="0"/>
              </a:rPr>
              <a:t>;</a:t>
            </a:r>
          </a:p>
          <a:p>
            <a:pPr>
              <a:spcBef>
                <a:spcPts val="0"/>
              </a:spcBef>
              <a:buNone/>
            </a:pPr>
            <a:r>
              <a:rPr lang="en-US" sz="1800" dirty="0" smtClean="0">
                <a:latin typeface="Cambria" panose="02040503050406030204" pitchFamily="18" charset="0"/>
                <a:ea typeface="Cambria" panose="02040503050406030204" pitchFamily="18" charset="0"/>
              </a:rPr>
              <a:t>import </a:t>
            </a:r>
            <a:r>
              <a:rPr lang="en-US" sz="1800" dirty="0" err="1" smtClean="0">
                <a:latin typeface="Cambria" panose="02040503050406030204" pitchFamily="18" charset="0"/>
                <a:ea typeface="Cambria" panose="02040503050406030204" pitchFamily="18" charset="0"/>
              </a:rPr>
              <a:t>java.sql.PreparedStatement</a:t>
            </a:r>
            <a:r>
              <a:rPr lang="en-US" sz="1800" dirty="0" smtClean="0">
                <a:latin typeface="Cambria" panose="02040503050406030204" pitchFamily="18" charset="0"/>
                <a:ea typeface="Cambria" panose="02040503050406030204" pitchFamily="18" charset="0"/>
              </a:rPr>
              <a:t>;</a:t>
            </a:r>
          </a:p>
          <a:p>
            <a:pPr>
              <a:spcBef>
                <a:spcPts val="0"/>
              </a:spcBef>
              <a:buNone/>
            </a:pPr>
            <a:r>
              <a:rPr lang="en-US" sz="1800" dirty="0" smtClean="0">
                <a:latin typeface="Cambria" panose="02040503050406030204" pitchFamily="18" charset="0"/>
                <a:ea typeface="Cambria" panose="02040503050406030204" pitchFamily="18" charset="0"/>
              </a:rPr>
              <a:t>import </a:t>
            </a:r>
            <a:r>
              <a:rPr lang="en-US" sz="1800" dirty="0" err="1" smtClean="0">
                <a:latin typeface="Cambria" panose="02040503050406030204" pitchFamily="18" charset="0"/>
                <a:ea typeface="Cambria" panose="02040503050406030204" pitchFamily="18" charset="0"/>
              </a:rPr>
              <a:t>java.sql.SQLException</a:t>
            </a:r>
            <a:r>
              <a:rPr lang="en-US" sz="1800" dirty="0" smtClean="0">
                <a:latin typeface="Cambria" panose="02040503050406030204" pitchFamily="18" charset="0"/>
                <a:ea typeface="Cambria" panose="02040503050406030204" pitchFamily="18" charset="0"/>
              </a:rPr>
              <a:t>;</a:t>
            </a:r>
          </a:p>
          <a:p>
            <a:pPr>
              <a:spcBef>
                <a:spcPts val="0"/>
              </a:spcBef>
              <a:buNone/>
            </a:pP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public class EmployeeDao {</a:t>
            </a:r>
          </a:p>
          <a:p>
            <a:pPr>
              <a:spcBef>
                <a:spcPts val="0"/>
              </a:spcBef>
              <a:buNone/>
            </a:pP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public </a:t>
            </a:r>
            <a:r>
              <a:rPr lang="en-US" sz="1800" dirty="0" err="1" smtClean="0">
                <a:latin typeface="Cambria" panose="02040503050406030204" pitchFamily="18" charset="0"/>
                <a:ea typeface="Cambria" panose="02040503050406030204" pitchFamily="18" charset="0"/>
              </a:rPr>
              <a:t>int</a:t>
            </a:r>
            <a:r>
              <a:rPr lang="en-US" sz="1800" dirty="0" smtClean="0">
                <a:latin typeface="Cambria" panose="02040503050406030204" pitchFamily="18" charset="0"/>
                <a:ea typeface="Cambria" panose="02040503050406030204" pitchFamily="18" charset="0"/>
              </a:rPr>
              <a:t> </a:t>
            </a:r>
            <a:r>
              <a:rPr lang="en-US" sz="1800" dirty="0" err="1" smtClean="0">
                <a:latin typeface="Cambria" panose="02040503050406030204" pitchFamily="18" charset="0"/>
                <a:ea typeface="Cambria" panose="02040503050406030204" pitchFamily="18" charset="0"/>
              </a:rPr>
              <a:t>registerEmployee</a:t>
            </a:r>
            <a:r>
              <a:rPr lang="en-US" sz="1800" dirty="0" smtClean="0">
                <a:latin typeface="Cambria" panose="02040503050406030204" pitchFamily="18" charset="0"/>
                <a:ea typeface="Cambria" panose="02040503050406030204" pitchFamily="18" charset="0"/>
              </a:rPr>
              <a:t>(Employee </a:t>
            </a:r>
            <a:r>
              <a:rPr lang="en-US" sz="1800" dirty="0" err="1" smtClean="0">
                <a:latin typeface="Cambria" panose="02040503050406030204" pitchFamily="18" charset="0"/>
                <a:ea typeface="Cambria" panose="02040503050406030204" pitchFamily="18" charset="0"/>
              </a:rPr>
              <a:t>employee</a:t>
            </a:r>
            <a:r>
              <a:rPr lang="en-US" sz="1800" dirty="0" smtClean="0">
                <a:latin typeface="Cambria" panose="02040503050406030204" pitchFamily="18" charset="0"/>
                <a:ea typeface="Cambria" panose="02040503050406030204" pitchFamily="18" charset="0"/>
              </a:rPr>
              <a:t>) throws </a:t>
            </a:r>
            <a:r>
              <a:rPr lang="en-US" sz="1800" dirty="0" err="1" smtClean="0">
                <a:latin typeface="Cambria" panose="02040503050406030204" pitchFamily="18" charset="0"/>
                <a:ea typeface="Cambria" panose="02040503050406030204" pitchFamily="18" charset="0"/>
              </a:rPr>
              <a:t>ClassNotFoundException</a:t>
            </a:r>
            <a:r>
              <a:rPr lang="en-US" sz="1800" dirty="0" smtClean="0">
                <a:latin typeface="Cambria" panose="02040503050406030204" pitchFamily="18" charset="0"/>
                <a:ea typeface="Cambria" panose="02040503050406030204" pitchFamily="18" charset="0"/>
              </a:rPr>
              <a:t> {</a:t>
            </a:r>
          </a:p>
          <a:p>
            <a:pPr>
              <a:spcBef>
                <a:spcPts val="0"/>
              </a:spcBef>
              <a:buNone/>
            </a:pPr>
            <a:r>
              <a:rPr lang="en-US" sz="1800" dirty="0" smtClean="0">
                <a:latin typeface="Cambria" panose="02040503050406030204" pitchFamily="18" charset="0"/>
                <a:ea typeface="Cambria" panose="02040503050406030204" pitchFamily="18" charset="0"/>
              </a:rPr>
              <a:t>        String INSERT_USERS_SQL = "INSERT INTO employee" +</a:t>
            </a:r>
          </a:p>
          <a:p>
            <a:pPr>
              <a:spcBef>
                <a:spcPts val="0"/>
              </a:spcBef>
              <a:buNone/>
            </a:pPr>
            <a:r>
              <a:rPr lang="en-US" sz="1800" dirty="0" smtClean="0">
                <a:latin typeface="Cambria" panose="02040503050406030204" pitchFamily="18" charset="0"/>
                <a:ea typeface="Cambria" panose="02040503050406030204" pitchFamily="18" charset="0"/>
              </a:rPr>
              <a:t>            "  (id, first_name, last_name, username, password, address, contact) VALUES “ + " (?, ?, ?, ?, ?,?,?);";</a:t>
            </a:r>
          </a:p>
          <a:p>
            <a:pPr>
              <a:spcBef>
                <a:spcPts val="0"/>
              </a:spcBef>
              <a:buNone/>
            </a:pPr>
            <a:r>
              <a:rPr lang="en-US" sz="1800" dirty="0" smtClean="0">
                <a:latin typeface="Cambria" panose="02040503050406030204" pitchFamily="18" charset="0"/>
                <a:ea typeface="Cambria" panose="02040503050406030204" pitchFamily="18" charset="0"/>
              </a:rPr>
              <a:t> </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127</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4655840" cy="404664"/>
          </a:xfrm>
        </p:spPr>
        <p:txBody>
          <a:bodyPr/>
          <a:lstStyle/>
          <a:p>
            <a:r>
              <a:rPr lang="en-US" sz="3600" b="1" dirty="0" smtClean="0">
                <a:solidFill>
                  <a:schemeClr val="accent5"/>
                </a:solidFill>
                <a:latin typeface="Cambria" panose="02040503050406030204" pitchFamily="18" charset="0"/>
                <a:ea typeface="Cambria" panose="02040503050406030204" pitchFamily="18" charset="0"/>
              </a:rPr>
              <a:t/>
            </a:r>
            <a:br>
              <a:rPr lang="en-US" sz="3600" b="1" dirty="0" smtClean="0">
                <a:solidFill>
                  <a:schemeClr val="accent5"/>
                </a:solidFill>
                <a:latin typeface="Cambria" panose="02040503050406030204" pitchFamily="18" charset="0"/>
                <a:ea typeface="Cambria" panose="02040503050406030204" pitchFamily="18" charset="0"/>
              </a:rPr>
            </a:br>
            <a:r>
              <a:rPr lang="en-US" sz="3600" b="1" dirty="0" smtClean="0">
                <a:solidFill>
                  <a:schemeClr val="accent5"/>
                </a:solidFill>
                <a:latin typeface="Cambria" panose="02040503050406030204" pitchFamily="18" charset="0"/>
                <a:ea typeface="Cambria" panose="02040503050406030204" pitchFamily="18" charset="0"/>
              </a:rPr>
              <a:t/>
            </a:r>
            <a:br>
              <a:rPr lang="en-US" sz="3600" b="1" dirty="0" smtClean="0">
                <a:solidFill>
                  <a:schemeClr val="accent5"/>
                </a:solidFill>
                <a:latin typeface="Cambria" panose="02040503050406030204" pitchFamily="18" charset="0"/>
                <a:ea typeface="Cambria" panose="02040503050406030204" pitchFamily="18" charset="0"/>
              </a:rPr>
            </a:br>
            <a:r>
              <a:rPr lang="en-US" sz="3600" b="1" dirty="0" smtClean="0">
                <a:solidFill>
                  <a:schemeClr val="accent5"/>
                </a:solidFill>
                <a:latin typeface="Cambria" panose="02040503050406030204" pitchFamily="18" charset="0"/>
                <a:ea typeface="Cambria" panose="02040503050406030204" pitchFamily="18" charset="0"/>
              </a:rPr>
              <a:t>DAO Layer </a:t>
            </a:r>
            <a:r>
              <a:rPr lang="en-US" sz="2000" b="1" dirty="0" smtClean="0">
                <a:solidFill>
                  <a:schemeClr val="accent5"/>
                </a:solidFill>
                <a:latin typeface="Cambria" panose="02040503050406030204" pitchFamily="18" charset="0"/>
                <a:ea typeface="Cambria" panose="02040503050406030204" pitchFamily="18" charset="0"/>
              </a:rPr>
              <a:t>(contd...)</a:t>
            </a:r>
            <a:br>
              <a:rPr lang="en-US" sz="2000" b="1" dirty="0" smtClean="0">
                <a:solidFill>
                  <a:schemeClr val="accent5"/>
                </a:solidFill>
                <a:latin typeface="Cambria" panose="02040503050406030204" pitchFamily="18" charset="0"/>
                <a:ea typeface="Cambria" panose="02040503050406030204" pitchFamily="18" charset="0"/>
              </a:rPr>
            </a:br>
            <a:r>
              <a:rPr lang="en-US" sz="3600" b="1" dirty="0" smtClean="0">
                <a:solidFill>
                  <a:schemeClr val="accent5"/>
                </a:solidFill>
                <a:latin typeface="Cambria" panose="02040503050406030204" pitchFamily="18" charset="0"/>
                <a:ea typeface="Cambria" panose="02040503050406030204" pitchFamily="18" charset="0"/>
              </a:rPr>
              <a:t/>
            </a:r>
            <a:br>
              <a:rPr lang="en-US" sz="3600" b="1" dirty="0" smtClean="0">
                <a:solidFill>
                  <a:schemeClr val="accent5"/>
                </a:solidFill>
                <a:latin typeface="Cambria" panose="02040503050406030204" pitchFamily="18" charset="0"/>
                <a:ea typeface="Cambria" panose="02040503050406030204" pitchFamily="18" charset="0"/>
              </a:rPr>
            </a:br>
            <a:endParaRPr lang="en-US" sz="36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263352" y="404665"/>
            <a:ext cx="10945216" cy="5802232"/>
          </a:xfrm>
        </p:spPr>
        <p:txBody>
          <a:bodyPr/>
          <a:lstStyle/>
          <a:p>
            <a:pPr>
              <a:spcBef>
                <a:spcPts val="0"/>
              </a:spcBef>
              <a:buNone/>
            </a:pPr>
            <a:r>
              <a:rPr lang="en-US" sz="1600" dirty="0" smtClean="0">
                <a:latin typeface="Cambria" panose="02040503050406030204" pitchFamily="18" charset="0"/>
                <a:ea typeface="Cambria" panose="02040503050406030204" pitchFamily="18" charset="0"/>
              </a:rPr>
              <a:t>        int result = 0;</a:t>
            </a:r>
          </a:p>
          <a:p>
            <a:pPr>
              <a:spcBef>
                <a:spcPts val="0"/>
              </a:spcBef>
              <a:buNone/>
            </a:pPr>
            <a:r>
              <a:rPr lang="en-US" sz="1600" dirty="0" smtClean="0">
                <a:latin typeface="Cambria" panose="02040503050406030204" pitchFamily="18" charset="0"/>
                <a:ea typeface="Cambria" panose="02040503050406030204" pitchFamily="18" charset="0"/>
              </a:rPr>
              <a:t> </a:t>
            </a:r>
          </a:p>
          <a:p>
            <a:pPr>
              <a:spcBef>
                <a:spcPts val="0"/>
              </a:spcBef>
              <a:buNone/>
            </a:pPr>
            <a:r>
              <a:rPr lang="en-US" sz="1600" dirty="0" smtClean="0">
                <a:latin typeface="Cambria" panose="02040503050406030204" pitchFamily="18" charset="0"/>
                <a:ea typeface="Cambria" panose="02040503050406030204" pitchFamily="18" charset="0"/>
              </a:rPr>
              <a:t>        </a:t>
            </a:r>
            <a:r>
              <a:rPr lang="en-US" sz="1600" dirty="0" err="1" smtClean="0">
                <a:latin typeface="Cambria" panose="02040503050406030204" pitchFamily="18" charset="0"/>
                <a:ea typeface="Cambria" panose="02040503050406030204" pitchFamily="18" charset="0"/>
              </a:rPr>
              <a:t>Class.forName</a:t>
            </a:r>
            <a:r>
              <a:rPr lang="en-US" sz="1600" dirty="0" smtClean="0">
                <a:latin typeface="Cambria" panose="02040503050406030204" pitchFamily="18" charset="0"/>
                <a:ea typeface="Cambria" panose="02040503050406030204" pitchFamily="18" charset="0"/>
              </a:rPr>
              <a:t>("</a:t>
            </a:r>
            <a:r>
              <a:rPr lang="en-US" sz="1600" dirty="0" err="1" smtClean="0">
                <a:latin typeface="Cambria" panose="02040503050406030204" pitchFamily="18" charset="0"/>
                <a:ea typeface="Cambria" panose="02040503050406030204" pitchFamily="18" charset="0"/>
              </a:rPr>
              <a:t>com.mysql.jdbc.Driver</a:t>
            </a:r>
            <a:r>
              <a:rPr lang="en-US" sz="1600" dirty="0" smtClean="0">
                <a:latin typeface="Cambria" panose="02040503050406030204" pitchFamily="18" charset="0"/>
                <a:ea typeface="Cambria" panose="02040503050406030204" pitchFamily="18" charset="0"/>
              </a:rPr>
              <a:t>");</a:t>
            </a:r>
          </a:p>
          <a:p>
            <a:pPr>
              <a:spcBef>
                <a:spcPts val="0"/>
              </a:spcBef>
              <a:buNone/>
            </a:pPr>
            <a:r>
              <a:rPr lang="en-US" sz="1600" dirty="0" smtClean="0">
                <a:latin typeface="Cambria" panose="02040503050406030204" pitchFamily="18" charset="0"/>
                <a:ea typeface="Cambria" panose="02040503050406030204" pitchFamily="18" charset="0"/>
              </a:rPr>
              <a:t> </a:t>
            </a:r>
          </a:p>
          <a:p>
            <a:pPr>
              <a:spcBef>
                <a:spcPts val="0"/>
              </a:spcBef>
              <a:buNone/>
            </a:pPr>
            <a:r>
              <a:rPr lang="en-US" sz="1600" dirty="0" smtClean="0">
                <a:latin typeface="Cambria" panose="02040503050406030204" pitchFamily="18" charset="0"/>
                <a:ea typeface="Cambria" panose="02040503050406030204" pitchFamily="18" charset="0"/>
              </a:rPr>
              <a:t>        try (Connection </a:t>
            </a:r>
            <a:r>
              <a:rPr lang="en-US" sz="1600" dirty="0" err="1" smtClean="0">
                <a:latin typeface="Cambria" panose="02040503050406030204" pitchFamily="18" charset="0"/>
                <a:ea typeface="Cambria" panose="02040503050406030204" pitchFamily="18" charset="0"/>
              </a:rPr>
              <a:t>connection</a:t>
            </a:r>
            <a:r>
              <a:rPr lang="en-US" sz="1600" dirty="0" smtClean="0">
                <a:latin typeface="Cambria" panose="02040503050406030204" pitchFamily="18" charset="0"/>
                <a:ea typeface="Cambria" panose="02040503050406030204" pitchFamily="18" charset="0"/>
              </a:rPr>
              <a:t> = </a:t>
            </a:r>
            <a:r>
              <a:rPr lang="en-US" sz="1600" dirty="0" err="1" smtClean="0">
                <a:latin typeface="Cambria" panose="02040503050406030204" pitchFamily="18" charset="0"/>
                <a:ea typeface="Cambria" panose="02040503050406030204" pitchFamily="18" charset="0"/>
              </a:rPr>
              <a:t>DriverManager</a:t>
            </a:r>
            <a:endParaRPr lang="en-US" sz="1600" dirty="0" smtClean="0">
              <a:latin typeface="Cambria" panose="02040503050406030204" pitchFamily="18" charset="0"/>
              <a:ea typeface="Cambria" panose="02040503050406030204" pitchFamily="18" charset="0"/>
            </a:endParaRPr>
          </a:p>
          <a:p>
            <a:pPr>
              <a:spcBef>
                <a:spcPts val="0"/>
              </a:spcBef>
              <a:buNone/>
            </a:pPr>
            <a:r>
              <a:rPr lang="en-US" sz="1600" dirty="0" smtClean="0">
                <a:latin typeface="Cambria" panose="02040503050406030204" pitchFamily="18" charset="0"/>
                <a:ea typeface="Cambria" panose="02040503050406030204" pitchFamily="18" charset="0"/>
              </a:rPr>
              <a:t>            .getConnection("jdbc:mysql://localhost:3306/JFSD", "root", "rahman");</a:t>
            </a:r>
          </a:p>
          <a:p>
            <a:pPr>
              <a:spcBef>
                <a:spcPts val="0"/>
              </a:spcBef>
              <a:buNone/>
            </a:pPr>
            <a:r>
              <a:rPr lang="en-US" sz="1600" dirty="0" smtClean="0">
                <a:latin typeface="Cambria" panose="02040503050406030204" pitchFamily="18" charset="0"/>
                <a:ea typeface="Cambria" panose="02040503050406030204" pitchFamily="18" charset="0"/>
              </a:rPr>
              <a:t> </a:t>
            </a:r>
          </a:p>
          <a:p>
            <a:pPr>
              <a:spcBef>
                <a:spcPts val="0"/>
              </a:spcBef>
              <a:buNone/>
            </a:pPr>
            <a:r>
              <a:rPr lang="en-US" sz="1600" dirty="0" smtClean="0">
                <a:latin typeface="Cambria" panose="02040503050406030204" pitchFamily="18" charset="0"/>
                <a:ea typeface="Cambria" panose="02040503050406030204" pitchFamily="18" charset="0"/>
              </a:rPr>
              <a:t>            // Step 2:Create a statement using connection object</a:t>
            </a:r>
          </a:p>
          <a:p>
            <a:pPr>
              <a:spcBef>
                <a:spcPts val="0"/>
              </a:spcBef>
              <a:buNone/>
            </a:pPr>
            <a:r>
              <a:rPr lang="en-US" sz="1600" dirty="0" smtClean="0">
                <a:latin typeface="Cambria" panose="02040503050406030204" pitchFamily="18" charset="0"/>
                <a:ea typeface="Cambria" panose="02040503050406030204" pitchFamily="18" charset="0"/>
              </a:rPr>
              <a:t>            </a:t>
            </a:r>
            <a:r>
              <a:rPr lang="en-US" sz="1600" dirty="0" err="1" smtClean="0">
                <a:latin typeface="Cambria" panose="02040503050406030204" pitchFamily="18" charset="0"/>
                <a:ea typeface="Cambria" panose="02040503050406030204" pitchFamily="18" charset="0"/>
              </a:rPr>
              <a:t>PreparedStatement</a:t>
            </a:r>
            <a:r>
              <a:rPr lang="en-US" sz="1600" dirty="0" smtClean="0">
                <a:latin typeface="Cambria" panose="02040503050406030204" pitchFamily="18" charset="0"/>
                <a:ea typeface="Cambria" panose="02040503050406030204" pitchFamily="18" charset="0"/>
              </a:rPr>
              <a:t> </a:t>
            </a:r>
            <a:r>
              <a:rPr lang="en-US" sz="1600" dirty="0" err="1" smtClean="0">
                <a:latin typeface="Cambria" panose="02040503050406030204" pitchFamily="18" charset="0"/>
                <a:ea typeface="Cambria" panose="02040503050406030204" pitchFamily="18" charset="0"/>
              </a:rPr>
              <a:t>preparedStatement</a:t>
            </a:r>
            <a:r>
              <a:rPr lang="en-US" sz="1600" dirty="0" smtClean="0">
                <a:latin typeface="Cambria" panose="02040503050406030204" pitchFamily="18" charset="0"/>
                <a:ea typeface="Cambria" panose="02040503050406030204" pitchFamily="18" charset="0"/>
              </a:rPr>
              <a:t> = </a:t>
            </a:r>
            <a:r>
              <a:rPr lang="en-US" sz="1600" dirty="0" err="1" smtClean="0">
                <a:latin typeface="Cambria" panose="02040503050406030204" pitchFamily="18" charset="0"/>
                <a:ea typeface="Cambria" panose="02040503050406030204" pitchFamily="18" charset="0"/>
              </a:rPr>
              <a:t>connection.prepareStatement</a:t>
            </a:r>
            <a:r>
              <a:rPr lang="en-US" sz="1600" dirty="0" smtClean="0">
                <a:latin typeface="Cambria" panose="02040503050406030204" pitchFamily="18" charset="0"/>
                <a:ea typeface="Cambria" panose="02040503050406030204" pitchFamily="18" charset="0"/>
              </a:rPr>
              <a:t>(INSERT_USERS_SQL)) {</a:t>
            </a:r>
          </a:p>
          <a:p>
            <a:pPr>
              <a:spcBef>
                <a:spcPts val="0"/>
              </a:spcBef>
              <a:buNone/>
            </a:pPr>
            <a:r>
              <a:rPr lang="en-US" sz="1600" dirty="0" smtClean="0">
                <a:latin typeface="Cambria" panose="02040503050406030204" pitchFamily="18" charset="0"/>
                <a:ea typeface="Cambria" panose="02040503050406030204" pitchFamily="18" charset="0"/>
              </a:rPr>
              <a:t>	       preparedStatement.setString(1, employee.getFirstName());</a:t>
            </a:r>
          </a:p>
          <a:p>
            <a:pPr>
              <a:spcBef>
                <a:spcPts val="0"/>
              </a:spcBef>
              <a:buNone/>
            </a:pPr>
            <a:r>
              <a:rPr lang="en-US" sz="1600" dirty="0" smtClean="0">
                <a:latin typeface="Cambria" panose="02040503050406030204" pitchFamily="18" charset="0"/>
                <a:ea typeface="Cambria" panose="02040503050406030204" pitchFamily="18" charset="0"/>
              </a:rPr>
              <a:t>            preparedStatement.setString(2, employee.getLastName());</a:t>
            </a:r>
          </a:p>
          <a:p>
            <a:pPr>
              <a:spcBef>
                <a:spcPts val="0"/>
              </a:spcBef>
              <a:buNone/>
            </a:pPr>
            <a:r>
              <a:rPr lang="en-US" sz="1600" dirty="0" smtClean="0">
                <a:latin typeface="Cambria" panose="02040503050406030204" pitchFamily="18" charset="0"/>
                <a:ea typeface="Cambria" panose="02040503050406030204" pitchFamily="18" charset="0"/>
              </a:rPr>
              <a:t>            preparedStatement.setString(3, employee.getUsername());</a:t>
            </a:r>
          </a:p>
          <a:p>
            <a:pPr>
              <a:spcBef>
                <a:spcPts val="0"/>
              </a:spcBef>
              <a:buNone/>
            </a:pPr>
            <a:r>
              <a:rPr lang="en-US" sz="1600" dirty="0" smtClean="0">
                <a:latin typeface="Cambria" panose="02040503050406030204" pitchFamily="18" charset="0"/>
                <a:ea typeface="Cambria" panose="02040503050406030204" pitchFamily="18" charset="0"/>
              </a:rPr>
              <a:t>            preparedStatement.setString(4, employee.getPassword());</a:t>
            </a:r>
          </a:p>
          <a:p>
            <a:pPr>
              <a:spcBef>
                <a:spcPts val="0"/>
              </a:spcBef>
              <a:buNone/>
            </a:pPr>
            <a:r>
              <a:rPr lang="en-US" sz="1600" dirty="0" smtClean="0">
                <a:latin typeface="Cambria" panose="02040503050406030204" pitchFamily="18" charset="0"/>
                <a:ea typeface="Cambria" panose="02040503050406030204" pitchFamily="18" charset="0"/>
              </a:rPr>
              <a:t>            preparedStatement.setString(5, employee.getAddress());</a:t>
            </a:r>
          </a:p>
          <a:p>
            <a:pPr>
              <a:spcBef>
                <a:spcPts val="0"/>
              </a:spcBef>
              <a:buNone/>
            </a:pPr>
            <a:r>
              <a:rPr lang="en-US" sz="1600" dirty="0" smtClean="0">
                <a:latin typeface="Cambria" panose="02040503050406030204" pitchFamily="18" charset="0"/>
                <a:ea typeface="Cambria" panose="02040503050406030204" pitchFamily="18" charset="0"/>
              </a:rPr>
              <a:t>            preparedStatement.setString(6, employee.getContact());</a:t>
            </a:r>
          </a:p>
          <a:p>
            <a:pPr>
              <a:spcBef>
                <a:spcPts val="0"/>
              </a:spcBef>
              <a:buNone/>
            </a:pPr>
            <a:r>
              <a:rPr lang="en-US" sz="1600" dirty="0" smtClean="0">
                <a:latin typeface="Cambria" panose="02040503050406030204" pitchFamily="18" charset="0"/>
                <a:ea typeface="Cambria" panose="02040503050406030204" pitchFamily="18" charset="0"/>
              </a:rPr>
              <a:t> </a:t>
            </a:r>
          </a:p>
          <a:p>
            <a:pPr>
              <a:spcBef>
                <a:spcPts val="0"/>
              </a:spcBef>
              <a:buNone/>
            </a:pPr>
            <a:r>
              <a:rPr lang="en-US" sz="1600" dirty="0" smtClean="0">
                <a:latin typeface="Cambria" panose="02040503050406030204" pitchFamily="18" charset="0"/>
                <a:ea typeface="Cambria" panose="02040503050406030204" pitchFamily="18" charset="0"/>
              </a:rPr>
              <a:t>            </a:t>
            </a:r>
            <a:r>
              <a:rPr lang="en-US" sz="1600" dirty="0" err="1" smtClean="0">
                <a:latin typeface="Cambria" panose="02040503050406030204" pitchFamily="18" charset="0"/>
                <a:ea typeface="Cambria" panose="02040503050406030204" pitchFamily="18" charset="0"/>
              </a:rPr>
              <a:t>System.out.println</a:t>
            </a:r>
            <a:r>
              <a:rPr lang="en-US" sz="1600" dirty="0" smtClean="0">
                <a:latin typeface="Cambria" panose="02040503050406030204" pitchFamily="18" charset="0"/>
                <a:ea typeface="Cambria" panose="02040503050406030204" pitchFamily="18" charset="0"/>
              </a:rPr>
              <a:t>(</a:t>
            </a:r>
            <a:r>
              <a:rPr lang="en-US" sz="1600" dirty="0" err="1" smtClean="0">
                <a:latin typeface="Cambria" panose="02040503050406030204" pitchFamily="18" charset="0"/>
                <a:ea typeface="Cambria" panose="02040503050406030204" pitchFamily="18" charset="0"/>
              </a:rPr>
              <a:t>preparedStatement</a:t>
            </a:r>
            <a:r>
              <a:rPr lang="en-US" sz="1600" dirty="0" smtClean="0">
                <a:latin typeface="Cambria" panose="02040503050406030204" pitchFamily="18" charset="0"/>
                <a:ea typeface="Cambria" panose="02040503050406030204" pitchFamily="18" charset="0"/>
              </a:rPr>
              <a:t>);</a:t>
            </a:r>
          </a:p>
          <a:p>
            <a:pPr>
              <a:spcBef>
                <a:spcPts val="0"/>
              </a:spcBef>
              <a:buNone/>
            </a:pPr>
            <a:r>
              <a:rPr lang="en-US" sz="1600" dirty="0" smtClean="0">
                <a:latin typeface="Cambria" panose="02040503050406030204" pitchFamily="18" charset="0"/>
                <a:ea typeface="Cambria" panose="02040503050406030204" pitchFamily="18" charset="0"/>
              </a:rPr>
              <a:t>            // Step 3: Execute the query or update query</a:t>
            </a:r>
          </a:p>
          <a:p>
            <a:pPr>
              <a:spcBef>
                <a:spcPts val="0"/>
              </a:spcBef>
              <a:buNone/>
            </a:pPr>
            <a:r>
              <a:rPr lang="en-US" sz="1600" dirty="0" smtClean="0">
                <a:latin typeface="Cambria" panose="02040503050406030204" pitchFamily="18" charset="0"/>
                <a:ea typeface="Cambria" panose="02040503050406030204" pitchFamily="18" charset="0"/>
              </a:rPr>
              <a:t>            result = </a:t>
            </a:r>
            <a:r>
              <a:rPr lang="en-US" sz="1600" dirty="0" err="1" smtClean="0">
                <a:latin typeface="Cambria" panose="02040503050406030204" pitchFamily="18" charset="0"/>
                <a:ea typeface="Cambria" panose="02040503050406030204" pitchFamily="18" charset="0"/>
              </a:rPr>
              <a:t>preparedStatement.executeUpdate</a:t>
            </a:r>
            <a:r>
              <a:rPr lang="en-US" sz="1600" dirty="0" smtClean="0">
                <a:latin typeface="Cambria" panose="02040503050406030204" pitchFamily="18" charset="0"/>
                <a:ea typeface="Cambria" panose="02040503050406030204" pitchFamily="18" charset="0"/>
              </a:rPr>
              <a:t>();</a:t>
            </a:r>
          </a:p>
          <a:p>
            <a:pPr>
              <a:spcBef>
                <a:spcPts val="0"/>
              </a:spcBef>
              <a:buNone/>
            </a:pPr>
            <a:r>
              <a:rPr lang="en-US" sz="1600" dirty="0" smtClean="0">
                <a:latin typeface="Cambria" panose="02040503050406030204" pitchFamily="18" charset="0"/>
                <a:ea typeface="Cambria" panose="02040503050406030204" pitchFamily="18" charset="0"/>
              </a:rPr>
              <a:t> </a:t>
            </a:r>
          </a:p>
          <a:p>
            <a:pPr>
              <a:spcBef>
                <a:spcPts val="0"/>
              </a:spcBef>
              <a:buNone/>
            </a:pPr>
            <a:r>
              <a:rPr lang="en-US" sz="1600" dirty="0" smtClean="0">
                <a:latin typeface="Cambria" panose="02040503050406030204" pitchFamily="18" charset="0"/>
                <a:ea typeface="Cambria" panose="02040503050406030204" pitchFamily="18" charset="0"/>
              </a:rPr>
              <a:t>        } catch (</a:t>
            </a:r>
            <a:r>
              <a:rPr lang="en-US" sz="1600" dirty="0" err="1" smtClean="0">
                <a:latin typeface="Cambria" panose="02040503050406030204" pitchFamily="18" charset="0"/>
                <a:ea typeface="Cambria" panose="02040503050406030204" pitchFamily="18" charset="0"/>
              </a:rPr>
              <a:t>SQLException</a:t>
            </a:r>
            <a:r>
              <a:rPr lang="en-US" sz="1600" dirty="0" smtClean="0">
                <a:latin typeface="Cambria" panose="02040503050406030204" pitchFamily="18" charset="0"/>
                <a:ea typeface="Cambria" panose="02040503050406030204" pitchFamily="18" charset="0"/>
              </a:rPr>
              <a:t> e) {</a:t>
            </a:r>
          </a:p>
          <a:p>
            <a:pPr>
              <a:spcBef>
                <a:spcPts val="0"/>
              </a:spcBef>
              <a:buNone/>
            </a:pPr>
            <a:r>
              <a:rPr lang="en-US" sz="1600" dirty="0" smtClean="0">
                <a:latin typeface="Cambria" panose="02040503050406030204" pitchFamily="18" charset="0"/>
                <a:ea typeface="Cambria" panose="02040503050406030204" pitchFamily="18" charset="0"/>
              </a:rPr>
              <a:t>            // process </a:t>
            </a:r>
            <a:r>
              <a:rPr lang="en-US" sz="1600" dirty="0" err="1" smtClean="0">
                <a:latin typeface="Cambria" panose="02040503050406030204" pitchFamily="18" charset="0"/>
                <a:ea typeface="Cambria" panose="02040503050406030204" pitchFamily="18" charset="0"/>
              </a:rPr>
              <a:t>sql</a:t>
            </a:r>
            <a:r>
              <a:rPr lang="en-US" sz="1600" dirty="0" smtClean="0">
                <a:latin typeface="Cambria" panose="02040503050406030204" pitchFamily="18" charset="0"/>
                <a:ea typeface="Cambria" panose="02040503050406030204" pitchFamily="18" charset="0"/>
              </a:rPr>
              <a:t> exception</a:t>
            </a:r>
          </a:p>
          <a:p>
            <a:pPr>
              <a:spcBef>
                <a:spcPts val="0"/>
              </a:spcBef>
              <a:buNone/>
            </a:pPr>
            <a:r>
              <a:rPr lang="en-US" sz="1600" dirty="0" smtClean="0">
                <a:latin typeface="Cambria" panose="02040503050406030204" pitchFamily="18" charset="0"/>
                <a:ea typeface="Cambria" panose="02040503050406030204" pitchFamily="18" charset="0"/>
              </a:rPr>
              <a:t>            </a:t>
            </a:r>
            <a:r>
              <a:rPr lang="en-US" sz="1600" dirty="0" err="1" smtClean="0">
                <a:latin typeface="Cambria" panose="02040503050406030204" pitchFamily="18" charset="0"/>
                <a:ea typeface="Cambria" panose="02040503050406030204" pitchFamily="18" charset="0"/>
              </a:rPr>
              <a:t>printSQLException</a:t>
            </a:r>
            <a:r>
              <a:rPr lang="en-US" sz="1600" dirty="0" smtClean="0">
                <a:latin typeface="Cambria" panose="02040503050406030204" pitchFamily="18" charset="0"/>
                <a:ea typeface="Cambria" panose="02040503050406030204" pitchFamily="18" charset="0"/>
              </a:rPr>
              <a:t>(e);</a:t>
            </a:r>
          </a:p>
          <a:p>
            <a:pPr>
              <a:spcBef>
                <a:spcPts val="0"/>
              </a:spcBef>
              <a:buNone/>
            </a:pPr>
            <a:r>
              <a:rPr lang="en-US" sz="1600" dirty="0" smtClean="0">
                <a:latin typeface="Cambria" panose="02040503050406030204" pitchFamily="18" charset="0"/>
                <a:ea typeface="Cambria" panose="02040503050406030204" pitchFamily="18" charset="0"/>
              </a:rPr>
              <a:t>        }</a:t>
            </a:r>
          </a:p>
          <a:p>
            <a:pPr>
              <a:spcBef>
                <a:spcPts val="0"/>
              </a:spcBef>
              <a:buNone/>
            </a:pPr>
            <a:r>
              <a:rPr lang="en-US" sz="1600" dirty="0" smtClean="0">
                <a:latin typeface="Cambria" panose="02040503050406030204" pitchFamily="18" charset="0"/>
                <a:ea typeface="Cambria" panose="02040503050406030204" pitchFamily="18" charset="0"/>
              </a:rPr>
              <a:t>        return result;</a:t>
            </a:r>
          </a:p>
          <a:p>
            <a:pPr>
              <a:spcBef>
                <a:spcPts val="0"/>
              </a:spcBef>
              <a:buNone/>
            </a:pPr>
            <a:r>
              <a:rPr lang="en-US" sz="1600" dirty="0" smtClean="0">
                <a:latin typeface="Cambria" panose="02040503050406030204" pitchFamily="18" charset="0"/>
                <a:ea typeface="Cambria" panose="02040503050406030204" pitchFamily="18" charset="0"/>
              </a:rPr>
              <a:t>    }</a:t>
            </a:r>
          </a:p>
          <a:p>
            <a:pPr>
              <a:spcBef>
                <a:spcPts val="0"/>
              </a:spcBef>
              <a:buNone/>
            </a:pPr>
            <a:r>
              <a:rPr lang="en-US" sz="1600" dirty="0" smtClean="0">
                <a:latin typeface="Cambria" panose="02040503050406030204" pitchFamily="18" charset="0"/>
                <a:ea typeface="Cambria" panose="02040503050406030204" pitchFamily="18" charset="0"/>
              </a:rPr>
              <a:t> </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128</a:t>
            </a:fld>
            <a:endParaRPr lang="en-US" altLang="en-US">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2057160823"/>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1"/>
            <a:ext cx="4655840" cy="404664"/>
          </a:xfrm>
        </p:spPr>
        <p:txBody>
          <a:bodyPr/>
          <a:lstStyle/>
          <a:p>
            <a:r>
              <a:rPr lang="en-US" sz="3600" b="1" dirty="0" smtClean="0">
                <a:solidFill>
                  <a:schemeClr val="accent5"/>
                </a:solidFill>
                <a:latin typeface="Cambria" panose="02040503050406030204" pitchFamily="18" charset="0"/>
                <a:ea typeface="Cambria" panose="02040503050406030204" pitchFamily="18" charset="0"/>
              </a:rPr>
              <a:t/>
            </a:r>
            <a:br>
              <a:rPr lang="en-US" sz="3600" b="1" dirty="0" smtClean="0">
                <a:solidFill>
                  <a:schemeClr val="accent5"/>
                </a:solidFill>
                <a:latin typeface="Cambria" panose="02040503050406030204" pitchFamily="18" charset="0"/>
                <a:ea typeface="Cambria" panose="02040503050406030204" pitchFamily="18" charset="0"/>
              </a:rPr>
            </a:br>
            <a:r>
              <a:rPr lang="en-US" sz="3600" b="1" dirty="0" smtClean="0">
                <a:solidFill>
                  <a:schemeClr val="accent5"/>
                </a:solidFill>
                <a:latin typeface="Cambria" panose="02040503050406030204" pitchFamily="18" charset="0"/>
                <a:ea typeface="Cambria" panose="02040503050406030204" pitchFamily="18" charset="0"/>
              </a:rPr>
              <a:t/>
            </a:r>
            <a:br>
              <a:rPr lang="en-US" sz="3600" b="1" dirty="0" smtClean="0">
                <a:solidFill>
                  <a:schemeClr val="accent5"/>
                </a:solidFill>
                <a:latin typeface="Cambria" panose="02040503050406030204" pitchFamily="18" charset="0"/>
                <a:ea typeface="Cambria" panose="02040503050406030204" pitchFamily="18" charset="0"/>
              </a:rPr>
            </a:br>
            <a:r>
              <a:rPr lang="en-US" sz="3600" b="1" dirty="0" smtClean="0">
                <a:solidFill>
                  <a:schemeClr val="accent5"/>
                </a:solidFill>
                <a:latin typeface="Cambria" panose="02040503050406030204" pitchFamily="18" charset="0"/>
                <a:ea typeface="Cambria" panose="02040503050406030204" pitchFamily="18" charset="0"/>
              </a:rPr>
              <a:t>DAO Layer </a:t>
            </a:r>
            <a:r>
              <a:rPr lang="en-US" sz="2000" b="1" dirty="0" smtClean="0">
                <a:solidFill>
                  <a:schemeClr val="accent5"/>
                </a:solidFill>
                <a:latin typeface="Cambria" panose="02040503050406030204" pitchFamily="18" charset="0"/>
                <a:ea typeface="Cambria" panose="02040503050406030204" pitchFamily="18" charset="0"/>
              </a:rPr>
              <a:t>(contd...)</a:t>
            </a:r>
            <a:br>
              <a:rPr lang="en-US" sz="2000" b="1" dirty="0" smtClean="0">
                <a:solidFill>
                  <a:schemeClr val="accent5"/>
                </a:solidFill>
                <a:latin typeface="Cambria" panose="02040503050406030204" pitchFamily="18" charset="0"/>
                <a:ea typeface="Cambria" panose="02040503050406030204" pitchFamily="18" charset="0"/>
              </a:rPr>
            </a:br>
            <a:r>
              <a:rPr lang="en-US" sz="3600" b="1" dirty="0" smtClean="0">
                <a:solidFill>
                  <a:schemeClr val="accent5"/>
                </a:solidFill>
                <a:latin typeface="Cambria" panose="02040503050406030204" pitchFamily="18" charset="0"/>
                <a:ea typeface="Cambria" panose="02040503050406030204" pitchFamily="18" charset="0"/>
              </a:rPr>
              <a:t/>
            </a:r>
            <a:br>
              <a:rPr lang="en-US" sz="3600" b="1" dirty="0" smtClean="0">
                <a:solidFill>
                  <a:schemeClr val="accent5"/>
                </a:solidFill>
                <a:latin typeface="Cambria" panose="02040503050406030204" pitchFamily="18" charset="0"/>
                <a:ea typeface="Cambria" panose="02040503050406030204" pitchFamily="18" charset="0"/>
              </a:rPr>
            </a:br>
            <a:endParaRPr lang="en-US" sz="36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1199456" y="548680"/>
            <a:ext cx="8419256" cy="4002032"/>
          </a:xfrm>
        </p:spPr>
        <p:txBody>
          <a:bodyPr/>
          <a:lstStyle/>
          <a:p>
            <a:pPr>
              <a:spcBef>
                <a:spcPts val="0"/>
              </a:spcBef>
              <a:buNone/>
            </a:pPr>
            <a:r>
              <a:rPr lang="en-US" sz="1600" dirty="0" smtClean="0">
                <a:latin typeface="Cambria" panose="02040503050406030204" pitchFamily="18" charset="0"/>
                <a:ea typeface="Cambria" panose="02040503050406030204" pitchFamily="18" charset="0"/>
              </a:rPr>
              <a:t> </a:t>
            </a:r>
          </a:p>
          <a:p>
            <a:pPr>
              <a:spcBef>
                <a:spcPts val="0"/>
              </a:spcBef>
              <a:buNone/>
            </a:pPr>
            <a:r>
              <a:rPr lang="en-US" sz="1600" dirty="0" smtClean="0">
                <a:latin typeface="Cambria" panose="02040503050406030204" pitchFamily="18" charset="0"/>
                <a:ea typeface="Cambria" panose="02040503050406030204" pitchFamily="18" charset="0"/>
              </a:rPr>
              <a:t>    private void </a:t>
            </a:r>
            <a:r>
              <a:rPr lang="en-US" sz="1600" dirty="0" err="1" smtClean="0">
                <a:latin typeface="Cambria" panose="02040503050406030204" pitchFamily="18" charset="0"/>
                <a:ea typeface="Cambria" panose="02040503050406030204" pitchFamily="18" charset="0"/>
              </a:rPr>
              <a:t>printSQLException</a:t>
            </a:r>
            <a:r>
              <a:rPr lang="en-US" sz="1600" dirty="0" smtClean="0">
                <a:latin typeface="Cambria" panose="02040503050406030204" pitchFamily="18" charset="0"/>
                <a:ea typeface="Cambria" panose="02040503050406030204" pitchFamily="18" charset="0"/>
              </a:rPr>
              <a:t>(</a:t>
            </a:r>
            <a:r>
              <a:rPr lang="en-US" sz="1600" dirty="0" err="1" smtClean="0">
                <a:latin typeface="Cambria" panose="02040503050406030204" pitchFamily="18" charset="0"/>
                <a:ea typeface="Cambria" panose="02040503050406030204" pitchFamily="18" charset="0"/>
              </a:rPr>
              <a:t>SQLException</a:t>
            </a:r>
            <a:r>
              <a:rPr lang="en-US" sz="1600" dirty="0" smtClean="0">
                <a:latin typeface="Cambria" panose="02040503050406030204" pitchFamily="18" charset="0"/>
                <a:ea typeface="Cambria" panose="02040503050406030204" pitchFamily="18" charset="0"/>
              </a:rPr>
              <a:t> ex) {</a:t>
            </a:r>
          </a:p>
          <a:p>
            <a:pPr>
              <a:spcBef>
                <a:spcPts val="0"/>
              </a:spcBef>
              <a:buNone/>
            </a:pPr>
            <a:r>
              <a:rPr lang="en-US" sz="1600" dirty="0" smtClean="0">
                <a:latin typeface="Cambria" panose="02040503050406030204" pitchFamily="18" charset="0"/>
                <a:ea typeface="Cambria" panose="02040503050406030204" pitchFamily="18" charset="0"/>
              </a:rPr>
              <a:t>        for (</a:t>
            </a:r>
            <a:r>
              <a:rPr lang="en-US" sz="1600" dirty="0" err="1" smtClean="0">
                <a:latin typeface="Cambria" panose="02040503050406030204" pitchFamily="18" charset="0"/>
                <a:ea typeface="Cambria" panose="02040503050406030204" pitchFamily="18" charset="0"/>
              </a:rPr>
              <a:t>Throwable</a:t>
            </a:r>
            <a:r>
              <a:rPr lang="en-US" sz="1600" dirty="0" smtClean="0">
                <a:latin typeface="Cambria" panose="02040503050406030204" pitchFamily="18" charset="0"/>
                <a:ea typeface="Cambria" panose="02040503050406030204" pitchFamily="18" charset="0"/>
              </a:rPr>
              <a:t> e: ex) {</a:t>
            </a:r>
          </a:p>
          <a:p>
            <a:pPr>
              <a:spcBef>
                <a:spcPts val="0"/>
              </a:spcBef>
              <a:buNone/>
            </a:pPr>
            <a:r>
              <a:rPr lang="en-US" sz="1600" dirty="0" smtClean="0">
                <a:latin typeface="Cambria" panose="02040503050406030204" pitchFamily="18" charset="0"/>
                <a:ea typeface="Cambria" panose="02040503050406030204" pitchFamily="18" charset="0"/>
              </a:rPr>
              <a:t>            if (e </a:t>
            </a:r>
            <a:r>
              <a:rPr lang="en-US" sz="1600" dirty="0" err="1" smtClean="0">
                <a:latin typeface="Cambria" panose="02040503050406030204" pitchFamily="18" charset="0"/>
                <a:ea typeface="Cambria" panose="02040503050406030204" pitchFamily="18" charset="0"/>
              </a:rPr>
              <a:t>instanceof</a:t>
            </a:r>
            <a:r>
              <a:rPr lang="en-US" sz="1600" dirty="0" smtClean="0">
                <a:latin typeface="Cambria" panose="02040503050406030204" pitchFamily="18" charset="0"/>
                <a:ea typeface="Cambria" panose="02040503050406030204" pitchFamily="18" charset="0"/>
              </a:rPr>
              <a:t> </a:t>
            </a:r>
            <a:r>
              <a:rPr lang="en-US" sz="1600" dirty="0" err="1" smtClean="0">
                <a:latin typeface="Cambria" panose="02040503050406030204" pitchFamily="18" charset="0"/>
                <a:ea typeface="Cambria" panose="02040503050406030204" pitchFamily="18" charset="0"/>
              </a:rPr>
              <a:t>SQLException</a:t>
            </a:r>
            <a:r>
              <a:rPr lang="en-US" sz="1600" dirty="0" smtClean="0">
                <a:latin typeface="Cambria" panose="02040503050406030204" pitchFamily="18" charset="0"/>
                <a:ea typeface="Cambria" panose="02040503050406030204" pitchFamily="18" charset="0"/>
              </a:rPr>
              <a:t>) {</a:t>
            </a:r>
          </a:p>
          <a:p>
            <a:pPr>
              <a:spcBef>
                <a:spcPts val="0"/>
              </a:spcBef>
              <a:buNone/>
            </a:pPr>
            <a:r>
              <a:rPr lang="en-US" sz="1600" dirty="0" smtClean="0">
                <a:latin typeface="Cambria" panose="02040503050406030204" pitchFamily="18" charset="0"/>
                <a:ea typeface="Cambria" panose="02040503050406030204" pitchFamily="18" charset="0"/>
              </a:rPr>
              <a:t>                </a:t>
            </a:r>
            <a:r>
              <a:rPr lang="en-US" sz="1600" dirty="0" err="1" smtClean="0">
                <a:latin typeface="Cambria" panose="02040503050406030204" pitchFamily="18" charset="0"/>
                <a:ea typeface="Cambria" panose="02040503050406030204" pitchFamily="18" charset="0"/>
              </a:rPr>
              <a:t>e.printStackTrace</a:t>
            </a:r>
            <a:r>
              <a:rPr lang="en-US" sz="1600" dirty="0" smtClean="0">
                <a:latin typeface="Cambria" panose="02040503050406030204" pitchFamily="18" charset="0"/>
                <a:ea typeface="Cambria" panose="02040503050406030204" pitchFamily="18" charset="0"/>
              </a:rPr>
              <a:t>(System.err);</a:t>
            </a:r>
          </a:p>
          <a:p>
            <a:pPr>
              <a:spcBef>
                <a:spcPts val="0"/>
              </a:spcBef>
              <a:buNone/>
            </a:pPr>
            <a:r>
              <a:rPr lang="en-US" sz="1600" dirty="0" smtClean="0">
                <a:latin typeface="Cambria" panose="02040503050406030204" pitchFamily="18" charset="0"/>
                <a:ea typeface="Cambria" panose="02040503050406030204" pitchFamily="18" charset="0"/>
              </a:rPr>
              <a:t>                </a:t>
            </a:r>
            <a:r>
              <a:rPr lang="en-US" sz="1600" dirty="0" err="1" smtClean="0">
                <a:latin typeface="Cambria" panose="02040503050406030204" pitchFamily="18" charset="0"/>
                <a:ea typeface="Cambria" panose="02040503050406030204" pitchFamily="18" charset="0"/>
              </a:rPr>
              <a:t>System.err.println</a:t>
            </a:r>
            <a:r>
              <a:rPr lang="en-US" sz="1600" dirty="0" smtClean="0">
                <a:latin typeface="Cambria" panose="02040503050406030204" pitchFamily="18" charset="0"/>
                <a:ea typeface="Cambria" panose="02040503050406030204" pitchFamily="18" charset="0"/>
              </a:rPr>
              <a:t>("</a:t>
            </a:r>
            <a:r>
              <a:rPr lang="en-US" sz="1600" dirty="0" err="1" smtClean="0">
                <a:latin typeface="Cambria" panose="02040503050406030204" pitchFamily="18" charset="0"/>
                <a:ea typeface="Cambria" panose="02040503050406030204" pitchFamily="18" charset="0"/>
              </a:rPr>
              <a:t>SQLState</a:t>
            </a:r>
            <a:r>
              <a:rPr lang="en-US" sz="1600" dirty="0" smtClean="0">
                <a:latin typeface="Cambria" panose="02040503050406030204" pitchFamily="18" charset="0"/>
                <a:ea typeface="Cambria" panose="02040503050406030204" pitchFamily="18" charset="0"/>
              </a:rPr>
              <a:t>: " + ((</a:t>
            </a:r>
            <a:r>
              <a:rPr lang="en-US" sz="1600" dirty="0" err="1" smtClean="0">
                <a:latin typeface="Cambria" panose="02040503050406030204" pitchFamily="18" charset="0"/>
                <a:ea typeface="Cambria" panose="02040503050406030204" pitchFamily="18" charset="0"/>
              </a:rPr>
              <a:t>SQLException</a:t>
            </a:r>
            <a:r>
              <a:rPr lang="en-US" sz="1600" dirty="0" smtClean="0">
                <a:latin typeface="Cambria" panose="02040503050406030204" pitchFamily="18" charset="0"/>
                <a:ea typeface="Cambria" panose="02040503050406030204" pitchFamily="18" charset="0"/>
              </a:rPr>
              <a:t>) e).</a:t>
            </a:r>
            <a:r>
              <a:rPr lang="en-US" sz="1600" dirty="0" err="1" smtClean="0">
                <a:latin typeface="Cambria" panose="02040503050406030204" pitchFamily="18" charset="0"/>
                <a:ea typeface="Cambria" panose="02040503050406030204" pitchFamily="18" charset="0"/>
              </a:rPr>
              <a:t>getSQLState</a:t>
            </a:r>
            <a:r>
              <a:rPr lang="en-US" sz="1600" dirty="0" smtClean="0">
                <a:latin typeface="Cambria" panose="02040503050406030204" pitchFamily="18" charset="0"/>
                <a:ea typeface="Cambria" panose="02040503050406030204" pitchFamily="18" charset="0"/>
              </a:rPr>
              <a:t>());</a:t>
            </a:r>
          </a:p>
          <a:p>
            <a:pPr>
              <a:spcBef>
                <a:spcPts val="0"/>
              </a:spcBef>
              <a:buNone/>
            </a:pPr>
            <a:r>
              <a:rPr lang="en-US" sz="1600" dirty="0" smtClean="0">
                <a:latin typeface="Cambria" panose="02040503050406030204" pitchFamily="18" charset="0"/>
                <a:ea typeface="Cambria" panose="02040503050406030204" pitchFamily="18" charset="0"/>
              </a:rPr>
              <a:t>                </a:t>
            </a:r>
            <a:r>
              <a:rPr lang="en-US" sz="1600" dirty="0" err="1" smtClean="0">
                <a:latin typeface="Cambria" panose="02040503050406030204" pitchFamily="18" charset="0"/>
                <a:ea typeface="Cambria" panose="02040503050406030204" pitchFamily="18" charset="0"/>
              </a:rPr>
              <a:t>System.err.println</a:t>
            </a:r>
            <a:r>
              <a:rPr lang="en-US" sz="1600" dirty="0" smtClean="0">
                <a:latin typeface="Cambria" panose="02040503050406030204" pitchFamily="18" charset="0"/>
                <a:ea typeface="Cambria" panose="02040503050406030204" pitchFamily="18" charset="0"/>
              </a:rPr>
              <a:t>("Error Code: " + ((</a:t>
            </a:r>
            <a:r>
              <a:rPr lang="en-US" sz="1600" dirty="0" err="1" smtClean="0">
                <a:latin typeface="Cambria" panose="02040503050406030204" pitchFamily="18" charset="0"/>
                <a:ea typeface="Cambria" panose="02040503050406030204" pitchFamily="18" charset="0"/>
              </a:rPr>
              <a:t>SQLException</a:t>
            </a:r>
            <a:r>
              <a:rPr lang="en-US" sz="1600" dirty="0" smtClean="0">
                <a:latin typeface="Cambria" panose="02040503050406030204" pitchFamily="18" charset="0"/>
                <a:ea typeface="Cambria" panose="02040503050406030204" pitchFamily="18" charset="0"/>
              </a:rPr>
              <a:t>) e).</a:t>
            </a:r>
            <a:r>
              <a:rPr lang="en-US" sz="1600" dirty="0" err="1" smtClean="0">
                <a:latin typeface="Cambria" panose="02040503050406030204" pitchFamily="18" charset="0"/>
                <a:ea typeface="Cambria" panose="02040503050406030204" pitchFamily="18" charset="0"/>
              </a:rPr>
              <a:t>getErrorCode</a:t>
            </a:r>
            <a:r>
              <a:rPr lang="en-US" sz="1600" dirty="0" smtClean="0">
                <a:latin typeface="Cambria" panose="02040503050406030204" pitchFamily="18" charset="0"/>
                <a:ea typeface="Cambria" panose="02040503050406030204" pitchFamily="18" charset="0"/>
              </a:rPr>
              <a:t>());</a:t>
            </a:r>
          </a:p>
          <a:p>
            <a:pPr>
              <a:spcBef>
                <a:spcPts val="0"/>
              </a:spcBef>
              <a:buNone/>
            </a:pPr>
            <a:r>
              <a:rPr lang="en-US" sz="1600" dirty="0" smtClean="0">
                <a:latin typeface="Cambria" panose="02040503050406030204" pitchFamily="18" charset="0"/>
                <a:ea typeface="Cambria" panose="02040503050406030204" pitchFamily="18" charset="0"/>
              </a:rPr>
              <a:t>                </a:t>
            </a:r>
            <a:r>
              <a:rPr lang="en-US" sz="1600" dirty="0" err="1" smtClean="0">
                <a:latin typeface="Cambria" panose="02040503050406030204" pitchFamily="18" charset="0"/>
                <a:ea typeface="Cambria" panose="02040503050406030204" pitchFamily="18" charset="0"/>
              </a:rPr>
              <a:t>System.err.println</a:t>
            </a:r>
            <a:r>
              <a:rPr lang="en-US" sz="1600" dirty="0" smtClean="0">
                <a:latin typeface="Cambria" panose="02040503050406030204" pitchFamily="18" charset="0"/>
                <a:ea typeface="Cambria" panose="02040503050406030204" pitchFamily="18" charset="0"/>
              </a:rPr>
              <a:t>("Message: " + </a:t>
            </a:r>
            <a:r>
              <a:rPr lang="en-US" sz="1600" dirty="0" err="1" smtClean="0">
                <a:latin typeface="Cambria" panose="02040503050406030204" pitchFamily="18" charset="0"/>
                <a:ea typeface="Cambria" panose="02040503050406030204" pitchFamily="18" charset="0"/>
              </a:rPr>
              <a:t>e.getMessage</a:t>
            </a:r>
            <a:r>
              <a:rPr lang="en-US" sz="1600" dirty="0" smtClean="0">
                <a:latin typeface="Cambria" panose="02040503050406030204" pitchFamily="18" charset="0"/>
                <a:ea typeface="Cambria" panose="02040503050406030204" pitchFamily="18" charset="0"/>
              </a:rPr>
              <a:t>());</a:t>
            </a:r>
          </a:p>
          <a:p>
            <a:pPr>
              <a:spcBef>
                <a:spcPts val="0"/>
              </a:spcBef>
              <a:buNone/>
            </a:pPr>
            <a:r>
              <a:rPr lang="en-US" sz="1600" dirty="0" smtClean="0">
                <a:latin typeface="Cambria" panose="02040503050406030204" pitchFamily="18" charset="0"/>
                <a:ea typeface="Cambria" panose="02040503050406030204" pitchFamily="18" charset="0"/>
              </a:rPr>
              <a:t>                </a:t>
            </a:r>
            <a:r>
              <a:rPr lang="en-US" sz="1600" dirty="0" err="1" smtClean="0">
                <a:latin typeface="Cambria" panose="02040503050406030204" pitchFamily="18" charset="0"/>
                <a:ea typeface="Cambria" panose="02040503050406030204" pitchFamily="18" charset="0"/>
              </a:rPr>
              <a:t>Throwable</a:t>
            </a:r>
            <a:r>
              <a:rPr lang="en-US" sz="1600" dirty="0" smtClean="0">
                <a:latin typeface="Cambria" panose="02040503050406030204" pitchFamily="18" charset="0"/>
                <a:ea typeface="Cambria" panose="02040503050406030204" pitchFamily="18" charset="0"/>
              </a:rPr>
              <a:t> t = </a:t>
            </a:r>
            <a:r>
              <a:rPr lang="en-US" sz="1600" dirty="0" err="1" smtClean="0">
                <a:latin typeface="Cambria" panose="02040503050406030204" pitchFamily="18" charset="0"/>
                <a:ea typeface="Cambria" panose="02040503050406030204" pitchFamily="18" charset="0"/>
              </a:rPr>
              <a:t>ex.getCause</a:t>
            </a:r>
            <a:r>
              <a:rPr lang="en-US" sz="1600" dirty="0" smtClean="0">
                <a:latin typeface="Cambria" panose="02040503050406030204" pitchFamily="18" charset="0"/>
                <a:ea typeface="Cambria" panose="02040503050406030204" pitchFamily="18" charset="0"/>
              </a:rPr>
              <a:t>();</a:t>
            </a:r>
          </a:p>
          <a:p>
            <a:pPr>
              <a:spcBef>
                <a:spcPts val="0"/>
              </a:spcBef>
              <a:buNone/>
            </a:pPr>
            <a:r>
              <a:rPr lang="en-US" sz="1600" dirty="0" smtClean="0">
                <a:latin typeface="Cambria" panose="02040503050406030204" pitchFamily="18" charset="0"/>
                <a:ea typeface="Cambria" panose="02040503050406030204" pitchFamily="18" charset="0"/>
              </a:rPr>
              <a:t>                while (t != null) {</a:t>
            </a:r>
          </a:p>
          <a:p>
            <a:pPr>
              <a:spcBef>
                <a:spcPts val="0"/>
              </a:spcBef>
              <a:buNone/>
            </a:pPr>
            <a:r>
              <a:rPr lang="en-US" sz="1600" dirty="0" smtClean="0">
                <a:latin typeface="Cambria" panose="02040503050406030204" pitchFamily="18" charset="0"/>
                <a:ea typeface="Cambria" panose="02040503050406030204" pitchFamily="18" charset="0"/>
              </a:rPr>
              <a:t>                    </a:t>
            </a:r>
            <a:r>
              <a:rPr lang="en-US" sz="1600" dirty="0" err="1" smtClean="0">
                <a:latin typeface="Cambria" panose="02040503050406030204" pitchFamily="18" charset="0"/>
                <a:ea typeface="Cambria" panose="02040503050406030204" pitchFamily="18" charset="0"/>
              </a:rPr>
              <a:t>System.out.println</a:t>
            </a:r>
            <a:r>
              <a:rPr lang="en-US" sz="1600" dirty="0" smtClean="0">
                <a:latin typeface="Cambria" panose="02040503050406030204" pitchFamily="18" charset="0"/>
                <a:ea typeface="Cambria" panose="02040503050406030204" pitchFamily="18" charset="0"/>
              </a:rPr>
              <a:t>("Cause: " + t);</a:t>
            </a:r>
          </a:p>
          <a:p>
            <a:pPr>
              <a:spcBef>
                <a:spcPts val="0"/>
              </a:spcBef>
              <a:buNone/>
            </a:pPr>
            <a:r>
              <a:rPr lang="en-US" sz="1600" dirty="0" smtClean="0">
                <a:latin typeface="Cambria" panose="02040503050406030204" pitchFamily="18" charset="0"/>
                <a:ea typeface="Cambria" panose="02040503050406030204" pitchFamily="18" charset="0"/>
              </a:rPr>
              <a:t>                    t = </a:t>
            </a:r>
            <a:r>
              <a:rPr lang="en-US" sz="1600" dirty="0" err="1" smtClean="0">
                <a:latin typeface="Cambria" panose="02040503050406030204" pitchFamily="18" charset="0"/>
                <a:ea typeface="Cambria" panose="02040503050406030204" pitchFamily="18" charset="0"/>
              </a:rPr>
              <a:t>t.getCause</a:t>
            </a:r>
            <a:r>
              <a:rPr lang="en-US" sz="1600" dirty="0" smtClean="0">
                <a:latin typeface="Cambria" panose="02040503050406030204" pitchFamily="18" charset="0"/>
                <a:ea typeface="Cambria" panose="02040503050406030204" pitchFamily="18" charset="0"/>
              </a:rPr>
              <a:t>();</a:t>
            </a:r>
          </a:p>
          <a:p>
            <a:pPr>
              <a:spcBef>
                <a:spcPts val="0"/>
              </a:spcBef>
              <a:buNone/>
            </a:pPr>
            <a:r>
              <a:rPr lang="en-US" sz="1600" dirty="0" smtClean="0">
                <a:latin typeface="Cambria" panose="02040503050406030204" pitchFamily="18" charset="0"/>
                <a:ea typeface="Cambria" panose="02040503050406030204" pitchFamily="18" charset="0"/>
              </a:rPr>
              <a:t>                }</a:t>
            </a:r>
          </a:p>
          <a:p>
            <a:pPr>
              <a:spcBef>
                <a:spcPts val="0"/>
              </a:spcBef>
              <a:buNone/>
            </a:pPr>
            <a:r>
              <a:rPr lang="en-US" sz="1600" dirty="0" smtClean="0">
                <a:latin typeface="Cambria" panose="02040503050406030204" pitchFamily="18" charset="0"/>
                <a:ea typeface="Cambria" panose="02040503050406030204" pitchFamily="18" charset="0"/>
              </a:rPr>
              <a:t>            }</a:t>
            </a:r>
          </a:p>
          <a:p>
            <a:pPr>
              <a:spcBef>
                <a:spcPts val="0"/>
              </a:spcBef>
              <a:buNone/>
            </a:pPr>
            <a:r>
              <a:rPr lang="en-US" sz="1600" dirty="0" smtClean="0">
                <a:latin typeface="Cambria" panose="02040503050406030204" pitchFamily="18" charset="0"/>
                <a:ea typeface="Cambria" panose="02040503050406030204" pitchFamily="18" charset="0"/>
              </a:rPr>
              <a:t>        }</a:t>
            </a:r>
          </a:p>
          <a:p>
            <a:pPr>
              <a:spcBef>
                <a:spcPts val="0"/>
              </a:spcBef>
              <a:buNone/>
            </a:pPr>
            <a:r>
              <a:rPr lang="en-US" sz="1600" dirty="0" smtClean="0">
                <a:latin typeface="Cambria" panose="02040503050406030204" pitchFamily="18" charset="0"/>
                <a:ea typeface="Cambria" panose="02040503050406030204" pitchFamily="18" charset="0"/>
              </a:rPr>
              <a:t>    }</a:t>
            </a:r>
          </a:p>
          <a:p>
            <a:pPr>
              <a:spcBef>
                <a:spcPts val="0"/>
              </a:spcBef>
              <a:buNone/>
            </a:pPr>
            <a:r>
              <a:rPr lang="en-US" sz="1600" dirty="0" smtClean="0">
                <a:latin typeface="Cambria" panose="02040503050406030204" pitchFamily="18" charset="0"/>
                <a:ea typeface="Cambria" panose="02040503050406030204" pitchFamily="18" charset="0"/>
              </a:rPr>
              <a:t>}</a:t>
            </a:r>
          </a:p>
          <a:p>
            <a:endParaRPr lang="en-US" sz="16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129</a:t>
            </a:fld>
            <a:endParaRPr lang="en-US" altLang="en-US">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1105612371"/>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93" y="31504"/>
            <a:ext cx="3918260" cy="624132"/>
          </a:xfrm>
        </p:spPr>
        <p:txBody>
          <a:bodyPr/>
          <a:lstStyle/>
          <a:p>
            <a:r>
              <a:rPr lang="en-US" sz="3600" b="1" dirty="0" smtClean="0">
                <a:solidFill>
                  <a:schemeClr val="accent5"/>
                </a:solidFill>
                <a:latin typeface="Cambria" panose="02040503050406030204" pitchFamily="18" charset="0"/>
                <a:ea typeface="Cambria" panose="02040503050406030204" pitchFamily="18" charset="0"/>
              </a:rPr>
              <a:t>Controller Layer</a:t>
            </a:r>
            <a:endParaRPr lang="en-US" sz="36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191344" y="655636"/>
            <a:ext cx="11881320" cy="4676789"/>
          </a:xfrm>
        </p:spPr>
        <p:txBody>
          <a:bodyPr/>
          <a:lstStyle/>
          <a:p>
            <a:pPr algn="just"/>
            <a:r>
              <a:rPr lang="en-GB" sz="1800" dirty="0" smtClean="0">
                <a:latin typeface="Cambria" panose="02040503050406030204" pitchFamily="18" charset="0"/>
                <a:ea typeface="Cambria" panose="02040503050406030204" pitchFamily="18" charset="0"/>
              </a:rPr>
              <a:t>Let's create an </a:t>
            </a:r>
            <a:r>
              <a:rPr lang="en-GB" sz="1800" i="1" dirty="0" err="1" smtClean="0">
                <a:latin typeface="Cambria" panose="02040503050406030204" pitchFamily="18" charset="0"/>
                <a:ea typeface="Cambria" panose="02040503050406030204" pitchFamily="18" charset="0"/>
              </a:rPr>
              <a:t>EmployeeServlet</a:t>
            </a:r>
            <a:r>
              <a:rPr lang="en-GB" sz="1800" dirty="0" smtClean="0">
                <a:latin typeface="Cambria" panose="02040503050406030204" pitchFamily="18" charset="0"/>
                <a:ea typeface="Cambria" panose="02040503050406030204" pitchFamily="18" charset="0"/>
              </a:rPr>
              <a:t> class to process HTTP request parameters and redirect to the appropriate JSP page after request data stored in the database:</a:t>
            </a:r>
          </a:p>
          <a:p>
            <a:pPr algn="just">
              <a:spcBef>
                <a:spcPts val="0"/>
              </a:spcBef>
              <a:buNone/>
            </a:pPr>
            <a:r>
              <a:rPr lang="en-US" sz="1800" dirty="0" smtClean="0">
                <a:latin typeface="Cambria" panose="02040503050406030204" pitchFamily="18" charset="0"/>
                <a:ea typeface="Cambria" panose="02040503050406030204" pitchFamily="18" charset="0"/>
              </a:rPr>
              <a:t>package </a:t>
            </a:r>
            <a:r>
              <a:rPr lang="en-US" sz="1800" dirty="0" err="1" smtClean="0">
                <a:latin typeface="Cambria" panose="02040503050406030204" pitchFamily="18" charset="0"/>
                <a:ea typeface="Cambria" panose="02040503050406030204" pitchFamily="18" charset="0"/>
              </a:rPr>
              <a:t>net.javaguides.employeemanagement.web</a:t>
            </a:r>
            <a:r>
              <a:rPr lang="en-US" sz="1800" dirty="0" smtClean="0">
                <a:latin typeface="Cambria" panose="02040503050406030204" pitchFamily="18" charset="0"/>
                <a:ea typeface="Cambria" panose="02040503050406030204" pitchFamily="18" charset="0"/>
              </a:rPr>
              <a:t>; </a:t>
            </a:r>
          </a:p>
          <a:p>
            <a:pPr algn="just">
              <a:spcBef>
                <a:spcPts val="0"/>
              </a:spcBef>
              <a:buNone/>
            </a:pPr>
            <a:r>
              <a:rPr lang="en-US" sz="1800" dirty="0" smtClean="0">
                <a:latin typeface="Cambria" panose="02040503050406030204" pitchFamily="18" charset="0"/>
                <a:ea typeface="Cambria" panose="02040503050406030204" pitchFamily="18" charset="0"/>
              </a:rPr>
              <a:t>import </a:t>
            </a:r>
            <a:r>
              <a:rPr lang="en-US" sz="1800" dirty="0" err="1" smtClean="0">
                <a:latin typeface="Cambria" panose="02040503050406030204" pitchFamily="18" charset="0"/>
                <a:ea typeface="Cambria" panose="02040503050406030204" pitchFamily="18" charset="0"/>
              </a:rPr>
              <a:t>java.io.IOException</a:t>
            </a:r>
            <a:r>
              <a:rPr lang="en-US" sz="1800" dirty="0" smtClean="0">
                <a:latin typeface="Cambria" panose="02040503050406030204" pitchFamily="18" charset="0"/>
                <a:ea typeface="Cambria" panose="02040503050406030204" pitchFamily="18" charset="0"/>
              </a:rPr>
              <a:t>; </a:t>
            </a:r>
          </a:p>
          <a:p>
            <a:pPr algn="just">
              <a:spcBef>
                <a:spcPts val="0"/>
              </a:spcBef>
              <a:buNone/>
            </a:pPr>
            <a:r>
              <a:rPr lang="en-US" sz="1800" dirty="0" smtClean="0">
                <a:latin typeface="Cambria" panose="02040503050406030204" pitchFamily="18" charset="0"/>
                <a:ea typeface="Cambria" panose="02040503050406030204" pitchFamily="18" charset="0"/>
              </a:rPr>
              <a:t>import </a:t>
            </a:r>
            <a:r>
              <a:rPr lang="en-US" sz="1800" dirty="0" err="1" smtClean="0">
                <a:latin typeface="Cambria" panose="02040503050406030204" pitchFamily="18" charset="0"/>
                <a:ea typeface="Cambria" panose="02040503050406030204" pitchFamily="18" charset="0"/>
              </a:rPr>
              <a:t>javax.servlet.ServletException</a:t>
            </a:r>
            <a:r>
              <a:rPr lang="en-US" sz="1800" dirty="0" smtClean="0">
                <a:latin typeface="Cambria" panose="02040503050406030204" pitchFamily="18" charset="0"/>
                <a:ea typeface="Cambria" panose="02040503050406030204" pitchFamily="18" charset="0"/>
              </a:rPr>
              <a:t>;</a:t>
            </a:r>
          </a:p>
          <a:p>
            <a:pPr algn="just">
              <a:spcBef>
                <a:spcPts val="0"/>
              </a:spcBef>
              <a:buNone/>
            </a:pPr>
            <a:r>
              <a:rPr lang="en-US" sz="1800" dirty="0" smtClean="0">
                <a:latin typeface="Cambria" panose="02040503050406030204" pitchFamily="18" charset="0"/>
                <a:ea typeface="Cambria" panose="02040503050406030204" pitchFamily="18" charset="0"/>
              </a:rPr>
              <a:t>import </a:t>
            </a:r>
            <a:r>
              <a:rPr lang="en-US" sz="1800" dirty="0" err="1" smtClean="0">
                <a:latin typeface="Cambria" panose="02040503050406030204" pitchFamily="18" charset="0"/>
                <a:ea typeface="Cambria" panose="02040503050406030204" pitchFamily="18" charset="0"/>
              </a:rPr>
              <a:t>javax.servlet.annotation.WebServlet</a:t>
            </a:r>
            <a:r>
              <a:rPr lang="en-US" sz="1800" dirty="0" smtClean="0">
                <a:latin typeface="Cambria" panose="02040503050406030204" pitchFamily="18" charset="0"/>
                <a:ea typeface="Cambria" panose="02040503050406030204" pitchFamily="18" charset="0"/>
              </a:rPr>
              <a:t>;</a:t>
            </a:r>
          </a:p>
          <a:p>
            <a:pPr algn="just">
              <a:spcBef>
                <a:spcPts val="0"/>
              </a:spcBef>
              <a:buNone/>
            </a:pPr>
            <a:r>
              <a:rPr lang="en-US" sz="1800" dirty="0" smtClean="0">
                <a:latin typeface="Cambria" panose="02040503050406030204" pitchFamily="18" charset="0"/>
                <a:ea typeface="Cambria" panose="02040503050406030204" pitchFamily="18" charset="0"/>
              </a:rPr>
              <a:t>import </a:t>
            </a:r>
            <a:r>
              <a:rPr lang="en-US" sz="1800" dirty="0" err="1" smtClean="0">
                <a:latin typeface="Cambria" panose="02040503050406030204" pitchFamily="18" charset="0"/>
                <a:ea typeface="Cambria" panose="02040503050406030204" pitchFamily="18" charset="0"/>
              </a:rPr>
              <a:t>javax.servlet.http.HttpServlet</a:t>
            </a:r>
            <a:r>
              <a:rPr lang="en-US" sz="1800" dirty="0" smtClean="0">
                <a:latin typeface="Cambria" panose="02040503050406030204" pitchFamily="18" charset="0"/>
                <a:ea typeface="Cambria" panose="02040503050406030204" pitchFamily="18" charset="0"/>
              </a:rPr>
              <a:t>;</a:t>
            </a:r>
          </a:p>
          <a:p>
            <a:pPr algn="just">
              <a:spcBef>
                <a:spcPts val="0"/>
              </a:spcBef>
              <a:buNone/>
            </a:pPr>
            <a:r>
              <a:rPr lang="en-US" sz="1800" dirty="0" smtClean="0">
                <a:latin typeface="Cambria" panose="02040503050406030204" pitchFamily="18" charset="0"/>
                <a:ea typeface="Cambria" panose="02040503050406030204" pitchFamily="18" charset="0"/>
              </a:rPr>
              <a:t>import </a:t>
            </a:r>
            <a:r>
              <a:rPr lang="en-US" sz="1800" dirty="0" err="1" smtClean="0">
                <a:latin typeface="Cambria" panose="02040503050406030204" pitchFamily="18" charset="0"/>
                <a:ea typeface="Cambria" panose="02040503050406030204" pitchFamily="18" charset="0"/>
              </a:rPr>
              <a:t>javax.servlet.http.HttpServletRequest</a:t>
            </a:r>
            <a:r>
              <a:rPr lang="en-US" sz="1800" dirty="0" smtClean="0">
                <a:latin typeface="Cambria" panose="02040503050406030204" pitchFamily="18" charset="0"/>
                <a:ea typeface="Cambria" panose="02040503050406030204" pitchFamily="18" charset="0"/>
              </a:rPr>
              <a:t>;</a:t>
            </a:r>
          </a:p>
          <a:p>
            <a:pPr algn="just">
              <a:spcBef>
                <a:spcPts val="0"/>
              </a:spcBef>
              <a:buNone/>
            </a:pPr>
            <a:r>
              <a:rPr lang="en-US" sz="1800" dirty="0" smtClean="0">
                <a:latin typeface="Cambria" panose="02040503050406030204" pitchFamily="18" charset="0"/>
                <a:ea typeface="Cambria" panose="02040503050406030204" pitchFamily="18" charset="0"/>
              </a:rPr>
              <a:t>import </a:t>
            </a:r>
            <a:r>
              <a:rPr lang="en-US" sz="1800" dirty="0" err="1" smtClean="0">
                <a:latin typeface="Cambria" panose="02040503050406030204" pitchFamily="18" charset="0"/>
                <a:ea typeface="Cambria" panose="02040503050406030204" pitchFamily="18" charset="0"/>
              </a:rPr>
              <a:t>javax.servlet.http.HttpServletResponse</a:t>
            </a:r>
            <a:r>
              <a:rPr lang="en-US" sz="1800" dirty="0" smtClean="0">
                <a:latin typeface="Cambria" panose="02040503050406030204" pitchFamily="18" charset="0"/>
                <a:ea typeface="Cambria" panose="02040503050406030204" pitchFamily="18" charset="0"/>
              </a:rPr>
              <a:t>; </a:t>
            </a:r>
          </a:p>
          <a:p>
            <a:pPr algn="just">
              <a:spcBef>
                <a:spcPts val="0"/>
              </a:spcBef>
              <a:buNone/>
            </a:pPr>
            <a:r>
              <a:rPr lang="en-US" sz="1800" dirty="0" smtClean="0">
                <a:latin typeface="Cambria" panose="02040503050406030204" pitchFamily="18" charset="0"/>
                <a:ea typeface="Cambria" panose="02040503050406030204" pitchFamily="18" charset="0"/>
              </a:rPr>
              <a:t>import  </a:t>
            </a:r>
            <a:r>
              <a:rPr lang="en-US" sz="1800" dirty="0" err="1" smtClean="0">
                <a:latin typeface="Cambria" panose="02040503050406030204" pitchFamily="18" charset="0"/>
                <a:ea typeface="Cambria" panose="02040503050406030204" pitchFamily="18" charset="0"/>
              </a:rPr>
              <a:t>net.javaguides.employeemanagement.dao.EmployeeDao</a:t>
            </a:r>
            <a:r>
              <a:rPr lang="en-US" sz="1800" dirty="0" smtClean="0">
                <a:latin typeface="Cambria" panose="02040503050406030204" pitchFamily="18" charset="0"/>
                <a:ea typeface="Cambria" panose="02040503050406030204" pitchFamily="18" charset="0"/>
              </a:rPr>
              <a:t>;</a:t>
            </a:r>
          </a:p>
          <a:p>
            <a:pPr algn="just">
              <a:spcBef>
                <a:spcPts val="0"/>
              </a:spcBef>
              <a:buNone/>
            </a:pPr>
            <a:r>
              <a:rPr lang="en-US" sz="1800" dirty="0" smtClean="0">
                <a:latin typeface="Cambria" panose="02040503050406030204" pitchFamily="18" charset="0"/>
                <a:ea typeface="Cambria" panose="02040503050406030204" pitchFamily="18" charset="0"/>
              </a:rPr>
              <a:t>import </a:t>
            </a:r>
            <a:r>
              <a:rPr lang="en-US" sz="1800" dirty="0" err="1" smtClean="0">
                <a:latin typeface="Cambria" panose="02040503050406030204" pitchFamily="18" charset="0"/>
                <a:ea typeface="Cambria" panose="02040503050406030204" pitchFamily="18" charset="0"/>
              </a:rPr>
              <a:t>net.javaguides.employeemanagement.model.Employee</a:t>
            </a:r>
            <a:r>
              <a:rPr lang="en-US" sz="1800" dirty="0" smtClean="0">
                <a:latin typeface="Cambria" panose="02040503050406030204" pitchFamily="18" charset="0"/>
                <a:ea typeface="Cambria" panose="02040503050406030204" pitchFamily="18" charset="0"/>
              </a:rPr>
              <a:t>;  </a:t>
            </a:r>
          </a:p>
          <a:p>
            <a:pPr algn="just">
              <a:spcBef>
                <a:spcPts val="0"/>
              </a:spcBef>
              <a:buNone/>
            </a:pPr>
            <a:r>
              <a:rPr lang="en-US" sz="1800" dirty="0" smtClean="0">
                <a:latin typeface="Cambria" panose="02040503050406030204" pitchFamily="18" charset="0"/>
                <a:ea typeface="Cambria" panose="02040503050406030204" pitchFamily="18" charset="0"/>
              </a:rPr>
              <a:t>@</a:t>
            </a:r>
            <a:r>
              <a:rPr lang="en-US" sz="1800" dirty="0" err="1" smtClean="0">
                <a:latin typeface="Cambria" panose="02040503050406030204" pitchFamily="18" charset="0"/>
                <a:ea typeface="Cambria" panose="02040503050406030204" pitchFamily="18" charset="0"/>
              </a:rPr>
              <a:t>WebServlet</a:t>
            </a:r>
            <a:r>
              <a:rPr lang="en-US" sz="1800" dirty="0" smtClean="0">
                <a:latin typeface="Cambria" panose="02040503050406030204" pitchFamily="18" charset="0"/>
                <a:ea typeface="Cambria" panose="02040503050406030204" pitchFamily="18" charset="0"/>
              </a:rPr>
              <a:t>("/register")</a:t>
            </a:r>
          </a:p>
          <a:p>
            <a:pPr marL="0" indent="0">
              <a:lnSpc>
                <a:spcPct val="100000"/>
              </a:lnSpc>
              <a:spcBef>
                <a:spcPts val="0"/>
              </a:spcBef>
              <a:buNone/>
            </a:pPr>
            <a:r>
              <a:rPr lang="en-US" sz="1800" dirty="0">
                <a:latin typeface="Cambria" panose="02040503050406030204" pitchFamily="18" charset="0"/>
                <a:ea typeface="Cambria" panose="02040503050406030204" pitchFamily="18" charset="0"/>
              </a:rPr>
              <a:t>public class EmployeeServlet extends HttpServlet {   </a:t>
            </a:r>
          </a:p>
          <a:p>
            <a:pPr marL="0" indent="0">
              <a:lnSpc>
                <a:spcPct val="100000"/>
              </a:lnSpc>
              <a:spcBef>
                <a:spcPts val="0"/>
              </a:spcBef>
              <a:buNone/>
            </a:pPr>
            <a:r>
              <a:rPr lang="en-US" sz="1800" dirty="0" smtClean="0">
                <a:latin typeface="Cambria" panose="02040503050406030204" pitchFamily="18" charset="0"/>
                <a:ea typeface="Cambria" panose="02040503050406030204" pitchFamily="18" charset="0"/>
              </a:rPr>
              <a:t>	private </a:t>
            </a:r>
            <a:r>
              <a:rPr lang="en-US" sz="1800" dirty="0">
                <a:latin typeface="Cambria" panose="02040503050406030204" pitchFamily="18" charset="0"/>
                <a:ea typeface="Cambria" panose="02040503050406030204" pitchFamily="18" charset="0"/>
              </a:rPr>
              <a:t>static final long serialVersionUID = 1 L;    </a:t>
            </a:r>
          </a:p>
          <a:p>
            <a:pPr marL="0" indent="0">
              <a:lnSpc>
                <a:spcPct val="100000"/>
              </a:lnSpc>
              <a:spcBef>
                <a:spcPts val="0"/>
              </a:spcBef>
              <a:buNone/>
            </a:pPr>
            <a:r>
              <a:rPr lang="en-US" sz="1800" dirty="0" smtClean="0">
                <a:latin typeface="Cambria" panose="02040503050406030204" pitchFamily="18" charset="0"/>
                <a:ea typeface="Cambria" panose="02040503050406030204" pitchFamily="18" charset="0"/>
              </a:rPr>
              <a:t>	private </a:t>
            </a:r>
            <a:r>
              <a:rPr lang="en-US" sz="1800" dirty="0">
                <a:latin typeface="Cambria" panose="02040503050406030204" pitchFamily="18" charset="0"/>
                <a:ea typeface="Cambria" panose="02040503050406030204" pitchFamily="18" charset="0"/>
              </a:rPr>
              <a:t>EmployeeDao employeeDao;     </a:t>
            </a:r>
          </a:p>
          <a:p>
            <a:pPr marL="0" indent="0">
              <a:lnSpc>
                <a:spcPct val="100000"/>
              </a:lnSpc>
              <a:spcBef>
                <a:spcPts val="0"/>
              </a:spcBef>
              <a:buNone/>
            </a:pPr>
            <a:r>
              <a:rPr lang="en-US" sz="1800" dirty="0" smtClean="0">
                <a:latin typeface="Cambria" panose="02040503050406030204" pitchFamily="18" charset="0"/>
                <a:ea typeface="Cambria" panose="02040503050406030204" pitchFamily="18" charset="0"/>
              </a:rPr>
              <a:t>	public </a:t>
            </a:r>
            <a:r>
              <a:rPr lang="en-US" sz="1800" dirty="0">
                <a:latin typeface="Cambria" panose="02040503050406030204" pitchFamily="18" charset="0"/>
                <a:ea typeface="Cambria" panose="02040503050406030204" pitchFamily="18" charset="0"/>
              </a:rPr>
              <a:t>void init() {        </a:t>
            </a:r>
          </a:p>
          <a:p>
            <a:pPr marL="0" indent="0">
              <a:lnSpc>
                <a:spcPct val="100000"/>
              </a:lnSpc>
              <a:spcBef>
                <a:spcPts val="0"/>
              </a:spcBef>
              <a:buNone/>
            </a:pPr>
            <a:r>
              <a:rPr lang="en-US" sz="1800" dirty="0" smtClean="0">
                <a:latin typeface="Cambria" panose="02040503050406030204" pitchFamily="18" charset="0"/>
                <a:ea typeface="Cambria" panose="02040503050406030204" pitchFamily="18" charset="0"/>
              </a:rPr>
              <a:t>		employeeDao </a:t>
            </a:r>
            <a:r>
              <a:rPr lang="en-US" sz="1800" dirty="0">
                <a:latin typeface="Cambria" panose="02040503050406030204" pitchFamily="18" charset="0"/>
                <a:ea typeface="Cambria" panose="02040503050406030204" pitchFamily="18" charset="0"/>
              </a:rPr>
              <a:t>= new EmployeeDao();    </a:t>
            </a:r>
          </a:p>
          <a:p>
            <a:pPr marL="0" indent="0">
              <a:lnSpc>
                <a:spcPct val="100000"/>
              </a:lnSpc>
              <a:spcBef>
                <a:spcPts val="0"/>
              </a:spcBef>
              <a:buNone/>
            </a:pPr>
            <a:r>
              <a:rPr lang="en-US" sz="1800" dirty="0" smtClean="0">
                <a:latin typeface="Cambria" panose="02040503050406030204" pitchFamily="18" charset="0"/>
                <a:ea typeface="Cambria" panose="02040503050406030204" pitchFamily="18" charset="0"/>
              </a:rPr>
              <a:t>	}</a:t>
            </a:r>
            <a:r>
              <a:rPr lang="en-US" sz="1800" dirty="0">
                <a:latin typeface="Cambria" panose="02040503050406030204" pitchFamily="18" charset="0"/>
                <a:ea typeface="Cambria" panose="02040503050406030204" pitchFamily="18" charset="0"/>
              </a:rPr>
              <a:t>    </a:t>
            </a: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130</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92" y="31504"/>
            <a:ext cx="4911480" cy="445168"/>
          </a:xfrm>
        </p:spPr>
        <p:txBody>
          <a:bodyPr/>
          <a:lstStyle/>
          <a:p>
            <a:r>
              <a:rPr lang="en-US" sz="3600" b="1" dirty="0" smtClean="0">
                <a:solidFill>
                  <a:schemeClr val="accent5"/>
                </a:solidFill>
                <a:latin typeface="Cambria" panose="02040503050406030204" pitchFamily="18" charset="0"/>
                <a:ea typeface="Cambria" panose="02040503050406030204" pitchFamily="18" charset="0"/>
              </a:rPr>
              <a:t>Controller Layer </a:t>
            </a:r>
            <a:r>
              <a:rPr lang="en-US" sz="2000" b="1" dirty="0" smtClean="0">
                <a:solidFill>
                  <a:schemeClr val="accent5"/>
                </a:solidFill>
                <a:latin typeface="Cambria" panose="02040503050406030204" pitchFamily="18" charset="0"/>
                <a:ea typeface="Cambria" panose="02040503050406030204" pitchFamily="18" charset="0"/>
              </a:rPr>
              <a:t>(contd...)</a:t>
            </a:r>
            <a:endParaRPr lang="en-US" sz="36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40877" y="476672"/>
            <a:ext cx="12055223" cy="4676789"/>
          </a:xfrm>
        </p:spPr>
        <p:txBody>
          <a:bodyPr/>
          <a:lstStyle/>
          <a:p>
            <a:pPr marL="0" indent="0">
              <a:lnSpc>
                <a:spcPct val="100000"/>
              </a:lnSpc>
              <a:spcBef>
                <a:spcPts val="0"/>
              </a:spcBef>
              <a:buNone/>
            </a:pPr>
            <a:r>
              <a:rPr lang="en-US" sz="1700" dirty="0" smtClean="0">
                <a:latin typeface="Cambria" panose="02040503050406030204" pitchFamily="18" charset="0"/>
                <a:ea typeface="Cambria" panose="02040503050406030204" pitchFamily="18" charset="0"/>
              </a:rPr>
              <a:t>protected </a:t>
            </a:r>
            <a:r>
              <a:rPr lang="en-US" sz="1700" dirty="0">
                <a:latin typeface="Cambria" panose="02040503050406030204" pitchFamily="18" charset="0"/>
                <a:ea typeface="Cambria" panose="02040503050406030204" pitchFamily="18" charset="0"/>
              </a:rPr>
              <a:t>void doPost(HttpServletRequest request, HttpServletResponse </a:t>
            </a:r>
            <a:r>
              <a:rPr lang="en-US" sz="1700" dirty="0" smtClean="0">
                <a:latin typeface="Cambria" panose="02040503050406030204" pitchFamily="18" charset="0"/>
                <a:ea typeface="Cambria" panose="02040503050406030204" pitchFamily="18" charset="0"/>
              </a:rPr>
              <a:t>response) throws </a:t>
            </a:r>
            <a:r>
              <a:rPr lang="en-US" sz="1700" dirty="0">
                <a:latin typeface="Cambria" panose="02040503050406030204" pitchFamily="18" charset="0"/>
                <a:ea typeface="Cambria" panose="02040503050406030204" pitchFamily="18" charset="0"/>
              </a:rPr>
              <a:t>ServletException, </a:t>
            </a:r>
            <a:r>
              <a:rPr lang="en-US" sz="1700" dirty="0" smtClean="0">
                <a:latin typeface="Cambria" panose="02040503050406030204" pitchFamily="18" charset="0"/>
                <a:ea typeface="Cambria" panose="02040503050406030204" pitchFamily="18" charset="0"/>
              </a:rPr>
              <a:t>IOException </a:t>
            </a:r>
            <a:r>
              <a:rPr lang="en-US" sz="1700" dirty="0">
                <a:latin typeface="Cambria" panose="02040503050406030204" pitchFamily="18" charset="0"/>
                <a:ea typeface="Cambria" panose="02040503050406030204" pitchFamily="18" charset="0"/>
              </a:rPr>
              <a:t>{ </a:t>
            </a:r>
            <a:r>
              <a:rPr lang="en-US" sz="1800" dirty="0">
                <a:latin typeface="Cambria" panose="02040503050406030204" pitchFamily="18" charset="0"/>
                <a:ea typeface="Cambria" panose="02040503050406030204" pitchFamily="18" charset="0"/>
              </a:rPr>
              <a:t>        </a:t>
            </a:r>
            <a:endParaRPr lang="en-US" sz="1800" dirty="0" smtClean="0">
              <a:latin typeface="Cambria" panose="02040503050406030204" pitchFamily="18" charset="0"/>
              <a:ea typeface="Cambria" panose="02040503050406030204" pitchFamily="18" charset="0"/>
            </a:endParaRPr>
          </a:p>
          <a:p>
            <a:pPr marL="457200" lvl="1" indent="0">
              <a:lnSpc>
                <a:spcPct val="100000"/>
              </a:lnSpc>
              <a:spcBef>
                <a:spcPts val="0"/>
              </a:spcBef>
              <a:buNone/>
            </a:pPr>
            <a:r>
              <a:rPr lang="en-US" sz="1800" dirty="0">
                <a:latin typeface="Cambria" panose="02040503050406030204" pitchFamily="18" charset="0"/>
                <a:ea typeface="Cambria" panose="02040503050406030204" pitchFamily="18" charset="0"/>
              </a:rPr>
              <a:t>String firstName = request.getParameter("firstName");        </a:t>
            </a:r>
          </a:p>
          <a:p>
            <a:pPr marL="457200" lvl="1" indent="0">
              <a:lnSpc>
                <a:spcPct val="100000"/>
              </a:lnSpc>
              <a:spcBef>
                <a:spcPts val="0"/>
              </a:spcBef>
              <a:buNone/>
            </a:pPr>
            <a:r>
              <a:rPr lang="en-US" sz="1800" dirty="0">
                <a:latin typeface="Cambria" panose="02040503050406030204" pitchFamily="18" charset="0"/>
                <a:ea typeface="Cambria" panose="02040503050406030204" pitchFamily="18" charset="0"/>
              </a:rPr>
              <a:t>String lastName = </a:t>
            </a:r>
            <a:r>
              <a:rPr lang="en-US" sz="1800" dirty="0" smtClean="0">
                <a:latin typeface="Cambria" panose="02040503050406030204" pitchFamily="18" charset="0"/>
                <a:ea typeface="Cambria" panose="02040503050406030204" pitchFamily="18" charset="0"/>
              </a:rPr>
              <a:t>request.getParameter</a:t>
            </a:r>
            <a:r>
              <a:rPr lang="en-US" sz="1800" dirty="0">
                <a:latin typeface="Cambria" panose="02040503050406030204" pitchFamily="18" charset="0"/>
                <a:ea typeface="Cambria" panose="02040503050406030204" pitchFamily="18" charset="0"/>
              </a:rPr>
              <a:t>("lastName");        </a:t>
            </a:r>
          </a:p>
          <a:p>
            <a:pPr marL="457200" lvl="1" indent="0">
              <a:lnSpc>
                <a:spcPct val="100000"/>
              </a:lnSpc>
              <a:spcBef>
                <a:spcPts val="0"/>
              </a:spcBef>
              <a:buNone/>
            </a:pPr>
            <a:r>
              <a:rPr lang="en-US" sz="1800" dirty="0">
                <a:latin typeface="Cambria" panose="02040503050406030204" pitchFamily="18" charset="0"/>
                <a:ea typeface="Cambria" panose="02040503050406030204" pitchFamily="18" charset="0"/>
              </a:rPr>
              <a:t>String username = request.getParameter("username");        </a:t>
            </a:r>
          </a:p>
          <a:p>
            <a:pPr marL="457200" lvl="1" indent="0">
              <a:lnSpc>
                <a:spcPct val="100000"/>
              </a:lnSpc>
              <a:spcBef>
                <a:spcPts val="0"/>
              </a:spcBef>
              <a:buNone/>
            </a:pPr>
            <a:r>
              <a:rPr lang="en-US" sz="1800" dirty="0">
                <a:latin typeface="Cambria" panose="02040503050406030204" pitchFamily="18" charset="0"/>
                <a:ea typeface="Cambria" panose="02040503050406030204" pitchFamily="18" charset="0"/>
              </a:rPr>
              <a:t>String password = request.getParameter("password");        </a:t>
            </a:r>
          </a:p>
          <a:p>
            <a:pPr marL="457200" lvl="1" indent="0">
              <a:lnSpc>
                <a:spcPct val="100000"/>
              </a:lnSpc>
              <a:spcBef>
                <a:spcPts val="0"/>
              </a:spcBef>
              <a:buNone/>
            </a:pPr>
            <a:r>
              <a:rPr lang="en-US" sz="1800" dirty="0">
                <a:latin typeface="Cambria" panose="02040503050406030204" pitchFamily="18" charset="0"/>
                <a:ea typeface="Cambria" panose="02040503050406030204" pitchFamily="18" charset="0"/>
              </a:rPr>
              <a:t>String address = request.getParameter("address");       </a:t>
            </a:r>
          </a:p>
          <a:p>
            <a:pPr marL="457200" lvl="1" indent="0">
              <a:lnSpc>
                <a:spcPct val="100000"/>
              </a:lnSpc>
              <a:spcBef>
                <a:spcPts val="0"/>
              </a:spcBef>
              <a:buNone/>
            </a:pPr>
            <a:r>
              <a:rPr lang="en-US" sz="1800" dirty="0">
                <a:latin typeface="Cambria" panose="02040503050406030204" pitchFamily="18" charset="0"/>
                <a:ea typeface="Cambria" panose="02040503050406030204" pitchFamily="18" charset="0"/>
              </a:rPr>
              <a:t>String contact = request.getParameter("contact");         </a:t>
            </a:r>
          </a:p>
          <a:p>
            <a:pPr marL="457200" lvl="1" indent="0">
              <a:lnSpc>
                <a:spcPct val="100000"/>
              </a:lnSpc>
              <a:spcBef>
                <a:spcPts val="0"/>
              </a:spcBef>
              <a:buNone/>
            </a:pPr>
            <a:r>
              <a:rPr lang="en-US" sz="1800" dirty="0">
                <a:latin typeface="Cambria" panose="02040503050406030204" pitchFamily="18" charset="0"/>
                <a:ea typeface="Cambria" panose="02040503050406030204" pitchFamily="18" charset="0"/>
              </a:rPr>
              <a:t>Employee employee = new Employee();        </a:t>
            </a:r>
          </a:p>
          <a:p>
            <a:pPr marL="457200" lvl="1" indent="0">
              <a:lnSpc>
                <a:spcPct val="100000"/>
              </a:lnSpc>
              <a:spcBef>
                <a:spcPts val="0"/>
              </a:spcBef>
              <a:buNone/>
            </a:pPr>
            <a:r>
              <a:rPr lang="en-US" sz="1800" dirty="0">
                <a:latin typeface="Cambria" panose="02040503050406030204" pitchFamily="18" charset="0"/>
                <a:ea typeface="Cambria" panose="02040503050406030204" pitchFamily="18" charset="0"/>
              </a:rPr>
              <a:t>employee.setFirstName(firstName);       </a:t>
            </a:r>
          </a:p>
          <a:p>
            <a:pPr marL="457200" lvl="1" indent="0">
              <a:lnSpc>
                <a:spcPct val="100000"/>
              </a:lnSpc>
              <a:spcBef>
                <a:spcPts val="0"/>
              </a:spcBef>
              <a:buNone/>
            </a:pPr>
            <a:r>
              <a:rPr lang="en-US" sz="1800" dirty="0">
                <a:latin typeface="Cambria" panose="02040503050406030204" pitchFamily="18" charset="0"/>
                <a:ea typeface="Cambria" panose="02040503050406030204" pitchFamily="18" charset="0"/>
              </a:rPr>
              <a:t>employee.setLastName(lastName);       </a:t>
            </a:r>
          </a:p>
          <a:p>
            <a:pPr marL="457200" lvl="1" indent="0">
              <a:lnSpc>
                <a:spcPct val="100000"/>
              </a:lnSpc>
              <a:spcBef>
                <a:spcPts val="0"/>
              </a:spcBef>
              <a:buNone/>
            </a:pPr>
            <a:r>
              <a:rPr lang="en-US" sz="1800" dirty="0">
                <a:latin typeface="Cambria" panose="02040503050406030204" pitchFamily="18" charset="0"/>
                <a:ea typeface="Cambria" panose="02040503050406030204" pitchFamily="18" charset="0"/>
              </a:rPr>
              <a:t>employee.setUsername(username);        </a:t>
            </a:r>
          </a:p>
          <a:p>
            <a:pPr marL="457200" lvl="1" indent="0">
              <a:lnSpc>
                <a:spcPct val="100000"/>
              </a:lnSpc>
              <a:spcBef>
                <a:spcPts val="0"/>
              </a:spcBef>
              <a:buNone/>
            </a:pPr>
            <a:r>
              <a:rPr lang="en-US" sz="1800" dirty="0">
                <a:latin typeface="Cambria" panose="02040503050406030204" pitchFamily="18" charset="0"/>
                <a:ea typeface="Cambria" panose="02040503050406030204" pitchFamily="18" charset="0"/>
              </a:rPr>
              <a:t>employee.setPassword(password);        </a:t>
            </a:r>
          </a:p>
          <a:p>
            <a:pPr marL="457200" lvl="1" indent="0">
              <a:lnSpc>
                <a:spcPct val="100000"/>
              </a:lnSpc>
              <a:spcBef>
                <a:spcPts val="0"/>
              </a:spcBef>
              <a:buNone/>
            </a:pPr>
            <a:r>
              <a:rPr lang="en-US" sz="1800" dirty="0">
                <a:latin typeface="Cambria" panose="02040503050406030204" pitchFamily="18" charset="0"/>
                <a:ea typeface="Cambria" panose="02040503050406030204" pitchFamily="18" charset="0"/>
              </a:rPr>
              <a:t>employee.setContact(contact);        </a:t>
            </a:r>
          </a:p>
          <a:p>
            <a:pPr marL="457200" lvl="1" indent="0">
              <a:lnSpc>
                <a:spcPct val="100000"/>
              </a:lnSpc>
              <a:spcBef>
                <a:spcPts val="0"/>
              </a:spcBef>
              <a:buNone/>
            </a:pPr>
            <a:r>
              <a:rPr lang="en-US" sz="1800" dirty="0">
                <a:latin typeface="Cambria" panose="02040503050406030204" pitchFamily="18" charset="0"/>
                <a:ea typeface="Cambria" panose="02040503050406030204" pitchFamily="18" charset="0"/>
              </a:rPr>
              <a:t>employee.setAddress(address);         </a:t>
            </a:r>
          </a:p>
          <a:p>
            <a:pPr marL="457200" lvl="1" indent="0">
              <a:lnSpc>
                <a:spcPct val="100000"/>
              </a:lnSpc>
              <a:spcBef>
                <a:spcPts val="0"/>
              </a:spcBef>
              <a:buNone/>
            </a:pPr>
            <a:r>
              <a:rPr lang="en-US" sz="1800" dirty="0">
                <a:latin typeface="Cambria" panose="02040503050406030204" pitchFamily="18" charset="0"/>
                <a:ea typeface="Cambria" panose="02040503050406030204" pitchFamily="18" charset="0"/>
              </a:rPr>
              <a:t>try {            </a:t>
            </a:r>
          </a:p>
          <a:p>
            <a:pPr marL="457200" lvl="1" indent="0">
              <a:lnSpc>
                <a:spcPct val="100000"/>
              </a:lnSpc>
              <a:spcBef>
                <a:spcPts val="0"/>
              </a:spcBef>
              <a:buNone/>
            </a:pPr>
            <a:r>
              <a:rPr lang="en-US" sz="1800" dirty="0" smtClean="0">
                <a:latin typeface="Cambria" panose="02040503050406030204" pitchFamily="18" charset="0"/>
                <a:ea typeface="Cambria" panose="02040503050406030204" pitchFamily="18" charset="0"/>
              </a:rPr>
              <a:t>	employeeDao.registerEmployee(employee</a:t>
            </a:r>
            <a:r>
              <a:rPr lang="en-US" sz="1800" dirty="0">
                <a:latin typeface="Cambria" panose="02040503050406030204" pitchFamily="18" charset="0"/>
                <a:ea typeface="Cambria" panose="02040503050406030204" pitchFamily="18" charset="0"/>
              </a:rPr>
              <a:t>);        </a:t>
            </a:r>
          </a:p>
          <a:p>
            <a:pPr marL="457200" lvl="1" indent="0">
              <a:lnSpc>
                <a:spcPct val="100000"/>
              </a:lnSpc>
              <a:spcBef>
                <a:spcPts val="0"/>
              </a:spcBef>
              <a:buNone/>
            </a:pPr>
            <a:r>
              <a:rPr lang="en-US" sz="1800" dirty="0">
                <a:latin typeface="Cambria" panose="02040503050406030204" pitchFamily="18" charset="0"/>
                <a:ea typeface="Cambria" panose="02040503050406030204" pitchFamily="18" charset="0"/>
              </a:rPr>
              <a:t>} catch (Exception e) {       e.printStackTrace();        </a:t>
            </a:r>
            <a:r>
              <a:rPr lang="en-US" sz="1800" dirty="0" smtClean="0">
                <a:latin typeface="Cambria" panose="02040503050406030204" pitchFamily="18" charset="0"/>
                <a:ea typeface="Cambria" panose="02040503050406030204" pitchFamily="18" charset="0"/>
              </a:rPr>
              <a:t>}</a:t>
            </a:r>
            <a:endParaRPr lang="en-US" sz="1800" dirty="0">
              <a:latin typeface="Cambria" panose="02040503050406030204" pitchFamily="18" charset="0"/>
              <a:ea typeface="Cambria" panose="02040503050406030204" pitchFamily="18" charset="0"/>
            </a:endParaRPr>
          </a:p>
          <a:p>
            <a:pPr marL="457200" lvl="1" indent="0">
              <a:lnSpc>
                <a:spcPct val="100000"/>
              </a:lnSpc>
              <a:spcBef>
                <a:spcPts val="0"/>
              </a:spcBef>
              <a:buNone/>
            </a:pPr>
            <a:r>
              <a:rPr lang="en-US" sz="1800" dirty="0">
                <a:latin typeface="Cambria" panose="02040503050406030204" pitchFamily="18" charset="0"/>
                <a:ea typeface="Cambria" panose="02040503050406030204" pitchFamily="18" charset="0"/>
              </a:rPr>
              <a:t>response.sendRedirect("employeedetails.jsp");    </a:t>
            </a:r>
          </a:p>
          <a:p>
            <a:pPr marL="457200" lvl="1" indent="0">
              <a:lnSpc>
                <a:spcPct val="100000"/>
              </a:lnSpc>
              <a:spcBef>
                <a:spcPts val="0"/>
              </a:spcBef>
              <a:buNone/>
            </a:pPr>
            <a:r>
              <a:rPr lang="en-US" sz="1800" dirty="0">
                <a:latin typeface="Cambria" panose="02040503050406030204" pitchFamily="18" charset="0"/>
                <a:ea typeface="Cambria" panose="02040503050406030204" pitchFamily="18" charset="0"/>
              </a:rPr>
              <a:t>}</a:t>
            </a:r>
          </a:p>
          <a:p>
            <a:pPr marL="0" indent="0">
              <a:lnSpc>
                <a:spcPct val="100000"/>
              </a:lnSpc>
              <a:spcBef>
                <a:spcPts val="0"/>
              </a:spcBef>
              <a:buNone/>
            </a:pPr>
            <a:r>
              <a:rPr lang="en-US" sz="1800" dirty="0">
                <a:latin typeface="Cambria" panose="02040503050406030204" pitchFamily="18" charset="0"/>
                <a:ea typeface="Cambria" panose="02040503050406030204" pitchFamily="18" charset="0"/>
              </a:rPr>
              <a:t>}</a:t>
            </a:r>
          </a:p>
          <a:p>
            <a:pPr marL="0" indent="0" algn="just">
              <a:lnSpc>
                <a:spcPct val="100000"/>
              </a:lnSpc>
              <a:spcBef>
                <a:spcPts val="0"/>
              </a:spcBef>
              <a:buNone/>
            </a:pPr>
            <a:endParaRPr lang="en-US" sz="18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131</a:t>
            </a:fld>
            <a:endParaRPr lang="en-US" altLang="en-US">
              <a:latin typeface="Cambria" panose="02040503050406030204" pitchFamily="18" charset="0"/>
              <a:ea typeface="Cambria" panose="02040503050406030204" pitchFamily="18" charset="0"/>
            </a:endParaRPr>
          </a:p>
        </p:txBody>
      </p:sp>
    </p:spTree>
    <p:extLst>
      <p:ext uri="{BB962C8B-B14F-4D97-AF65-F5344CB8AC3E}">
        <p14:creationId xmlns:p14="http://schemas.microsoft.com/office/powerpoint/2010/main" val="4193912410"/>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1685"/>
            <a:ext cx="3143672" cy="444987"/>
          </a:xfrm>
        </p:spPr>
        <p:txBody>
          <a:bodyPr/>
          <a:lstStyle/>
          <a:p>
            <a:r>
              <a:rPr lang="en-US" sz="3600" b="1" dirty="0" smtClean="0">
                <a:solidFill>
                  <a:schemeClr val="accent5"/>
                </a:solidFill>
                <a:latin typeface="Cambria" panose="02040503050406030204" pitchFamily="18" charset="0"/>
                <a:ea typeface="Cambria" panose="02040503050406030204" pitchFamily="18" charset="0"/>
              </a:rPr>
              <a:t/>
            </a:r>
            <a:br>
              <a:rPr lang="en-US" sz="3600" b="1" dirty="0" smtClean="0">
                <a:solidFill>
                  <a:schemeClr val="accent5"/>
                </a:solidFill>
                <a:latin typeface="Cambria" panose="02040503050406030204" pitchFamily="18" charset="0"/>
                <a:ea typeface="Cambria" panose="02040503050406030204" pitchFamily="18" charset="0"/>
              </a:rPr>
            </a:br>
            <a:r>
              <a:rPr lang="en-US" sz="3600" b="1" dirty="0" smtClean="0">
                <a:solidFill>
                  <a:schemeClr val="accent5"/>
                </a:solidFill>
                <a:latin typeface="Cambria" panose="02040503050406030204" pitchFamily="18" charset="0"/>
                <a:ea typeface="Cambria" panose="02040503050406030204" pitchFamily="18" charset="0"/>
              </a:rPr>
              <a:t/>
            </a:r>
            <a:br>
              <a:rPr lang="en-US" sz="3600" b="1" dirty="0" smtClean="0">
                <a:solidFill>
                  <a:schemeClr val="accent5"/>
                </a:solidFill>
                <a:latin typeface="Cambria" panose="02040503050406030204" pitchFamily="18" charset="0"/>
                <a:ea typeface="Cambria" panose="02040503050406030204" pitchFamily="18" charset="0"/>
              </a:rPr>
            </a:br>
            <a:r>
              <a:rPr lang="en-US" sz="3600" b="1" dirty="0" smtClean="0">
                <a:solidFill>
                  <a:schemeClr val="accent5"/>
                </a:solidFill>
                <a:latin typeface="Cambria" panose="02040503050406030204" pitchFamily="18" charset="0"/>
                <a:ea typeface="Cambria" panose="02040503050406030204" pitchFamily="18" charset="0"/>
              </a:rPr>
              <a:t>View Layer</a:t>
            </a:r>
            <a:br>
              <a:rPr lang="en-US" sz="3600" b="1" dirty="0" smtClean="0">
                <a:solidFill>
                  <a:schemeClr val="accent5"/>
                </a:solidFill>
                <a:latin typeface="Cambria" panose="02040503050406030204" pitchFamily="18" charset="0"/>
                <a:ea typeface="Cambria" panose="02040503050406030204" pitchFamily="18" charset="0"/>
              </a:rPr>
            </a:br>
            <a:r>
              <a:rPr lang="en-US" sz="3600" b="1" dirty="0" smtClean="0">
                <a:solidFill>
                  <a:schemeClr val="accent5"/>
                </a:solidFill>
                <a:latin typeface="Cambria" panose="02040503050406030204" pitchFamily="18" charset="0"/>
                <a:ea typeface="Cambria" panose="02040503050406030204" pitchFamily="18" charset="0"/>
              </a:rPr>
              <a:t/>
            </a:r>
            <a:br>
              <a:rPr lang="en-US" sz="3600" b="1" dirty="0" smtClean="0">
                <a:solidFill>
                  <a:schemeClr val="accent5"/>
                </a:solidFill>
                <a:latin typeface="Cambria" panose="02040503050406030204" pitchFamily="18" charset="0"/>
                <a:ea typeface="Cambria" panose="02040503050406030204" pitchFamily="18" charset="0"/>
              </a:rPr>
            </a:br>
            <a:endParaRPr lang="en-US" sz="36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263352" y="476673"/>
            <a:ext cx="11593288" cy="4608512"/>
          </a:xfrm>
        </p:spPr>
        <p:txBody>
          <a:bodyPr/>
          <a:lstStyle/>
          <a:p>
            <a:pPr algn="just"/>
            <a:r>
              <a:rPr lang="en-GB" sz="2000" dirty="0" smtClean="0">
                <a:latin typeface="Cambria" panose="02040503050406030204" pitchFamily="18" charset="0"/>
                <a:ea typeface="Cambria" panose="02040503050406030204" pitchFamily="18" charset="0"/>
              </a:rPr>
              <a:t>The unbounded wildcard type represents the list of an unknown type such as List&lt;?&gt;. This approach can be useful in the following scenarios: -</a:t>
            </a:r>
          </a:p>
          <a:p>
            <a:pPr algn="just"/>
            <a:r>
              <a:rPr lang="en-GB" sz="2000" dirty="0" smtClean="0">
                <a:latin typeface="Cambria" panose="02040503050406030204" pitchFamily="18" charset="0"/>
                <a:ea typeface="Cambria" panose="02040503050406030204" pitchFamily="18" charset="0"/>
              </a:rPr>
              <a:t>When the given method is implemented by using the functionality provided in the Object class.</a:t>
            </a:r>
          </a:p>
          <a:p>
            <a:pPr algn="just"/>
            <a:r>
              <a:rPr lang="en-GB" sz="2000" dirty="0" smtClean="0">
                <a:latin typeface="Cambria" panose="02040503050406030204" pitchFamily="18" charset="0"/>
                <a:ea typeface="Cambria" panose="02040503050406030204" pitchFamily="18" charset="0"/>
              </a:rPr>
              <a:t>When the generic class contains the methods that don't depend on the type parameter.</a:t>
            </a:r>
          </a:p>
          <a:p>
            <a:pPr algn="just"/>
            <a:r>
              <a:rPr lang="en-GB" sz="2000" b="1" dirty="0" smtClean="0">
                <a:latin typeface="Cambria" panose="02040503050406030204" pitchFamily="18" charset="0"/>
                <a:ea typeface="Cambria" panose="02040503050406030204" pitchFamily="18" charset="0"/>
              </a:rPr>
              <a:t>employeeregister.jsp</a:t>
            </a:r>
          </a:p>
          <a:p>
            <a:pPr algn="just"/>
            <a:r>
              <a:rPr lang="en-GB" sz="2000" dirty="0" smtClean="0">
                <a:latin typeface="Cambria" panose="02040503050406030204" pitchFamily="18" charset="0"/>
                <a:ea typeface="Cambria" panose="02040503050406030204" pitchFamily="18" charset="0"/>
              </a:rPr>
              <a:t>Let's design an employee registration HTML form with the following fields:</a:t>
            </a:r>
          </a:p>
          <a:p>
            <a:pPr algn="just"/>
            <a:r>
              <a:rPr lang="en-GB" sz="2000" dirty="0" err="1" smtClean="0">
                <a:latin typeface="Cambria" panose="02040503050406030204" pitchFamily="18" charset="0"/>
                <a:ea typeface="Cambria" panose="02040503050406030204" pitchFamily="18" charset="0"/>
              </a:rPr>
              <a:t>firstName</a:t>
            </a:r>
            <a:endParaRPr lang="en-GB" sz="2000" dirty="0" smtClean="0">
              <a:latin typeface="Cambria" panose="02040503050406030204" pitchFamily="18" charset="0"/>
              <a:ea typeface="Cambria" panose="02040503050406030204" pitchFamily="18" charset="0"/>
            </a:endParaRPr>
          </a:p>
          <a:p>
            <a:pPr algn="just"/>
            <a:r>
              <a:rPr lang="en-GB" sz="2000" dirty="0" err="1" smtClean="0">
                <a:latin typeface="Cambria" panose="02040503050406030204" pitchFamily="18" charset="0"/>
                <a:ea typeface="Cambria" panose="02040503050406030204" pitchFamily="18" charset="0"/>
              </a:rPr>
              <a:t>lastName</a:t>
            </a:r>
            <a:endParaRPr lang="en-GB" sz="2000" dirty="0" smtClean="0">
              <a:latin typeface="Cambria" panose="02040503050406030204" pitchFamily="18" charset="0"/>
              <a:ea typeface="Cambria" panose="02040503050406030204" pitchFamily="18" charset="0"/>
            </a:endParaRPr>
          </a:p>
          <a:p>
            <a:pPr algn="just"/>
            <a:r>
              <a:rPr lang="en-GB" sz="2000" dirty="0" smtClean="0">
                <a:latin typeface="Cambria" panose="02040503050406030204" pitchFamily="18" charset="0"/>
                <a:ea typeface="Cambria" panose="02040503050406030204" pitchFamily="18" charset="0"/>
              </a:rPr>
              <a:t>username</a:t>
            </a:r>
          </a:p>
          <a:p>
            <a:pPr algn="just"/>
            <a:r>
              <a:rPr lang="en-GB" sz="2000" dirty="0" smtClean="0">
                <a:latin typeface="Cambria" panose="02040503050406030204" pitchFamily="18" charset="0"/>
                <a:ea typeface="Cambria" panose="02040503050406030204" pitchFamily="18" charset="0"/>
              </a:rPr>
              <a:t>Password</a:t>
            </a:r>
          </a:p>
          <a:p>
            <a:pPr algn="just"/>
            <a:r>
              <a:rPr lang="en-US" sz="2000" dirty="0" smtClean="0">
                <a:latin typeface="Cambria" panose="02040503050406030204" pitchFamily="18" charset="0"/>
                <a:ea typeface="Cambria" panose="02040503050406030204" pitchFamily="18" charset="0"/>
              </a:rPr>
              <a:t>address</a:t>
            </a:r>
          </a:p>
          <a:p>
            <a:pPr algn="just"/>
            <a:r>
              <a:rPr lang="en-US" sz="2000" dirty="0" smtClean="0">
                <a:latin typeface="Cambria" panose="02040503050406030204" pitchFamily="18" charset="0"/>
                <a:ea typeface="Cambria" panose="02040503050406030204" pitchFamily="18" charset="0"/>
              </a:rPr>
              <a:t>contact</a:t>
            </a:r>
          </a:p>
          <a:p>
            <a:pPr algn="just"/>
            <a:endParaRPr lang="en-GB" sz="2000" dirty="0" smtClean="0">
              <a:latin typeface="Cambria" panose="02040503050406030204" pitchFamily="18" charset="0"/>
              <a:ea typeface="Cambria" panose="02040503050406030204" pitchFamily="18" charset="0"/>
            </a:endParaRPr>
          </a:p>
          <a:p>
            <a:pPr algn="just"/>
            <a:endParaRPr lang="en-US" sz="20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132</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422" y="0"/>
            <a:ext cx="2089448" cy="384158"/>
          </a:xfrm>
        </p:spPr>
        <p:txBody>
          <a:bodyPr/>
          <a:lstStyle/>
          <a:p>
            <a:r>
              <a:rPr lang="en-US" sz="3600" b="1" dirty="0" smtClean="0">
                <a:solidFill>
                  <a:schemeClr val="accent5"/>
                </a:solidFill>
                <a:latin typeface="Cambria" panose="02040503050406030204" pitchFamily="18" charset="0"/>
                <a:ea typeface="Cambria" panose="02040503050406030204" pitchFamily="18" charset="0"/>
              </a:rPr>
              <a:t>View</a:t>
            </a:r>
            <a:endParaRPr lang="en-US" sz="36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335360" y="384158"/>
            <a:ext cx="11449272" cy="5781146"/>
          </a:xfrm>
        </p:spPr>
        <p:txBody>
          <a:bodyPr/>
          <a:lstStyle/>
          <a:p>
            <a:pPr>
              <a:lnSpc>
                <a:spcPct val="100000"/>
              </a:lnSpc>
              <a:spcBef>
                <a:spcPts val="0"/>
              </a:spcBef>
              <a:buNone/>
            </a:pPr>
            <a:r>
              <a:rPr lang="en-US" sz="1800" dirty="0" smtClean="0">
                <a:latin typeface="Cambria" panose="02040503050406030204" pitchFamily="18" charset="0"/>
                <a:ea typeface="Cambria" panose="02040503050406030204" pitchFamily="18" charset="0"/>
              </a:rPr>
              <a:t>&lt;%@ page language="java" </a:t>
            </a:r>
            <a:r>
              <a:rPr lang="en-US" sz="1800" dirty="0" err="1" smtClean="0">
                <a:latin typeface="Cambria" panose="02040503050406030204" pitchFamily="18" charset="0"/>
                <a:ea typeface="Cambria" panose="02040503050406030204" pitchFamily="18" charset="0"/>
              </a:rPr>
              <a:t>contentType</a:t>
            </a:r>
            <a:r>
              <a:rPr lang="en-US" sz="1800" dirty="0" smtClean="0">
                <a:latin typeface="Cambria" panose="02040503050406030204" pitchFamily="18" charset="0"/>
                <a:ea typeface="Cambria" panose="02040503050406030204" pitchFamily="18" charset="0"/>
              </a:rPr>
              <a:t>="text/html; </a:t>
            </a:r>
            <a:r>
              <a:rPr lang="en-US" sz="1800" dirty="0" err="1" smtClean="0">
                <a:latin typeface="Cambria" panose="02040503050406030204" pitchFamily="18" charset="0"/>
                <a:ea typeface="Cambria" panose="02040503050406030204" pitchFamily="18" charset="0"/>
              </a:rPr>
              <a:t>charset</a:t>
            </a:r>
            <a:r>
              <a:rPr lang="en-US" sz="1800" dirty="0" smtClean="0">
                <a:latin typeface="Cambria" panose="02040503050406030204" pitchFamily="18" charset="0"/>
                <a:ea typeface="Cambria" panose="02040503050406030204" pitchFamily="18" charset="0"/>
              </a:rPr>
              <a:t>=ISO-8859-1" </a:t>
            </a:r>
            <a:r>
              <a:rPr lang="en-US" sz="1800" dirty="0" err="1" smtClean="0">
                <a:latin typeface="Cambria" panose="02040503050406030204" pitchFamily="18" charset="0"/>
                <a:ea typeface="Cambria" panose="02040503050406030204" pitchFamily="18" charset="0"/>
              </a:rPr>
              <a:t>pageEncoding</a:t>
            </a:r>
            <a:r>
              <a:rPr lang="en-US" sz="1800" dirty="0" smtClean="0">
                <a:latin typeface="Cambria" panose="02040503050406030204" pitchFamily="18" charset="0"/>
                <a:ea typeface="Cambria" panose="02040503050406030204" pitchFamily="18" charset="0"/>
              </a:rPr>
              <a:t>="ISO-8859-1"%&gt; </a:t>
            </a:r>
          </a:p>
          <a:p>
            <a:pPr>
              <a:lnSpc>
                <a:spcPct val="100000"/>
              </a:lnSpc>
              <a:spcBef>
                <a:spcPts val="0"/>
              </a:spcBef>
              <a:buNone/>
            </a:pPr>
            <a:r>
              <a:rPr lang="en-US" sz="1800" dirty="0" smtClean="0">
                <a:latin typeface="Cambria" panose="02040503050406030204" pitchFamily="18" charset="0"/>
                <a:ea typeface="Cambria" panose="02040503050406030204" pitchFamily="18" charset="0"/>
              </a:rPr>
              <a:t>&lt;!DOCTYPE html&gt; </a:t>
            </a:r>
          </a:p>
          <a:p>
            <a:pPr>
              <a:lnSpc>
                <a:spcPct val="100000"/>
              </a:lnSpc>
              <a:spcBef>
                <a:spcPts val="0"/>
              </a:spcBef>
              <a:buNone/>
            </a:pPr>
            <a:r>
              <a:rPr lang="en-US" sz="1800" dirty="0" smtClean="0">
                <a:latin typeface="Cambria" panose="02040503050406030204" pitchFamily="18" charset="0"/>
                <a:ea typeface="Cambria" panose="02040503050406030204" pitchFamily="18" charset="0"/>
              </a:rPr>
              <a:t>&lt;html&gt;</a:t>
            </a:r>
          </a:p>
          <a:p>
            <a:pPr>
              <a:lnSpc>
                <a:spcPct val="100000"/>
              </a:lnSpc>
              <a:spcBef>
                <a:spcPts val="0"/>
              </a:spcBef>
              <a:buNone/>
            </a:pPr>
            <a:r>
              <a:rPr lang="en-US" sz="1800" dirty="0" smtClean="0">
                <a:latin typeface="Cambria" panose="02040503050406030204" pitchFamily="18" charset="0"/>
                <a:ea typeface="Cambria" panose="02040503050406030204" pitchFamily="18" charset="0"/>
              </a:rPr>
              <a:t> &lt;head&gt; </a:t>
            </a:r>
          </a:p>
          <a:p>
            <a:pPr>
              <a:lnSpc>
                <a:spcPct val="100000"/>
              </a:lnSpc>
              <a:spcBef>
                <a:spcPts val="0"/>
              </a:spcBef>
              <a:buNone/>
            </a:pPr>
            <a:r>
              <a:rPr lang="en-US" sz="1800" dirty="0" smtClean="0">
                <a:latin typeface="Cambria" panose="02040503050406030204" pitchFamily="18" charset="0"/>
                <a:ea typeface="Cambria" panose="02040503050406030204" pitchFamily="18" charset="0"/>
              </a:rPr>
              <a:t>&lt;meta </a:t>
            </a:r>
            <a:r>
              <a:rPr lang="en-US" sz="1800" dirty="0" err="1" smtClean="0">
                <a:latin typeface="Cambria" panose="02040503050406030204" pitchFamily="18" charset="0"/>
                <a:ea typeface="Cambria" panose="02040503050406030204" pitchFamily="18" charset="0"/>
              </a:rPr>
              <a:t>charset</a:t>
            </a:r>
            <a:r>
              <a:rPr lang="en-US" sz="1800" dirty="0" smtClean="0">
                <a:latin typeface="Cambria" panose="02040503050406030204" pitchFamily="18" charset="0"/>
                <a:ea typeface="Cambria" panose="02040503050406030204" pitchFamily="18" charset="0"/>
              </a:rPr>
              <a:t>="ISO-8859-1"&gt; </a:t>
            </a:r>
          </a:p>
          <a:p>
            <a:pPr>
              <a:lnSpc>
                <a:spcPct val="100000"/>
              </a:lnSpc>
              <a:spcBef>
                <a:spcPts val="0"/>
              </a:spcBef>
              <a:buNone/>
            </a:pPr>
            <a:r>
              <a:rPr lang="en-US" sz="1800" dirty="0" smtClean="0">
                <a:latin typeface="Cambria" panose="02040503050406030204" pitchFamily="18" charset="0"/>
                <a:ea typeface="Cambria" panose="02040503050406030204" pitchFamily="18" charset="0"/>
              </a:rPr>
              <a:t>&lt;title&gt;Insert title here&lt;/title&gt;</a:t>
            </a:r>
          </a:p>
          <a:p>
            <a:pPr>
              <a:lnSpc>
                <a:spcPct val="100000"/>
              </a:lnSpc>
              <a:spcBef>
                <a:spcPts val="0"/>
              </a:spcBef>
              <a:buNone/>
            </a:pPr>
            <a:r>
              <a:rPr lang="en-US" sz="1800" dirty="0" smtClean="0">
                <a:latin typeface="Cambria" panose="02040503050406030204" pitchFamily="18" charset="0"/>
                <a:ea typeface="Cambria" panose="02040503050406030204" pitchFamily="18" charset="0"/>
              </a:rPr>
              <a:t> &lt;/head&gt;</a:t>
            </a:r>
          </a:p>
          <a:p>
            <a:pPr>
              <a:lnSpc>
                <a:spcPct val="100000"/>
              </a:lnSpc>
              <a:spcBef>
                <a:spcPts val="0"/>
              </a:spcBef>
              <a:buNone/>
            </a:pPr>
            <a:r>
              <a:rPr lang="en-US" sz="1800" dirty="0" smtClean="0">
                <a:latin typeface="Cambria" panose="02040503050406030204" pitchFamily="18" charset="0"/>
                <a:ea typeface="Cambria" panose="02040503050406030204" pitchFamily="18" charset="0"/>
              </a:rPr>
              <a:t> &lt;body&gt;</a:t>
            </a:r>
          </a:p>
          <a:p>
            <a:pPr>
              <a:lnSpc>
                <a:spcPct val="100000"/>
              </a:lnSpc>
              <a:spcBef>
                <a:spcPts val="0"/>
              </a:spcBef>
              <a:buNone/>
            </a:pPr>
            <a:r>
              <a:rPr lang="en-US" sz="1800" dirty="0" smtClean="0">
                <a:latin typeface="Cambria" panose="02040503050406030204" pitchFamily="18" charset="0"/>
                <a:ea typeface="Cambria" panose="02040503050406030204" pitchFamily="18" charset="0"/>
              </a:rPr>
              <a:t> &lt;div align="center"&gt;</a:t>
            </a:r>
          </a:p>
          <a:p>
            <a:pPr>
              <a:lnSpc>
                <a:spcPct val="100000"/>
              </a:lnSpc>
              <a:spcBef>
                <a:spcPts val="0"/>
              </a:spcBef>
              <a:buNone/>
            </a:pPr>
            <a:r>
              <a:rPr lang="en-US" sz="1800" dirty="0" smtClean="0">
                <a:latin typeface="Cambria" panose="02040503050406030204" pitchFamily="18" charset="0"/>
                <a:ea typeface="Cambria" panose="02040503050406030204" pitchFamily="18" charset="0"/>
              </a:rPr>
              <a:t> &lt;h1&gt;Employee Register Form&lt;/h1&gt;</a:t>
            </a:r>
          </a:p>
          <a:p>
            <a:pPr>
              <a:lnSpc>
                <a:spcPct val="100000"/>
              </a:lnSpc>
              <a:spcBef>
                <a:spcPts val="0"/>
              </a:spcBef>
              <a:buNone/>
            </a:pPr>
            <a:r>
              <a:rPr lang="en-US" sz="1800" dirty="0" smtClean="0">
                <a:latin typeface="Cambria" panose="02040503050406030204" pitchFamily="18" charset="0"/>
                <a:ea typeface="Cambria" panose="02040503050406030204" pitchFamily="18" charset="0"/>
              </a:rPr>
              <a:t>&lt;form action="&lt;%= </a:t>
            </a:r>
            <a:r>
              <a:rPr lang="en-US" sz="1800" dirty="0" err="1" smtClean="0">
                <a:latin typeface="Cambria" panose="02040503050406030204" pitchFamily="18" charset="0"/>
                <a:ea typeface="Cambria" panose="02040503050406030204" pitchFamily="18" charset="0"/>
              </a:rPr>
              <a:t>request.getContextPath</a:t>
            </a:r>
            <a:r>
              <a:rPr lang="en-US" sz="1800" dirty="0" smtClean="0">
                <a:latin typeface="Cambria" panose="02040503050406030204" pitchFamily="18" charset="0"/>
                <a:ea typeface="Cambria" panose="02040503050406030204" pitchFamily="18" charset="0"/>
              </a:rPr>
              <a:t>() %&gt;/register" method="post"&gt;</a:t>
            </a:r>
          </a:p>
          <a:p>
            <a:pPr>
              <a:lnSpc>
                <a:spcPct val="100000"/>
              </a:lnSpc>
              <a:spcBef>
                <a:spcPts val="0"/>
              </a:spcBef>
              <a:buNone/>
            </a:pPr>
            <a:r>
              <a:rPr lang="en-US" sz="1800" dirty="0" smtClean="0">
                <a:latin typeface="Cambria" panose="02040503050406030204" pitchFamily="18" charset="0"/>
                <a:ea typeface="Cambria" panose="02040503050406030204" pitchFamily="18" charset="0"/>
              </a:rPr>
              <a:t> &lt;table style="with: 80%"&gt;</a:t>
            </a:r>
          </a:p>
          <a:p>
            <a:pPr>
              <a:lnSpc>
                <a:spcPct val="100000"/>
              </a:lnSpc>
              <a:spcBef>
                <a:spcPts val="0"/>
              </a:spcBef>
              <a:buNone/>
            </a:pPr>
            <a:r>
              <a:rPr lang="en-US" sz="1800" dirty="0" smtClean="0">
                <a:latin typeface="Cambria" panose="02040503050406030204" pitchFamily="18" charset="0"/>
                <a:ea typeface="Cambria" panose="02040503050406030204" pitchFamily="18" charset="0"/>
              </a:rPr>
              <a:t> &lt;tr&gt; &lt;td&gt;First Name&lt;/td&gt; &lt;td&gt;&lt;input type="text" name="firstName" /&gt;&lt;/td&gt; &lt;/tr&gt; </a:t>
            </a:r>
          </a:p>
          <a:p>
            <a:pPr>
              <a:lnSpc>
                <a:spcPct val="100000"/>
              </a:lnSpc>
              <a:spcBef>
                <a:spcPts val="0"/>
              </a:spcBef>
              <a:buNone/>
            </a:pPr>
            <a:r>
              <a:rPr lang="en-US" sz="1800" dirty="0" smtClean="0">
                <a:latin typeface="Cambria" panose="02040503050406030204" pitchFamily="18" charset="0"/>
                <a:ea typeface="Cambria" panose="02040503050406030204" pitchFamily="18" charset="0"/>
              </a:rPr>
              <a:t>&lt;tr&gt; &lt;td&gt;Last Name&lt;/td&gt; &lt;td&gt;&lt;input type="text" name="lastName" /&gt;&lt;/td&gt; &lt;/tr&gt;</a:t>
            </a:r>
          </a:p>
          <a:p>
            <a:pPr>
              <a:lnSpc>
                <a:spcPct val="100000"/>
              </a:lnSpc>
              <a:spcBef>
                <a:spcPts val="0"/>
              </a:spcBef>
              <a:buNone/>
            </a:pPr>
            <a:r>
              <a:rPr lang="en-US" sz="1800" dirty="0" smtClean="0">
                <a:latin typeface="Cambria" panose="02040503050406030204" pitchFamily="18" charset="0"/>
                <a:ea typeface="Cambria" panose="02040503050406030204" pitchFamily="18" charset="0"/>
              </a:rPr>
              <a:t>&lt;tr&gt; &lt;td&gt;UserName&lt;/td&gt; &lt;td&gt;&lt;input type="text" name="username" /&gt;&lt;/td&gt; &lt;/tr&gt; </a:t>
            </a:r>
          </a:p>
          <a:p>
            <a:pPr>
              <a:lnSpc>
                <a:spcPct val="100000"/>
              </a:lnSpc>
              <a:spcBef>
                <a:spcPts val="0"/>
              </a:spcBef>
              <a:buNone/>
            </a:pPr>
            <a:r>
              <a:rPr lang="en-US" sz="1800" dirty="0" smtClean="0">
                <a:latin typeface="Cambria" panose="02040503050406030204" pitchFamily="18" charset="0"/>
                <a:ea typeface="Cambria" panose="02040503050406030204" pitchFamily="18" charset="0"/>
              </a:rPr>
              <a:t>&lt;tr&gt; &lt;td&gt;Password&lt;/td&gt; &lt;td&gt;&lt;input type="password" name="password" /&gt;&lt;/td&gt; &lt;/tr&gt; </a:t>
            </a:r>
          </a:p>
          <a:p>
            <a:pPr>
              <a:lnSpc>
                <a:spcPct val="100000"/>
              </a:lnSpc>
              <a:spcBef>
                <a:spcPts val="0"/>
              </a:spcBef>
              <a:buNone/>
            </a:pPr>
            <a:r>
              <a:rPr lang="en-US" sz="1800" dirty="0" smtClean="0">
                <a:latin typeface="Cambria" panose="02040503050406030204" pitchFamily="18" charset="0"/>
                <a:ea typeface="Cambria" panose="02040503050406030204" pitchFamily="18" charset="0"/>
              </a:rPr>
              <a:t>&lt;tr&gt; &lt;td&gt;Address&lt;/td&gt; &lt;td&gt;&lt;input type="text" name="address" /&gt;&lt;/td&gt; &lt;/tr&gt; </a:t>
            </a:r>
          </a:p>
          <a:p>
            <a:pPr>
              <a:lnSpc>
                <a:spcPct val="100000"/>
              </a:lnSpc>
              <a:spcBef>
                <a:spcPts val="0"/>
              </a:spcBef>
              <a:buNone/>
            </a:pPr>
            <a:r>
              <a:rPr lang="en-US" sz="1800" dirty="0" smtClean="0">
                <a:latin typeface="Cambria" panose="02040503050406030204" pitchFamily="18" charset="0"/>
                <a:ea typeface="Cambria" panose="02040503050406030204" pitchFamily="18" charset="0"/>
              </a:rPr>
              <a:t>&lt;tr&gt; &lt;td&gt;Contact No&lt;/td&gt; &lt;td&gt;&lt;input type="text" name="contact" /&gt;&lt;/td&gt; &lt;/tr&gt; </a:t>
            </a:r>
          </a:p>
          <a:p>
            <a:pPr>
              <a:lnSpc>
                <a:spcPct val="100000"/>
              </a:lnSpc>
              <a:spcBef>
                <a:spcPts val="0"/>
              </a:spcBef>
              <a:buNone/>
            </a:pPr>
            <a:r>
              <a:rPr lang="en-US" sz="1800" dirty="0" smtClean="0">
                <a:latin typeface="Cambria" panose="02040503050406030204" pitchFamily="18" charset="0"/>
                <a:ea typeface="Cambria" panose="02040503050406030204" pitchFamily="18" charset="0"/>
              </a:rPr>
              <a:t>&lt;/table&gt; </a:t>
            </a:r>
          </a:p>
          <a:p>
            <a:pPr>
              <a:lnSpc>
                <a:spcPct val="100000"/>
              </a:lnSpc>
              <a:spcBef>
                <a:spcPts val="0"/>
              </a:spcBef>
              <a:buNone/>
            </a:pPr>
            <a:r>
              <a:rPr lang="en-US" sz="1800" dirty="0" smtClean="0">
                <a:latin typeface="Cambria" panose="02040503050406030204" pitchFamily="18" charset="0"/>
                <a:ea typeface="Cambria" panose="02040503050406030204" pitchFamily="18" charset="0"/>
              </a:rPr>
              <a:t>&lt;input type="submit" value="Submit" /&gt; &lt;/form&gt; &lt;/div&gt; &lt;/body&gt; &lt;/html&gt;</a:t>
            </a:r>
            <a:endParaRPr lang="en-US" sz="18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133</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5497" y="42863"/>
            <a:ext cx="4918375" cy="577826"/>
          </a:xfrm>
        </p:spPr>
        <p:txBody>
          <a:bodyPr/>
          <a:lstStyle/>
          <a:p>
            <a:r>
              <a:rPr lang="en-US" sz="3600" b="1" dirty="0" smtClean="0">
                <a:solidFill>
                  <a:schemeClr val="accent5"/>
                </a:solidFill>
                <a:latin typeface="Cambria" panose="02040503050406030204" pitchFamily="18" charset="0"/>
                <a:ea typeface="Cambria" panose="02040503050406030204" pitchFamily="18" charset="0"/>
              </a:rPr>
              <a:t> </a:t>
            </a:r>
            <a:br>
              <a:rPr lang="en-US" sz="3600" b="1" dirty="0" smtClean="0">
                <a:solidFill>
                  <a:schemeClr val="accent5"/>
                </a:solidFill>
                <a:latin typeface="Cambria" panose="02040503050406030204" pitchFamily="18" charset="0"/>
                <a:ea typeface="Cambria" panose="02040503050406030204" pitchFamily="18" charset="0"/>
              </a:rPr>
            </a:br>
            <a:r>
              <a:rPr lang="en-US" sz="3600" b="1" dirty="0" smtClean="0">
                <a:solidFill>
                  <a:schemeClr val="accent5"/>
                </a:solidFill>
                <a:latin typeface="Cambria" panose="02040503050406030204" pitchFamily="18" charset="0"/>
                <a:ea typeface="Cambria" panose="02040503050406030204" pitchFamily="18" charset="0"/>
              </a:rPr>
              <a:t>employeedetails.jsp</a:t>
            </a:r>
            <a:br>
              <a:rPr lang="en-US" sz="3600" b="1" dirty="0" smtClean="0">
                <a:solidFill>
                  <a:schemeClr val="accent5"/>
                </a:solidFill>
                <a:latin typeface="Cambria" panose="02040503050406030204" pitchFamily="18" charset="0"/>
                <a:ea typeface="Cambria" panose="02040503050406030204" pitchFamily="18" charset="0"/>
              </a:rPr>
            </a:br>
            <a:endParaRPr lang="en-US" sz="3600" b="1" dirty="0">
              <a:solidFill>
                <a:schemeClr val="accent5"/>
              </a:solidFill>
              <a:latin typeface="Cambria" panose="02040503050406030204" pitchFamily="18" charset="0"/>
              <a:ea typeface="Cambria" panose="02040503050406030204" pitchFamily="18" charset="0"/>
            </a:endParaRPr>
          </a:p>
        </p:txBody>
      </p:sp>
      <p:sp>
        <p:nvSpPr>
          <p:cNvPr id="3" name="Content Placeholder 2"/>
          <p:cNvSpPr>
            <a:spLocks noGrp="1"/>
          </p:cNvSpPr>
          <p:nvPr>
            <p:ph idx="1"/>
          </p:nvPr>
        </p:nvSpPr>
        <p:spPr>
          <a:xfrm>
            <a:off x="263352" y="626679"/>
            <a:ext cx="11928648" cy="4098466"/>
          </a:xfrm>
        </p:spPr>
        <p:txBody>
          <a:bodyPr/>
          <a:lstStyle/>
          <a:p>
            <a:pPr>
              <a:spcBef>
                <a:spcPts val="600"/>
              </a:spcBef>
              <a:buNone/>
            </a:pPr>
            <a:r>
              <a:rPr lang="en-US" sz="2000" dirty="0" smtClean="0">
                <a:latin typeface="Cambria" panose="02040503050406030204" pitchFamily="18" charset="0"/>
                <a:ea typeface="Cambria" panose="02040503050406030204" pitchFamily="18" charset="0"/>
              </a:rPr>
              <a:t>&lt;%@ page language="java" </a:t>
            </a:r>
            <a:r>
              <a:rPr lang="en-US" sz="2000" dirty="0" err="1" smtClean="0">
                <a:latin typeface="Cambria" panose="02040503050406030204" pitchFamily="18" charset="0"/>
                <a:ea typeface="Cambria" panose="02040503050406030204" pitchFamily="18" charset="0"/>
              </a:rPr>
              <a:t>contentType</a:t>
            </a:r>
            <a:r>
              <a:rPr lang="en-US" sz="2000" dirty="0" smtClean="0">
                <a:latin typeface="Cambria" panose="02040503050406030204" pitchFamily="18" charset="0"/>
                <a:ea typeface="Cambria" panose="02040503050406030204" pitchFamily="18" charset="0"/>
              </a:rPr>
              <a:t>="text/html; </a:t>
            </a:r>
            <a:r>
              <a:rPr lang="en-US" sz="2000" dirty="0" err="1" smtClean="0">
                <a:latin typeface="Cambria" panose="02040503050406030204" pitchFamily="18" charset="0"/>
                <a:ea typeface="Cambria" panose="02040503050406030204" pitchFamily="18" charset="0"/>
              </a:rPr>
              <a:t>charset</a:t>
            </a:r>
            <a:r>
              <a:rPr lang="en-US" sz="2000" dirty="0" smtClean="0">
                <a:latin typeface="Cambria" panose="02040503050406030204" pitchFamily="18" charset="0"/>
                <a:ea typeface="Cambria" panose="02040503050406030204" pitchFamily="18" charset="0"/>
              </a:rPr>
              <a:t>=ISO-8859-1" </a:t>
            </a:r>
            <a:r>
              <a:rPr lang="en-US" sz="2000" dirty="0" err="1" smtClean="0">
                <a:latin typeface="Cambria" panose="02040503050406030204" pitchFamily="18" charset="0"/>
                <a:ea typeface="Cambria" panose="02040503050406030204" pitchFamily="18" charset="0"/>
              </a:rPr>
              <a:t>pageEncoding</a:t>
            </a:r>
            <a:r>
              <a:rPr lang="en-US" sz="2000" dirty="0" smtClean="0">
                <a:latin typeface="Cambria" panose="02040503050406030204" pitchFamily="18" charset="0"/>
                <a:ea typeface="Cambria" panose="02040503050406030204" pitchFamily="18" charset="0"/>
              </a:rPr>
              <a:t>="ISO-8859-1"%&gt;</a:t>
            </a:r>
          </a:p>
          <a:p>
            <a:pPr>
              <a:spcBef>
                <a:spcPts val="600"/>
              </a:spcBef>
              <a:buNone/>
            </a:pPr>
            <a:r>
              <a:rPr lang="en-US" sz="2000" dirty="0" smtClean="0">
                <a:latin typeface="Cambria" panose="02040503050406030204" pitchFamily="18" charset="0"/>
                <a:ea typeface="Cambria" panose="02040503050406030204" pitchFamily="18" charset="0"/>
              </a:rPr>
              <a:t> &lt;%@page import="</a:t>
            </a:r>
            <a:r>
              <a:rPr lang="en-US" sz="2000" dirty="0" err="1" smtClean="0">
                <a:latin typeface="Cambria" panose="02040503050406030204" pitchFamily="18" charset="0"/>
                <a:ea typeface="Cambria" panose="02040503050406030204" pitchFamily="18" charset="0"/>
              </a:rPr>
              <a:t>net.javaguides.employeemanagement.dao</a:t>
            </a:r>
            <a:r>
              <a:rPr lang="en-US" sz="2000" dirty="0" smtClean="0">
                <a:latin typeface="Cambria" panose="02040503050406030204" pitchFamily="18" charset="0"/>
                <a:ea typeface="Cambria" panose="02040503050406030204" pitchFamily="18" charset="0"/>
              </a:rPr>
              <a:t>.*"%&gt; &lt;!DOCTYPE html&gt;</a:t>
            </a:r>
          </a:p>
          <a:p>
            <a:pPr>
              <a:spcBef>
                <a:spcPts val="600"/>
              </a:spcBef>
              <a:buNone/>
            </a:pPr>
            <a:r>
              <a:rPr lang="en-US" sz="2000" dirty="0" smtClean="0">
                <a:latin typeface="Cambria" panose="02040503050406030204" pitchFamily="18" charset="0"/>
                <a:ea typeface="Cambria" panose="02040503050406030204" pitchFamily="18" charset="0"/>
              </a:rPr>
              <a:t> &lt;html&gt; </a:t>
            </a:r>
          </a:p>
          <a:p>
            <a:pPr>
              <a:spcBef>
                <a:spcPts val="600"/>
              </a:spcBef>
              <a:buNone/>
            </a:pPr>
            <a:r>
              <a:rPr lang="en-US" sz="2000" dirty="0" smtClean="0">
                <a:latin typeface="Cambria" panose="02040503050406030204" pitchFamily="18" charset="0"/>
                <a:ea typeface="Cambria" panose="02040503050406030204" pitchFamily="18" charset="0"/>
              </a:rPr>
              <a:t>&lt;head&gt;</a:t>
            </a:r>
          </a:p>
          <a:p>
            <a:pPr>
              <a:spcBef>
                <a:spcPts val="600"/>
              </a:spcBef>
              <a:buNone/>
            </a:pPr>
            <a:r>
              <a:rPr lang="en-US" sz="2000" dirty="0" smtClean="0">
                <a:latin typeface="Cambria" panose="02040503050406030204" pitchFamily="18" charset="0"/>
                <a:ea typeface="Cambria" panose="02040503050406030204" pitchFamily="18" charset="0"/>
              </a:rPr>
              <a:t> &lt;meta </a:t>
            </a:r>
            <a:r>
              <a:rPr lang="en-US" sz="2000" dirty="0" err="1" smtClean="0">
                <a:latin typeface="Cambria" panose="02040503050406030204" pitchFamily="18" charset="0"/>
                <a:ea typeface="Cambria" panose="02040503050406030204" pitchFamily="18" charset="0"/>
              </a:rPr>
              <a:t>charset</a:t>
            </a:r>
            <a:r>
              <a:rPr lang="en-US" sz="2000" dirty="0" smtClean="0">
                <a:latin typeface="Cambria" panose="02040503050406030204" pitchFamily="18" charset="0"/>
                <a:ea typeface="Cambria" panose="02040503050406030204" pitchFamily="18" charset="0"/>
              </a:rPr>
              <a:t>="ISO-8859-1"&gt;</a:t>
            </a:r>
          </a:p>
          <a:p>
            <a:pPr>
              <a:spcBef>
                <a:spcPts val="600"/>
              </a:spcBef>
              <a:buNone/>
            </a:pPr>
            <a:r>
              <a:rPr lang="en-US" sz="2000" dirty="0" smtClean="0">
                <a:latin typeface="Cambria" panose="02040503050406030204" pitchFamily="18" charset="0"/>
                <a:ea typeface="Cambria" panose="02040503050406030204" pitchFamily="18" charset="0"/>
              </a:rPr>
              <a:t> &lt;title&gt;Insert title here&lt;/title&gt;</a:t>
            </a:r>
          </a:p>
          <a:p>
            <a:pPr>
              <a:spcBef>
                <a:spcPts val="600"/>
              </a:spcBef>
              <a:buNone/>
            </a:pPr>
            <a:r>
              <a:rPr lang="en-US" sz="2000" dirty="0" smtClean="0">
                <a:latin typeface="Cambria" panose="02040503050406030204" pitchFamily="18" charset="0"/>
                <a:ea typeface="Cambria" panose="02040503050406030204" pitchFamily="18" charset="0"/>
              </a:rPr>
              <a:t> &lt;/head&gt; </a:t>
            </a:r>
          </a:p>
          <a:p>
            <a:pPr>
              <a:spcBef>
                <a:spcPts val="600"/>
              </a:spcBef>
              <a:buNone/>
            </a:pPr>
            <a:r>
              <a:rPr lang="en-US" sz="2000" dirty="0" smtClean="0">
                <a:latin typeface="Cambria" panose="02040503050406030204" pitchFamily="18" charset="0"/>
                <a:ea typeface="Cambria" panose="02040503050406030204" pitchFamily="18" charset="0"/>
              </a:rPr>
              <a:t>&lt;body&gt; &lt;h1&gt;User successfully registered!&lt;/h1&gt; </a:t>
            </a:r>
          </a:p>
          <a:p>
            <a:pPr>
              <a:spcBef>
                <a:spcPts val="600"/>
              </a:spcBef>
              <a:buNone/>
            </a:pPr>
            <a:r>
              <a:rPr lang="en-US" sz="2000" dirty="0" smtClean="0">
                <a:latin typeface="Cambria" panose="02040503050406030204" pitchFamily="18" charset="0"/>
                <a:ea typeface="Cambria" panose="02040503050406030204" pitchFamily="18" charset="0"/>
              </a:rPr>
              <a:t>&lt;/body&gt;</a:t>
            </a:r>
          </a:p>
          <a:p>
            <a:pPr>
              <a:spcBef>
                <a:spcPts val="600"/>
              </a:spcBef>
              <a:buNone/>
            </a:pPr>
            <a:r>
              <a:rPr lang="en-IN" sz="2000" dirty="0" smtClean="0">
                <a:latin typeface="Cambria" panose="02040503050406030204" pitchFamily="18" charset="0"/>
                <a:ea typeface="Cambria" panose="02040503050406030204" pitchFamily="18" charset="0"/>
              </a:rPr>
              <a:t>&lt;/html&gt;</a:t>
            </a:r>
            <a:endParaRPr lang="en-US" sz="2000" dirty="0" smtClean="0">
              <a:latin typeface="Cambria" panose="02040503050406030204" pitchFamily="18" charset="0"/>
              <a:ea typeface="Cambria" panose="02040503050406030204" pitchFamily="18" charset="0"/>
            </a:endParaRPr>
          </a:p>
          <a:p>
            <a:pPr>
              <a:spcBef>
                <a:spcPts val="600"/>
              </a:spcBef>
            </a:pPr>
            <a:r>
              <a:rPr lang="en-US" sz="2000" b="1" dirty="0" smtClean="0">
                <a:latin typeface="Cambria" panose="02040503050406030204" pitchFamily="18" charset="0"/>
                <a:ea typeface="Cambria" panose="02040503050406030204" pitchFamily="18" charset="0"/>
                <a:hlinkClick r:id="rId2"/>
              </a:rPr>
              <a:t>http://localhost:8080/jsp-servlet-jdbc-mysql-example/employeeregister.jsp</a:t>
            </a:r>
            <a:endParaRPr lang="en-US" sz="2000" dirty="0">
              <a:latin typeface="Cambria" panose="02040503050406030204" pitchFamily="18" charset="0"/>
              <a:ea typeface="Cambria" panose="02040503050406030204" pitchFamily="18" charset="0"/>
            </a:endParaRPr>
          </a:p>
        </p:txBody>
      </p:sp>
      <p:sp>
        <p:nvSpPr>
          <p:cNvPr id="4" name="Slide Number Placeholder 3"/>
          <p:cNvSpPr>
            <a:spLocks noGrp="1"/>
          </p:cNvSpPr>
          <p:nvPr>
            <p:ph type="sldNum" sz="quarter" idx="12"/>
          </p:nvPr>
        </p:nvSpPr>
        <p:spPr/>
        <p:txBody>
          <a:bodyPr/>
          <a:lstStyle/>
          <a:p>
            <a:pPr>
              <a:defRPr/>
            </a:pPr>
            <a:fld id="{A01CA5F2-CD08-4EF5-BAD9-872B7BB27165}" type="slidenum">
              <a:rPr lang="en-US" altLang="en-US" smtClean="0">
                <a:latin typeface="Cambria" panose="02040503050406030204" pitchFamily="18" charset="0"/>
                <a:ea typeface="Cambria" panose="02040503050406030204" pitchFamily="18" charset="0"/>
              </a:rPr>
              <a:pPr>
                <a:defRPr/>
              </a:pPr>
              <a:t>134</a:t>
            </a:fld>
            <a:endParaRPr lang="en-US" altLang="en-US">
              <a:latin typeface="Cambria" panose="02040503050406030204" pitchFamily="18" charset="0"/>
              <a:ea typeface="Cambria" panose="02040503050406030204" pitchFamily="18" charset="0"/>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20583</TotalTime>
  <Words>5070</Words>
  <Application>Microsoft Office PowerPoint</Application>
  <PresentationFormat>Widescreen</PresentationFormat>
  <Paragraphs>1958</Paragraphs>
  <Slides>134</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134</vt:i4>
      </vt:variant>
    </vt:vector>
  </HeadingPairs>
  <TitlesOfParts>
    <vt:vector size="144" baseType="lpstr">
      <vt:lpstr>Arial</vt:lpstr>
      <vt:lpstr>Calibri</vt:lpstr>
      <vt:lpstr>Calibri Light</vt:lpstr>
      <vt:lpstr>Cambria</vt:lpstr>
      <vt:lpstr>Courier New</vt:lpstr>
      <vt:lpstr>inter-bold</vt:lpstr>
      <vt:lpstr>inter-regular</vt:lpstr>
      <vt:lpstr>times new roman</vt:lpstr>
      <vt:lpstr>Wingdings</vt:lpstr>
      <vt:lpstr>Office Theme</vt:lpstr>
      <vt:lpstr>Module 2 </vt:lpstr>
      <vt:lpstr>             Content to be discussed</vt:lpstr>
      <vt:lpstr>Web Browser</vt:lpstr>
      <vt:lpstr>Web Server</vt:lpstr>
      <vt:lpstr>Eclipse &amp; Apache Tomcat Server</vt:lpstr>
      <vt:lpstr> Servlet </vt:lpstr>
      <vt:lpstr>How servlet operates?</vt:lpstr>
      <vt:lpstr>Advantages of Servlet</vt:lpstr>
      <vt:lpstr> HTTP request methods </vt:lpstr>
      <vt:lpstr> Servlet Container</vt:lpstr>
      <vt:lpstr>Servlet Container States</vt:lpstr>
      <vt:lpstr>Servlet API</vt:lpstr>
      <vt:lpstr>Servlet Interface</vt:lpstr>
      <vt:lpstr>Methods of Servlet interface </vt:lpstr>
      <vt:lpstr>Servlet Example by implementing Servlet interface</vt:lpstr>
      <vt:lpstr>  GenericServlet class  </vt:lpstr>
      <vt:lpstr>Servlet Example by inheriting the GenericServlet class</vt:lpstr>
      <vt:lpstr>HttpServlet class</vt:lpstr>
      <vt:lpstr>HttpServlet class</vt:lpstr>
      <vt:lpstr>Life Cycle of a Servlet (Servlet Life Cycle)</vt:lpstr>
      <vt:lpstr>Servlet Life Cycle</vt:lpstr>
      <vt:lpstr>Servlet Life Cycle</vt:lpstr>
      <vt:lpstr>Steps to create a servlet example</vt:lpstr>
      <vt:lpstr>The steps are as follows:</vt:lpstr>
      <vt:lpstr>1. Create a directory structures</vt:lpstr>
      <vt:lpstr>2. Create a Servlet</vt:lpstr>
      <vt:lpstr>3. Compile the servlet</vt:lpstr>
      <vt:lpstr> 4. Create the deployment descriptor (web.xml file) </vt:lpstr>
      <vt:lpstr>5. Description of the elements of web.xml file</vt:lpstr>
      <vt:lpstr>6. Start the Server and deploy the project</vt:lpstr>
      <vt:lpstr> How to access the servlet  </vt:lpstr>
      <vt:lpstr>  ServletRequest Interface </vt:lpstr>
      <vt:lpstr>Example</vt:lpstr>
      <vt:lpstr>RequestDispatcher in Servlet</vt:lpstr>
      <vt:lpstr>forward method</vt:lpstr>
      <vt:lpstr>include method</vt:lpstr>
      <vt:lpstr> How to get the object of RequestDispatcher </vt:lpstr>
      <vt:lpstr> Example of RequestDispatcher interface </vt:lpstr>
      <vt:lpstr> Example</vt:lpstr>
      <vt:lpstr>Example</vt:lpstr>
      <vt:lpstr>Example</vt:lpstr>
      <vt:lpstr>SendRedirect in servlet</vt:lpstr>
      <vt:lpstr> Example </vt:lpstr>
      <vt:lpstr> Example (contd...) </vt:lpstr>
      <vt:lpstr>Session Tracking/Session Management</vt:lpstr>
      <vt:lpstr> Session Tracking Techniques  </vt:lpstr>
      <vt:lpstr>Cookies</vt:lpstr>
      <vt:lpstr>  Types of Cookie  </vt:lpstr>
      <vt:lpstr>How to create/delete/get/cookie</vt:lpstr>
      <vt:lpstr>Example</vt:lpstr>
      <vt:lpstr>index.html</vt:lpstr>
      <vt:lpstr>FirstServlet.java</vt:lpstr>
      <vt:lpstr> SecondServlet.java </vt:lpstr>
      <vt:lpstr> web.xml </vt:lpstr>
      <vt:lpstr> Hidden Form Field</vt:lpstr>
      <vt:lpstr>Hidden Field</vt:lpstr>
      <vt:lpstr>Example of using Hidden Form Field</vt:lpstr>
      <vt:lpstr>Example</vt:lpstr>
      <vt:lpstr>Example</vt:lpstr>
      <vt:lpstr>URL rewriting</vt:lpstr>
      <vt:lpstr>Example</vt:lpstr>
      <vt:lpstr>Example</vt:lpstr>
      <vt:lpstr>Example</vt:lpstr>
      <vt:lpstr>HttpSession interface</vt:lpstr>
      <vt:lpstr>HttpSession</vt:lpstr>
      <vt:lpstr>Example of using HttpSession</vt:lpstr>
      <vt:lpstr>Example of using HttpSession (contd...)</vt:lpstr>
      <vt:lpstr>JSP</vt:lpstr>
      <vt:lpstr>Advantages of JSP over Servlet</vt:lpstr>
      <vt:lpstr>Lifecycle of a JSP Page</vt:lpstr>
      <vt:lpstr>Creating a simple JSP Page</vt:lpstr>
      <vt:lpstr>The Directory structure of JSP</vt:lpstr>
      <vt:lpstr>   The JSP API  </vt:lpstr>
      <vt:lpstr>JSP Page Interface</vt:lpstr>
      <vt:lpstr>JSP Scriptlet tag (Scripting elements) </vt:lpstr>
      <vt:lpstr>  JSP Scripting elements </vt:lpstr>
      <vt:lpstr>JSP scriptlet tag</vt:lpstr>
      <vt:lpstr>JSP expression tag</vt:lpstr>
      <vt:lpstr>Jsp declaration tag</vt:lpstr>
      <vt:lpstr>Jsp declaration tag</vt:lpstr>
      <vt:lpstr>  JSP implicit objects  </vt:lpstr>
      <vt:lpstr> JSP out implicit object </vt:lpstr>
      <vt:lpstr> JSP request implicit object </vt:lpstr>
      <vt:lpstr>JSP response implicit object</vt:lpstr>
      <vt:lpstr>  JSP config implicit object  </vt:lpstr>
      <vt:lpstr>  JSP application implicit object  </vt:lpstr>
      <vt:lpstr>  session implicit object  </vt:lpstr>
      <vt:lpstr>  pageContext implicit object   </vt:lpstr>
      <vt:lpstr>page implicit object</vt:lpstr>
      <vt:lpstr>  exception implicit object  </vt:lpstr>
      <vt:lpstr>JSP directives</vt:lpstr>
      <vt:lpstr>JSP page directive</vt:lpstr>
      <vt:lpstr> import </vt:lpstr>
      <vt:lpstr>  contentType  </vt:lpstr>
      <vt:lpstr>extends &amp; info</vt:lpstr>
      <vt:lpstr>   language &amp; isELIgnored &amp; isThreadSafe   </vt:lpstr>
      <vt:lpstr>   errorPage &amp; isErrorPage  </vt:lpstr>
      <vt:lpstr> Jsp include Directive </vt:lpstr>
      <vt:lpstr>  JSP Taglib directive  </vt:lpstr>
      <vt:lpstr>Exception Handling in JSP</vt:lpstr>
      <vt:lpstr>Exception Handling in JSP (contd...)</vt:lpstr>
      <vt:lpstr>Exception Handling in JSP (contd...)</vt:lpstr>
      <vt:lpstr>JSP Action Tags</vt:lpstr>
      <vt:lpstr>jsp:forward action tag</vt:lpstr>
      <vt:lpstr>  Example of jsp: forward action tag with parameter  </vt:lpstr>
      <vt:lpstr>  jsp:include action tag  </vt:lpstr>
      <vt:lpstr>  jsp:include action tag (contd...)  </vt:lpstr>
      <vt:lpstr>JavaBean</vt:lpstr>
      <vt:lpstr>Example</vt:lpstr>
      <vt:lpstr>jsp:useBean action tag</vt:lpstr>
      <vt:lpstr>example of jsp: useBean action tag</vt:lpstr>
      <vt:lpstr>jsp: setProperty and jsp: getProperty action tags</vt:lpstr>
      <vt:lpstr> Example of bean development in JSP </vt:lpstr>
      <vt:lpstr> MVC </vt:lpstr>
      <vt:lpstr>Model 1 Architecture</vt:lpstr>
      <vt:lpstr>(Model 2) Architecture</vt:lpstr>
      <vt:lpstr>MVC Example</vt:lpstr>
      <vt:lpstr> File: index.jsp</vt:lpstr>
      <vt:lpstr>File: LoginBean.java</vt:lpstr>
      <vt:lpstr>File: ControllerServlet</vt:lpstr>
      <vt:lpstr>File: ControllerServlet</vt:lpstr>
      <vt:lpstr> File: login-success.jsp  </vt:lpstr>
      <vt:lpstr>File: web.xml </vt:lpstr>
      <vt:lpstr>MVC app with JDBC</vt:lpstr>
      <vt:lpstr>  MySQL Database Setup  </vt:lpstr>
      <vt:lpstr> Model Layer</vt:lpstr>
      <vt:lpstr>  DAO Layer  </vt:lpstr>
      <vt:lpstr>  DAO Layer (contd...)  </vt:lpstr>
      <vt:lpstr>  DAO Layer (contd...)  </vt:lpstr>
      <vt:lpstr>Controller Layer</vt:lpstr>
      <vt:lpstr>Controller Layer (contd...)</vt:lpstr>
      <vt:lpstr>  View Layer  </vt:lpstr>
      <vt:lpstr>View</vt:lpstr>
      <vt:lpstr>  employeedetails.jsp </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 Solving Techniques</dc:title>
  <dc:creator>admin</dc:creator>
  <cp:lastModifiedBy>Dr. Mohammed Zia Ur Rahman</cp:lastModifiedBy>
  <cp:revision>1481</cp:revision>
  <cp:lastPrinted>2023-10-17T08:58:23Z</cp:lastPrinted>
  <dcterms:created xsi:type="dcterms:W3CDTF">2007-08-28T09:12:38Z</dcterms:created>
  <dcterms:modified xsi:type="dcterms:W3CDTF">2026-02-12T05:39:56Z</dcterms:modified>
</cp:coreProperties>
</file>